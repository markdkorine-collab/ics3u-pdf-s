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0808"/>
    <a:srgbClr val="FFFFFF"/>
    <a:srgbClr val="394404"/>
    <a:srgbClr val="5F6F0F"/>
    <a:srgbClr val="718412"/>
    <a:srgbClr val="65741A"/>
    <a:srgbClr val="70811D"/>
    <a:srgbClr val="7B8D1F"/>
    <a:srgbClr val="839721"/>
    <a:srgbClr val="95A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>
      <p:cViewPr varScale="1">
        <p:scale>
          <a:sx n="89" d="100"/>
          <a:sy n="89" d="100"/>
        </p:scale>
        <p:origin x="204" y="9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10/22/2026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10/22/2026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10/22/2026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10/22/2026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10/22/2026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10/22/2026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Selection: Day 1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Let’s Make a choice…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76EA-ABB6-40B7-BF7C-CEF4DDB1F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 Fork in the Road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D4647-2621-4131-AA52-E4C094B69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0808"/>
            <a:ext cx="10360501" cy="4462272"/>
          </a:xfrm>
        </p:spPr>
        <p:txBody>
          <a:bodyPr>
            <a:normAutofit/>
          </a:bodyPr>
          <a:lstStyle/>
          <a:p>
            <a:r>
              <a:rPr lang="en-US" dirty="0"/>
              <a:t> As stated previously, our programs run from top to bottom.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Today, we learn how to make the flow diverge into multiple paths.</a:t>
            </a:r>
          </a:p>
          <a:p>
            <a:endParaRPr lang="en-US" dirty="0"/>
          </a:p>
          <a:p>
            <a:r>
              <a:rPr lang="en-US" dirty="0"/>
              <a:t>Think of it like a train, the train can only go forward and when it comes to a choice in the tracks, it can only choose one of the paths to follow, all others are forgotten about</a:t>
            </a:r>
          </a:p>
        </p:txBody>
      </p:sp>
    </p:spTree>
    <p:extLst>
      <p:ext uri="{BB962C8B-B14F-4D97-AF65-F5344CB8AC3E}">
        <p14:creationId xmlns:p14="http://schemas.microsoft.com/office/powerpoint/2010/main" val="273548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023C-2E3F-4F60-BF31-1683405C8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Control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5AF89-F676-492F-ACFD-1CB65376B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052" y="1700808"/>
            <a:ext cx="10564161" cy="4462272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Control Structure</a:t>
            </a:r>
            <a:r>
              <a:rPr lang="en-US" dirty="0"/>
              <a:t> is a programming element that allows us to change the flow of the program.</a:t>
            </a:r>
          </a:p>
          <a:p>
            <a:endParaRPr lang="en-US" dirty="0"/>
          </a:p>
          <a:p>
            <a:r>
              <a:rPr lang="en-US" dirty="0"/>
              <a:t>No longer will our programs have to simply flow from top to bottom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Today we learn a powerful control structure, the </a:t>
            </a:r>
            <a:r>
              <a:rPr lang="en-US" dirty="0">
                <a:solidFill>
                  <a:srgbClr val="FF0000"/>
                </a:solidFill>
              </a:rPr>
              <a:t>selection statement</a:t>
            </a:r>
          </a:p>
        </p:txBody>
      </p:sp>
    </p:spTree>
    <p:extLst>
      <p:ext uri="{BB962C8B-B14F-4D97-AF65-F5344CB8AC3E}">
        <p14:creationId xmlns:p14="http://schemas.microsoft.com/office/powerpoint/2010/main" val="364513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54A9-19FA-43D9-A1C2-250CA0C35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78099"/>
          </a:xfrm>
        </p:spPr>
        <p:txBody>
          <a:bodyPr/>
          <a:lstStyle/>
          <a:p>
            <a:r>
              <a:rPr lang="en-CA" dirty="0"/>
              <a:t>Selection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6FDCE-258E-4D61-8454-7DE5A4C36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268760"/>
            <a:ext cx="10492153" cy="5184576"/>
          </a:xfrm>
        </p:spPr>
        <p:txBody>
          <a:bodyPr>
            <a:normAutofit/>
          </a:bodyPr>
          <a:lstStyle/>
          <a:p>
            <a:r>
              <a:rPr lang="en-CA" sz="2400" dirty="0"/>
              <a:t>Selection Statements are programming instructions which the flow of the program will use to “</a:t>
            </a:r>
            <a:r>
              <a:rPr lang="en-CA" sz="2400" dirty="0">
                <a:solidFill>
                  <a:srgbClr val="FFFF00"/>
                </a:solidFill>
              </a:rPr>
              <a:t>select</a:t>
            </a:r>
            <a:r>
              <a:rPr lang="en-CA" sz="2400" dirty="0"/>
              <a:t>” a path based on </a:t>
            </a:r>
            <a:r>
              <a:rPr lang="en-CA" sz="2400" dirty="0">
                <a:solidFill>
                  <a:srgbClr val="FFFF00"/>
                </a:solidFill>
              </a:rPr>
              <a:t>if certain conditions are met</a:t>
            </a:r>
            <a:r>
              <a:rPr lang="en-CA" sz="2400" dirty="0"/>
              <a:t> or not</a:t>
            </a:r>
          </a:p>
          <a:p>
            <a:endParaRPr lang="en-CA" sz="2400" dirty="0"/>
          </a:p>
          <a:p>
            <a:r>
              <a:rPr lang="en-CA" sz="2400" dirty="0"/>
              <a:t>Selection statements come in 4 varieties in most programming languages</a:t>
            </a:r>
          </a:p>
          <a:p>
            <a:pPr marL="835086" lvl="1" indent="-457200">
              <a:buFont typeface="+mj-lt"/>
              <a:buAutoNum type="arabicPeriod"/>
            </a:pPr>
            <a:r>
              <a:rPr lang="en-CA" sz="2000" dirty="0">
                <a:solidFill>
                  <a:srgbClr val="92D050"/>
                </a:solidFill>
              </a:rPr>
              <a:t>if statements		(1 option OR standard path)</a:t>
            </a:r>
          </a:p>
          <a:p>
            <a:pPr marL="835086" lvl="1" indent="-457200">
              <a:buFont typeface="+mj-lt"/>
              <a:buAutoNum type="arabicPeriod"/>
            </a:pPr>
            <a:r>
              <a:rPr lang="en-CA" sz="2000" dirty="0">
                <a:solidFill>
                  <a:srgbClr val="92D050"/>
                </a:solidFill>
              </a:rPr>
              <a:t>if-else statements	(2 options, NO standard path)</a:t>
            </a:r>
          </a:p>
          <a:p>
            <a:pPr marL="835086" lvl="1" indent="-457200">
              <a:buFont typeface="+mj-lt"/>
              <a:buAutoNum type="arabicPeriod"/>
            </a:pPr>
            <a:r>
              <a:rPr lang="en-CA" sz="2000" dirty="0">
                <a:solidFill>
                  <a:srgbClr val="92D050"/>
                </a:solidFill>
              </a:rPr>
              <a:t>if-else if statements	(infinite options, NO standard path)</a:t>
            </a:r>
          </a:p>
          <a:p>
            <a:pPr marL="835086" lvl="1" indent="-457200">
              <a:buFont typeface="+mj-lt"/>
              <a:buAutoNum type="arabicPeriod"/>
            </a:pPr>
            <a:r>
              <a:rPr lang="en-CA" sz="2000" dirty="0">
                <a:solidFill>
                  <a:srgbClr val="92D050"/>
                </a:solidFill>
              </a:rPr>
              <a:t>switch statements	(infinite options, NO standard path)</a:t>
            </a:r>
          </a:p>
          <a:p>
            <a:endParaRPr lang="en-CA" sz="2400" dirty="0"/>
          </a:p>
          <a:p>
            <a:r>
              <a:rPr lang="en-CA" sz="2400" dirty="0"/>
              <a:t>If and if-else statements are considered </a:t>
            </a:r>
            <a:r>
              <a:rPr lang="en-CA" sz="2400" dirty="0">
                <a:solidFill>
                  <a:srgbClr val="0070C0"/>
                </a:solidFill>
              </a:rPr>
              <a:t>simple selection statements</a:t>
            </a:r>
          </a:p>
          <a:p>
            <a:r>
              <a:rPr lang="en-CA" sz="2400" dirty="0"/>
              <a:t>If-else if and switch statements are considered </a:t>
            </a:r>
            <a:r>
              <a:rPr lang="en-CA" sz="2400" dirty="0">
                <a:solidFill>
                  <a:srgbClr val="0070C0"/>
                </a:solidFill>
              </a:rPr>
              <a:t>multi-selection statements</a:t>
            </a:r>
          </a:p>
        </p:txBody>
      </p:sp>
    </p:spTree>
    <p:extLst>
      <p:ext uri="{BB962C8B-B14F-4D97-AF65-F5344CB8AC3E}">
        <p14:creationId xmlns:p14="http://schemas.microsoft.com/office/powerpoint/2010/main" val="292536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1E939-463A-42D2-A7EC-C657CC383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Comparison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AC9E5-1792-4FB7-A0B6-BFA55799C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1799211"/>
          </a:xfrm>
        </p:spPr>
        <p:txBody>
          <a:bodyPr/>
          <a:lstStyle/>
          <a:p>
            <a:r>
              <a:rPr lang="en-CA" dirty="0"/>
              <a:t>To give us control over the program flow, values are compared.</a:t>
            </a:r>
          </a:p>
          <a:p>
            <a:pPr lvl="1"/>
            <a:r>
              <a:rPr lang="en-CA" dirty="0"/>
              <a:t>If a desired condition is met, the flow will go along a new path</a:t>
            </a:r>
          </a:p>
          <a:p>
            <a:r>
              <a:rPr lang="en-CA" dirty="0">
                <a:solidFill>
                  <a:srgbClr val="FF0000"/>
                </a:solidFill>
              </a:rPr>
              <a:t>For each comparison below, assume </a:t>
            </a:r>
            <a:r>
              <a:rPr lang="en-CA" dirty="0">
                <a:solidFill>
                  <a:srgbClr val="FFFF00"/>
                </a:solidFill>
              </a:rPr>
              <a:t>X = 5 </a:t>
            </a:r>
            <a:r>
              <a:rPr lang="en-CA" dirty="0">
                <a:solidFill>
                  <a:srgbClr val="FF0000"/>
                </a:solidFill>
              </a:rPr>
              <a:t>and </a:t>
            </a:r>
            <a:r>
              <a:rPr lang="en-CA" dirty="0">
                <a:solidFill>
                  <a:srgbClr val="FFFF00"/>
                </a:solidFill>
              </a:rPr>
              <a:t>name = “Bob”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489AFC-404B-44D5-8A2B-7ED99D176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664525"/>
              </p:ext>
            </p:extLst>
          </p:nvPr>
        </p:nvGraphicFramePr>
        <p:xfrm>
          <a:off x="2349996" y="3284984"/>
          <a:ext cx="7488831" cy="29523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1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578">
                <a:tc>
                  <a:txBody>
                    <a:bodyPr/>
                    <a:lstStyle/>
                    <a:p>
                      <a:pPr algn="ctr"/>
                      <a:r>
                        <a:rPr lang="en-CA" sz="1600" b="1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 dirty="0">
                          <a:solidFill>
                            <a:schemeClr val="tx1"/>
                          </a:solidFill>
                        </a:rPr>
                        <a:t>Comparison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 dirty="0">
                          <a:solidFill>
                            <a:schemeClr val="tx1"/>
                          </a:solidFill>
                        </a:rPr>
                        <a:t>Returns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21"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21"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821"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821"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821"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821"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821"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479060C-3A7E-B37E-0AD0-32A82E8D604E}"/>
              </a:ext>
            </a:extLst>
          </p:cNvPr>
          <p:cNvSpPr txBox="1"/>
          <p:nvPr/>
        </p:nvSpPr>
        <p:spPr>
          <a:xfrm>
            <a:off x="2630658" y="3666510"/>
            <a:ext cx="4767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==                Equal to (for non strings)                       X ==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46F9A7-17A3-5FBB-DBD9-3000FE35E955}"/>
              </a:ext>
            </a:extLst>
          </p:cNvPr>
          <p:cNvSpPr txBox="1"/>
          <p:nvPr/>
        </p:nvSpPr>
        <p:spPr>
          <a:xfrm>
            <a:off x="2422856" y="4026550"/>
            <a:ext cx="55856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.Equals                 Equal to (for strings)             </a:t>
            </a:r>
            <a:r>
              <a:rPr lang="en-CA" sz="1600" dirty="0" err="1"/>
              <a:t>name.Equals</a:t>
            </a:r>
            <a:r>
              <a:rPr lang="en-CA" sz="1600" dirty="0"/>
              <a:t>(“Fred”)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9AE3F2-5A96-C5C1-EA72-9DB75CEA1839}"/>
              </a:ext>
            </a:extLst>
          </p:cNvPr>
          <p:cNvSpPr txBox="1"/>
          <p:nvPr/>
        </p:nvSpPr>
        <p:spPr>
          <a:xfrm>
            <a:off x="2617229" y="4415137"/>
            <a:ext cx="47612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!=                              Not equal                                     X != 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6F3959-74CB-88E4-29E3-ABAFEA0204AC}"/>
              </a:ext>
            </a:extLst>
          </p:cNvPr>
          <p:cNvSpPr txBox="1"/>
          <p:nvPr/>
        </p:nvSpPr>
        <p:spPr>
          <a:xfrm>
            <a:off x="2642439" y="4788655"/>
            <a:ext cx="4688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&gt;                            Greater than                                   X &gt; 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C38216-67E6-E3BE-C4ED-039190BE5D1C}"/>
              </a:ext>
            </a:extLst>
          </p:cNvPr>
          <p:cNvSpPr txBox="1"/>
          <p:nvPr/>
        </p:nvSpPr>
        <p:spPr>
          <a:xfrm>
            <a:off x="2648780" y="5156203"/>
            <a:ext cx="46778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&lt;                               Less than                                      X &lt; 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9FEF43-D896-4FE3-BE64-8165E9D537BA}"/>
              </a:ext>
            </a:extLst>
          </p:cNvPr>
          <p:cNvSpPr txBox="1"/>
          <p:nvPr/>
        </p:nvSpPr>
        <p:spPr>
          <a:xfrm>
            <a:off x="2594106" y="5523751"/>
            <a:ext cx="48037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&gt;=                Greater than </a:t>
            </a:r>
            <a:r>
              <a:rPr lang="en-CA" sz="1600" dirty="0">
                <a:solidFill>
                  <a:srgbClr val="FFFF00"/>
                </a:solidFill>
              </a:rPr>
              <a:t>OR</a:t>
            </a:r>
            <a:r>
              <a:rPr lang="en-CA" sz="1600" dirty="0"/>
              <a:t> equal to                        X &gt;= 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89BA32-8221-F532-2B93-2F1C8B6FBB1C}"/>
              </a:ext>
            </a:extLst>
          </p:cNvPr>
          <p:cNvSpPr txBox="1"/>
          <p:nvPr/>
        </p:nvSpPr>
        <p:spPr>
          <a:xfrm>
            <a:off x="2594106" y="5876533"/>
            <a:ext cx="48858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&lt;=                    Less than </a:t>
            </a:r>
            <a:r>
              <a:rPr lang="en-CA" sz="1600" dirty="0">
                <a:solidFill>
                  <a:srgbClr val="FFFF00"/>
                </a:solidFill>
              </a:rPr>
              <a:t>OR</a:t>
            </a:r>
            <a:r>
              <a:rPr lang="en-CA" sz="1600" dirty="0"/>
              <a:t> equal to                          X &lt;= 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CE0745-0B66-2048-4C8F-66F129BCD23E}"/>
              </a:ext>
            </a:extLst>
          </p:cNvPr>
          <p:cNvSpPr txBox="1"/>
          <p:nvPr/>
        </p:nvSpPr>
        <p:spPr>
          <a:xfrm>
            <a:off x="8614692" y="3666510"/>
            <a:ext cx="5534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True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21EE62-5614-EAD7-934D-6DEB5DE9DD38}"/>
              </a:ext>
            </a:extLst>
          </p:cNvPr>
          <p:cNvSpPr txBox="1"/>
          <p:nvPr/>
        </p:nvSpPr>
        <p:spPr>
          <a:xfrm>
            <a:off x="8592604" y="4026550"/>
            <a:ext cx="6007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False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E2D253-6453-17F2-118E-413AE4C29234}"/>
              </a:ext>
            </a:extLst>
          </p:cNvPr>
          <p:cNvSpPr txBox="1"/>
          <p:nvPr/>
        </p:nvSpPr>
        <p:spPr>
          <a:xfrm>
            <a:off x="8614692" y="4415137"/>
            <a:ext cx="5534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True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509C77-9C11-A1FA-F87F-6B4998D47F62}"/>
              </a:ext>
            </a:extLst>
          </p:cNvPr>
          <p:cNvSpPr txBox="1"/>
          <p:nvPr/>
        </p:nvSpPr>
        <p:spPr>
          <a:xfrm>
            <a:off x="8592604" y="4774585"/>
            <a:ext cx="6007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False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526301-8782-1CD5-C2EF-3034C8BE22A3}"/>
              </a:ext>
            </a:extLst>
          </p:cNvPr>
          <p:cNvSpPr txBox="1"/>
          <p:nvPr/>
        </p:nvSpPr>
        <p:spPr>
          <a:xfrm>
            <a:off x="8614692" y="5157192"/>
            <a:ext cx="5534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True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175BFC-F558-F63C-15C0-E8793A0EFFD1}"/>
              </a:ext>
            </a:extLst>
          </p:cNvPr>
          <p:cNvSpPr txBox="1"/>
          <p:nvPr/>
        </p:nvSpPr>
        <p:spPr>
          <a:xfrm>
            <a:off x="8591063" y="5533574"/>
            <a:ext cx="6007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False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5126E3-DA2A-399B-7490-F0C7C9CFD8DB}"/>
              </a:ext>
            </a:extLst>
          </p:cNvPr>
          <p:cNvSpPr txBox="1"/>
          <p:nvPr/>
        </p:nvSpPr>
        <p:spPr>
          <a:xfrm>
            <a:off x="8614692" y="5898755"/>
            <a:ext cx="5534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86470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0E012-6FAF-4E9B-9866-572F9975D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if Statement (1 Option OR Standard Path)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3B8F2-EF22-412A-9BA9-443BAF3EF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488156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srgbClr val="FF0000"/>
                </a:solidFill>
              </a:rPr>
              <a:t>GENERAL SYNTAX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100" dirty="0">
                <a:latin typeface="Consolas" panose="020B0609020204030204" pitchFamily="49" charset="0"/>
              </a:rPr>
              <a:t>if (</a:t>
            </a:r>
            <a:r>
              <a:rPr lang="en-CA" sz="2100" dirty="0">
                <a:solidFill>
                  <a:srgbClr val="00B0F0"/>
                </a:solidFill>
                <a:latin typeface="Consolas" panose="020B0609020204030204" pitchFamily="49" charset="0"/>
              </a:rPr>
              <a:t>condition</a:t>
            </a:r>
            <a:r>
              <a:rPr lang="en-CA" sz="21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1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100" dirty="0">
                <a:latin typeface="Consolas" panose="020B0609020204030204" pitchFamily="49" charset="0"/>
              </a:rPr>
              <a:t>    </a:t>
            </a:r>
            <a:r>
              <a:rPr lang="en-CA" sz="2100" dirty="0">
                <a:solidFill>
                  <a:srgbClr val="92D050"/>
                </a:solidFill>
                <a:latin typeface="Consolas" panose="020B0609020204030204" pitchFamily="49" charset="0"/>
              </a:rPr>
              <a:t>//block of code that is executed IF </a:t>
            </a:r>
            <a:r>
              <a:rPr lang="en-CA" sz="2100" dirty="0">
                <a:solidFill>
                  <a:srgbClr val="00B0F0"/>
                </a:solidFill>
                <a:latin typeface="Consolas" panose="020B0609020204030204" pitchFamily="49" charset="0"/>
              </a:rPr>
              <a:t>condition</a:t>
            </a:r>
            <a:r>
              <a:rPr lang="en-CA" sz="2100" dirty="0">
                <a:solidFill>
                  <a:srgbClr val="92D050"/>
                </a:solidFill>
                <a:latin typeface="Consolas" panose="020B0609020204030204" pitchFamily="49" charset="0"/>
              </a:rPr>
              <a:t> is 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1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srgbClr val="FF0000"/>
                </a:solidFill>
              </a:rPr>
              <a:t>EXAMPLE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900" dirty="0">
                <a:latin typeface="Consolas" panose="020B0609020204030204" pitchFamily="49" charset="0"/>
              </a:rPr>
              <a:t>int hour = 23;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900" dirty="0">
                <a:latin typeface="Consolas" panose="020B0609020204030204" pitchFamily="49" charset="0"/>
              </a:rPr>
              <a:t>string greeting = “Hi”;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9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900" dirty="0">
                <a:latin typeface="Consolas" panose="020B0609020204030204" pitchFamily="49" charset="0"/>
              </a:rPr>
              <a:t>if (hour &lt; 18)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9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900" dirty="0">
                <a:latin typeface="Consolas" panose="020B0609020204030204" pitchFamily="49" charset="0"/>
              </a:rPr>
              <a:t>    greeting = “Good Day”;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9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9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900" dirty="0">
                <a:latin typeface="Consolas" panose="020B0609020204030204" pitchFamily="49" charset="0"/>
              </a:rPr>
              <a:t>Console.WriteLine(greeting);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31895A-2618-4446-A375-FDE7CB178D56}"/>
              </a:ext>
            </a:extLst>
          </p:cNvPr>
          <p:cNvSpPr txBox="1"/>
          <p:nvPr/>
        </p:nvSpPr>
        <p:spPr>
          <a:xfrm>
            <a:off x="6399133" y="3671323"/>
            <a:ext cx="3634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FF00"/>
                </a:solidFill>
              </a:rPr>
              <a:t>What will be displayed?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CEA609-D85B-45BF-95B1-B5B0486040DB}"/>
              </a:ext>
            </a:extLst>
          </p:cNvPr>
          <p:cNvSpPr txBox="1"/>
          <p:nvPr/>
        </p:nvSpPr>
        <p:spPr>
          <a:xfrm>
            <a:off x="9454521" y="414258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C00000"/>
                </a:solidFill>
                <a:latin typeface="Consolas" panose="020B0609020204030204" pitchFamily="49" charset="0"/>
              </a:rPr>
              <a:t>Hi</a:t>
            </a:r>
          </a:p>
        </p:txBody>
      </p:sp>
    </p:spTree>
    <p:extLst>
      <p:ext uri="{BB962C8B-B14F-4D97-AF65-F5344CB8AC3E}">
        <p14:creationId xmlns:p14="http://schemas.microsoft.com/office/powerpoint/2010/main" val="612074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6131D-D4EF-43D1-B5CD-AC39213FC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if-else Statement (2 Options)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1A161-F201-485D-97CD-6D3996B02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052735"/>
            <a:ext cx="10360501" cy="5530627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400" dirty="0">
                <a:solidFill>
                  <a:srgbClr val="FF0000"/>
                </a:solidFill>
              </a:rPr>
              <a:t>GENERAL SYNTAX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if (</a:t>
            </a: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condition</a:t>
            </a:r>
            <a:r>
              <a:rPr lang="en-CA" sz="14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    </a:t>
            </a:r>
            <a:r>
              <a:rPr lang="en-CA" sz="1400" dirty="0">
                <a:solidFill>
                  <a:srgbClr val="92D050"/>
                </a:solidFill>
                <a:latin typeface="Consolas" panose="020B0609020204030204" pitchFamily="49" charset="0"/>
              </a:rPr>
              <a:t>//block of code that is executed IF </a:t>
            </a: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condition</a:t>
            </a:r>
            <a:r>
              <a:rPr lang="en-CA" sz="1400" dirty="0">
                <a:solidFill>
                  <a:srgbClr val="92D050"/>
                </a:solidFill>
                <a:latin typeface="Consolas" panose="020B0609020204030204" pitchFamily="49" charset="0"/>
              </a:rPr>
              <a:t> is 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else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    </a:t>
            </a:r>
            <a:r>
              <a:rPr lang="en-CA" sz="1400" dirty="0">
                <a:solidFill>
                  <a:srgbClr val="92D050"/>
                </a:solidFill>
                <a:latin typeface="Consolas" panose="020B0609020204030204" pitchFamily="49" charset="0"/>
              </a:rPr>
              <a:t>//block of code that is to be executed IF </a:t>
            </a: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condition</a:t>
            </a:r>
            <a:r>
              <a:rPr lang="en-CA" sz="1400" dirty="0">
                <a:solidFill>
                  <a:srgbClr val="92D050"/>
                </a:solidFill>
                <a:latin typeface="Consolas" panose="020B0609020204030204" pitchFamily="49" charset="0"/>
              </a:rPr>
              <a:t> is false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400" dirty="0">
                <a:solidFill>
                  <a:srgbClr val="FF0000"/>
                </a:solidFill>
              </a:rPr>
              <a:t>EXAMPLE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int hour = 23;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string greeting = “Hi”;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if (hour &lt; 18)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    greeting = “Good day”;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else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    greeting = “Good evening”;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Console.WriteLine(greeting);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C7565-71AA-4C72-BD60-C61BCEE83C16}"/>
              </a:ext>
            </a:extLst>
          </p:cNvPr>
          <p:cNvSpPr txBox="1"/>
          <p:nvPr/>
        </p:nvSpPr>
        <p:spPr>
          <a:xfrm>
            <a:off x="4475712" y="3108209"/>
            <a:ext cx="3634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FF00"/>
                </a:solidFill>
              </a:rPr>
              <a:t>What will be displayed?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9DAE7B-ADA1-40B4-B681-6F408ADB61BA}"/>
              </a:ext>
            </a:extLst>
          </p:cNvPr>
          <p:cNvSpPr txBox="1"/>
          <p:nvPr/>
        </p:nvSpPr>
        <p:spPr>
          <a:xfrm>
            <a:off x="5559407" y="3556438"/>
            <a:ext cx="2550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C00000"/>
                </a:solidFill>
                <a:latin typeface="Consolas" panose="020B0609020204030204" pitchFamily="49" charset="0"/>
              </a:rPr>
              <a:t>Good evening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F72D-5FA4-4415-8BE2-8CF1405AD1FF}"/>
              </a:ext>
            </a:extLst>
          </p:cNvPr>
          <p:cNvSpPr txBox="1"/>
          <p:nvPr/>
        </p:nvSpPr>
        <p:spPr>
          <a:xfrm>
            <a:off x="4654252" y="4437112"/>
            <a:ext cx="7465955" cy="203132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CA" sz="1800" b="1" dirty="0">
                <a:solidFill>
                  <a:schemeClr val="bg1"/>
                </a:solidFill>
              </a:rPr>
              <a:t>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else acts as a “</a:t>
            </a:r>
            <a:r>
              <a:rPr lang="en-US" sz="1800" dirty="0">
                <a:solidFill>
                  <a:srgbClr val="FFFF00"/>
                </a:solidFill>
              </a:rPr>
              <a:t>catch-all</a:t>
            </a:r>
            <a:r>
              <a:rPr lang="en-US" sz="1800" dirty="0"/>
              <a:t>” and means, whatever has been tested above, </a:t>
            </a:r>
            <a:br>
              <a:rPr lang="en-US" sz="1800" dirty="0"/>
            </a:br>
            <a:r>
              <a:rPr lang="en-US" sz="1800" dirty="0"/>
              <a:t>this condition is “</a:t>
            </a:r>
            <a:r>
              <a:rPr lang="en-US" sz="1800" dirty="0">
                <a:solidFill>
                  <a:srgbClr val="FFFF00"/>
                </a:solidFill>
              </a:rPr>
              <a:t>everything else</a:t>
            </a:r>
            <a:r>
              <a:rPr lang="en-US" sz="1800" dirty="0"/>
              <a:t>” not yet tested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Note the lack of brackets and test condition, an else statement doesn’t</a:t>
            </a:r>
            <a:br>
              <a:rPr lang="en-US" sz="1800" dirty="0"/>
            </a:br>
            <a:r>
              <a:rPr lang="en-US" sz="1800" dirty="0"/>
              <a:t>need it since it represents </a:t>
            </a:r>
            <a:r>
              <a:rPr lang="en-US" sz="1800" dirty="0">
                <a:solidFill>
                  <a:srgbClr val="FFFF00"/>
                </a:solidFill>
              </a:rPr>
              <a:t>everything else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BC0808"/>
                </a:solidFill>
              </a:rPr>
              <a:t>Only </a:t>
            </a:r>
            <a:r>
              <a:rPr lang="en-US" sz="1800" b="1" dirty="0">
                <a:solidFill>
                  <a:srgbClr val="92D050"/>
                </a:solidFill>
              </a:rPr>
              <a:t>one branch </a:t>
            </a:r>
            <a:r>
              <a:rPr lang="en-US" sz="1800" b="1" dirty="0">
                <a:solidFill>
                  <a:srgbClr val="BC0808"/>
                </a:solidFill>
              </a:rPr>
              <a:t>of code will be executed, if the flow goes into the</a:t>
            </a:r>
            <a:br>
              <a:rPr lang="en-US" sz="1800" b="1" dirty="0">
                <a:solidFill>
                  <a:srgbClr val="BC0808"/>
                </a:solidFill>
              </a:rPr>
            </a:br>
            <a:r>
              <a:rPr lang="en-US" sz="1800" b="1" dirty="0">
                <a:solidFill>
                  <a:srgbClr val="BC0808"/>
                </a:solidFill>
              </a:rPr>
              <a:t>if statement the else code is skipped</a:t>
            </a:r>
          </a:p>
        </p:txBody>
      </p:sp>
    </p:spTree>
    <p:extLst>
      <p:ext uri="{BB962C8B-B14F-4D97-AF65-F5344CB8AC3E}">
        <p14:creationId xmlns:p14="http://schemas.microsoft.com/office/powerpoint/2010/main" val="304212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926</TotalTime>
  <Words>573</Words>
  <Application>Microsoft Office PowerPoint</Application>
  <PresentationFormat>Custom</PresentationFormat>
  <Paragraphs>97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Tech 16x9</vt:lpstr>
      <vt:lpstr>Selection: Day 1</vt:lpstr>
      <vt:lpstr>A Fork in the Road</vt:lpstr>
      <vt:lpstr>Control Structures</vt:lpstr>
      <vt:lpstr>Selection Statements</vt:lpstr>
      <vt:lpstr>Comparison Operators</vt:lpstr>
      <vt:lpstr>if Statement (1 Option OR Standard Path)</vt:lpstr>
      <vt:lpstr>if-else Statement (2 Options)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Variables: Day 1</dc:title>
  <dc:creator>Trevor Lane</dc:creator>
  <cp:lastModifiedBy>Lane, Trevor</cp:lastModifiedBy>
  <cp:revision>64</cp:revision>
  <dcterms:created xsi:type="dcterms:W3CDTF">2020-09-21T00:53:05Z</dcterms:created>
  <dcterms:modified xsi:type="dcterms:W3CDTF">2026-10-22T17:24:36Z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