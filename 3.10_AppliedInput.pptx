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  <p:sldId id="266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23" d="100"/>
          <a:sy n="123" d="100"/>
        </p:scale>
        <p:origin x="108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9/19/2025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9/19/2025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Input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76EA-ABB6-40B7-BF7C-CEF4DDB1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D4647-2621-4131-AA52-E4C094B6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639" y="1700808"/>
            <a:ext cx="11278988" cy="4462272"/>
          </a:xfrm>
        </p:spPr>
        <p:txBody>
          <a:bodyPr/>
          <a:lstStyle/>
          <a:p>
            <a:r>
              <a:rPr lang="en-CA" dirty="0"/>
              <a:t>Now that we are comfortable with the process of Ask/Read for data:</a:t>
            </a:r>
          </a:p>
          <a:p>
            <a:endParaRPr lang="en-CA" dirty="0"/>
          </a:p>
          <a:p>
            <a:r>
              <a:rPr lang="en-CA" dirty="0"/>
              <a:t>It is time to effectively put that data to work to make a useful program</a:t>
            </a:r>
          </a:p>
        </p:txBody>
      </p:sp>
    </p:spTree>
    <p:extLst>
      <p:ext uri="{BB962C8B-B14F-4D97-AF65-F5344CB8AC3E}">
        <p14:creationId xmlns:p14="http://schemas.microsoft.com/office/powerpoint/2010/main" val="27354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D919-A586-4512-AB2F-855541F47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Program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17797-0D29-4DB1-A482-DEFAF2465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Today, we will look into how ours and </a:t>
            </a:r>
            <a:r>
              <a:rPr lang="en-CA" dirty="0">
                <a:solidFill>
                  <a:srgbClr val="92D050"/>
                </a:solidFill>
              </a:rPr>
              <a:t>ALL</a:t>
            </a:r>
            <a:r>
              <a:rPr lang="en-CA" dirty="0"/>
              <a:t> other programs flow</a:t>
            </a:r>
          </a:p>
          <a:p>
            <a:r>
              <a:rPr lang="en-CA" dirty="0"/>
              <a:t>They will all follow the same pattern of:</a:t>
            </a:r>
          </a:p>
          <a:p>
            <a:pPr lvl="1"/>
            <a:r>
              <a:rPr lang="en-CA" dirty="0">
                <a:solidFill>
                  <a:srgbClr val="FFFF00"/>
                </a:solidFill>
              </a:rPr>
              <a:t>Input</a:t>
            </a:r>
            <a:r>
              <a:rPr lang="en-CA" dirty="0"/>
              <a:t>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Processing + Storage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>
                <a:solidFill>
                  <a:srgbClr val="FFFF00"/>
                </a:solidFill>
                <a:sym typeface="Wingdings" panose="05000000000000000000" pitchFamily="2" charset="2"/>
              </a:rPr>
              <a:t>Output</a:t>
            </a:r>
          </a:p>
          <a:p>
            <a:r>
              <a:rPr lang="en-CA" dirty="0">
                <a:sym typeface="Wingdings" panose="05000000000000000000" pitchFamily="2" charset="2"/>
              </a:rPr>
              <a:t>In grade 10 we called these the 4 basic operations of a computer</a:t>
            </a:r>
          </a:p>
          <a:p>
            <a:pPr lvl="1"/>
            <a:r>
              <a:rPr lang="en-CA" dirty="0">
                <a:sym typeface="Wingdings" panose="05000000000000000000" pitchFamily="2" charset="2"/>
              </a:rPr>
              <a:t>I.P.S.O.</a:t>
            </a:r>
          </a:p>
          <a:p>
            <a:pPr lvl="1"/>
            <a:endParaRPr lang="en-CA" dirty="0">
              <a:sym typeface="Wingdings" panose="05000000000000000000" pitchFamily="2" charset="2"/>
            </a:endParaRPr>
          </a:p>
          <a:p>
            <a:r>
              <a:rPr lang="en-CA" dirty="0"/>
              <a:t>All programs follow this process, some just do it repeatedly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3431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5A6B9-4C26-4B53-916A-C8ACE8DE9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Process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CB3D-C2A5-4F1F-B8DD-979802B2E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10564161" cy="4462272"/>
          </a:xfrm>
        </p:spPr>
        <p:txBody>
          <a:bodyPr/>
          <a:lstStyle/>
          <a:p>
            <a:r>
              <a:rPr lang="en-CA" dirty="0"/>
              <a:t>This means our programs will follow a step-by-step process (for now)</a:t>
            </a:r>
          </a:p>
          <a:p>
            <a:r>
              <a:rPr lang="en-CA" b="1" dirty="0">
                <a:solidFill>
                  <a:srgbClr val="92D050"/>
                </a:solidFill>
              </a:rPr>
              <a:t>Step 1) INPUT:</a:t>
            </a:r>
            <a:r>
              <a:rPr lang="en-CA" dirty="0"/>
              <a:t> ASK/READ for any needed data to solve the problem</a:t>
            </a:r>
          </a:p>
          <a:p>
            <a:endParaRPr lang="en-CA" dirty="0"/>
          </a:p>
          <a:p>
            <a:r>
              <a:rPr lang="en-CA" b="1" dirty="0">
                <a:solidFill>
                  <a:srgbClr val="92D050"/>
                </a:solidFill>
              </a:rPr>
              <a:t>Step 2) PROCESSING + STORAGE:</a:t>
            </a:r>
            <a:r>
              <a:rPr lang="en-CA" dirty="0"/>
              <a:t> Perform any necessary calculations or modifications to your data and store the results</a:t>
            </a:r>
          </a:p>
          <a:p>
            <a:endParaRPr lang="en-CA" dirty="0"/>
          </a:p>
          <a:p>
            <a:r>
              <a:rPr lang="en-CA" b="1" dirty="0">
                <a:solidFill>
                  <a:srgbClr val="92D050"/>
                </a:solidFill>
              </a:rPr>
              <a:t>Step 3) OUTPUT:</a:t>
            </a:r>
            <a:r>
              <a:rPr lang="en-CA" dirty="0"/>
              <a:t> Give user-friendly feedback to the user</a:t>
            </a:r>
          </a:p>
        </p:txBody>
      </p:sp>
    </p:spTree>
    <p:extLst>
      <p:ext uri="{BB962C8B-B14F-4D97-AF65-F5344CB8AC3E}">
        <p14:creationId xmlns:p14="http://schemas.microsoft.com/office/powerpoint/2010/main" val="11465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CF0BA-2821-44C6-AECB-873CF3E4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Application Example: Paint the wall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2E27-0EDA-4DA6-9112-AC690D2EB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0" y="1700808"/>
            <a:ext cx="11089231" cy="4462272"/>
          </a:xfrm>
        </p:spPr>
        <p:txBody>
          <a:bodyPr/>
          <a:lstStyle/>
          <a:p>
            <a:r>
              <a:rPr lang="en-CA" dirty="0"/>
              <a:t>Write a program that can calculate the cost to paint any rectangular wall.</a:t>
            </a:r>
          </a:p>
          <a:p>
            <a:pPr lvl="1"/>
            <a:r>
              <a:rPr lang="en-CA" dirty="0"/>
              <a:t>Ask the user for the </a:t>
            </a:r>
            <a:r>
              <a:rPr lang="en-CA" dirty="0">
                <a:solidFill>
                  <a:srgbClr val="92D050"/>
                </a:solidFill>
              </a:rPr>
              <a:t>length</a:t>
            </a:r>
            <a:r>
              <a:rPr lang="en-CA" dirty="0"/>
              <a:t> and </a:t>
            </a:r>
            <a:r>
              <a:rPr lang="en-CA" dirty="0">
                <a:solidFill>
                  <a:srgbClr val="92D050"/>
                </a:solidFill>
              </a:rPr>
              <a:t>width</a:t>
            </a:r>
            <a:r>
              <a:rPr lang="en-CA" dirty="0"/>
              <a:t> of the wall in metres, as well as the </a:t>
            </a:r>
            <a:r>
              <a:rPr lang="en-CA" dirty="0">
                <a:solidFill>
                  <a:srgbClr val="92D050"/>
                </a:solidFill>
              </a:rPr>
              <a:t>cost</a:t>
            </a:r>
            <a:r>
              <a:rPr lang="en-CA" dirty="0"/>
              <a:t> of paint, per can.</a:t>
            </a:r>
          </a:p>
          <a:p>
            <a:pPr lvl="1"/>
            <a:r>
              <a:rPr lang="en-CA" dirty="0"/>
              <a:t>You know that 1 can of paint will cover 3m</a:t>
            </a:r>
            <a:r>
              <a:rPr lang="en-CA" baseline="30000" dirty="0"/>
              <a:t>2</a:t>
            </a:r>
            <a:r>
              <a:rPr lang="en-CA" dirty="0"/>
              <a:t> of space.</a:t>
            </a:r>
          </a:p>
        </p:txBody>
      </p:sp>
    </p:spTree>
    <p:extLst>
      <p:ext uri="{BB962C8B-B14F-4D97-AF65-F5344CB8AC3E}">
        <p14:creationId xmlns:p14="http://schemas.microsoft.com/office/powerpoint/2010/main" val="715891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10641-12CB-482D-88F5-29A7CF19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Program Startup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1E28F-074D-4EE3-B2F1-17F5D0669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In most programs, the user generally needs to know what the program is or what is going on</a:t>
            </a:r>
          </a:p>
          <a:p>
            <a:endParaRPr lang="en-CA" dirty="0"/>
          </a:p>
          <a:p>
            <a:r>
              <a:rPr lang="en-CA" dirty="0"/>
              <a:t>For that reason it is often good to give the user a message telling them what the program is or how to use it, depending on the program’s complexity</a:t>
            </a:r>
          </a:p>
          <a:p>
            <a:pPr marL="0" indent="0"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Console.WriteLine(“Calculate the cost to paint your wall\n”);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An extra \n was added at the end to allow for better readability</a:t>
            </a:r>
          </a:p>
        </p:txBody>
      </p:sp>
    </p:spTree>
    <p:extLst>
      <p:ext uri="{BB962C8B-B14F-4D97-AF65-F5344CB8AC3E}">
        <p14:creationId xmlns:p14="http://schemas.microsoft.com/office/powerpoint/2010/main" val="214661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FC8A-7449-4A91-9E8A-0576FFF6B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1: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E3BB-F1A4-408B-9B87-A4C91FA19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Our first step is to get the needed information from the user</a:t>
            </a:r>
          </a:p>
          <a:p>
            <a:r>
              <a:rPr lang="en-CA" dirty="0"/>
              <a:t>But in order to do this, we need variables to store that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double wallLength;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double wallWidth;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double canCost;</a:t>
            </a:r>
          </a:p>
          <a:p>
            <a:r>
              <a:rPr lang="en-CA" dirty="0"/>
              <a:t>Now follow the ASK/READ process to get each piece of data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Console.Write(“Wall Length(m): ”);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wallLength =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Convert.ToDouble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(Console.ReadLine());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Console.Write(“Wall Width(m): ”);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wallWidth = </a:t>
            </a: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Convert.ToDouble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(Console.ReadLine());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Console.Write(“Cost per Paint Can($): ”);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canCost = Convert.ToDouble(Console.ReadLine());</a:t>
            </a:r>
          </a:p>
          <a:p>
            <a:pPr marL="0" indent="0">
              <a:spcBef>
                <a:spcPts val="0"/>
              </a:spcBef>
              <a:buNone/>
            </a:pPr>
            <a:endParaRPr lang="en-CA" sz="2000" dirty="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3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C8757-8502-448C-A2E9-B9FD43053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2: PROCESSING +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62459-1AAE-423C-B027-EB135596D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701797"/>
            <a:ext cx="11017223" cy="4462272"/>
          </a:xfrm>
        </p:spPr>
        <p:txBody>
          <a:bodyPr/>
          <a:lstStyle/>
          <a:p>
            <a:r>
              <a:rPr lang="en-CA" dirty="0"/>
              <a:t>Now we perform each calculation to get to the end goal.  But for each, we will need a storage variable (define these with the others)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const double PAINT_AREA = 3.0;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Global constant</a:t>
            </a:r>
            <a:endParaRPr lang="en-CA" sz="20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double wallArea;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double requiredPaint;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double finalPaintCost;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int numCans;</a:t>
            </a:r>
          </a:p>
          <a:p>
            <a:r>
              <a:rPr lang="en-CA" dirty="0"/>
              <a:t>Now Calculate!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wallArea = wallLength * wallWidth;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Find the area of the wall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requiredPaint = wallArea / PAINT_AREA;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Determine exact paint needed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numCans = (int)Math.Ceiling(requiredPaint);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Round up, Must buy full cans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finalPaintCost = numCans * canCost; 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Full cost of all cans needed</a:t>
            </a:r>
            <a:endParaRPr lang="en-CA" sz="20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562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0A706-D607-4805-A79B-D75071299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Step 3: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729DB-57E7-4612-BE5B-086C793BB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Now that the calculations are complete, it is time to give thorough feedback to the user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20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();  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CA" sz="2000" dirty="0" smtClean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Blank line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for readability</a:t>
            </a:r>
            <a:endParaRPr lang="en-CA" sz="20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Console.WriteLine(“Total Painted Area: ” + wallArea + “m^2”);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Console.WriteLine(“Number of Cans: ” + numCans);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Console.WriteLine(“Final Cost: $” + finalPaintCost);</a:t>
            </a:r>
          </a:p>
        </p:txBody>
      </p:sp>
    </p:spTree>
    <p:extLst>
      <p:ext uri="{BB962C8B-B14F-4D97-AF65-F5344CB8AC3E}">
        <p14:creationId xmlns:p14="http://schemas.microsoft.com/office/powerpoint/2010/main" val="621728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4173D-5A1C-44EC-A942-4D2940140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44624"/>
            <a:ext cx="10945215" cy="6048672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using System;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class MainClass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const double PAINT_AREA = 3.0;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public static void Main (string[] args) 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double wallLength;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double wallWidth;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double canCost;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double wallArea;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double requiredPaint;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double finalPaintCost;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int numCans;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Console.WriteLine("Calculate the cost to paint your wall\n");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Console.Write("Wall Length(m): ");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wallLength = Convert.ToDouble(Console.ReadLine());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Console.Write("Wall Width(m): ");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wallWidth = Convert.ToDouble(Console.ReadLine());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Console.Write("Cost per Paint Can($): ");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canCost = Convert.ToDouble(Console.ReadLine());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wallArea = wallLength * </a:t>
            </a:r>
            <a:r>
              <a:rPr lang="en-CA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wallWidth</a:t>
            </a: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requiredPaint = wallArea / PAINT_AREA;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numCans = (int)Math.Ceiling(</a:t>
            </a:r>
            <a:r>
              <a:rPr lang="en-CA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requiredPaint</a:t>
            </a: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finalPaintCost = numCans * canCost;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CA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1400" dirty="0" smtClean="0">
                <a:solidFill>
                  <a:srgbClr val="00B0F0"/>
                </a:solidFill>
                <a:latin typeface="Consolas" panose="020B0609020204030204" pitchFamily="49" charset="0"/>
              </a:rPr>
              <a:t>();</a:t>
            </a:r>
            <a:endParaRPr lang="en-CA" sz="14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Console.WriteLine("Total Painted Area: " + wallArea + "m^2");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Console.WriteLine("Number of Cans: " + numCans);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  Console.WriteLine("Final Cost: $" + finalPaintCost);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80000"/>
              </a:lnSpc>
              <a:spcBef>
                <a:spcPts val="0"/>
              </a:spcBef>
              <a:buNone/>
            </a:pPr>
            <a:r>
              <a:rPr lang="en-CA" sz="1400" dirty="0">
                <a:solidFill>
                  <a:srgbClr val="00B0F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7991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490</TotalTime>
  <Words>704</Words>
  <Application>Microsoft Office PowerPoint</Application>
  <PresentationFormat>Custom</PresentationFormat>
  <Paragraphs>102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Wingdings</vt:lpstr>
      <vt:lpstr>Tech 16x9</vt:lpstr>
      <vt:lpstr>User Input</vt:lpstr>
      <vt:lpstr>Introduction</vt:lpstr>
      <vt:lpstr>Program Flow</vt:lpstr>
      <vt:lpstr>Process Flow</vt:lpstr>
      <vt:lpstr>Application Example: Paint the wall</vt:lpstr>
      <vt:lpstr>Program Startup</vt:lpstr>
      <vt:lpstr>Step 1: INPUT</vt:lpstr>
      <vt:lpstr>Step 2: PROCESSING + STORAGE</vt:lpstr>
      <vt:lpstr>Step 3: 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35</cp:revision>
  <dcterms:created xsi:type="dcterms:W3CDTF">2020-09-21T00:53:05Z</dcterms:created>
  <dcterms:modified xsi:type="dcterms:W3CDTF">2025-09-19T12:27:18Z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