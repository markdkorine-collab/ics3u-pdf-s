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58" r:id="rId6"/>
    <p:sldId id="260" r:id="rId7"/>
    <p:sldId id="259" r:id="rId8"/>
    <p:sldId id="261" r:id="rId9"/>
    <p:sldId id="262" r:id="rId10"/>
    <p:sldId id="263" r:id="rId11"/>
    <p:sldId id="265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11" d="100"/>
          <a:sy n="111" d="100"/>
        </p:scale>
        <p:origin x="594" y="7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4/26/2023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4/26/2023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Accessing Data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A806-9AF5-4FE5-A6BA-1AC1D29A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7CED-584E-44FE-ADCE-BD2A9E04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Learn how to access array elements for use in our programs</a:t>
            </a:r>
          </a:p>
        </p:txBody>
      </p:sp>
    </p:spTree>
    <p:extLst>
      <p:ext uri="{BB962C8B-B14F-4D97-AF65-F5344CB8AC3E}">
        <p14:creationId xmlns:p14="http://schemas.microsoft.com/office/powerpoint/2010/main" val="16593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0724-AC9B-4410-AC4D-932FDC227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The Length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C8620-F951-42C8-A269-4E92CC0F5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96752"/>
            <a:ext cx="10360501" cy="5256583"/>
          </a:xfrm>
        </p:spPr>
        <p:txBody>
          <a:bodyPr>
            <a:normAutofit/>
          </a:bodyPr>
          <a:lstStyle/>
          <a:p>
            <a:r>
              <a:rPr lang="en-CA" dirty="0"/>
              <a:t>Many times, while working with an array we need to know how many elements are in the array</a:t>
            </a:r>
          </a:p>
          <a:p>
            <a:r>
              <a:rPr lang="en-CA" dirty="0"/>
              <a:t>This can be tracked manually with an integer variable</a:t>
            </a:r>
          </a:p>
          <a:p>
            <a:pPr lvl="1"/>
            <a:r>
              <a:rPr lang="en-CA" dirty="0"/>
              <a:t>Every time you add another element in the array add 1 to your variable</a:t>
            </a:r>
          </a:p>
          <a:p>
            <a:pPr lvl="1"/>
            <a:r>
              <a:rPr lang="en-CA" dirty="0"/>
              <a:t>This is really good if we are dealing with </a:t>
            </a:r>
            <a:r>
              <a:rPr lang="en-CA" dirty="0">
                <a:solidFill>
                  <a:srgbClr val="FFFF00"/>
                </a:solidFill>
              </a:rPr>
              <a:t>an array that may or may not be full </a:t>
            </a:r>
            <a:r>
              <a:rPr lang="en-CA" dirty="0"/>
              <a:t>(all elements do not have values)</a:t>
            </a:r>
          </a:p>
          <a:p>
            <a:pPr lvl="1"/>
            <a:endParaRPr lang="en-CA" dirty="0"/>
          </a:p>
          <a:p>
            <a:r>
              <a:rPr lang="en-CA" dirty="0"/>
              <a:t>However, </a:t>
            </a:r>
            <a:r>
              <a:rPr lang="en-CA" dirty="0">
                <a:solidFill>
                  <a:srgbClr val="FFFF00"/>
                </a:solidFill>
              </a:rPr>
              <a:t>when our array is full</a:t>
            </a:r>
            <a:r>
              <a:rPr lang="en-CA" dirty="0"/>
              <a:t>, we can ask the array its size using the </a:t>
            </a:r>
            <a:r>
              <a:rPr lang="en-CA" dirty="0">
                <a:solidFill>
                  <a:srgbClr val="92D050"/>
                </a:solidFill>
              </a:rPr>
              <a:t>Length</a:t>
            </a:r>
            <a:r>
              <a:rPr lang="en-CA" dirty="0"/>
              <a:t> value of the array</a:t>
            </a:r>
          </a:p>
          <a:p>
            <a:r>
              <a:rPr lang="en-CA" dirty="0"/>
              <a:t>For example, if I had an array named nums, we could find its length with the command: </a:t>
            </a:r>
            <a:r>
              <a:rPr lang="en-CA" dirty="0" err="1">
                <a:solidFill>
                  <a:srgbClr val="00B0F0"/>
                </a:solidFill>
                <a:latin typeface="Consolas" panose="020B0609020204030204" pitchFamily="49" charset="0"/>
              </a:rPr>
              <a:t>nums.Length</a:t>
            </a:r>
            <a:endParaRPr lang="en-CA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30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56E1-1E79-4C57-A94C-CC533551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Get the Values stored in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609F7-BD54-4EA3-A36D-DEBBCA5DC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is the same as retrieving the values from a regular variable</a:t>
            </a:r>
          </a:p>
          <a:p>
            <a:pPr lvl="1"/>
            <a:r>
              <a:rPr lang="en-CA" dirty="0"/>
              <a:t>We simply need to use its name and the value is returned</a:t>
            </a:r>
          </a:p>
          <a:p>
            <a:r>
              <a:rPr lang="en-CA" dirty="0"/>
              <a:t>However, with an array, we must specify which index we need in order to access the correct element</a:t>
            </a: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Example</a:t>
            </a:r>
            <a:r>
              <a:rPr lang="en-CA" dirty="0"/>
              <a:t>: Calculate the average value in the following full array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[] nums = new int[]{3, 7, -2, 4, 0};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sum = nums[0] + nums[1] + nums[2] + nums[3] + nums[4];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avg = sum/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nums.Length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(“Sum: ” + sum + “\tAverage: ” + avg);</a:t>
            </a:r>
          </a:p>
        </p:txBody>
      </p:sp>
    </p:spTree>
    <p:extLst>
      <p:ext uri="{BB962C8B-B14F-4D97-AF65-F5344CB8AC3E}">
        <p14:creationId xmlns:p14="http://schemas.microsoft.com/office/powerpoint/2010/main" val="155297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79F5-903A-4BFA-B8BC-FC67F3F0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Arrays as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0B8ED-0332-431C-BDBD-7E9B8A248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We can pass arrays to subprograms as parameters as shown on the next slide</a:t>
            </a:r>
          </a:p>
          <a:p>
            <a:r>
              <a:rPr lang="en-CA" dirty="0"/>
              <a:t>However, we must know a few things first:</a:t>
            </a:r>
          </a:p>
          <a:p>
            <a:pPr lvl="1"/>
            <a:r>
              <a:rPr lang="en-CA" dirty="0"/>
              <a:t>Unlike regular variables that only a copy of them is passed to the parameters, </a:t>
            </a:r>
            <a:r>
              <a:rPr lang="en-CA" dirty="0">
                <a:solidFill>
                  <a:srgbClr val="92D050"/>
                </a:solidFill>
              </a:rPr>
              <a:t>for arrays it is the actual array</a:t>
            </a:r>
          </a:p>
          <a:p>
            <a:pPr lvl="2"/>
            <a:r>
              <a:rPr lang="en-CA" dirty="0">
                <a:solidFill>
                  <a:srgbClr val="FFFF00"/>
                </a:solidFill>
              </a:rPr>
              <a:t>This means, if you change the array in the subprogram it changes the ORIGINAL array</a:t>
            </a:r>
          </a:p>
          <a:p>
            <a:pPr lvl="2"/>
            <a:endParaRPr lang="en-CA" dirty="0">
              <a:solidFill>
                <a:srgbClr val="FFFF00"/>
              </a:solidFill>
            </a:endParaRPr>
          </a:p>
          <a:p>
            <a:pPr lvl="1"/>
            <a:r>
              <a:rPr lang="en-CA" dirty="0"/>
              <a:t>The parameter name for the array does NOT need to match the original, but will still really be the original array, think of it like a nickname</a:t>
            </a:r>
          </a:p>
        </p:txBody>
      </p:sp>
    </p:spTree>
    <p:extLst>
      <p:ext uri="{BB962C8B-B14F-4D97-AF65-F5344CB8AC3E}">
        <p14:creationId xmlns:p14="http://schemas.microsoft.com/office/powerpoint/2010/main" val="397556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0B46-8E50-499B-B2EC-B16C04D8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Arrays as Parameters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B103-0CCF-4B2D-B526-D5325F646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412777"/>
            <a:ext cx="10360501" cy="482453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class MainClass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public static void Main(string[] args) </a:t>
            </a:r>
            <a:r>
              <a:rPr lang="en-CA" sz="1400" dirty="0">
                <a:latin typeface="Consolas" panose="020B0609020204030204" pitchFamily="49" charset="0"/>
                <a:sym typeface="Wingdings" panose="05000000000000000000" pitchFamily="2" charset="2"/>
              </a:rPr>
              <a:t> Look, Main has an array parameter even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  <a:sym typeface="Wingdings" panose="05000000000000000000" pitchFamily="2" charset="2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  <a:sym typeface="Wingdings" panose="05000000000000000000" pitchFamily="2" charset="2"/>
              </a:rPr>
              <a:t>    int [] </a:t>
            </a:r>
            <a:r>
              <a:rPr lang="en-CA" sz="1400" dirty="0" err="1">
                <a:latin typeface="Consolas" panose="020B0609020204030204" pitchFamily="49" charset="0"/>
                <a:sym typeface="Wingdings" panose="05000000000000000000" pitchFamily="2" charset="2"/>
              </a:rPr>
              <a:t>nums</a:t>
            </a:r>
            <a:r>
              <a:rPr lang="en-CA" sz="1400" dirty="0">
                <a:latin typeface="Consolas" panose="020B0609020204030204" pitchFamily="49" charset="0"/>
                <a:sym typeface="Wingdings" panose="05000000000000000000" pitchFamily="2" charset="2"/>
              </a:rPr>
              <a:t> = new int[]{10, 7, 33};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CA" sz="1400" dirty="0">
                <a:latin typeface="Consolas" panose="020B0609020204030204" pitchFamily="49" charset="0"/>
              </a:rPr>
              <a:t>PrintEvenNumbers</a:t>
            </a:r>
            <a:r>
              <a:rPr lang="en-CA" sz="1400" dirty="0">
                <a:latin typeface="Consolas" panose="020B0609020204030204" pitchFamily="49" charset="0"/>
                <a:sym typeface="Wingdings" panose="05000000000000000000" pitchFamily="2" charset="2"/>
              </a:rPr>
              <a:t>(</a:t>
            </a:r>
            <a:r>
              <a:rPr lang="en-CA" sz="1400" dirty="0" err="1">
                <a:latin typeface="Consolas" panose="020B0609020204030204" pitchFamily="49" charset="0"/>
                <a:sym typeface="Wingdings" panose="05000000000000000000" pitchFamily="2" charset="2"/>
              </a:rPr>
              <a:t>nums</a:t>
            </a:r>
            <a:r>
              <a:rPr lang="en-CA" sz="1400" dirty="0">
                <a:latin typeface="Consolas" panose="020B0609020204030204" pitchFamily="49" charset="0"/>
                <a:sym typeface="Wingdings" panose="05000000000000000000" pitchFamily="2" charset="2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  <a:sym typeface="Wingdings" panose="05000000000000000000" pitchFamily="2" charset="2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400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private static void PrintEvenNumbers(</a:t>
            </a:r>
            <a:r>
              <a:rPr lang="en-CA" sz="1400" dirty="0">
                <a:solidFill>
                  <a:srgbClr val="FFFF00"/>
                </a:solidFill>
                <a:latin typeface="Consolas" panose="020B0609020204030204" pitchFamily="49" charset="0"/>
              </a:rPr>
              <a:t>int[] numbers</a:t>
            </a:r>
            <a:r>
              <a:rPr lang="en-CA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if (numbers[0] % 2 ==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  </a:t>
            </a:r>
            <a:r>
              <a:rPr lang="en-CA" sz="1400" dirty="0" err="1">
                <a:latin typeface="Consolas" panose="020B0609020204030204" pitchFamily="49" charset="0"/>
              </a:rPr>
              <a:t>Console.WriteLine</a:t>
            </a:r>
            <a:r>
              <a:rPr lang="en-CA" sz="1400" dirty="0">
                <a:latin typeface="Consolas" panose="020B0609020204030204" pitchFamily="49" charset="0"/>
              </a:rPr>
              <a:t>(numbers[0]);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if (numbers[1] % 2 ==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  </a:t>
            </a:r>
            <a:r>
              <a:rPr lang="en-CA" sz="1400" dirty="0" err="1">
                <a:latin typeface="Consolas" panose="020B0609020204030204" pitchFamily="49" charset="0"/>
              </a:rPr>
              <a:t>Console.WriteLine</a:t>
            </a:r>
            <a:r>
              <a:rPr lang="en-CA" sz="1400" dirty="0">
                <a:latin typeface="Consolas" panose="020B0609020204030204" pitchFamily="49" charset="0"/>
              </a:rPr>
              <a:t>(numbers[1]);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if (numbers[2] % 2 ==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  </a:t>
            </a:r>
            <a:r>
              <a:rPr lang="en-CA" sz="1400" dirty="0" err="1">
                <a:latin typeface="Consolas" panose="020B0609020204030204" pitchFamily="49" charset="0"/>
              </a:rPr>
              <a:t>Console.WriteLine</a:t>
            </a:r>
            <a:r>
              <a:rPr lang="en-CA" sz="1400" dirty="0">
                <a:latin typeface="Consolas" panose="020B0609020204030204" pitchFamily="49" charset="0"/>
              </a:rPr>
              <a:t>(numbers[2]);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018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094F-02B6-4887-AE5A-A9DC498B7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Arrays as Return Values of a Function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B41C6-2D14-4809-837D-97CC29988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82354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class MainClass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  public static void Main(string[] </a:t>
            </a:r>
            <a:r>
              <a:rPr lang="en-CA" sz="2800" dirty="0" err="1">
                <a:latin typeface="Consolas" panose="020B0609020204030204" pitchFamily="49" charset="0"/>
              </a:rPr>
              <a:t>args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  <a:endParaRPr lang="en-CA" sz="2800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  <a:sym typeface="Wingdings" panose="05000000000000000000" pitchFamily="2" charset="2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  <a:sym typeface="Wingdings" panose="05000000000000000000" pitchFamily="2" charset="2"/>
              </a:rPr>
              <a:t>    string [] names = new string[]{“Bill”, “Ted”, “Bob”};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//No need to set its size since it will get its entire data from the function</a:t>
            </a:r>
            <a:endParaRPr lang="en-CA" sz="2800" dirty="0">
              <a:solidFill>
                <a:srgbClr val="92D05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  <a:sym typeface="Wingdings" panose="05000000000000000000" pitchFamily="2" charset="2"/>
              </a:rPr>
              <a:t>    string [] reverseList;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800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CA" sz="2800" dirty="0">
                <a:solidFill>
                  <a:srgbClr val="92D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//Call the function and store the new result array for later use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  <a:sym typeface="Wingdings" panose="05000000000000000000" pitchFamily="2" charset="2"/>
              </a:rPr>
              <a:t>    reverseList = ReverseArray(names);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  <a:sym typeface="Wingdings" panose="05000000000000000000" pitchFamily="2" charset="2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800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  private static </a:t>
            </a:r>
            <a:r>
              <a:rPr lang="en-CA" sz="2800" dirty="0">
                <a:solidFill>
                  <a:srgbClr val="FFFF00"/>
                </a:solidFill>
                <a:latin typeface="Consolas" panose="020B0609020204030204" pitchFamily="49" charset="0"/>
              </a:rPr>
              <a:t>string[]</a:t>
            </a:r>
            <a:r>
              <a:rPr lang="en-CA" sz="2800" dirty="0">
                <a:latin typeface="Consolas" panose="020B0609020204030204" pitchFamily="49" charset="0"/>
              </a:rPr>
              <a:t> ReverseArray(</a:t>
            </a:r>
            <a:r>
              <a:rPr lang="en-CA" sz="2800" dirty="0">
                <a:solidFill>
                  <a:srgbClr val="FFFF00"/>
                </a:solidFill>
                <a:latin typeface="Consolas" panose="020B0609020204030204" pitchFamily="49" charset="0"/>
              </a:rPr>
              <a:t>string[] words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</a:rPr>
              <a:t>//Make the result array the same size as the incoming array</a:t>
            </a:r>
            <a:endParaRPr lang="en-CA" sz="28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    string [] result = new string[</a:t>
            </a:r>
            <a:r>
              <a:rPr lang="en-CA" sz="2800">
                <a:latin typeface="Consolas" panose="020B0609020204030204" pitchFamily="49" charset="0"/>
              </a:rPr>
              <a:t>words.Length</a:t>
            </a:r>
            <a:r>
              <a:rPr lang="en-CA" sz="2800" dirty="0"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    result[0] = words[2];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    result[1] = words[1];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    result[2] = words[0];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   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return result;</a:t>
            </a:r>
            <a:endParaRPr lang="en-CA" sz="28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latin typeface="Consolas" panose="020B0609020204030204" pitchFamily="49" charset="0"/>
              </a:rPr>
              <a:t>}</a:t>
            </a:r>
            <a:endParaRPr lang="en-CA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07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EDB8-8688-40DB-B5F0-766F3245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Parallel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C6AC-1B4D-4925-8D59-69FA4651F4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Parallel Arrays are when you have 2 or more arrays that are related and their data lines up by index</a:t>
            </a:r>
          </a:p>
          <a:p>
            <a:r>
              <a:rPr lang="en-CA" dirty="0"/>
              <a:t>For example, you may have an array of names and another of scores</a:t>
            </a:r>
          </a:p>
          <a:p>
            <a:r>
              <a:rPr lang="en-CA" dirty="0"/>
              <a:t>They then work together to store a complete high score board</a:t>
            </a:r>
          </a:p>
          <a:p>
            <a:r>
              <a:rPr lang="en-CA" dirty="0"/>
              <a:t>This means index 0 in both the names array and the scores array is the data for the player in 1</a:t>
            </a:r>
            <a:r>
              <a:rPr lang="en-CA" baseline="30000" dirty="0"/>
              <a:t>st</a:t>
            </a:r>
            <a:r>
              <a:rPr lang="en-CA" dirty="0"/>
              <a:t> place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55C9E51-4B69-4A7E-8A9C-61C88AA0DCD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2156699"/>
              </p:ext>
            </p:extLst>
          </p:nvPr>
        </p:nvGraphicFramePr>
        <p:xfrm>
          <a:off x="7246540" y="1498600"/>
          <a:ext cx="1033759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3759">
                  <a:extLst>
                    <a:ext uri="{9D8B030D-6E8A-4147-A177-3AD203B41FA5}">
                      <a16:colId xmlns:a16="http://schemas.microsoft.com/office/drawing/2014/main" val="2184702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1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30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01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Jorge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69511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5E72E2-FF76-49D5-A3D7-BB796E69E9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7308640"/>
              </p:ext>
            </p:extLst>
          </p:nvPr>
        </p:nvGraphicFramePr>
        <p:xfrm>
          <a:off x="9046740" y="1498600"/>
          <a:ext cx="1033759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3759">
                  <a:extLst>
                    <a:ext uri="{9D8B030D-6E8A-4147-A177-3AD203B41FA5}">
                      <a16:colId xmlns:a16="http://schemas.microsoft.com/office/drawing/2014/main" val="2184702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1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30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01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6951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463866-40A9-4AE0-A84B-69131399F11F}"/>
              </a:ext>
            </a:extLst>
          </p:cNvPr>
          <p:cNvSpPr txBox="1"/>
          <p:nvPr/>
        </p:nvSpPr>
        <p:spPr>
          <a:xfrm>
            <a:off x="7176792" y="975380"/>
            <a:ext cx="1151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names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A25E7-F157-4D00-8062-54CAAB82AF43}"/>
              </a:ext>
            </a:extLst>
          </p:cNvPr>
          <p:cNvSpPr txBox="1"/>
          <p:nvPr/>
        </p:nvSpPr>
        <p:spPr>
          <a:xfrm>
            <a:off x="8976992" y="967610"/>
            <a:ext cx="1103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scores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BE099C-A97E-4FD9-A6D6-7E1EE39EB48B}"/>
              </a:ext>
            </a:extLst>
          </p:cNvPr>
          <p:cNvSpPr txBox="1"/>
          <p:nvPr/>
        </p:nvSpPr>
        <p:spPr>
          <a:xfrm>
            <a:off x="6810546" y="1526468"/>
            <a:ext cx="36740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92D050"/>
                </a:solidFill>
              </a:rPr>
              <a:t>0</a:t>
            </a:r>
          </a:p>
          <a:p>
            <a:r>
              <a:rPr lang="en-CA" sz="2800" dirty="0">
                <a:solidFill>
                  <a:srgbClr val="92D050"/>
                </a:solidFill>
              </a:rPr>
              <a:t>1</a:t>
            </a:r>
          </a:p>
          <a:p>
            <a:r>
              <a:rPr lang="en-CA" sz="2800" dirty="0">
                <a:solidFill>
                  <a:srgbClr val="92D050"/>
                </a:solidFill>
              </a:rPr>
              <a:t>2</a:t>
            </a:r>
          </a:p>
          <a:p>
            <a:r>
              <a:rPr lang="en-CA" sz="2800" dirty="0">
                <a:solidFill>
                  <a:srgbClr val="92D050"/>
                </a:solidFill>
              </a:rPr>
              <a:t>3</a:t>
            </a:r>
          </a:p>
          <a:p>
            <a:r>
              <a:rPr lang="en-CA" sz="28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65B773-6F90-4C02-A1F7-796F922014D9}"/>
              </a:ext>
            </a:extLst>
          </p:cNvPr>
          <p:cNvSpPr txBox="1"/>
          <p:nvPr/>
        </p:nvSpPr>
        <p:spPr>
          <a:xfrm>
            <a:off x="8702331" y="1526468"/>
            <a:ext cx="36740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92D050"/>
                </a:solidFill>
              </a:rPr>
              <a:t>0</a:t>
            </a:r>
          </a:p>
          <a:p>
            <a:r>
              <a:rPr lang="en-CA" sz="2800" dirty="0">
                <a:solidFill>
                  <a:srgbClr val="92D050"/>
                </a:solidFill>
              </a:rPr>
              <a:t>1</a:t>
            </a:r>
          </a:p>
          <a:p>
            <a:r>
              <a:rPr lang="en-CA" sz="2800" dirty="0">
                <a:solidFill>
                  <a:srgbClr val="92D050"/>
                </a:solidFill>
              </a:rPr>
              <a:t>2</a:t>
            </a:r>
          </a:p>
          <a:p>
            <a:r>
              <a:rPr lang="en-CA" sz="2800" dirty="0">
                <a:solidFill>
                  <a:srgbClr val="92D050"/>
                </a:solidFill>
              </a:rPr>
              <a:t>3</a:t>
            </a:r>
          </a:p>
          <a:p>
            <a:r>
              <a:rPr lang="en-CA" sz="28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3332C8-5569-4F0F-B6F0-41F08AB08B5E}"/>
              </a:ext>
            </a:extLst>
          </p:cNvPr>
          <p:cNvSpPr txBox="1"/>
          <p:nvPr/>
        </p:nvSpPr>
        <p:spPr>
          <a:xfrm>
            <a:off x="6297560" y="3898214"/>
            <a:ext cx="580638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00B0F0"/>
                </a:solidFill>
              </a:rPr>
              <a:t>Print out the entire high score board</a:t>
            </a:r>
          </a:p>
          <a:p>
            <a:endParaRPr lang="en-CA" sz="1400" dirty="0">
              <a:latin typeface="Consolas" panose="020B0609020204030204" pitchFamily="49" charset="0"/>
            </a:endParaRPr>
          </a:p>
          <a:p>
            <a:r>
              <a:rPr lang="en-CA" sz="1400" dirty="0" err="1">
                <a:latin typeface="Consolas" panose="020B0609020204030204" pitchFamily="49" charset="0"/>
              </a:rPr>
              <a:t>Console.WriteLine</a:t>
            </a:r>
            <a:r>
              <a:rPr lang="en-CA" sz="1400" dirty="0">
                <a:latin typeface="Consolas" panose="020B0609020204030204" pitchFamily="49" charset="0"/>
              </a:rPr>
              <a:t>(“1. ” + names[0] + “...” + scores[0]);</a:t>
            </a:r>
          </a:p>
          <a:p>
            <a:r>
              <a:rPr lang="en-CA" sz="1400" dirty="0" err="1">
                <a:latin typeface="Consolas" panose="020B0609020204030204" pitchFamily="49" charset="0"/>
              </a:rPr>
              <a:t>Console.WriteLine</a:t>
            </a:r>
            <a:r>
              <a:rPr lang="en-CA" sz="1400" dirty="0">
                <a:latin typeface="Consolas" panose="020B0609020204030204" pitchFamily="49" charset="0"/>
              </a:rPr>
              <a:t>(“2. ” + names[1] + “...” + scores[1]);</a:t>
            </a:r>
          </a:p>
          <a:p>
            <a:r>
              <a:rPr lang="en-CA" sz="1400" dirty="0" err="1">
                <a:latin typeface="Consolas" panose="020B0609020204030204" pitchFamily="49" charset="0"/>
              </a:rPr>
              <a:t>Console.WriteLine</a:t>
            </a:r>
            <a:r>
              <a:rPr lang="en-CA" sz="1400" dirty="0">
                <a:latin typeface="Consolas" panose="020B0609020204030204" pitchFamily="49" charset="0"/>
              </a:rPr>
              <a:t>(“3. ” + names[2] + “...” + scores[2]);</a:t>
            </a:r>
          </a:p>
          <a:p>
            <a:r>
              <a:rPr lang="en-CA" sz="1400" dirty="0" err="1">
                <a:latin typeface="Consolas" panose="020B0609020204030204" pitchFamily="49" charset="0"/>
              </a:rPr>
              <a:t>Console.WriteLine</a:t>
            </a:r>
            <a:r>
              <a:rPr lang="en-CA" sz="1400" dirty="0">
                <a:latin typeface="Consolas" panose="020B0609020204030204" pitchFamily="49" charset="0"/>
              </a:rPr>
              <a:t>(“4. ” + names[3] + “...” + scores[3]);</a:t>
            </a:r>
          </a:p>
          <a:p>
            <a:r>
              <a:rPr lang="en-CA" sz="1400" dirty="0" err="1">
                <a:latin typeface="Consolas" panose="020B0609020204030204" pitchFamily="49" charset="0"/>
              </a:rPr>
              <a:t>Console.WriteLine</a:t>
            </a:r>
            <a:r>
              <a:rPr lang="en-CA" sz="1400" dirty="0">
                <a:latin typeface="Consolas" panose="020B0609020204030204" pitchFamily="49" charset="0"/>
              </a:rPr>
              <a:t>(“5. ” + names[4] + “...” + scores[4]);</a:t>
            </a:r>
          </a:p>
          <a:p>
            <a:endParaRPr lang="en-CA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93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812</TotalTime>
  <Words>852</Words>
  <Application>Microsoft Office PowerPoint</Application>
  <PresentationFormat>Custom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Tech 16x9</vt:lpstr>
      <vt:lpstr>Arrays</vt:lpstr>
      <vt:lpstr>Objectives</vt:lpstr>
      <vt:lpstr>The Length of an Array</vt:lpstr>
      <vt:lpstr>Get the Values stored in an Array</vt:lpstr>
      <vt:lpstr>Arrays as Parameters</vt:lpstr>
      <vt:lpstr>Arrays as Parameters Example</vt:lpstr>
      <vt:lpstr>Arrays as Return Values of a Function Example</vt:lpstr>
      <vt:lpstr>Parallel Arrays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64</cp:revision>
  <dcterms:created xsi:type="dcterms:W3CDTF">2020-09-21T00:53:05Z</dcterms:created>
  <dcterms:modified xsi:type="dcterms:W3CDTF">2023-04-26T22:44:51Z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