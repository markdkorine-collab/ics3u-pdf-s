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57" r:id="rId5"/>
    <p:sldId id="258" r:id="rId6"/>
    <p:sldId id="259" r:id="rId7"/>
    <p:sldId id="260" r:id="rId8"/>
    <p:sldId id="261" r:id="rId9"/>
    <p:sldId id="262" r:id="rId1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23" d="100"/>
          <a:sy n="123" d="100"/>
        </p:scale>
        <p:origin x="108" y="288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2/26/2026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2/26/2026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2/26/2026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2/26/2026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2/26/2026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2/26/2026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2/26/2026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Design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IPO Charts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23F33-B3B0-4411-8A9D-11959F855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Design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2849F-7457-4D11-8254-B1B48364B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computer only does 4 basic operations, which follows the acronym I.P.S.O.</a:t>
            </a:r>
          </a:p>
          <a:p>
            <a:endParaRPr lang="en-CA" dirty="0"/>
          </a:p>
          <a:p>
            <a:r>
              <a:rPr lang="en-CA" dirty="0">
                <a:solidFill>
                  <a:srgbClr val="92D050"/>
                </a:solidFill>
              </a:rPr>
              <a:t>INPUT</a:t>
            </a:r>
            <a:r>
              <a:rPr lang="en-CA" dirty="0"/>
              <a:t>: Reads data from the user into the computer</a:t>
            </a:r>
          </a:p>
          <a:p>
            <a:r>
              <a:rPr lang="en-CA" dirty="0">
                <a:solidFill>
                  <a:srgbClr val="92D050"/>
                </a:solidFill>
              </a:rPr>
              <a:t>PROCESSING</a:t>
            </a:r>
            <a:r>
              <a:rPr lang="en-CA" dirty="0"/>
              <a:t>: Manipulates or changes that input data</a:t>
            </a:r>
          </a:p>
          <a:p>
            <a:r>
              <a:rPr lang="en-CA" dirty="0">
                <a:solidFill>
                  <a:srgbClr val="92D050"/>
                </a:solidFill>
              </a:rPr>
              <a:t>STORAGE</a:t>
            </a:r>
            <a:r>
              <a:rPr lang="en-CA" dirty="0"/>
              <a:t>: Stores the results of the processing for later user</a:t>
            </a:r>
          </a:p>
          <a:p>
            <a:r>
              <a:rPr lang="en-CA" dirty="0">
                <a:solidFill>
                  <a:srgbClr val="92D050"/>
                </a:solidFill>
              </a:rPr>
              <a:t>OUTPUT</a:t>
            </a:r>
            <a:r>
              <a:rPr lang="en-CA" dirty="0"/>
              <a:t>: Gives feedback to the user informing them of the results</a:t>
            </a:r>
          </a:p>
        </p:txBody>
      </p:sp>
    </p:spTree>
    <p:extLst>
      <p:ext uri="{BB962C8B-B14F-4D97-AF65-F5344CB8AC3E}">
        <p14:creationId xmlns:p14="http://schemas.microsoft.com/office/powerpoint/2010/main" val="2478593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78727-5F1F-41BA-8846-33BC71CE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Design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0A6AC-FE73-408F-9AB9-AA2ACBB84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Typically Processing and Storage occur together, so we can shorten the acronym to </a:t>
            </a:r>
            <a:r>
              <a:rPr lang="en-CA" dirty="0">
                <a:solidFill>
                  <a:srgbClr val="92D050"/>
                </a:solidFill>
              </a:rPr>
              <a:t>I.P.O.</a:t>
            </a:r>
          </a:p>
          <a:p>
            <a:pPr lvl="1"/>
            <a:r>
              <a:rPr lang="en-CA" dirty="0"/>
              <a:t>Input</a:t>
            </a:r>
          </a:p>
          <a:p>
            <a:pPr lvl="1"/>
            <a:r>
              <a:rPr lang="en-CA" dirty="0"/>
              <a:t>Processing &amp; Storage</a:t>
            </a:r>
          </a:p>
          <a:p>
            <a:pPr lvl="1"/>
            <a:r>
              <a:rPr lang="en-CA" dirty="0"/>
              <a:t>Output</a:t>
            </a:r>
          </a:p>
          <a:p>
            <a:endParaRPr lang="en-CA" dirty="0"/>
          </a:p>
          <a:p>
            <a:r>
              <a:rPr lang="en-CA" dirty="0"/>
              <a:t>Nearly every program you create in this course will follow these basic operations in that order </a:t>
            </a:r>
            <a:r>
              <a:rPr lang="en-CA" dirty="0">
                <a:solidFill>
                  <a:srgbClr val="92D050"/>
                </a:solidFill>
              </a:rPr>
              <a:t>exactly</a:t>
            </a:r>
            <a:r>
              <a:rPr lang="en-CA" dirty="0"/>
              <a:t>. </a:t>
            </a:r>
          </a:p>
          <a:p>
            <a:endParaRPr lang="en-CA" dirty="0"/>
          </a:p>
          <a:p>
            <a:r>
              <a:rPr lang="en-CA" dirty="0"/>
              <a:t>As the programs grow in scale you may repeat this process multiple times in the same program.</a:t>
            </a:r>
          </a:p>
        </p:txBody>
      </p:sp>
    </p:spTree>
    <p:extLst>
      <p:ext uri="{BB962C8B-B14F-4D97-AF65-F5344CB8AC3E}">
        <p14:creationId xmlns:p14="http://schemas.microsoft.com/office/powerpoint/2010/main" val="288660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F9BD1-EBCE-461A-A9C5-B661305FB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Design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2629-AFAE-4F5A-A1DB-E398DFA2F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980728"/>
            <a:ext cx="10360501" cy="5760640"/>
          </a:xfrm>
        </p:spPr>
        <p:txBody>
          <a:bodyPr>
            <a:normAutofit fontScale="92500"/>
          </a:bodyPr>
          <a:lstStyle/>
          <a:p>
            <a:r>
              <a:rPr lang="en-CA" dirty="0"/>
              <a:t>So when faced with a problem to solve, it is a two stage procedure: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CA" dirty="0"/>
              <a:t>Brainstorm what is done in each of the I, P, and O portions of the program.  To do this we will use a graphical organizer called an IPO Chart</a:t>
            </a:r>
          </a:p>
          <a:p>
            <a:pPr marL="914400" lvl="1" indent="-457200">
              <a:buFont typeface="+mj-lt"/>
              <a:buAutoNum type="arabicParenR"/>
            </a:pPr>
            <a:endParaRPr lang="en-CA" dirty="0"/>
          </a:p>
          <a:p>
            <a:pPr marL="914400" lvl="1" indent="-457200">
              <a:buFont typeface="+mj-lt"/>
              <a:buAutoNum type="arabicParenR"/>
            </a:pPr>
            <a:r>
              <a:rPr lang="en-CA" dirty="0"/>
              <a:t>Program each of the I, P, O portions in order, column by column from top to bottom…that’s it.</a:t>
            </a:r>
          </a:p>
          <a:p>
            <a:pPr marL="1219147" lvl="2" indent="-457200"/>
            <a:r>
              <a:rPr lang="en-CA" dirty="0"/>
              <a:t>Meaning, fully do your Input column from top to bottom, before moving to the next column to program it, top to bottom</a:t>
            </a:r>
          </a:p>
          <a:p>
            <a:pPr marL="1219147" lvl="2" indent="-457200"/>
            <a:endParaRPr lang="en-CA" dirty="0"/>
          </a:p>
          <a:p>
            <a:pPr marL="609654" indent="-457200"/>
            <a:r>
              <a:rPr lang="en-CA" dirty="0"/>
              <a:t>It is important to realize that all forms of design are meant to be language independent</a:t>
            </a:r>
          </a:p>
          <a:p>
            <a:pPr marL="914400" lvl="1" indent="-457200"/>
            <a:r>
              <a:rPr lang="en-CA" dirty="0"/>
              <a:t>Meaning there should be no ties to any specific programming languages</a:t>
            </a:r>
          </a:p>
          <a:p>
            <a:pPr marL="914400" lvl="1" indent="-457200"/>
            <a:r>
              <a:rPr lang="en-CA" dirty="0"/>
              <a:t>This means, no code should ever appear</a:t>
            </a:r>
          </a:p>
          <a:p>
            <a:pPr marL="914400" lvl="1" indent="-457200"/>
            <a:r>
              <a:rPr lang="en-CA" dirty="0"/>
              <a:t>You should be able to hand your design to a programmer of any language and they will then interpret the correct commands to use in their chosen language</a:t>
            </a:r>
          </a:p>
        </p:txBody>
      </p:sp>
    </p:spTree>
    <p:extLst>
      <p:ext uri="{BB962C8B-B14F-4D97-AF65-F5344CB8AC3E}">
        <p14:creationId xmlns:p14="http://schemas.microsoft.com/office/powerpoint/2010/main" val="180483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4079-82D3-48A7-82D8-A35FF4608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IPO 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50F81-E916-4968-B0CE-A4230C416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908720"/>
            <a:ext cx="10360501" cy="2063080"/>
          </a:xfrm>
        </p:spPr>
        <p:txBody>
          <a:bodyPr>
            <a:normAutofit lnSpcReduction="10000"/>
          </a:bodyPr>
          <a:lstStyle/>
          <a:p>
            <a:r>
              <a:rPr lang="en-CA" dirty="0"/>
              <a:t>They are called IPO charts because this acronym represents the column headers of the chart</a:t>
            </a:r>
          </a:p>
          <a:p>
            <a:r>
              <a:rPr lang="en-CA" dirty="0"/>
              <a:t>So what goes in each column?</a:t>
            </a:r>
          </a:p>
          <a:p>
            <a:pPr marL="0" indent="0">
              <a:buNone/>
            </a:pPr>
            <a:r>
              <a:rPr lang="en-CA" b="1" dirty="0">
                <a:solidFill>
                  <a:srgbClr val="00B0F0"/>
                </a:solidFill>
              </a:rPr>
              <a:t>          VARIABLES                           LOGIC                           FEEDBACK</a:t>
            </a:r>
          </a:p>
          <a:p>
            <a:pPr marL="0" indent="0">
              <a:buNone/>
            </a:pPr>
            <a:endParaRPr lang="en-CA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B4C4BB3-795E-4D22-873C-87DB3EED6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965598"/>
              </p:ext>
            </p:extLst>
          </p:nvPr>
        </p:nvGraphicFramePr>
        <p:xfrm>
          <a:off x="1218883" y="2780927"/>
          <a:ext cx="10360500" cy="380243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453500">
                  <a:extLst>
                    <a:ext uri="{9D8B030D-6E8A-4147-A177-3AD203B41FA5}">
                      <a16:colId xmlns:a16="http://schemas.microsoft.com/office/drawing/2014/main" val="1678874250"/>
                    </a:ext>
                  </a:extLst>
                </a:gridCol>
                <a:gridCol w="3453500">
                  <a:extLst>
                    <a:ext uri="{9D8B030D-6E8A-4147-A177-3AD203B41FA5}">
                      <a16:colId xmlns:a16="http://schemas.microsoft.com/office/drawing/2014/main" val="4171919813"/>
                    </a:ext>
                  </a:extLst>
                </a:gridCol>
                <a:gridCol w="3453500">
                  <a:extLst>
                    <a:ext uri="{9D8B030D-6E8A-4147-A177-3AD203B41FA5}">
                      <a16:colId xmlns:a16="http://schemas.microsoft.com/office/drawing/2014/main" val="294322723"/>
                    </a:ext>
                  </a:extLst>
                </a:gridCol>
              </a:tblGrid>
              <a:tr h="619731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INPUT</a:t>
                      </a:r>
                    </a:p>
                    <a:p>
                      <a:pPr algn="ctr"/>
                      <a:r>
                        <a:rPr lang="en-CA" sz="1400" dirty="0"/>
                        <a:t>(Input, calculation variables and constants)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PROCESSING &amp; STORAGE</a:t>
                      </a:r>
                    </a:p>
                    <a:p>
                      <a:pPr algn="ctr"/>
                      <a:r>
                        <a:rPr lang="en-CA" sz="1400" dirty="0"/>
                        <a:t>(Data Retrieval and Logic)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OUTPUT</a:t>
                      </a:r>
                    </a:p>
                    <a:p>
                      <a:pPr algn="ctr"/>
                      <a:r>
                        <a:rPr lang="en-CA" sz="1400" dirty="0"/>
                        <a:t>(Final Text Feedback only, NOT prompts)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373257"/>
                  </a:ext>
                </a:extLst>
              </a:tr>
              <a:tr h="3182705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8291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6D3AF54-5E7F-464E-A490-3987AEA7172D}"/>
              </a:ext>
            </a:extLst>
          </p:cNvPr>
          <p:cNvSpPr txBox="1"/>
          <p:nvPr/>
        </p:nvSpPr>
        <p:spPr>
          <a:xfrm>
            <a:off x="1263328" y="3409147"/>
            <a:ext cx="25944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FFFF00"/>
                </a:solidFill>
              </a:rPr>
              <a:t>This column consists of: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CA" sz="1400" dirty="0" smtClean="0">
                <a:solidFill>
                  <a:srgbClr val="FFFF00"/>
                </a:solidFill>
              </a:rPr>
              <a:t>Constants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CA" sz="1400" dirty="0" smtClean="0">
                <a:solidFill>
                  <a:srgbClr val="FFFF00"/>
                </a:solidFill>
              </a:rPr>
              <a:t>Input </a:t>
            </a:r>
            <a:r>
              <a:rPr lang="en-CA" sz="1400" dirty="0">
                <a:solidFill>
                  <a:srgbClr val="FFFF00"/>
                </a:solidFill>
              </a:rPr>
              <a:t>variables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FFFF00"/>
                </a:solidFill>
              </a:rPr>
              <a:t>Calculation </a:t>
            </a:r>
            <a:r>
              <a:rPr lang="en-CA" sz="1400" dirty="0" smtClean="0">
                <a:solidFill>
                  <a:srgbClr val="FFFF00"/>
                </a:solidFill>
              </a:rPr>
              <a:t>variables</a:t>
            </a:r>
            <a:endParaRPr lang="en-CA" sz="1400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A19D8-9EE4-4274-AD6C-1E65C9048A90}"/>
              </a:ext>
            </a:extLst>
          </p:cNvPr>
          <p:cNvSpPr txBox="1"/>
          <p:nvPr/>
        </p:nvSpPr>
        <p:spPr>
          <a:xfrm>
            <a:off x="4634959" y="3409146"/>
            <a:ext cx="347325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FFFF00"/>
                </a:solidFill>
              </a:rPr>
              <a:t>This column consists of </a:t>
            </a:r>
            <a:r>
              <a:rPr lang="en-CA" sz="1400" b="1" dirty="0">
                <a:solidFill>
                  <a:srgbClr val="00B0F0"/>
                </a:solidFill>
              </a:rPr>
              <a:t>Program logic </a:t>
            </a:r>
            <a:r>
              <a:rPr lang="en-CA" sz="1400" b="1" dirty="0">
                <a:solidFill>
                  <a:srgbClr val="FFFF00"/>
                </a:solidFill>
              </a:rPr>
              <a:t/>
            </a:r>
            <a:br>
              <a:rPr lang="en-CA" sz="1400" b="1" dirty="0">
                <a:solidFill>
                  <a:srgbClr val="FFFF00"/>
                </a:solidFill>
              </a:rPr>
            </a:br>
            <a:r>
              <a:rPr lang="en-CA" sz="1400" dirty="0">
                <a:solidFill>
                  <a:srgbClr val="FFFF00"/>
                </a:solidFill>
              </a:rPr>
              <a:t>(not code, but rather simple instructions)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FFFF00"/>
                </a:solidFill>
              </a:rPr>
              <a:t>Data Request and Retrieval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FFFF00"/>
                </a:solidFill>
              </a:rPr>
              <a:t>Calculations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FFFF00"/>
                </a:solidFill>
              </a:rPr>
              <a:t>Comparisons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FFFF00"/>
                </a:solidFill>
              </a:rPr>
              <a:t>Or any other </a:t>
            </a:r>
            <a:r>
              <a:rPr lang="en-CA" sz="1400" dirty="0" smtClean="0">
                <a:solidFill>
                  <a:srgbClr val="FFFF00"/>
                </a:solidFill>
              </a:rPr>
              <a:t>required actions</a:t>
            </a:r>
            <a:endParaRPr lang="en-CA" sz="1400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3A7E65-69BB-4501-9774-BF2EFE28285F}"/>
              </a:ext>
            </a:extLst>
          </p:cNvPr>
          <p:cNvSpPr txBox="1"/>
          <p:nvPr/>
        </p:nvSpPr>
        <p:spPr>
          <a:xfrm>
            <a:off x="1263329" y="4293096"/>
            <a:ext cx="33696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This section helps us determine </a:t>
            </a:r>
            <a:r>
              <a:rPr lang="en-CA" sz="1400" dirty="0" smtClean="0"/>
              <a:t>the </a:t>
            </a:r>
            <a:r>
              <a:rPr lang="en-CA" sz="1400" dirty="0" smtClean="0">
                <a:solidFill>
                  <a:srgbClr val="FFFF00"/>
                </a:solidFill>
              </a:rPr>
              <a:t>name</a:t>
            </a:r>
            <a:r>
              <a:rPr lang="en-CA" sz="1400" dirty="0" smtClean="0"/>
              <a:t> and </a:t>
            </a:r>
            <a:r>
              <a:rPr lang="en-CA" sz="1400" dirty="0" smtClean="0">
                <a:solidFill>
                  <a:srgbClr val="FFFF00"/>
                </a:solidFill>
              </a:rPr>
              <a:t>type</a:t>
            </a:r>
            <a:r>
              <a:rPr lang="en-CA" sz="1400" dirty="0" smtClean="0"/>
              <a:t> of required constants and variables</a:t>
            </a:r>
            <a:endParaRPr lang="en-CA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1B11A0-A82E-4BBA-9F8A-499BBB2CF9E5}"/>
              </a:ext>
            </a:extLst>
          </p:cNvPr>
          <p:cNvSpPr txBox="1"/>
          <p:nvPr/>
        </p:nvSpPr>
        <p:spPr>
          <a:xfrm>
            <a:off x="1263330" y="4996914"/>
            <a:ext cx="348259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92D050"/>
                </a:solidFill>
              </a:rPr>
              <a:t>For </a:t>
            </a:r>
            <a:r>
              <a:rPr lang="en-CA" sz="1400" b="1" dirty="0">
                <a:solidFill>
                  <a:srgbClr val="92D050"/>
                </a:solidFill>
              </a:rPr>
              <a:t>EACH</a:t>
            </a:r>
            <a:r>
              <a:rPr lang="en-CA" sz="1400" dirty="0">
                <a:solidFill>
                  <a:srgbClr val="92D050"/>
                </a:solidFill>
              </a:rPr>
              <a:t> variable, give a type and</a:t>
            </a:r>
            <a:br>
              <a:rPr lang="en-CA" sz="1400" dirty="0">
                <a:solidFill>
                  <a:srgbClr val="92D050"/>
                </a:solidFill>
              </a:rPr>
            </a:br>
            <a:r>
              <a:rPr lang="en-CA" sz="1400" dirty="0">
                <a:solidFill>
                  <a:srgbClr val="92D050"/>
                </a:solidFill>
              </a:rPr>
              <a:t>a descriptive name, like a definition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92D050"/>
                </a:solidFill>
              </a:rPr>
              <a:t>E.g. </a:t>
            </a:r>
            <a:r>
              <a:rPr lang="en-CA" sz="1400" dirty="0"/>
              <a:t>double classAverage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endParaRPr lang="en-CA" sz="1400" dirty="0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92D050"/>
                </a:solidFill>
              </a:rPr>
              <a:t>For constants, use </a:t>
            </a:r>
            <a:r>
              <a:rPr lang="en-CA" sz="1400" dirty="0" smtClean="0">
                <a:solidFill>
                  <a:srgbClr val="92D050"/>
                </a:solidFill>
              </a:rPr>
              <a:t>CAPS and </a:t>
            </a:r>
            <a:r>
              <a:rPr lang="en-CA" sz="1400" dirty="0">
                <a:solidFill>
                  <a:srgbClr val="92D050"/>
                </a:solidFill>
              </a:rPr>
              <a:t>assign it a </a:t>
            </a:r>
            <a:r>
              <a:rPr lang="en-CA" sz="1400" dirty="0" smtClean="0">
                <a:solidFill>
                  <a:srgbClr val="92D050"/>
                </a:solidFill>
              </a:rPr>
              <a:t>value (no </a:t>
            </a:r>
            <a:r>
              <a:rPr lang="en-CA" sz="1400" dirty="0" err="1" smtClean="0">
                <a:solidFill>
                  <a:srgbClr val="FFFF00"/>
                </a:solidFill>
              </a:rPr>
              <a:t>const</a:t>
            </a:r>
            <a:r>
              <a:rPr lang="en-CA" sz="1400" dirty="0" smtClean="0">
                <a:solidFill>
                  <a:srgbClr val="92D050"/>
                </a:solidFill>
              </a:rPr>
              <a:t> needed, that is code)</a:t>
            </a:r>
            <a:endParaRPr lang="en-CA" sz="1400" dirty="0">
              <a:solidFill>
                <a:srgbClr val="92D050"/>
              </a:solidFill>
            </a:endParaRP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92D050"/>
                </a:solidFill>
              </a:rPr>
              <a:t>E.g. </a:t>
            </a:r>
            <a:r>
              <a:rPr lang="en-CA" sz="1400" dirty="0" smtClean="0"/>
              <a:t>double </a:t>
            </a:r>
            <a:r>
              <a:rPr lang="en-CA" sz="1400" dirty="0"/>
              <a:t>GRAVITY = 9.81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84842F-E787-4202-B061-D9AA80829C36}"/>
              </a:ext>
            </a:extLst>
          </p:cNvPr>
          <p:cNvSpPr txBox="1"/>
          <p:nvPr/>
        </p:nvSpPr>
        <p:spPr>
          <a:xfrm>
            <a:off x="4634958" y="4986892"/>
            <a:ext cx="36010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The logic should be in order, meaning Data</a:t>
            </a:r>
            <a:br>
              <a:rPr lang="en-CA" sz="1400" dirty="0"/>
            </a:br>
            <a:r>
              <a:rPr lang="en-CA" sz="1400" dirty="0"/>
              <a:t>Request and Retrieval should almost</a:t>
            </a:r>
            <a:br>
              <a:rPr lang="en-CA" sz="1400" dirty="0"/>
            </a:br>
            <a:r>
              <a:rPr lang="en-CA" sz="1400" dirty="0"/>
              <a:t>always be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Use one bullet for each piece of processing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FDC21E-1008-4178-8B92-7A4B75BC81C1}"/>
              </a:ext>
            </a:extLst>
          </p:cNvPr>
          <p:cNvSpPr txBox="1"/>
          <p:nvPr/>
        </p:nvSpPr>
        <p:spPr>
          <a:xfrm>
            <a:off x="4647292" y="6000571"/>
            <a:ext cx="3319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B0F0"/>
                </a:solidFill>
              </a:rPr>
              <a:t>Keywords to use: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b="1" dirty="0">
                <a:solidFill>
                  <a:srgbClr val="92D050"/>
                </a:solidFill>
              </a:rPr>
              <a:t>ASK/READ</a:t>
            </a:r>
            <a:r>
              <a:rPr lang="en-CA" sz="1400" dirty="0">
                <a:solidFill>
                  <a:srgbClr val="00B0F0"/>
                </a:solidFill>
              </a:rPr>
              <a:t>,</a:t>
            </a:r>
            <a:r>
              <a:rPr lang="en-CA" sz="1400" dirty="0">
                <a:solidFill>
                  <a:srgbClr val="92D050"/>
                </a:solidFill>
              </a:rPr>
              <a:t> </a:t>
            </a:r>
            <a:r>
              <a:rPr lang="en-CA" sz="1400" b="1" dirty="0">
                <a:solidFill>
                  <a:srgbClr val="92D050"/>
                </a:solidFill>
              </a:rPr>
              <a:t>SET</a:t>
            </a:r>
            <a:r>
              <a:rPr lang="en-CA" sz="1400" dirty="0">
                <a:solidFill>
                  <a:srgbClr val="00B0F0"/>
                </a:solidFill>
              </a:rPr>
              <a:t>,</a:t>
            </a:r>
            <a:r>
              <a:rPr lang="en-CA" sz="1400" dirty="0">
                <a:solidFill>
                  <a:srgbClr val="92D050"/>
                </a:solidFill>
              </a:rPr>
              <a:t/>
            </a:r>
            <a:br>
              <a:rPr lang="en-CA" sz="1400" dirty="0">
                <a:solidFill>
                  <a:srgbClr val="92D050"/>
                </a:solidFill>
              </a:rPr>
            </a:br>
            <a:r>
              <a:rPr lang="en-CA" sz="1400" b="1" dirty="0">
                <a:solidFill>
                  <a:srgbClr val="92D050"/>
                </a:solidFill>
              </a:rPr>
              <a:t>CALCULATE</a:t>
            </a:r>
            <a:r>
              <a:rPr lang="en-CA" sz="1400" dirty="0">
                <a:solidFill>
                  <a:srgbClr val="00B0F0"/>
                </a:solidFill>
              </a:rPr>
              <a:t>,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b="1" dirty="0">
                <a:solidFill>
                  <a:srgbClr val="92D050"/>
                </a:solidFill>
              </a:rPr>
              <a:t>INCREMENT</a:t>
            </a:r>
            <a:r>
              <a:rPr lang="en-CA" sz="1400" dirty="0">
                <a:solidFill>
                  <a:srgbClr val="00B0F0"/>
                </a:solidFill>
              </a:rPr>
              <a:t>,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b="1" dirty="0">
                <a:solidFill>
                  <a:srgbClr val="92D050"/>
                </a:solidFill>
              </a:rPr>
              <a:t>DECREMENT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18ECEB-D22D-4F1E-9434-3EE721EE0392}"/>
              </a:ext>
            </a:extLst>
          </p:cNvPr>
          <p:cNvSpPr txBox="1"/>
          <p:nvPr/>
        </p:nvSpPr>
        <p:spPr>
          <a:xfrm>
            <a:off x="8093413" y="3429000"/>
            <a:ext cx="327538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FFFF00"/>
                </a:solidFill>
              </a:rPr>
              <a:t>This column consists of the </a:t>
            </a:r>
            <a:r>
              <a:rPr lang="en-CA" sz="1400" b="1" dirty="0">
                <a:solidFill>
                  <a:srgbClr val="00B0F0"/>
                </a:solidFill>
              </a:rPr>
              <a:t>EXACT</a:t>
            </a:r>
            <a:r>
              <a:rPr lang="en-CA" sz="1400" dirty="0">
                <a:solidFill>
                  <a:srgbClr val="FFFF00"/>
                </a:solidFill>
              </a:rPr>
              <a:t> text</a:t>
            </a:r>
            <a:br>
              <a:rPr lang="en-CA" sz="1400" dirty="0">
                <a:solidFill>
                  <a:srgbClr val="FFFF00"/>
                </a:solidFill>
              </a:rPr>
            </a:br>
            <a:r>
              <a:rPr lang="en-CA" sz="1400" dirty="0">
                <a:solidFill>
                  <a:srgbClr val="FFFF00"/>
                </a:solidFill>
              </a:rPr>
              <a:t>(or other form of output) that is to be</a:t>
            </a:r>
            <a:br>
              <a:rPr lang="en-CA" sz="1400" dirty="0">
                <a:solidFill>
                  <a:srgbClr val="FFFF00"/>
                </a:solidFill>
              </a:rPr>
            </a:br>
            <a:r>
              <a:rPr lang="en-CA" sz="1400" dirty="0">
                <a:solidFill>
                  <a:srgbClr val="FFFF00"/>
                </a:solidFill>
              </a:rPr>
              <a:t>shown to the user as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FFFF00"/>
                </a:solidFill>
              </a:rPr>
              <a:t>NOT INPUT </a:t>
            </a:r>
            <a:r>
              <a:rPr lang="en-CA" sz="1400" dirty="0" smtClean="0">
                <a:solidFill>
                  <a:srgbClr val="FFFF00"/>
                </a:solidFill>
              </a:rPr>
              <a:t>PROMPTS, just FEEDBACK</a:t>
            </a:r>
            <a:endParaRPr lang="en-CA" sz="1400" dirty="0">
              <a:solidFill>
                <a:srgbClr val="FFFF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D7422C-78CC-4439-9D72-20C16DD000AF}"/>
              </a:ext>
            </a:extLst>
          </p:cNvPr>
          <p:cNvSpPr txBox="1"/>
          <p:nvPr/>
        </p:nvSpPr>
        <p:spPr>
          <a:xfrm>
            <a:off x="8093413" y="4423389"/>
            <a:ext cx="31125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Use quotations and concatenation if</a:t>
            </a:r>
            <a:br>
              <a:rPr lang="en-CA" sz="1400" dirty="0"/>
            </a:br>
            <a:r>
              <a:rPr lang="en-CA" sz="1400" dirty="0"/>
              <a:t>needed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384AF1-B39F-4F73-AEBD-53E0CA0D395C}"/>
              </a:ext>
            </a:extLst>
          </p:cNvPr>
          <p:cNvSpPr txBox="1"/>
          <p:nvPr/>
        </p:nvSpPr>
        <p:spPr>
          <a:xfrm>
            <a:off x="8098997" y="5020930"/>
            <a:ext cx="3319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B0F0"/>
                </a:solidFill>
              </a:rPr>
              <a:t>Keywords to use: </a:t>
            </a:r>
            <a:r>
              <a:rPr lang="en-CA" sz="1400" b="1" dirty="0">
                <a:solidFill>
                  <a:srgbClr val="92D050"/>
                </a:solidFill>
              </a:rPr>
              <a:t>DISPLAY</a:t>
            </a:r>
            <a:endParaRPr lang="en-CA" sz="14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556DC8-13A1-45B8-8120-5377893DDE3E}"/>
              </a:ext>
            </a:extLst>
          </p:cNvPr>
          <p:cNvSpPr txBox="1"/>
          <p:nvPr/>
        </p:nvSpPr>
        <p:spPr>
          <a:xfrm>
            <a:off x="8098794" y="5367147"/>
            <a:ext cx="348259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92D050"/>
                </a:solidFill>
              </a:rPr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200" dirty="0"/>
              <a:t>DISPLAY “The area of the circle is” + circleArea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6956" y="1327217"/>
            <a:ext cx="5644947" cy="107721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You may need to do processing that the existing Keywords do not describe, e.g. rounding.  Make up your own keywords that are clear and intuitive.</a:t>
            </a:r>
          </a:p>
          <a:p>
            <a:pPr algn="just"/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E.g. SET </a:t>
            </a:r>
            <a:r>
              <a:rPr 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displayNum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ROUND(</a:t>
            </a:r>
            <a:r>
              <a:rPr lang="en-US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99552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5" grpId="0"/>
      <p:bldP spid="19" grpId="0"/>
      <p:bldP spid="21" grpId="0"/>
      <p:bldP spid="23" grpId="0"/>
      <p:bldP spid="25" grpId="0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A4619-93FF-41EA-B99F-4C2F66D87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Example Program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10036-EC1B-435C-AE4F-167251E9B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4" y="1196752"/>
            <a:ext cx="10873207" cy="10791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dirty="0"/>
              <a:t>Create a program that will calculate difference in travel time from earth to mars between a rocket and a light speed laser.  To do this, you will ask the user for the speed of the rocket in km/s.  You know that the speed of light is about 300 000 km/s and mars is about 63 million km away. Report your </a:t>
            </a:r>
            <a:r>
              <a:rPr lang="en-CA" sz="2000" dirty="0" smtClean="0"/>
              <a:t>findings.</a:t>
            </a:r>
            <a:endParaRPr lang="en-CA" sz="2000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956EE5F4-D1FC-4D27-B566-320B5D7C4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30814"/>
              </p:ext>
            </p:extLst>
          </p:nvPr>
        </p:nvGraphicFramePr>
        <p:xfrm>
          <a:off x="837828" y="2348879"/>
          <a:ext cx="11017223" cy="423448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501555">
                  <a:extLst>
                    <a:ext uri="{9D8B030D-6E8A-4147-A177-3AD203B41FA5}">
                      <a16:colId xmlns:a16="http://schemas.microsoft.com/office/drawing/2014/main" val="1678874250"/>
                    </a:ext>
                  </a:extLst>
                </a:gridCol>
                <a:gridCol w="4347317">
                  <a:extLst>
                    <a:ext uri="{9D8B030D-6E8A-4147-A177-3AD203B41FA5}">
                      <a16:colId xmlns:a16="http://schemas.microsoft.com/office/drawing/2014/main" val="4171919813"/>
                    </a:ext>
                  </a:extLst>
                </a:gridCol>
                <a:gridCol w="3168351">
                  <a:extLst>
                    <a:ext uri="{9D8B030D-6E8A-4147-A177-3AD203B41FA5}">
                      <a16:colId xmlns:a16="http://schemas.microsoft.com/office/drawing/2014/main" val="294322723"/>
                    </a:ext>
                  </a:extLst>
                </a:gridCol>
              </a:tblGrid>
              <a:tr h="690147"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INPUT</a:t>
                      </a:r>
                    </a:p>
                    <a:p>
                      <a:pPr algn="ctr"/>
                      <a:r>
                        <a:rPr lang="en-CA" sz="1400" dirty="0"/>
                        <a:t>(Input, calculation variables and constants)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PROCESSING &amp; STORAGE</a:t>
                      </a:r>
                    </a:p>
                    <a:p>
                      <a:pPr algn="ctr"/>
                      <a:r>
                        <a:rPr lang="en-CA" sz="1400" dirty="0"/>
                        <a:t>(Data Retrieval and Logic)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OUTPUT</a:t>
                      </a:r>
                    </a:p>
                    <a:p>
                      <a:pPr algn="ctr"/>
                      <a:r>
                        <a:rPr lang="en-CA" sz="1400" dirty="0"/>
                        <a:t>(Final Text Feedback only, NOT prompts)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373257"/>
                  </a:ext>
                </a:extLst>
              </a:tr>
              <a:tr h="3544336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829186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2054D0-A579-4C78-A227-368629F92AA5}"/>
              </a:ext>
            </a:extLst>
          </p:cNvPr>
          <p:cNvSpPr/>
          <p:nvPr/>
        </p:nvSpPr>
        <p:spPr>
          <a:xfrm>
            <a:off x="3403578" y="2699075"/>
            <a:ext cx="792088" cy="216024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669C9F-2B17-47A4-AA69-7B550282F12F}"/>
              </a:ext>
            </a:extLst>
          </p:cNvPr>
          <p:cNvSpPr txBox="1"/>
          <p:nvPr/>
        </p:nvSpPr>
        <p:spPr>
          <a:xfrm>
            <a:off x="837828" y="3138534"/>
            <a:ext cx="28484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 smtClean="0"/>
              <a:t>double </a:t>
            </a:r>
            <a:r>
              <a:rPr lang="en-CA" sz="1400" dirty="0"/>
              <a:t>LIGHT_SPEED = 300000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 smtClean="0"/>
              <a:t>double </a:t>
            </a:r>
            <a:r>
              <a:rPr lang="en-CA" sz="1400" dirty="0"/>
              <a:t>MARS_DIST = 63000000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52C4DDF-55B7-4392-94ED-E841790C2488}"/>
              </a:ext>
            </a:extLst>
          </p:cNvPr>
          <p:cNvSpPr/>
          <p:nvPr/>
        </p:nvSpPr>
        <p:spPr>
          <a:xfrm>
            <a:off x="966855" y="2699075"/>
            <a:ext cx="504056" cy="21602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E61D46-B0B6-44A5-B66E-7726D5DF1ABD}"/>
              </a:ext>
            </a:extLst>
          </p:cNvPr>
          <p:cNvSpPr txBox="1"/>
          <p:nvPr/>
        </p:nvSpPr>
        <p:spPr>
          <a:xfrm>
            <a:off x="837828" y="3763432"/>
            <a:ext cx="1917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double rocketSpeed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A455444-1A8A-485E-8D27-B5EA80FFEB88}"/>
              </a:ext>
            </a:extLst>
          </p:cNvPr>
          <p:cNvSpPr/>
          <p:nvPr/>
        </p:nvSpPr>
        <p:spPr>
          <a:xfrm>
            <a:off x="1540535" y="2699075"/>
            <a:ext cx="792087" cy="21602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AD920B-4123-4C86-9296-E8EE94C51B87}"/>
              </a:ext>
            </a:extLst>
          </p:cNvPr>
          <p:cNvSpPr txBox="1"/>
          <p:nvPr/>
        </p:nvSpPr>
        <p:spPr>
          <a:xfrm>
            <a:off x="837828" y="4290082"/>
            <a:ext cx="184056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double rocketTime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double lightTime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double </a:t>
            </a:r>
            <a:r>
              <a:rPr lang="en-CA" sz="1400" dirty="0" err="1"/>
              <a:t>timeDiff</a:t>
            </a:r>
            <a:endParaRPr lang="en-CA" sz="1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9DEBEBC-1A8E-49A1-94A3-2C341ABC50F7}"/>
              </a:ext>
            </a:extLst>
          </p:cNvPr>
          <p:cNvSpPr/>
          <p:nvPr/>
        </p:nvSpPr>
        <p:spPr>
          <a:xfrm>
            <a:off x="5640845" y="2699962"/>
            <a:ext cx="1030075" cy="216024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7FB5CE4-E44B-4FCB-9AA7-851612CA7EB6}"/>
              </a:ext>
            </a:extLst>
          </p:cNvPr>
          <p:cNvSpPr/>
          <p:nvPr/>
        </p:nvSpPr>
        <p:spPr>
          <a:xfrm>
            <a:off x="7006090" y="2699075"/>
            <a:ext cx="471690" cy="21602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C19EE4F-AFBB-4A99-AD6B-03EDC8B9FCAC}"/>
              </a:ext>
            </a:extLst>
          </p:cNvPr>
          <p:cNvSpPr/>
          <p:nvPr/>
        </p:nvSpPr>
        <p:spPr>
          <a:xfrm>
            <a:off x="8836963" y="2699075"/>
            <a:ext cx="1423060" cy="216024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793ECF-1276-4A80-8995-7771FAB91A85}"/>
              </a:ext>
            </a:extLst>
          </p:cNvPr>
          <p:cNvSpPr txBox="1"/>
          <p:nvPr/>
        </p:nvSpPr>
        <p:spPr>
          <a:xfrm>
            <a:off x="4299149" y="3138534"/>
            <a:ext cx="2597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ASK/READ rocketSpeed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C3E1F1-EF3E-40D7-ACB9-6D27FADC973A}"/>
              </a:ext>
            </a:extLst>
          </p:cNvPr>
          <p:cNvSpPr txBox="1"/>
          <p:nvPr/>
        </p:nvSpPr>
        <p:spPr>
          <a:xfrm>
            <a:off x="4271748" y="3594155"/>
            <a:ext cx="44644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CALCULATE </a:t>
            </a:r>
            <a:r>
              <a:rPr lang="en-CA" sz="1400" dirty="0" err="1"/>
              <a:t>rocketTime</a:t>
            </a:r>
            <a:r>
              <a:rPr lang="en-CA" sz="1400" dirty="0"/>
              <a:t> = MARS_DIST / rocketSpeed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CALCULATE </a:t>
            </a:r>
            <a:r>
              <a:rPr lang="en-CA" sz="1400" dirty="0" err="1"/>
              <a:t>lightTime</a:t>
            </a:r>
            <a:r>
              <a:rPr lang="en-CA" sz="1400" dirty="0"/>
              <a:t> = MARS_DIST / LIGHT_SPEED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CALCULATE </a:t>
            </a:r>
            <a:r>
              <a:rPr lang="en-CA" sz="1400" dirty="0" err="1"/>
              <a:t>timeDiff</a:t>
            </a:r>
            <a:r>
              <a:rPr lang="en-CA" sz="1400" dirty="0"/>
              <a:t> = </a:t>
            </a:r>
            <a:r>
              <a:rPr lang="en-CA" sz="1400" dirty="0" err="1"/>
              <a:t>rocketTime</a:t>
            </a:r>
            <a:r>
              <a:rPr lang="en-CA" sz="1400" dirty="0"/>
              <a:t> - lightTime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94211F-A09E-42DA-8127-46C79A826D43}"/>
              </a:ext>
            </a:extLst>
          </p:cNvPr>
          <p:cNvSpPr txBox="1"/>
          <p:nvPr/>
        </p:nvSpPr>
        <p:spPr>
          <a:xfrm>
            <a:off x="8686700" y="3131096"/>
            <a:ext cx="3085332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DISPLAY “Rocket travel time” + </a:t>
            </a:r>
            <a:br>
              <a:rPr lang="en-CA" sz="1400" dirty="0"/>
            </a:br>
            <a:r>
              <a:rPr lang="en-CA" sz="1400" dirty="0"/>
              <a:t>                  rocketTime + “s.”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DISPLAY “Light travel time” +</a:t>
            </a:r>
            <a:br>
              <a:rPr lang="en-CA" sz="1400" dirty="0"/>
            </a:br>
            <a:r>
              <a:rPr lang="en-CA" sz="1400" dirty="0"/>
              <a:t>                  lightTime + “s.”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DISPLAY “The rocket took ” +</a:t>
            </a:r>
            <a:br>
              <a:rPr lang="en-CA" sz="1400" dirty="0"/>
            </a:br>
            <a:r>
              <a:rPr lang="en-CA" sz="1400" dirty="0"/>
              <a:t>                </a:t>
            </a:r>
            <a:r>
              <a:rPr lang="en-CA" sz="1400" dirty="0" err="1"/>
              <a:t>timeDiff</a:t>
            </a:r>
            <a:r>
              <a:rPr lang="en-CA" sz="1400" dirty="0"/>
              <a:t> + “ more seconds”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755341" y="4593405"/>
                <a:ext cx="6270306" cy="2003947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chemeClr val="bg1"/>
                    </a:solidFill>
                  </a:rPr>
                  <a:t>Calculations</a:t>
                </a:r>
              </a:p>
              <a:p>
                <a:r>
                  <a:rPr lang="en-US" sz="2000" dirty="0" smtClean="0"/>
                  <a:t>At times, you may need to use equations.</a:t>
                </a:r>
              </a:p>
              <a:p>
                <a:r>
                  <a:rPr lang="en-US" sz="2000" dirty="0" smtClean="0"/>
                  <a:t>You must </a:t>
                </a:r>
                <a:r>
                  <a:rPr lang="en-US" sz="2000" dirty="0" smtClean="0">
                    <a:solidFill>
                      <a:srgbClr val="FFFF00"/>
                    </a:solidFill>
                  </a:rPr>
                  <a:t>ALWAYS</a:t>
                </a:r>
                <a:r>
                  <a:rPr lang="en-US" sz="2000" dirty="0" smtClean="0"/>
                  <a:t> use your defined variables (as above),</a:t>
                </a:r>
              </a:p>
              <a:p>
                <a:r>
                  <a:rPr lang="en-US" sz="2000" dirty="0" smtClean="0"/>
                  <a:t>But it is okay to use standard math symbols and operators.</a:t>
                </a:r>
              </a:p>
              <a:p>
                <a:r>
                  <a:rPr lang="en-US" sz="2000" dirty="0" smtClean="0"/>
                  <a:t>For </a:t>
                </a:r>
                <a:r>
                  <a:rPr lang="en-US" sz="2000" dirty="0"/>
                  <a:t>e</a:t>
                </a:r>
                <a:r>
                  <a:rPr lang="en-US" sz="2000" dirty="0" smtClean="0"/>
                  <a:t>xample (Find the distance between two points)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𝑑𝑖𝑠𝑡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341" y="4593405"/>
                <a:ext cx="6270306" cy="2003947"/>
              </a:xfrm>
              <a:prstGeom prst="rect">
                <a:avLst/>
              </a:prstGeom>
              <a:blipFill>
                <a:blip r:embed="rId2"/>
                <a:stretch>
                  <a:fillRect l="-1069" t="-1829" r="-97"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429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1" grpId="0" animBg="1"/>
      <p:bldP spid="13" grpId="0"/>
      <p:bldP spid="15" grpId="0" animBg="1"/>
      <p:bldP spid="17" grpId="0"/>
      <p:bldP spid="19" grpId="0" animBg="1"/>
      <p:bldP spid="21" grpId="0" animBg="1"/>
      <p:bldP spid="23" grpId="0" animBg="1"/>
      <p:bldP spid="25" grpId="0"/>
      <p:bldP spid="27" grpId="0"/>
      <p:bldP spid="29" grpId="0"/>
      <p:bldP spid="18" grpId="0" animBg="1"/>
    </p:bld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infopath/2007/PartnerControls"/>
    <ds:schemaRef ds:uri="4873beb7-5857-4685-be1f-d57550cc96cc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831</TotalTime>
  <Words>816</Words>
  <Application>Microsoft Office PowerPoint</Application>
  <PresentationFormat>Custom</PresentationFormat>
  <Paragraphs>94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 Math</vt:lpstr>
      <vt:lpstr>Consolas</vt:lpstr>
      <vt:lpstr>Tech 16x9</vt:lpstr>
      <vt:lpstr>Basic Design</vt:lpstr>
      <vt:lpstr>Design Intro</vt:lpstr>
      <vt:lpstr>Design Intro</vt:lpstr>
      <vt:lpstr>Design Intro</vt:lpstr>
      <vt:lpstr>IPO Charts</vt:lpstr>
      <vt:lpstr>Example Program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Day 1</dc:title>
  <dc:creator>Trevor Lane</dc:creator>
  <cp:lastModifiedBy>Lane, Trevor</cp:lastModifiedBy>
  <cp:revision>68</cp:revision>
  <dcterms:created xsi:type="dcterms:W3CDTF">2020-09-21T00:53:05Z</dcterms:created>
  <dcterms:modified xsi:type="dcterms:W3CDTF">2026-02-26T13:04:08Z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