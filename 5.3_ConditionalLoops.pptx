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handoutMasterIdLst>
    <p:handoutMasterId r:id="rId14"/>
  </p:handoutMasterIdLst>
  <p:sldIdLst>
    <p:sldId id="257" r:id="rId5"/>
    <p:sldId id="258" r:id="rId6"/>
    <p:sldId id="281" r:id="rId7"/>
    <p:sldId id="282" r:id="rId8"/>
    <p:sldId id="269" r:id="rId9"/>
    <p:sldId id="283" r:id="rId10"/>
    <p:sldId id="284" r:id="rId11"/>
    <p:sldId id="285" r:id="rId12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>
      <p:cViewPr varScale="1">
        <p:scale>
          <a:sx n="115" d="100"/>
          <a:sy n="115" d="100"/>
        </p:scale>
        <p:origin x="432" y="102"/>
      </p:cViewPr>
      <p:guideLst>
        <p:guide orient="horz" pos="2160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5/17/2023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2T17:10:27.17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984 4261,'-3'-2,"-1"-1,1 1,-1 0,0 0,0 0,0 1,0-1,0 1,0 0,-8-1,-12-5,7-1,0-2,1 1,0-2,0 0,-26-26,-63-78,18 18,58 69,-43-43,-65-84,127 139,1 0,0 0,1-1,1 0,1 0,-6-27,-13-33,-116-278,134 336,0-2,2 1,-4-31,-10-36,2 23,-11-88,24 113,2-1,3-50,1 57,-2-1,-1 0,-10-61,1 31,2-2,4 1,7-112,-1 47,-2 80,-1 12,1 0,2 0,14-73,-11 84,-1 0,0-40,-2 38,0 0,7-30,7-21,-9 42,1 0,24-66,-15 63,9-25,3 1,52-85,-37 74,-32 53,1 1,1 0,0 1,34-37,190-200,-227 246,1 0,1 1,25-17,22-20,-43 31,2 0,0 1,1 1,0 1,1 1,26-12,-156 34,74-7,0 0,-1-3,-52-6,83 6,0 1,0-1,0 0,0 0,0 0,1-1,-1 0,0 1,-5-5,11 6,-1-1,0 1,1-1,-1 1,1-1,-1 1,0-1,1 1,0-1,-1 1,1-1,-1 1,1 0,-1 0,1-1,0 1,-1 0,1 0,-1-1,1 1,0 0,-1 0,1 0,0 0,-1 0,1 0,0 0,-1 0,2 1,27-4,-11 2,0 1,0 1,0 0,0 2,0 0,0 1,29 10,-40-12,1 1,0-2,0 1,0-1,0-1,0 1,0-1,8-1,0 0,-16 1,1 0,-1 1,1-1,-1 0,0 0,1 0,-1 0,1 0,-1 0,0 1,1-1,-1 0,0 0,1 1,-1-1,0 0,1 1,-1-1,0 0,0 1,1-1,-1 0,0 1,0-1,0 0,1 1,-1-1,0 1,0-1,0 1,0-1,0 0,0 1,0-1,0 1,0-1,0 1,0-1,0 0,0 1,0-1,0 1,-1-1,1 0,0 1,0-1,-1 1,-10 27,7-19,-2 13,1 0,-4 43,-3 16,-22 47,34-128,-1 1,1-1,0 0,-1 0,1 1,0-1,-1 0,1 0,-1 0,1 1,0-1,-1 0,1 0,-1 0,1 0,0 0,-1 0,1 0,-1 0,1 0,-1 0,1 0,0 0,-1 0,1 0,-1 0,1 0,-1 0,1-1,0 1,-1 0,1 0,0-1,-1 1,1 0,0 0,-1-1,1 1,0 0,-1-1,1 1,0 0,0-1,-1 1,1-1,0 1,0-1,-17-18,8 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2T17:14:00.980"/>
    </inkml:context>
    <inkml:brush xml:id="br0">
      <inkml:brushProperty name="width" value="0.1" units="cm"/>
      <inkml:brushProperty name="height" value="0.1" units="cm"/>
      <inkml:brushProperty name="color" value="#008C3A"/>
      <inkml:brushProperty name="ignorePressure" value="1"/>
    </inkml:brush>
  </inkml:definitions>
  <inkml:trace contextRef="#ctx0" brushRef="#br0">45 0,'-4'0,"-7"0,0 0,0 0,3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2T17:13:44.251"/>
    </inkml:context>
    <inkml:brush xml:id="br0">
      <inkml:brushProperty name="width" value="0.1" units="cm"/>
      <inkml:brushProperty name="height" value="0.1" units="cm"/>
      <inkml:brushProperty name="color" value="#008C3A"/>
      <inkml:brushProperty name="ignorePressure" value="1"/>
    </inkml:brush>
  </inkml:definitions>
  <inkml:trace contextRef="#ctx0" brushRef="#br0">1 0,'0'6822,"0"-6804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2T17:14:05.242"/>
    </inkml:context>
    <inkml:brush xml:id="br0">
      <inkml:brushProperty name="width" value="0.1" units="cm"/>
      <inkml:brushProperty name="height" value="0.1" units="cm"/>
      <inkml:brushProperty name="color" value="#008C3A"/>
      <inkml:brushProperty name="ignorePressure" value="1"/>
    </inkml:brush>
  </inkml:definitions>
  <inkml:trace contextRef="#ctx0" brushRef="#br0">0 0,'1164'0,"-1141"0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2T17:14:17.662"/>
    </inkml:context>
    <inkml:brush xml:id="br0">
      <inkml:brushProperty name="width" value="0.1" units="cm"/>
      <inkml:brushProperty name="height" value="0.1" units="cm"/>
      <inkml:brushProperty name="color" value="#008C3A"/>
      <inkml:brushProperty name="ignorePressure" value="1"/>
    </inkml:brush>
  </inkml:definitions>
  <inkml:trace contextRef="#ctx0" brushRef="#br0">0 0,'1235'0,"-1241"0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2T17:14:28.889"/>
    </inkml:context>
    <inkml:brush xml:id="br0">
      <inkml:brushProperty name="width" value="0.1" units="cm"/>
      <inkml:brushProperty name="height" value="0.1" units="cm"/>
      <inkml:brushProperty name="color" value="#008C3A"/>
      <inkml:brushProperty name="ignorePressure" value="1"/>
    </inkml:brush>
  </inkml:definitions>
  <inkml:trace contextRef="#ctx0" brushRef="#br0">220 191,'0'-1,"-1"-1,1 1,-1 0,0-1,1 1,-1 0,0 0,0-1,0 1,0 0,0 0,0 0,0 0,0 0,-1 0,1 1,0-1,-2 0,-30-17,25 15,-8-7,1 1,0-2,0 0,1-1,0-1,1 0,0 0,1-1,-13-22,18 30,7 12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2T17:14:31.404"/>
    </inkml:context>
    <inkml:brush xml:id="br0">
      <inkml:brushProperty name="width" value="0.1" units="cm"/>
      <inkml:brushProperty name="height" value="0.1" units="cm"/>
      <inkml:brushProperty name="color" value="#008C3A"/>
      <inkml:brushProperty name="ignorePressure" value="1"/>
    </inkml:brush>
  </inkml:definitions>
  <inkml:trace contextRef="#ctx0" brushRef="#br0">202 0,'-1'5,"-1"0,0-1,0 1,0-1,0 0,-1 0,0 1,0-2,0 1,0 0,-1-1,1 1,-5 2,-19 24,-75 136,80-136,13-17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5/17/2023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5/17/2023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5/17/2023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5/17/2023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5/17/2023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5/17/2023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5/17/2023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5/17/2023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5/17/2023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5/17/2023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5/17/2023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5/17/2023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5/17/2023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png"/><Relationship Id="rId3" Type="http://schemas.openxmlformats.org/officeDocument/2006/relationships/image" Target="../media/image10.png"/><Relationship Id="rId12" Type="http://schemas.openxmlformats.org/officeDocument/2006/relationships/customXml" Target="../ink/ink5.xml"/><Relationship Id="rId17" Type="http://schemas.openxmlformats.org/officeDocument/2006/relationships/image" Target="../media/image8.png"/><Relationship Id="rId2" Type="http://schemas.openxmlformats.org/officeDocument/2006/relationships/customXml" Target="../ink/ink1.xml"/><Relationship Id="rId16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10" Type="http://schemas.openxmlformats.org/officeDocument/2006/relationships/customXml" Target="../ink/ink4.xml"/><Relationship Id="rId4" Type="http://schemas.openxmlformats.org/officeDocument/2006/relationships/customXml" Target="../ink/ink2.xml"/><Relationship Id="rId9" Type="http://schemas.openxmlformats.org/officeDocument/2006/relationships/image" Target="../media/image3.png"/><Relationship Id="rId14" Type="http://schemas.openxmlformats.org/officeDocument/2006/relationships/customXml" Target="../ink/ink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Loops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Conditional Loops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1A806-9AF5-4FE5-A6BA-1AC1D29AC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</p:spPr>
        <p:txBody>
          <a:bodyPr anchor="b">
            <a:normAutofit/>
          </a:bodyPr>
          <a:lstStyle/>
          <a:p>
            <a:r>
              <a:rPr lang="en-CA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17CED-584E-44FE-ADCE-BD2A9E041B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/>
          <a:p>
            <a:r>
              <a:rPr lang="en-CA" dirty="0"/>
              <a:t>Create loops that end based on a condition rather than a count</a:t>
            </a:r>
          </a:p>
          <a:p>
            <a:endParaRPr lang="en-CA" dirty="0"/>
          </a:p>
          <a:p>
            <a:r>
              <a:rPr lang="en-CA" dirty="0"/>
              <a:t>Compare conditional loops to other control structures</a:t>
            </a:r>
          </a:p>
          <a:p>
            <a:endParaRPr lang="en-CA" dirty="0"/>
          </a:p>
          <a:p>
            <a:r>
              <a:rPr lang="en-CA" dirty="0"/>
              <a:t>Let’s see what Chris Bosh has to say about conditional loops</a:t>
            </a:r>
          </a:p>
        </p:txBody>
      </p:sp>
      <p:pic>
        <p:nvPicPr>
          <p:cNvPr id="4" name="02_REPEAT UNTIL">
            <a:hlinkClick r:id="" action="ppaction://media"/>
            <a:extLst>
              <a:ext uri="{FF2B5EF4-FFF2-40B4-BE49-F238E27FC236}">
                <a16:creationId xmlns:a16="http://schemas.microsoft.com/office/drawing/2014/main" id="{C188CD63-3C8F-4618-8E2B-936D5726EBB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500707" y="1742369"/>
            <a:ext cx="5078677" cy="28567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59323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4BF40-CA87-408D-B167-7296C3616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Conditional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D2302-38BC-4BDF-9372-018FF2EE5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7"/>
            <a:ext cx="10492153" cy="4881566"/>
          </a:xfrm>
        </p:spPr>
        <p:txBody>
          <a:bodyPr>
            <a:normAutofit lnSpcReduction="10000"/>
          </a:bodyPr>
          <a:lstStyle/>
          <a:p>
            <a:r>
              <a:rPr lang="en-CA" dirty="0"/>
              <a:t>A </a:t>
            </a:r>
            <a:r>
              <a:rPr lang="en-CA" dirty="0">
                <a:solidFill>
                  <a:srgbClr val="92D050"/>
                </a:solidFill>
              </a:rPr>
              <a:t>conditional loop </a:t>
            </a:r>
            <a:r>
              <a:rPr lang="en-CA" dirty="0"/>
              <a:t>is a loop that continues to loop until the test condition is no longer true</a:t>
            </a:r>
          </a:p>
          <a:p>
            <a:endParaRPr lang="en-CA" dirty="0"/>
          </a:p>
          <a:p>
            <a:r>
              <a:rPr lang="en-CA" dirty="0"/>
              <a:t>A conditional loop is still made up of the same three parts:</a:t>
            </a:r>
          </a:p>
          <a:p>
            <a:pPr lvl="1"/>
            <a:r>
              <a:rPr lang="en-CA" dirty="0"/>
              <a:t>The comparison variable</a:t>
            </a:r>
          </a:p>
          <a:p>
            <a:pPr lvl="1"/>
            <a:r>
              <a:rPr lang="en-CA" dirty="0"/>
              <a:t>The test condition</a:t>
            </a:r>
          </a:p>
          <a:p>
            <a:pPr lvl="1"/>
            <a:r>
              <a:rPr lang="en-CA" dirty="0"/>
              <a:t>The change</a:t>
            </a:r>
          </a:p>
          <a:p>
            <a:endParaRPr lang="en-CA" dirty="0"/>
          </a:p>
          <a:p>
            <a:r>
              <a:rPr lang="en-CA" dirty="0"/>
              <a:t>The most common type of conditional loop is the </a:t>
            </a:r>
            <a:r>
              <a:rPr lang="en-CA" dirty="0">
                <a:solidFill>
                  <a:srgbClr val="FFFF00"/>
                </a:solidFill>
              </a:rPr>
              <a:t>while loop</a:t>
            </a:r>
          </a:p>
          <a:p>
            <a:r>
              <a:rPr lang="en-CA" dirty="0"/>
              <a:t>The syntax for a while loop is nearly identical to a simple if statement</a:t>
            </a:r>
          </a:p>
        </p:txBody>
      </p:sp>
    </p:spTree>
    <p:extLst>
      <p:ext uri="{BB962C8B-B14F-4D97-AF65-F5344CB8AC3E}">
        <p14:creationId xmlns:p14="http://schemas.microsoft.com/office/powerpoint/2010/main" val="3791612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986B8-2399-422F-9D92-60B331B98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914401"/>
          </a:xfrm>
        </p:spPr>
        <p:txBody>
          <a:bodyPr/>
          <a:lstStyle/>
          <a:p>
            <a:r>
              <a:rPr lang="en-CA" dirty="0"/>
              <a:t>if vs. while syntax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40EAC8-A20F-40DE-8C84-F60FE2C3D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8883" y="1268760"/>
            <a:ext cx="5082740" cy="914400"/>
          </a:xfrm>
        </p:spPr>
        <p:txBody>
          <a:bodyPr/>
          <a:lstStyle/>
          <a:p>
            <a:r>
              <a:rPr lang="en-CA" dirty="0"/>
              <a:t>Simple If Statement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263280-C0D3-40BA-87CE-4E16F20078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1845" y="2284760"/>
            <a:ext cx="5315716" cy="2871440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int num;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 err="1">
                <a:latin typeface="Consolas" panose="020B0609020204030204" pitchFamily="49" charset="0"/>
              </a:rPr>
              <a:t>Console.Write</a:t>
            </a:r>
            <a:r>
              <a:rPr lang="en-CA" sz="1600" dirty="0">
                <a:latin typeface="Consolas" panose="020B0609020204030204" pitchFamily="49" charset="0"/>
              </a:rPr>
              <a:t>(“Enter a positive number: ”);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num = Convert.ToInt32(</a:t>
            </a:r>
            <a:r>
              <a:rPr lang="en-CA" sz="1600" dirty="0" err="1">
                <a:latin typeface="Consolas" panose="020B0609020204030204" pitchFamily="49" charset="0"/>
              </a:rPr>
              <a:t>Console.ReadLine</a:t>
            </a:r>
            <a:r>
              <a:rPr lang="en-CA" sz="1600" dirty="0">
                <a:latin typeface="Consolas" panose="020B0609020204030204" pitchFamily="49" charset="0"/>
              </a:rPr>
              <a:t>());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if (num &lt; 1)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  </a:t>
            </a:r>
            <a:r>
              <a:rPr lang="en-CA" sz="1600" dirty="0" err="1">
                <a:latin typeface="Consolas" panose="020B0609020204030204" pitchFamily="49" charset="0"/>
              </a:rPr>
              <a:t>Console.Write</a:t>
            </a:r>
            <a:r>
              <a:rPr lang="en-CA" sz="1600" dirty="0">
                <a:latin typeface="Consolas" panose="020B0609020204030204" pitchFamily="49" charset="0"/>
              </a:rPr>
              <a:t>(“Your number was too low”);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  </a:t>
            </a:r>
            <a:r>
              <a:rPr lang="en-CA" sz="1600" dirty="0" err="1">
                <a:latin typeface="Consolas" panose="020B0609020204030204" pitchFamily="49" charset="0"/>
              </a:rPr>
              <a:t>Console.Write</a:t>
            </a:r>
            <a:r>
              <a:rPr lang="en-CA" sz="1600" dirty="0">
                <a:latin typeface="Consolas" panose="020B0609020204030204" pitchFamily="49" charset="0"/>
              </a:rPr>
              <a:t>(“Enter a positive number: ”);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  num = Convert.ToInt32(</a:t>
            </a:r>
            <a:r>
              <a:rPr lang="en-CA" sz="1600" dirty="0" err="1">
                <a:latin typeface="Consolas" panose="020B0609020204030204" pitchFamily="49" charset="0"/>
              </a:rPr>
              <a:t>Console.ReadLine</a:t>
            </a:r>
            <a:r>
              <a:rPr lang="en-CA" sz="1600" dirty="0">
                <a:latin typeface="Consolas" panose="020B0609020204030204" pitchFamily="49" charset="0"/>
              </a:rPr>
              <a:t>());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8950F0-4329-4EAC-BF55-34867ECEE4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6644" y="1268760"/>
            <a:ext cx="5082740" cy="914400"/>
          </a:xfrm>
        </p:spPr>
        <p:txBody>
          <a:bodyPr/>
          <a:lstStyle/>
          <a:p>
            <a:r>
              <a:rPr lang="en-CA" dirty="0"/>
              <a:t>While Statement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27D78D-133D-464C-A7EF-A8878EC889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00707" y="2284760"/>
            <a:ext cx="5315716" cy="2871440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int num;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 err="1">
                <a:latin typeface="Consolas" panose="020B0609020204030204" pitchFamily="49" charset="0"/>
              </a:rPr>
              <a:t>Console.Write</a:t>
            </a:r>
            <a:r>
              <a:rPr lang="en-CA" sz="1600" dirty="0">
                <a:latin typeface="Consolas" panose="020B0609020204030204" pitchFamily="49" charset="0"/>
              </a:rPr>
              <a:t>(“Enter a positive number: ”);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num = Convert.ToInt32(</a:t>
            </a:r>
            <a:r>
              <a:rPr lang="en-CA" sz="1600" dirty="0" err="1">
                <a:latin typeface="Consolas" panose="020B0609020204030204" pitchFamily="49" charset="0"/>
              </a:rPr>
              <a:t>Console.ReadLine</a:t>
            </a:r>
            <a:r>
              <a:rPr lang="en-CA" sz="1600" dirty="0">
                <a:latin typeface="Consolas" panose="020B0609020204030204" pitchFamily="49" charset="0"/>
              </a:rPr>
              <a:t>());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solidFill>
                  <a:srgbClr val="FFFF00"/>
                </a:solidFill>
                <a:latin typeface="Consolas" panose="020B0609020204030204" pitchFamily="49" charset="0"/>
              </a:rPr>
              <a:t>while</a:t>
            </a:r>
            <a:r>
              <a:rPr lang="en-CA" sz="1600" dirty="0">
                <a:latin typeface="Consolas" panose="020B0609020204030204" pitchFamily="49" charset="0"/>
              </a:rPr>
              <a:t> (num &lt; 1)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  </a:t>
            </a:r>
            <a:r>
              <a:rPr lang="en-CA" sz="1600" dirty="0" err="1">
                <a:latin typeface="Consolas" panose="020B0609020204030204" pitchFamily="49" charset="0"/>
              </a:rPr>
              <a:t>Console.Write</a:t>
            </a:r>
            <a:r>
              <a:rPr lang="en-CA" sz="1600" dirty="0">
                <a:latin typeface="Consolas" panose="020B0609020204030204" pitchFamily="49" charset="0"/>
              </a:rPr>
              <a:t>(“Your number was too low”);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  </a:t>
            </a:r>
            <a:r>
              <a:rPr lang="en-CA" sz="1600" dirty="0" err="1">
                <a:latin typeface="Consolas" panose="020B0609020204030204" pitchFamily="49" charset="0"/>
              </a:rPr>
              <a:t>Console.Write</a:t>
            </a:r>
            <a:r>
              <a:rPr lang="en-CA" sz="1600" dirty="0">
                <a:latin typeface="Consolas" panose="020B0609020204030204" pitchFamily="49" charset="0"/>
              </a:rPr>
              <a:t>(“Enter a positive number: ”);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  num = Convert.ToInt32(</a:t>
            </a:r>
            <a:r>
              <a:rPr lang="en-CA" sz="1600" dirty="0" err="1">
                <a:latin typeface="Consolas" panose="020B0609020204030204" pitchFamily="49" charset="0"/>
              </a:rPr>
              <a:t>Console.ReadLine</a:t>
            </a:r>
            <a:r>
              <a:rPr lang="en-CA" sz="1600" dirty="0">
                <a:latin typeface="Consolas" panose="020B0609020204030204" pitchFamily="49" charset="0"/>
              </a:rPr>
              <a:t>());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2000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96FCE6-C571-423E-9C02-95D687842F08}"/>
              </a:ext>
            </a:extLst>
          </p:cNvPr>
          <p:cNvSpPr txBox="1"/>
          <p:nvPr/>
        </p:nvSpPr>
        <p:spPr>
          <a:xfrm>
            <a:off x="3897256" y="5174456"/>
            <a:ext cx="48006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92D050"/>
                </a:solidFill>
              </a:rPr>
              <a:t>What is the one difference in syntax?</a:t>
            </a:r>
          </a:p>
          <a:p>
            <a:endParaRPr lang="en-CA" dirty="0">
              <a:solidFill>
                <a:srgbClr val="92D050"/>
              </a:solidFill>
            </a:endParaRPr>
          </a:p>
          <a:p>
            <a:r>
              <a:rPr lang="en-CA" dirty="0">
                <a:solidFill>
                  <a:srgbClr val="92D050"/>
                </a:solidFill>
              </a:rPr>
              <a:t>What is the logical difference?</a:t>
            </a:r>
          </a:p>
        </p:txBody>
      </p:sp>
    </p:spTree>
    <p:extLst>
      <p:ext uri="{BB962C8B-B14F-4D97-AF65-F5344CB8AC3E}">
        <p14:creationId xmlns:p14="http://schemas.microsoft.com/office/powerpoint/2010/main" val="1746249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DEADA-B7C7-435B-AB9F-E2FBD9D85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So Where are the 3 Parts?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00353-4121-40F9-A657-8022010C0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7"/>
            <a:ext cx="7179785" cy="4462272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int num;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 err="1">
                <a:latin typeface="Consolas" panose="020B0609020204030204" pitchFamily="49" charset="0"/>
              </a:rPr>
              <a:t>Console.Write</a:t>
            </a:r>
            <a:r>
              <a:rPr lang="en-CA" sz="1800" dirty="0">
                <a:latin typeface="Consolas" panose="020B0609020204030204" pitchFamily="49" charset="0"/>
              </a:rPr>
              <a:t>(“Enter a positive number: ”);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num = Convert.ToInt32(</a:t>
            </a:r>
            <a:r>
              <a:rPr lang="en-CA" sz="1800" dirty="0" err="1">
                <a:latin typeface="Consolas" panose="020B0609020204030204" pitchFamily="49" charset="0"/>
              </a:rPr>
              <a:t>Console.ReadLine</a:t>
            </a:r>
            <a:r>
              <a:rPr lang="en-CA" sz="1800" dirty="0">
                <a:latin typeface="Consolas" panose="020B0609020204030204" pitchFamily="49" charset="0"/>
              </a:rPr>
              <a:t>());</a:t>
            </a:r>
            <a:endParaRPr lang="en-CA" sz="1800" dirty="0"/>
          </a:p>
          <a:p>
            <a:pPr lvl="1"/>
            <a:endParaRPr lang="en-CA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900" dirty="0">
                <a:latin typeface="Consolas" panose="020B0609020204030204" pitchFamily="49" charset="0"/>
              </a:rPr>
              <a:t>while (num &lt; 1)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9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900" dirty="0">
                <a:latin typeface="Consolas" panose="020B0609020204030204" pitchFamily="49" charset="0"/>
              </a:rPr>
              <a:t>  </a:t>
            </a:r>
            <a:r>
              <a:rPr lang="en-CA" sz="1900" dirty="0" err="1">
                <a:latin typeface="Consolas" panose="020B0609020204030204" pitchFamily="49" charset="0"/>
              </a:rPr>
              <a:t>Console.Write</a:t>
            </a:r>
            <a:r>
              <a:rPr lang="en-CA" sz="1900" dirty="0">
                <a:latin typeface="Consolas" panose="020B0609020204030204" pitchFamily="49" charset="0"/>
              </a:rPr>
              <a:t>(“Your number was too low”);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19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900" dirty="0">
                <a:latin typeface="Consolas" panose="020B0609020204030204" pitchFamily="49" charset="0"/>
              </a:rPr>
              <a:t>  </a:t>
            </a:r>
            <a:r>
              <a:rPr lang="en-CA" sz="1900" dirty="0" err="1">
                <a:latin typeface="Consolas" panose="020B0609020204030204" pitchFamily="49" charset="0"/>
              </a:rPr>
              <a:t>Console.Write</a:t>
            </a:r>
            <a:r>
              <a:rPr lang="en-CA" sz="1900" dirty="0">
                <a:latin typeface="Consolas" panose="020B0609020204030204" pitchFamily="49" charset="0"/>
              </a:rPr>
              <a:t>(“Enter a positive number: ”);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900" dirty="0">
                <a:latin typeface="Consolas" panose="020B0609020204030204" pitchFamily="49" charset="0"/>
              </a:rPr>
              <a:t>  num = Convert.ToInt32(</a:t>
            </a:r>
            <a:r>
              <a:rPr lang="en-CA" sz="1900" dirty="0" err="1">
                <a:latin typeface="Consolas" panose="020B0609020204030204" pitchFamily="49" charset="0"/>
              </a:rPr>
              <a:t>Console.ReadLine</a:t>
            </a:r>
            <a:r>
              <a:rPr lang="en-CA" sz="1900" dirty="0">
                <a:latin typeface="Consolas" panose="020B0609020204030204" pitchFamily="49" charset="0"/>
              </a:rPr>
              <a:t>());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9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19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900" dirty="0">
                <a:latin typeface="Consolas" panose="020B0609020204030204" pitchFamily="49" charset="0"/>
              </a:rPr>
              <a:t>//Continue with the program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034C0A2-F017-4037-96FD-CE4464425509}"/>
              </a:ext>
            </a:extLst>
          </p:cNvPr>
          <p:cNvSpPr/>
          <p:nvPr/>
        </p:nvSpPr>
        <p:spPr>
          <a:xfrm>
            <a:off x="614273" y="1943259"/>
            <a:ext cx="432048" cy="445864"/>
          </a:xfrm>
          <a:prstGeom prst="ellipse">
            <a:avLst/>
          </a:prstGeom>
          <a:solidFill>
            <a:srgbClr val="FFFF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86B98DA-04EF-4542-9E7D-EC2902566EE6}"/>
              </a:ext>
            </a:extLst>
          </p:cNvPr>
          <p:cNvSpPr/>
          <p:nvPr/>
        </p:nvSpPr>
        <p:spPr>
          <a:xfrm>
            <a:off x="2522562" y="2640397"/>
            <a:ext cx="432048" cy="445864"/>
          </a:xfrm>
          <a:prstGeom prst="ellipse">
            <a:avLst/>
          </a:prstGeom>
          <a:solidFill>
            <a:srgbClr val="FFFF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007827C-4AC0-4AE2-AE53-A0F63AA15B43}"/>
              </a:ext>
            </a:extLst>
          </p:cNvPr>
          <p:cNvSpPr/>
          <p:nvPr/>
        </p:nvSpPr>
        <p:spPr>
          <a:xfrm>
            <a:off x="693955" y="3938867"/>
            <a:ext cx="432048" cy="445864"/>
          </a:xfrm>
          <a:prstGeom prst="ellipse">
            <a:avLst/>
          </a:prstGeom>
          <a:solidFill>
            <a:srgbClr val="FFFF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563088F-EC67-49A3-9C3F-739491D3FB4E}"/>
              </a:ext>
            </a:extLst>
          </p:cNvPr>
          <p:cNvSpPr/>
          <p:nvPr/>
        </p:nvSpPr>
        <p:spPr>
          <a:xfrm>
            <a:off x="7532422" y="4263033"/>
            <a:ext cx="432048" cy="445864"/>
          </a:xfrm>
          <a:prstGeom prst="ellipse">
            <a:avLst/>
          </a:prstGeom>
          <a:solidFill>
            <a:srgbClr val="FFFF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39660AE-A280-49FC-B976-DB72D34D94A0}"/>
              </a:ext>
            </a:extLst>
          </p:cNvPr>
          <p:cNvSpPr/>
          <p:nvPr/>
        </p:nvSpPr>
        <p:spPr>
          <a:xfrm>
            <a:off x="8883384" y="1106391"/>
            <a:ext cx="432048" cy="445864"/>
          </a:xfrm>
          <a:prstGeom prst="ellipse">
            <a:avLst/>
          </a:prstGeom>
          <a:solidFill>
            <a:srgbClr val="FFFF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11DAB5E-EB4E-405F-87E7-A560AB9355D7}"/>
              </a:ext>
            </a:extLst>
          </p:cNvPr>
          <p:cNvSpPr/>
          <p:nvPr/>
        </p:nvSpPr>
        <p:spPr>
          <a:xfrm>
            <a:off x="8887129" y="1890425"/>
            <a:ext cx="432048" cy="445864"/>
          </a:xfrm>
          <a:prstGeom prst="ellipse">
            <a:avLst/>
          </a:prstGeom>
          <a:solidFill>
            <a:srgbClr val="FFFF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2211BFE-4699-4246-9570-4E8A556D6480}"/>
              </a:ext>
            </a:extLst>
          </p:cNvPr>
          <p:cNvSpPr/>
          <p:nvPr/>
        </p:nvSpPr>
        <p:spPr>
          <a:xfrm>
            <a:off x="8883384" y="2674459"/>
            <a:ext cx="432048" cy="445864"/>
          </a:xfrm>
          <a:prstGeom prst="ellipse">
            <a:avLst/>
          </a:prstGeom>
          <a:solidFill>
            <a:srgbClr val="FFFF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48ECCE3-E59B-40B2-9781-794E433DFB4E}"/>
              </a:ext>
            </a:extLst>
          </p:cNvPr>
          <p:cNvSpPr/>
          <p:nvPr/>
        </p:nvSpPr>
        <p:spPr>
          <a:xfrm>
            <a:off x="8883384" y="3458493"/>
            <a:ext cx="432048" cy="445864"/>
          </a:xfrm>
          <a:prstGeom prst="ellipse">
            <a:avLst/>
          </a:prstGeom>
          <a:solidFill>
            <a:srgbClr val="FFFF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216C7E0-7318-416E-A188-73AC0B08B8C1}"/>
              </a:ext>
            </a:extLst>
          </p:cNvPr>
          <p:cNvSpPr/>
          <p:nvPr/>
        </p:nvSpPr>
        <p:spPr>
          <a:xfrm>
            <a:off x="5014292" y="5293578"/>
            <a:ext cx="432048" cy="445864"/>
          </a:xfrm>
          <a:prstGeom prst="ellipse">
            <a:avLst/>
          </a:prstGeom>
          <a:solidFill>
            <a:srgbClr val="FFFF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BF9F959-98AD-40D0-8ECA-3AC2CD4EEAE5}"/>
              </a:ext>
            </a:extLst>
          </p:cNvPr>
          <p:cNvSpPr/>
          <p:nvPr/>
        </p:nvSpPr>
        <p:spPr>
          <a:xfrm>
            <a:off x="8883384" y="4242527"/>
            <a:ext cx="432048" cy="445864"/>
          </a:xfrm>
          <a:prstGeom prst="ellipse">
            <a:avLst/>
          </a:prstGeom>
          <a:solidFill>
            <a:srgbClr val="FFFF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333686-AF9A-47CF-9BCA-607E68FE0FC8}"/>
              </a:ext>
            </a:extLst>
          </p:cNvPr>
          <p:cNvSpPr txBox="1"/>
          <p:nvPr/>
        </p:nvSpPr>
        <p:spPr>
          <a:xfrm>
            <a:off x="9315432" y="1160046"/>
            <a:ext cx="27211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600" dirty="0"/>
              <a:t>Setup the </a:t>
            </a:r>
            <a:r>
              <a:rPr lang="en-CA" sz="1600" dirty="0">
                <a:solidFill>
                  <a:srgbClr val="92D050"/>
                </a:solidFill>
              </a:rPr>
              <a:t>comparison variable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B8533E-467B-4BD4-AAF2-7E8B8C554A6F}"/>
              </a:ext>
            </a:extLst>
          </p:cNvPr>
          <p:cNvSpPr txBox="1"/>
          <p:nvPr/>
        </p:nvSpPr>
        <p:spPr>
          <a:xfrm>
            <a:off x="9315432" y="1943888"/>
            <a:ext cx="16900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600" dirty="0"/>
              <a:t>The </a:t>
            </a:r>
            <a:r>
              <a:rPr lang="en-CA" sz="1600" dirty="0">
                <a:solidFill>
                  <a:srgbClr val="92D050"/>
                </a:solidFill>
              </a:rPr>
              <a:t>test condition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5505F2-73D8-442D-A01D-6EE959A89F18}"/>
              </a:ext>
            </a:extLst>
          </p:cNvPr>
          <p:cNvSpPr txBox="1"/>
          <p:nvPr/>
        </p:nvSpPr>
        <p:spPr>
          <a:xfrm>
            <a:off x="9315432" y="2604375"/>
            <a:ext cx="20106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600" dirty="0"/>
              <a:t>Code to execute </a:t>
            </a:r>
            <a:r>
              <a:rPr lang="en-CA" sz="1600" dirty="0">
                <a:solidFill>
                  <a:srgbClr val="FFFF00"/>
                </a:solidFill>
              </a:rPr>
              <a:t>if</a:t>
            </a:r>
            <a:r>
              <a:rPr lang="en-CA" sz="1600" dirty="0"/>
              <a:t> the</a:t>
            </a:r>
          </a:p>
          <a:p>
            <a:r>
              <a:rPr lang="en-CA" sz="1600" dirty="0">
                <a:solidFill>
                  <a:srgbClr val="92D050"/>
                </a:solidFill>
              </a:rPr>
              <a:t>test condition </a:t>
            </a:r>
            <a:r>
              <a:rPr lang="en-CA" sz="1600" dirty="0"/>
              <a:t>is</a:t>
            </a:r>
            <a:r>
              <a:rPr lang="en-CA" sz="1600" dirty="0">
                <a:solidFill>
                  <a:srgbClr val="92D050"/>
                </a:solidFill>
              </a:rPr>
              <a:t> </a:t>
            </a:r>
            <a:r>
              <a:rPr lang="en-CA" sz="1600" dirty="0">
                <a:solidFill>
                  <a:srgbClr val="00B0F0"/>
                </a:solidFill>
              </a:rPr>
              <a:t>True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949EB7-3575-4BC6-A05B-9B6F3AF9FEC0}"/>
              </a:ext>
            </a:extLst>
          </p:cNvPr>
          <p:cNvSpPr txBox="1"/>
          <p:nvPr/>
        </p:nvSpPr>
        <p:spPr>
          <a:xfrm>
            <a:off x="9315432" y="3393161"/>
            <a:ext cx="26536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600" dirty="0"/>
              <a:t>Change the </a:t>
            </a:r>
            <a:r>
              <a:rPr lang="en-CA" sz="1600" dirty="0">
                <a:solidFill>
                  <a:srgbClr val="92D050"/>
                </a:solidFill>
              </a:rPr>
              <a:t>comparison</a:t>
            </a:r>
          </a:p>
          <a:p>
            <a:r>
              <a:rPr lang="en-CA" sz="1600" dirty="0">
                <a:solidFill>
                  <a:srgbClr val="92D050"/>
                </a:solidFill>
              </a:rPr>
              <a:t>variable</a:t>
            </a:r>
            <a:r>
              <a:rPr lang="en-CA" sz="1600" dirty="0"/>
              <a:t>,</a:t>
            </a:r>
            <a:r>
              <a:rPr lang="en-CA" sz="1600" dirty="0">
                <a:solidFill>
                  <a:srgbClr val="92D050"/>
                </a:solidFill>
              </a:rPr>
              <a:t> </a:t>
            </a:r>
            <a:r>
              <a:rPr lang="en-CA" sz="1600" dirty="0"/>
              <a:t>towards target value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C76A4A-587D-4F51-BFFE-0DDA88FBDD07}"/>
              </a:ext>
            </a:extLst>
          </p:cNvPr>
          <p:cNvSpPr txBox="1"/>
          <p:nvPr/>
        </p:nvSpPr>
        <p:spPr>
          <a:xfrm>
            <a:off x="9315432" y="4093433"/>
            <a:ext cx="23770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600" dirty="0"/>
              <a:t>The test condition is </a:t>
            </a:r>
            <a:r>
              <a:rPr lang="en-CA" sz="1600" dirty="0">
                <a:solidFill>
                  <a:srgbClr val="00B0F0"/>
                </a:solidFill>
              </a:rPr>
              <a:t>False</a:t>
            </a:r>
            <a:r>
              <a:rPr lang="en-CA" sz="1600" dirty="0"/>
              <a:t>,</a:t>
            </a:r>
          </a:p>
          <a:p>
            <a:r>
              <a:rPr lang="en-CA" sz="1600" dirty="0"/>
              <a:t>continue with the rest of</a:t>
            </a:r>
          </a:p>
          <a:p>
            <a:r>
              <a:rPr lang="en-CA" sz="1600" dirty="0"/>
              <a:t>the program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D099768-5C1E-4C79-9AC0-3B780DD42AC0}"/>
              </a:ext>
            </a:extLst>
          </p:cNvPr>
          <p:cNvCxnSpPr>
            <a:stCxn id="8" idx="4"/>
            <a:endCxn id="9" idx="0"/>
          </p:cNvCxnSpPr>
          <p:nvPr/>
        </p:nvCxnSpPr>
        <p:spPr>
          <a:xfrm>
            <a:off x="9099408" y="1552255"/>
            <a:ext cx="3745" cy="3381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87ED3EE-4081-4189-9E62-7306C6F062CF}"/>
              </a:ext>
            </a:extLst>
          </p:cNvPr>
          <p:cNvCxnSpPr/>
          <p:nvPr/>
        </p:nvCxnSpPr>
        <p:spPr>
          <a:xfrm>
            <a:off x="9106923" y="2340771"/>
            <a:ext cx="3745" cy="3381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946C687-8883-497E-9A83-3E2D302C8808}"/>
              </a:ext>
            </a:extLst>
          </p:cNvPr>
          <p:cNvCxnSpPr/>
          <p:nvPr/>
        </p:nvCxnSpPr>
        <p:spPr>
          <a:xfrm>
            <a:off x="9106923" y="3144404"/>
            <a:ext cx="3745" cy="3381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DC5528B-8710-4AD4-8C8D-EC924B9E461D}"/>
                  </a:ext>
                </a:extLst>
              </p14:cNvPr>
              <p14:cNvContentPartPr/>
              <p14:nvPr/>
            </p14:nvContentPartPr>
            <p14:xfrm>
              <a:off x="8529056" y="2123285"/>
              <a:ext cx="354600" cy="15339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DC5528B-8710-4AD4-8C8D-EC924B9E461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20056" y="2114285"/>
                <a:ext cx="372240" cy="1551600"/>
              </a:xfrm>
              <a:prstGeom prst="rect">
                <a:avLst/>
              </a:prstGeom>
            </p:spPr>
          </p:pic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98F6E85F-E0D0-46BD-A002-14D7B5409A1A}"/>
              </a:ext>
            </a:extLst>
          </p:cNvPr>
          <p:cNvSpPr txBox="1"/>
          <p:nvPr/>
        </p:nvSpPr>
        <p:spPr>
          <a:xfrm>
            <a:off x="9056218" y="2337372"/>
            <a:ext cx="4604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200" dirty="0">
                <a:solidFill>
                  <a:srgbClr val="00B0F0"/>
                </a:solidFill>
              </a:rPr>
              <a:t>True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342AAC4A-D39E-4F39-94C1-91E4B0CB467D}"/>
                  </a:ext>
                </a:extLst>
              </p14:cNvPr>
              <p14:cNvContentPartPr/>
              <p14:nvPr/>
            </p14:nvContentPartPr>
            <p14:xfrm>
              <a:off x="8448056" y="4502885"/>
              <a:ext cx="16560" cy="3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342AAC4A-D39E-4F39-94C1-91E4B0CB467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30056" y="4484885"/>
                <a:ext cx="522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627FE888-1D6E-4D77-BFF6-6E209FF84345}"/>
              </a:ext>
            </a:extLst>
          </p:cNvPr>
          <p:cNvGrpSpPr/>
          <p:nvPr/>
        </p:nvGrpSpPr>
        <p:grpSpPr>
          <a:xfrm>
            <a:off x="8426096" y="2036165"/>
            <a:ext cx="444960" cy="2557800"/>
            <a:chOff x="8200680" y="3236310"/>
            <a:chExt cx="444960" cy="255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FE4D70C-03FE-4CDE-B59B-F78DABEA2391}"/>
                    </a:ext>
                  </a:extLst>
                </p14:cNvPr>
                <p14:cNvContentPartPr/>
                <p14:nvPr/>
              </p14:nvContentPartPr>
              <p14:xfrm>
                <a:off x="8210400" y="3238110"/>
                <a:ext cx="360" cy="24624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FE4D70C-03FE-4CDE-B59B-F78DABEA239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192400" y="3220113"/>
                  <a:ext cx="36000" cy="24980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FC0CA82-0CBA-4BC4-8C1A-E41CDED9EE43}"/>
                    </a:ext>
                  </a:extLst>
                </p14:cNvPr>
                <p14:cNvContentPartPr/>
                <p14:nvPr/>
              </p14:nvContentPartPr>
              <p14:xfrm>
                <a:off x="8210400" y="5703030"/>
                <a:ext cx="427680" cy="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FC0CA82-0CBA-4BC4-8C1A-E41CDED9EE4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192400" y="5685030"/>
                  <a:ext cx="4633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EDFD35B-C898-4A97-B729-AC110322A146}"/>
                    </a:ext>
                  </a:extLst>
                </p14:cNvPr>
                <p14:cNvContentPartPr/>
                <p14:nvPr/>
              </p14:nvContentPartPr>
              <p14:xfrm>
                <a:off x="8200680" y="3236310"/>
                <a:ext cx="444960" cy="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EDFD35B-C898-4A97-B729-AC110322A14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182680" y="3218310"/>
                  <a:ext cx="480600" cy="360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44C4BF63-3BAE-4358-898A-6862C226C7D5}"/>
                </a:ext>
              </a:extLst>
            </p:cNvPr>
            <p:cNvGrpSpPr/>
            <p:nvPr/>
          </p:nvGrpSpPr>
          <p:grpSpPr>
            <a:xfrm>
              <a:off x="8547360" y="5617350"/>
              <a:ext cx="92160" cy="176760"/>
              <a:chOff x="8547360" y="5617350"/>
              <a:chExt cx="92160" cy="1767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4">
                <p14:nvContentPartPr>
                  <p14:cNvPr id="34" name="Ink 33">
                    <a:extLst>
                      <a:ext uri="{FF2B5EF4-FFF2-40B4-BE49-F238E27FC236}">
                        <a16:creationId xmlns:a16="http://schemas.microsoft.com/office/drawing/2014/main" id="{B05D34EE-09E6-48D2-84E5-7F52F0AD4AF3}"/>
                      </a:ext>
                    </a:extLst>
                  </p14:cNvPr>
                  <p14:cNvContentPartPr/>
                  <p14:nvPr/>
                </p14:nvContentPartPr>
                <p14:xfrm>
                  <a:off x="8559960" y="5617350"/>
                  <a:ext cx="79560" cy="68760"/>
                </p14:xfrm>
              </p:contentPart>
            </mc:Choice>
            <mc:Fallback xmlns="">
              <p:pic>
                <p:nvPicPr>
                  <p:cNvPr id="34" name="Ink 33">
                    <a:extLst>
                      <a:ext uri="{FF2B5EF4-FFF2-40B4-BE49-F238E27FC236}">
                        <a16:creationId xmlns:a16="http://schemas.microsoft.com/office/drawing/2014/main" id="{B05D34EE-09E6-48D2-84E5-7F52F0AD4AF3}"/>
                      </a:ext>
                    </a:extLst>
                  </p:cNvPr>
                  <p:cNvPicPr/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8541878" y="5599350"/>
                    <a:ext cx="115362" cy="1044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">
                <p14:nvContentPartPr>
                  <p14:cNvPr id="35" name="Ink 34">
                    <a:extLst>
                      <a:ext uri="{FF2B5EF4-FFF2-40B4-BE49-F238E27FC236}">
                        <a16:creationId xmlns:a16="http://schemas.microsoft.com/office/drawing/2014/main" id="{4DDD2D05-122A-4C80-A8AE-21FBE958B9D0}"/>
                      </a:ext>
                    </a:extLst>
                  </p14:cNvPr>
                  <p14:cNvContentPartPr/>
                  <p14:nvPr/>
                </p14:nvContentPartPr>
                <p14:xfrm>
                  <a:off x="8547360" y="5686110"/>
                  <a:ext cx="72720" cy="108000"/>
                </p14:xfrm>
              </p:contentPart>
            </mc:Choice>
            <mc:Fallback xmlns="">
              <p:pic>
                <p:nvPicPr>
                  <p:cNvPr id="35" name="Ink 34">
                    <a:extLst>
                      <a:ext uri="{FF2B5EF4-FFF2-40B4-BE49-F238E27FC236}">
                        <a16:creationId xmlns:a16="http://schemas.microsoft.com/office/drawing/2014/main" id="{4DDD2D05-122A-4C80-A8AE-21FBE958B9D0}"/>
                      </a:ext>
                    </a:extLst>
                  </p:cNvPr>
                  <p:cNvPicPr/>
                  <p:nvPr/>
                </p:nvPicPr>
                <p:blipFill>
                  <a:blip r:embed="rId17"/>
                  <a:stretch>
                    <a:fillRect/>
                  </a:stretch>
                </p:blipFill>
                <p:spPr>
                  <a:xfrm>
                    <a:off x="8529360" y="5668110"/>
                    <a:ext cx="108360" cy="14364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DB6C853A-59F0-49A7-962D-5B3C0E37B52E}"/>
              </a:ext>
            </a:extLst>
          </p:cNvPr>
          <p:cNvSpPr txBox="1"/>
          <p:nvPr/>
        </p:nvSpPr>
        <p:spPr>
          <a:xfrm>
            <a:off x="7966659" y="2947761"/>
            <a:ext cx="4979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200" dirty="0">
                <a:solidFill>
                  <a:srgbClr val="00B0F0"/>
                </a:solidFill>
              </a:rPr>
              <a:t>False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D05784-F3BC-49BA-BE14-9E7DBFB91FDE}"/>
              </a:ext>
            </a:extLst>
          </p:cNvPr>
          <p:cNvSpPr txBox="1"/>
          <p:nvPr/>
        </p:nvSpPr>
        <p:spPr>
          <a:xfrm>
            <a:off x="1008007" y="3313489"/>
            <a:ext cx="57259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9600" dirty="0">
                <a:solidFill>
                  <a:srgbClr val="FFFF00"/>
                </a:solidFill>
              </a:rPr>
              <a:t>{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F7223E3-5244-44E3-82FF-6116F0BD3333}"/>
              </a:ext>
            </a:extLst>
          </p:cNvPr>
          <p:cNvSpPr txBox="1"/>
          <p:nvPr/>
        </p:nvSpPr>
        <p:spPr>
          <a:xfrm>
            <a:off x="7189401" y="3932933"/>
            <a:ext cx="42672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solidFill>
                  <a:srgbClr val="FFFF00"/>
                </a:solidFill>
              </a:rPr>
              <a:t>}</a:t>
            </a:r>
            <a:endParaRPr lang="en-CA" sz="9600" dirty="0">
              <a:solidFill>
                <a:srgbClr val="FFFF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0FF2407-3142-49FC-A556-6EC9338411A5}"/>
              </a:ext>
            </a:extLst>
          </p:cNvPr>
          <p:cNvSpPr txBox="1"/>
          <p:nvPr/>
        </p:nvSpPr>
        <p:spPr>
          <a:xfrm>
            <a:off x="924044" y="1330566"/>
            <a:ext cx="57259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9600" dirty="0">
                <a:solidFill>
                  <a:srgbClr val="FFFF00"/>
                </a:solidFill>
              </a:rPr>
              <a:t>{</a:t>
            </a:r>
          </a:p>
        </p:txBody>
      </p:sp>
    </p:spTree>
    <p:extLst>
      <p:ext uri="{BB962C8B-B14F-4D97-AF65-F5344CB8AC3E}">
        <p14:creationId xmlns:p14="http://schemas.microsoft.com/office/powerpoint/2010/main" val="1286069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/>
      <p:bldP spid="15" grpId="0"/>
      <p:bldP spid="16" grpId="0"/>
      <p:bldP spid="17" grpId="0"/>
      <p:bldP spid="18" grpId="0"/>
      <p:bldP spid="27" grpId="0"/>
      <p:bldP spid="37" grpId="0"/>
      <p:bldP spid="23" grpId="0"/>
      <p:bldP spid="38" grpId="0"/>
      <p:bldP spid="3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75823-2175-46BD-9A15-EE6059AEA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06091"/>
          </a:xfrm>
        </p:spPr>
        <p:txBody>
          <a:bodyPr/>
          <a:lstStyle/>
          <a:p>
            <a:r>
              <a:rPr lang="en-CA" dirty="0"/>
              <a:t>Exiting a Loop Early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4CDD0-FD7C-462A-A6DB-EF30793B5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052735"/>
            <a:ext cx="10492153" cy="5530627"/>
          </a:xfrm>
        </p:spPr>
        <p:txBody>
          <a:bodyPr>
            <a:normAutofit/>
          </a:bodyPr>
          <a:lstStyle/>
          <a:p>
            <a:r>
              <a:rPr lang="en-CA" dirty="0"/>
              <a:t>Sometimes it may be necessary to exit a loop early and go to the rest of the code.</a:t>
            </a:r>
          </a:p>
          <a:p>
            <a:pPr lvl="1"/>
            <a:r>
              <a:rPr lang="en-CA" dirty="0"/>
              <a:t>For example, if you’re algorithm finds its result early and it is not necessary to continue analyzing the data</a:t>
            </a:r>
          </a:p>
          <a:p>
            <a:pPr lvl="1"/>
            <a:endParaRPr lang="en-CA" dirty="0"/>
          </a:p>
          <a:p>
            <a:r>
              <a:rPr lang="en-CA" dirty="0"/>
              <a:t>To do this, we will use a keyword we have seen previously, </a:t>
            </a:r>
            <a:r>
              <a:rPr lang="en-CA" b="1" dirty="0">
                <a:solidFill>
                  <a:srgbClr val="FF0000"/>
                </a:solidFill>
              </a:rPr>
              <a:t>break</a:t>
            </a:r>
          </a:p>
          <a:p>
            <a:r>
              <a:rPr lang="en-CA" b="1" dirty="0">
                <a:solidFill>
                  <a:srgbClr val="FF0000"/>
                </a:solidFill>
              </a:rPr>
              <a:t>break; </a:t>
            </a:r>
            <a:r>
              <a:rPr lang="en-CA" dirty="0"/>
              <a:t>in a loop instructs the program to immediately quit the current iteration and go to the first statement after the loop</a:t>
            </a:r>
          </a:p>
          <a:p>
            <a:pPr lvl="1"/>
            <a:r>
              <a:rPr lang="en-CA" dirty="0"/>
              <a:t>If you are in the inner loop of nested loops, it only breaks from the inner loop</a:t>
            </a:r>
          </a:p>
          <a:p>
            <a:r>
              <a:rPr lang="en-CA" b="1" dirty="0">
                <a:solidFill>
                  <a:srgbClr val="FF0000"/>
                </a:solidFill>
              </a:rPr>
              <a:t>break;</a:t>
            </a:r>
            <a:r>
              <a:rPr lang="en-CA" dirty="0"/>
              <a:t> MUST be inside a selection statement, otherwise the code after it in the body of the loop will be unreachable.  This will cause a compiler error</a:t>
            </a:r>
          </a:p>
        </p:txBody>
      </p:sp>
    </p:spTree>
    <p:extLst>
      <p:ext uri="{BB962C8B-B14F-4D97-AF65-F5344CB8AC3E}">
        <p14:creationId xmlns:p14="http://schemas.microsoft.com/office/powerpoint/2010/main" val="3501458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D4597-5052-427A-85B6-33C4FCB59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850107"/>
          </a:xfrm>
        </p:spPr>
        <p:txBody>
          <a:bodyPr/>
          <a:lstStyle/>
          <a:p>
            <a:r>
              <a:rPr lang="en-CA" dirty="0"/>
              <a:t>Exiting a Loop Early: The Password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9BFCB-9312-4D62-A68B-921E9AFE9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124744"/>
            <a:ext cx="6099665" cy="5458619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int </a:t>
            </a:r>
            <a:r>
              <a:rPr lang="en-CA" sz="2000" dirty="0" err="1">
                <a:latin typeface="Consolas" panose="020B0609020204030204" pitchFamily="49" charset="0"/>
              </a:rPr>
              <a:t>numTries</a:t>
            </a:r>
            <a:r>
              <a:rPr lang="en-CA" sz="2000" dirty="0">
                <a:latin typeface="Consolas" panose="020B0609020204030204" pitchFamily="49" charset="0"/>
              </a:rPr>
              <a:t> = 3;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string password = “Secret”;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string input = “”;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while (</a:t>
            </a:r>
            <a:r>
              <a:rPr lang="en-CA" sz="2000" dirty="0" err="1">
                <a:latin typeface="Consolas" panose="020B0609020204030204" pitchFamily="49" charset="0"/>
              </a:rPr>
              <a:t>numTries</a:t>
            </a:r>
            <a:r>
              <a:rPr lang="en-CA" sz="2000" dirty="0">
                <a:latin typeface="Consolas" panose="020B0609020204030204" pitchFamily="49" charset="0"/>
              </a:rPr>
              <a:t> &gt; 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  </a:t>
            </a:r>
            <a:r>
              <a:rPr lang="en-CA" sz="2000" dirty="0" err="1">
                <a:latin typeface="Consolas" panose="020B0609020204030204" pitchFamily="49" charset="0"/>
              </a:rPr>
              <a:t>Console.WriteLine</a:t>
            </a:r>
            <a:r>
              <a:rPr lang="en-CA" sz="2000" dirty="0">
                <a:latin typeface="Consolas" panose="020B0609020204030204" pitchFamily="49" charset="0"/>
              </a:rPr>
              <a:t>(“Enter your password”);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  input = </a:t>
            </a:r>
            <a:r>
              <a:rPr lang="en-CA" sz="2000" dirty="0" err="1">
                <a:latin typeface="Consolas" panose="020B0609020204030204" pitchFamily="49" charset="0"/>
              </a:rPr>
              <a:t>Console.ReadLine</a:t>
            </a:r>
            <a:r>
              <a:rPr lang="en-CA" sz="2000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  if (</a:t>
            </a:r>
            <a:r>
              <a:rPr lang="en-CA" sz="2000" dirty="0" err="1">
                <a:latin typeface="Consolas" panose="020B0609020204030204" pitchFamily="49" charset="0"/>
              </a:rPr>
              <a:t>input.Equals</a:t>
            </a:r>
            <a:r>
              <a:rPr lang="en-CA" sz="2000" dirty="0">
                <a:latin typeface="Consolas" panose="020B0609020204030204" pitchFamily="49" charset="0"/>
              </a:rPr>
              <a:t>(password))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    </a:t>
            </a:r>
            <a:r>
              <a:rPr lang="en-CA" sz="2000" dirty="0" err="1">
                <a:latin typeface="Consolas" panose="020B0609020204030204" pitchFamily="49" charset="0"/>
              </a:rPr>
              <a:t>Console.WriteLine</a:t>
            </a:r>
            <a:r>
              <a:rPr lang="en-CA" sz="2000" dirty="0">
                <a:latin typeface="Consolas" panose="020B0609020204030204" pitchFamily="49" charset="0"/>
              </a:rPr>
              <a:t>(“Access Granted”);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    break;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  else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    </a:t>
            </a:r>
            <a:r>
              <a:rPr lang="en-CA" sz="2000" dirty="0" err="1">
                <a:latin typeface="Consolas" panose="020B0609020204030204" pitchFamily="49" charset="0"/>
              </a:rPr>
              <a:t>Console.WriteLine</a:t>
            </a:r>
            <a:r>
              <a:rPr lang="en-CA" sz="2000" dirty="0">
                <a:latin typeface="Consolas" panose="020B0609020204030204" pitchFamily="49" charset="0"/>
              </a:rPr>
              <a:t>(“Access Denied”);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    </a:t>
            </a:r>
            <a:r>
              <a:rPr lang="en-CA" sz="2000" dirty="0" err="1">
                <a:latin typeface="Consolas" panose="020B0609020204030204" pitchFamily="49" charset="0"/>
              </a:rPr>
              <a:t>numTries</a:t>
            </a:r>
            <a:r>
              <a:rPr lang="en-CA" sz="2000" dirty="0">
                <a:latin typeface="Consolas" panose="020B0609020204030204" pitchFamily="49" charset="0"/>
              </a:rPr>
              <a:t>--;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CF3768-0468-4C27-960A-3A21DD9557B9}"/>
              </a:ext>
            </a:extLst>
          </p:cNvPr>
          <p:cNvSpPr txBox="1"/>
          <p:nvPr/>
        </p:nvSpPr>
        <p:spPr>
          <a:xfrm>
            <a:off x="7462564" y="1844824"/>
            <a:ext cx="4285276" cy="95410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CA" sz="2800" dirty="0"/>
              <a:t>What 2 things could happen</a:t>
            </a:r>
          </a:p>
          <a:p>
            <a:r>
              <a:rPr lang="en-CA" sz="2800" dirty="0"/>
              <a:t>to cause this loop to end?</a:t>
            </a:r>
          </a:p>
        </p:txBody>
      </p:sp>
    </p:spTree>
    <p:extLst>
      <p:ext uri="{BB962C8B-B14F-4D97-AF65-F5344CB8AC3E}">
        <p14:creationId xmlns:p14="http://schemas.microsoft.com/office/powerpoint/2010/main" val="468076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138139"/>
          </a:xfrm>
        </p:spPr>
        <p:txBody>
          <a:bodyPr/>
          <a:lstStyle/>
          <a:p>
            <a:r>
              <a:rPr lang="en-US" dirty="0" smtClean="0"/>
              <a:t>Teacher Demo – Let’s Rebuild the Guessing Game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8883" y="1772816"/>
            <a:ext cx="10360501" cy="4391253"/>
          </a:xfrm>
        </p:spPr>
        <p:txBody>
          <a:bodyPr/>
          <a:lstStyle/>
          <a:p>
            <a:r>
              <a:rPr lang="en-US" dirty="0" smtClean="0"/>
              <a:t>When we first learned selection you were asked to create a number guessing game that told the user to guess higher or lower in each of their three tries.</a:t>
            </a:r>
          </a:p>
          <a:p>
            <a:endParaRPr lang="en-US" dirty="0" smtClean="0"/>
          </a:p>
          <a:p>
            <a:r>
              <a:rPr lang="en-US" dirty="0" smtClean="0"/>
              <a:t>Now, we will rebuild this game with the help of loops, and make the game </a:t>
            </a:r>
            <a:r>
              <a:rPr lang="en-US" dirty="0" err="1" smtClean="0"/>
              <a:t>replayable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Yes, you can even add game states in Console programs.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0945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612</Words>
  <Application>Microsoft Office PowerPoint</Application>
  <PresentationFormat>Custom</PresentationFormat>
  <Paragraphs>121</Paragraphs>
  <Slides>8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Tech 16x9</vt:lpstr>
      <vt:lpstr>Loops</vt:lpstr>
      <vt:lpstr>Objectives</vt:lpstr>
      <vt:lpstr>Conditional Loop</vt:lpstr>
      <vt:lpstr>if vs. while syntax</vt:lpstr>
      <vt:lpstr>So Where are the 3 Parts?</vt:lpstr>
      <vt:lpstr>Exiting a Loop Early</vt:lpstr>
      <vt:lpstr>Exiting a Loop Early: The Password Program</vt:lpstr>
      <vt:lpstr>Teacher Demo – Let’s Rebuild the Guessing Game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Loops</dc:title>
  <dc:creator>Trevor Lane</dc:creator>
  <cp:lastModifiedBy>Lane, Trevor</cp:lastModifiedBy>
  <cp:revision>2</cp:revision>
  <dcterms:created xsi:type="dcterms:W3CDTF">2020-11-23T02:16:33Z</dcterms:created>
  <dcterms:modified xsi:type="dcterms:W3CDTF">2023-05-17T12:58:45Z</dcterms:modified>
</cp:coreProperties>
</file>