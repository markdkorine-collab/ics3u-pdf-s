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"/>
  </p:notesMasterIdLst>
  <p:handoutMasterIdLst>
    <p:handoutMasterId r:id="rId15"/>
  </p:handout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>
      <p:cViewPr varScale="1">
        <p:scale>
          <a:sx n="123" d="100"/>
          <a:sy n="123" d="100"/>
        </p:scale>
        <p:origin x="108" y="28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9/28/2026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9/28/2026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9/28/2026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9/28/2026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9/28/2026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9/28/2026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9/28/2026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9/28/2026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9/28/2026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9/28/2026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9/28/2026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9/28/2026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9/28/2026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9/28/2026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User Input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Basics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C00A7-BE70-4B45-82B0-3109F5A9C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78099"/>
          </a:xfrm>
        </p:spPr>
        <p:txBody>
          <a:bodyPr/>
          <a:lstStyle/>
          <a:p>
            <a:r>
              <a:rPr lang="en-CA" dirty="0"/>
              <a:t>What is Input?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274E1-6884-4230-BDC2-CE2B64FC1E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196752"/>
            <a:ext cx="10360501" cy="4967317"/>
          </a:xfrm>
        </p:spPr>
        <p:txBody>
          <a:bodyPr>
            <a:normAutofit fontScale="92500" lnSpcReduction="10000"/>
          </a:bodyPr>
          <a:lstStyle/>
          <a:p>
            <a:r>
              <a:rPr lang="en-CA" dirty="0"/>
              <a:t>The </a:t>
            </a:r>
            <a:r>
              <a:rPr lang="en-CA" dirty="0">
                <a:solidFill>
                  <a:srgbClr val="FFFF00"/>
                </a:solidFill>
              </a:rPr>
              <a:t>opposite</a:t>
            </a:r>
            <a:r>
              <a:rPr lang="en-CA" dirty="0"/>
              <a:t> of output, data sent </a:t>
            </a:r>
            <a:r>
              <a:rPr lang="en-CA" dirty="0">
                <a:solidFill>
                  <a:srgbClr val="FFFF00"/>
                </a:solidFill>
              </a:rPr>
              <a:t>INTO</a:t>
            </a:r>
            <a:r>
              <a:rPr lang="en-CA" dirty="0"/>
              <a:t> the computer from the user or an external source for processing, storage </a:t>
            </a:r>
            <a:r>
              <a:rPr lang="en-CA" dirty="0" smtClean="0"/>
              <a:t>and/or </a:t>
            </a:r>
            <a:r>
              <a:rPr lang="en-CA" dirty="0"/>
              <a:t>output</a:t>
            </a:r>
          </a:p>
          <a:p>
            <a:endParaRPr lang="en-CA" dirty="0"/>
          </a:p>
          <a:p>
            <a:r>
              <a:rPr lang="en-CA" dirty="0"/>
              <a:t>Input comes in many possible formats</a:t>
            </a:r>
          </a:p>
          <a:p>
            <a:pPr lvl="1"/>
            <a:r>
              <a:rPr lang="en-CA" dirty="0"/>
              <a:t>Sound (microphone)</a:t>
            </a:r>
          </a:p>
          <a:p>
            <a:pPr lvl="1"/>
            <a:r>
              <a:rPr lang="en-CA" dirty="0"/>
              <a:t>Graphical (image from a </a:t>
            </a:r>
            <a:r>
              <a:rPr lang="en-CA" dirty="0" smtClean="0"/>
              <a:t>camera/scanner)</a:t>
            </a:r>
            <a:endParaRPr lang="en-CA" dirty="0"/>
          </a:p>
          <a:p>
            <a:pPr lvl="1"/>
            <a:r>
              <a:rPr lang="en-CA" dirty="0">
                <a:solidFill>
                  <a:srgbClr val="92D050"/>
                </a:solidFill>
              </a:rPr>
              <a:t>Text (from the keyboard)</a:t>
            </a:r>
          </a:p>
          <a:p>
            <a:pPr lvl="1"/>
            <a:r>
              <a:rPr lang="en-CA" dirty="0"/>
              <a:t>Positional (from a mouse)</a:t>
            </a:r>
          </a:p>
          <a:p>
            <a:pPr lvl="1"/>
            <a:r>
              <a:rPr lang="en-CA" dirty="0"/>
              <a:t>This doesn’t even scratch the surface, </a:t>
            </a:r>
            <a:r>
              <a:rPr lang="en-CA" dirty="0" smtClean="0"/>
              <a:t>think </a:t>
            </a:r>
            <a:r>
              <a:rPr lang="en-CA" dirty="0"/>
              <a:t>of VR </a:t>
            </a:r>
            <a:r>
              <a:rPr lang="en-CA" dirty="0" smtClean="0"/>
              <a:t>headsets, controllers, tablets, etc.</a:t>
            </a:r>
            <a:endParaRPr lang="en-CA" dirty="0"/>
          </a:p>
          <a:p>
            <a:pPr lvl="1"/>
            <a:endParaRPr lang="en-CA" dirty="0"/>
          </a:p>
          <a:p>
            <a:r>
              <a:rPr lang="en-CA" dirty="0"/>
              <a:t>Many sources of Input</a:t>
            </a:r>
          </a:p>
          <a:p>
            <a:pPr lvl="1"/>
            <a:r>
              <a:rPr lang="en-CA" dirty="0">
                <a:solidFill>
                  <a:srgbClr val="92D050"/>
                </a:solidFill>
              </a:rPr>
              <a:t>Keyboard</a:t>
            </a:r>
            <a:r>
              <a:rPr lang="en-CA" dirty="0"/>
              <a:t>, Mouse, Internet, cameras, microphones, sensors, etc.</a:t>
            </a:r>
          </a:p>
        </p:txBody>
      </p:sp>
    </p:spTree>
    <p:extLst>
      <p:ext uri="{BB962C8B-B14F-4D97-AF65-F5344CB8AC3E}">
        <p14:creationId xmlns:p14="http://schemas.microsoft.com/office/powerpoint/2010/main" val="874878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B87CE-FF06-4F88-86E4-D0F660A6B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78099"/>
          </a:xfrm>
        </p:spPr>
        <p:txBody>
          <a:bodyPr/>
          <a:lstStyle/>
          <a:p>
            <a:r>
              <a:rPr lang="en-CA" dirty="0"/>
              <a:t>Keyboard Input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F9F20-7AA2-4F37-9ABC-DDC51C6A1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1844" y="1196752"/>
            <a:ext cx="10801199" cy="4967317"/>
          </a:xfrm>
        </p:spPr>
        <p:txBody>
          <a:bodyPr>
            <a:normAutofit fontScale="92500" lnSpcReduction="10000"/>
          </a:bodyPr>
          <a:lstStyle/>
          <a:p>
            <a:r>
              <a:rPr lang="en-CA" dirty="0"/>
              <a:t>The user types something on the keyboard</a:t>
            </a:r>
          </a:p>
          <a:p>
            <a:endParaRPr lang="en-CA" dirty="0"/>
          </a:p>
          <a:p>
            <a:r>
              <a:rPr lang="en-CA" dirty="0"/>
              <a:t>The operating system sends that input to the </a:t>
            </a:r>
            <a:r>
              <a:rPr lang="en-CA" dirty="0">
                <a:solidFill>
                  <a:srgbClr val="92D050"/>
                </a:solidFill>
              </a:rPr>
              <a:t>active</a:t>
            </a:r>
            <a:r>
              <a:rPr lang="en-CA" dirty="0"/>
              <a:t> program</a:t>
            </a:r>
          </a:p>
          <a:p>
            <a:endParaRPr lang="en-CA" dirty="0"/>
          </a:p>
          <a:p>
            <a:r>
              <a:rPr lang="en-CA" dirty="0"/>
              <a:t>The active program uses that input to perform some computations (also called processing) </a:t>
            </a:r>
          </a:p>
          <a:p>
            <a:pPr lvl="1"/>
            <a:r>
              <a:rPr lang="en-CA" dirty="0"/>
              <a:t>Different programs will do different things:</a:t>
            </a:r>
          </a:p>
          <a:p>
            <a:pPr lvl="2"/>
            <a:r>
              <a:rPr lang="en-CA" dirty="0"/>
              <a:t>Example: “W” in Word will put a W on the screen, in Call of Duty, your character will walk forward</a:t>
            </a:r>
          </a:p>
          <a:p>
            <a:endParaRPr lang="en-CA" dirty="0"/>
          </a:p>
          <a:p>
            <a:r>
              <a:rPr lang="en-CA" dirty="0"/>
              <a:t>The processed data is eventually displayed on the screen showing </a:t>
            </a:r>
            <a:r>
              <a:rPr lang="en-CA" dirty="0" smtClean="0"/>
              <a:t>a </a:t>
            </a:r>
            <a:r>
              <a:rPr lang="en-CA" dirty="0"/>
              <a:t>change in some way relative to that active program</a:t>
            </a:r>
          </a:p>
        </p:txBody>
      </p:sp>
    </p:spTree>
    <p:extLst>
      <p:ext uri="{BB962C8B-B14F-4D97-AF65-F5344CB8AC3E}">
        <p14:creationId xmlns:p14="http://schemas.microsoft.com/office/powerpoint/2010/main" val="3236769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968FD-470B-4640-A485-8BDB7EEF3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Input in C#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A40A5-A019-462A-A048-3DCB4F839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C# can do keyboard input in many ways…</a:t>
            </a:r>
          </a:p>
          <a:p>
            <a:r>
              <a:rPr lang="en-CA" dirty="0"/>
              <a:t>However, when making a Console program it will always use the same command:</a:t>
            </a:r>
          </a:p>
          <a:p>
            <a:endParaRPr lang="en-CA" dirty="0"/>
          </a:p>
          <a:p>
            <a:r>
              <a:rPr lang="en-CA" dirty="0" err="1">
                <a:solidFill>
                  <a:srgbClr val="00B0F0"/>
                </a:solidFill>
                <a:latin typeface="Consolas" panose="020B0609020204030204" pitchFamily="49" charset="0"/>
              </a:rPr>
              <a:t>Console.ReadLine</a:t>
            </a:r>
            <a:r>
              <a:rPr lang="en-CA" dirty="0">
                <a:solidFill>
                  <a:srgbClr val="00B0F0"/>
                </a:solidFill>
                <a:latin typeface="Consolas" panose="020B060902020403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124278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E24C1-52A3-42D1-9651-83BB8F938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922115"/>
          </a:xfrm>
        </p:spPr>
        <p:txBody>
          <a:bodyPr/>
          <a:lstStyle/>
          <a:p>
            <a:r>
              <a:rPr lang="en-CA" dirty="0"/>
              <a:t>Input – Ask/Read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EA3DD-1FD8-4B9D-9A24-815315A8D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268760"/>
            <a:ext cx="10360501" cy="511256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Before we can expect the user to enter information, we must ask </a:t>
            </a:r>
            <a:r>
              <a:rPr lang="en-US" dirty="0" smtClean="0"/>
              <a:t>for </a:t>
            </a:r>
            <a:r>
              <a:rPr lang="en-US" dirty="0"/>
              <a:t>it.</a:t>
            </a:r>
          </a:p>
          <a:p>
            <a:pPr lvl="1"/>
            <a:r>
              <a:rPr lang="en-US" dirty="0"/>
              <a:t>We call this </a:t>
            </a:r>
            <a:r>
              <a:rPr lang="en-US" b="1" dirty="0">
                <a:solidFill>
                  <a:srgbClr val="92D050"/>
                </a:solidFill>
              </a:rPr>
              <a:t>prompting</a:t>
            </a:r>
            <a:r>
              <a:rPr lang="en-US" dirty="0"/>
              <a:t> the user.</a:t>
            </a:r>
          </a:p>
          <a:p>
            <a:endParaRPr lang="en-US" dirty="0"/>
          </a:p>
          <a:p>
            <a:r>
              <a:rPr lang="en-US" dirty="0"/>
              <a:t>This may come in the form of a </a:t>
            </a:r>
            <a:r>
              <a:rPr lang="en-US" dirty="0" err="1">
                <a:solidFill>
                  <a:srgbClr val="00B0F0"/>
                </a:solidFill>
                <a:latin typeface="Consolas" panose="020B0609020204030204" pitchFamily="49" charset="0"/>
              </a:rPr>
              <a:t>Console.WriteLine</a:t>
            </a:r>
            <a:r>
              <a:rPr lang="en-US" dirty="0">
                <a:solidFill>
                  <a:srgbClr val="00B0F0"/>
                </a:solidFill>
                <a:latin typeface="Consolas" panose="020B0609020204030204" pitchFamily="49" charset="0"/>
              </a:rPr>
              <a:t>()</a:t>
            </a:r>
            <a:r>
              <a:rPr lang="en-US" dirty="0"/>
              <a:t>, </a:t>
            </a:r>
            <a:r>
              <a:rPr lang="en-US" dirty="0" err="1">
                <a:solidFill>
                  <a:srgbClr val="00B0F0"/>
                </a:solidFill>
                <a:latin typeface="Consolas" panose="020B0609020204030204" pitchFamily="49" charset="0"/>
              </a:rPr>
              <a:t>Console.Write</a:t>
            </a:r>
            <a:r>
              <a:rPr lang="en-US" dirty="0">
                <a:solidFill>
                  <a:srgbClr val="00B0F0"/>
                </a:solidFill>
                <a:latin typeface="Consolas" panose="020B0609020204030204" pitchFamily="49" charset="0"/>
              </a:rPr>
              <a:t>()</a:t>
            </a:r>
            <a:r>
              <a:rPr lang="en-US" dirty="0"/>
              <a:t> or something creative to show the user what to do</a:t>
            </a:r>
          </a:p>
          <a:p>
            <a:endParaRPr lang="en-US" dirty="0"/>
          </a:p>
          <a:p>
            <a:r>
              <a:rPr lang="en-US" dirty="0"/>
              <a:t>We must ask the user for only a </a:t>
            </a:r>
            <a:r>
              <a:rPr lang="en-US" dirty="0">
                <a:solidFill>
                  <a:srgbClr val="FFFF00"/>
                </a:solidFill>
              </a:rPr>
              <a:t>single</a:t>
            </a:r>
            <a:r>
              <a:rPr lang="en-US" dirty="0"/>
              <a:t> piece of </a:t>
            </a:r>
            <a:r>
              <a:rPr lang="en-US" dirty="0" smtClean="0"/>
              <a:t>data </a:t>
            </a:r>
            <a:r>
              <a:rPr lang="en-US" dirty="0"/>
              <a:t>at a time. 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Bad</a:t>
            </a:r>
            <a:r>
              <a:rPr lang="en-US" dirty="0"/>
              <a:t>: “Enter 5 numbers”</a:t>
            </a:r>
          </a:p>
          <a:p>
            <a:pPr lvl="1"/>
            <a:r>
              <a:rPr lang="en-US" dirty="0">
                <a:solidFill>
                  <a:srgbClr val="92D050"/>
                </a:solidFill>
              </a:rPr>
              <a:t>Good</a:t>
            </a:r>
            <a:r>
              <a:rPr lang="en-US" dirty="0"/>
              <a:t>: “Enter number 1”, followed by “Enter number 2”, and so on</a:t>
            </a:r>
          </a:p>
          <a:p>
            <a:pPr lvl="1"/>
            <a:endParaRPr lang="en-US" dirty="0"/>
          </a:p>
          <a:p>
            <a:r>
              <a:rPr lang="en-US" dirty="0"/>
              <a:t>We follow </a:t>
            </a:r>
            <a:r>
              <a:rPr lang="en-US" b="1" dirty="0">
                <a:solidFill>
                  <a:srgbClr val="FFFF00"/>
                </a:solidFill>
              </a:rPr>
              <a:t>EACH</a:t>
            </a:r>
            <a:r>
              <a:rPr lang="en-US" dirty="0"/>
              <a:t> prompt up with the act of </a:t>
            </a:r>
            <a:r>
              <a:rPr lang="en-US" b="1" dirty="0">
                <a:solidFill>
                  <a:srgbClr val="92D050"/>
                </a:solidFill>
              </a:rPr>
              <a:t>READING</a:t>
            </a:r>
            <a:r>
              <a:rPr lang="en-US" dirty="0"/>
              <a:t> in the user’s typing</a:t>
            </a:r>
          </a:p>
        </p:txBody>
      </p:sp>
    </p:spTree>
    <p:extLst>
      <p:ext uri="{BB962C8B-B14F-4D97-AF65-F5344CB8AC3E}">
        <p14:creationId xmlns:p14="http://schemas.microsoft.com/office/powerpoint/2010/main" val="181227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D756B-240A-4F7C-81B1-8BD9173D9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Input – Reading in 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612E9-DB20-49F9-A34F-D7FA9805F5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We must store the </a:t>
            </a:r>
            <a:r>
              <a:rPr lang="en-CA" dirty="0" smtClean="0"/>
              <a:t>data </a:t>
            </a:r>
            <a:r>
              <a:rPr lang="en-CA" dirty="0"/>
              <a:t>typed by the user into a </a:t>
            </a:r>
            <a:r>
              <a:rPr lang="en-CA" dirty="0">
                <a:solidFill>
                  <a:srgbClr val="92D050"/>
                </a:solidFill>
              </a:rPr>
              <a:t>variable</a:t>
            </a:r>
            <a:r>
              <a:rPr lang="en-CA" dirty="0"/>
              <a:t> of an </a:t>
            </a:r>
            <a:r>
              <a:rPr lang="en-CA" dirty="0">
                <a:solidFill>
                  <a:srgbClr val="92D050"/>
                </a:solidFill>
              </a:rPr>
              <a:t>appropriate type</a:t>
            </a:r>
          </a:p>
          <a:p>
            <a:r>
              <a:rPr lang="en-CA" dirty="0"/>
              <a:t>Meaning:</a:t>
            </a:r>
          </a:p>
          <a:p>
            <a:pPr lvl="1"/>
            <a:r>
              <a:rPr lang="en-CA" dirty="0"/>
              <a:t>If we ask for text we will store it in a string.  </a:t>
            </a:r>
          </a:p>
          <a:p>
            <a:pPr lvl="1"/>
            <a:r>
              <a:rPr lang="en-CA" dirty="0"/>
              <a:t>If we ask for a number we will store it in a numeric type like int or double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dirty="0">
                <a:solidFill>
                  <a:srgbClr val="FFFF00"/>
                </a:solidFill>
              </a:rPr>
              <a:t>The problem:</a:t>
            </a:r>
          </a:p>
          <a:p>
            <a:r>
              <a:rPr lang="en-CA" dirty="0">
                <a:solidFill>
                  <a:srgbClr val="FFFF00"/>
                </a:solidFill>
              </a:rPr>
              <a:t>ALL</a:t>
            </a:r>
            <a:r>
              <a:rPr lang="en-CA" dirty="0"/>
              <a:t> input coming from the user comes to us in the form of a string</a:t>
            </a:r>
          </a:p>
          <a:p>
            <a:r>
              <a:rPr lang="en-CA" dirty="0"/>
              <a:t>So, what do we do? We </a:t>
            </a:r>
            <a:r>
              <a:rPr lang="en-CA" dirty="0">
                <a:solidFill>
                  <a:srgbClr val="FFFF00"/>
                </a:solidFill>
              </a:rPr>
              <a:t>CONVERT</a:t>
            </a:r>
            <a:r>
              <a:rPr lang="en-CA" dirty="0"/>
              <a:t> </a:t>
            </a:r>
            <a:r>
              <a:rPr lang="en-CA" dirty="0" smtClean="0"/>
              <a:t>then </a:t>
            </a:r>
            <a:r>
              <a:rPr lang="en-CA" dirty="0">
                <a:solidFill>
                  <a:srgbClr val="FFFF00"/>
                </a:solidFill>
              </a:rPr>
              <a:t>STORE</a:t>
            </a:r>
            <a:r>
              <a:rPr lang="en-CA" dirty="0"/>
              <a:t> the incoming data.</a:t>
            </a:r>
          </a:p>
        </p:txBody>
      </p:sp>
    </p:spTree>
    <p:extLst>
      <p:ext uri="{BB962C8B-B14F-4D97-AF65-F5344CB8AC3E}">
        <p14:creationId xmlns:p14="http://schemas.microsoft.com/office/powerpoint/2010/main" val="1621839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96BFE-4BE0-405D-B8F7-C7010A066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06091"/>
          </a:xfrm>
        </p:spPr>
        <p:txBody>
          <a:bodyPr/>
          <a:lstStyle/>
          <a:p>
            <a:r>
              <a:rPr lang="en-CA" dirty="0"/>
              <a:t>The Console.ReadLine()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1CF06-9F12-434A-8EEA-6E3D8267E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124745"/>
            <a:ext cx="10360501" cy="5256584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rgbClr val="00B0F0"/>
                </a:solidFill>
                <a:latin typeface="Consolas" panose="020B0609020204030204" pitchFamily="49" charset="0"/>
              </a:rPr>
              <a:t>Console.ReadLine()</a:t>
            </a:r>
            <a:r>
              <a:rPr lang="en-CA" dirty="0"/>
              <a:t> will take all the typing the user does until they hit the enter key then return it back to us, the programmers</a:t>
            </a:r>
          </a:p>
          <a:p>
            <a:r>
              <a:rPr lang="en-CA" dirty="0"/>
              <a:t>It is then our job to store it for later (or use it immediately):</a:t>
            </a:r>
          </a:p>
          <a:p>
            <a:pPr marL="0" indent="0">
              <a:buNone/>
            </a:pPr>
            <a:r>
              <a:rPr lang="en-CA" dirty="0">
                <a:solidFill>
                  <a:srgbClr val="92D050"/>
                </a:solidFill>
              </a:rPr>
              <a:t>Example: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string userName;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int </a:t>
            </a:r>
            <a:r>
              <a:rPr lang="en-CA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userAge</a:t>
            </a:r>
            <a:r>
              <a:rPr lang="en-CA" sz="20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endParaRPr lang="en-CA" sz="2000" dirty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Console.Write(“Enter name: ”); </a:t>
            </a:r>
            <a:r>
              <a:rPr lang="en-CA" sz="1800" dirty="0">
                <a:solidFill>
                  <a:srgbClr val="FFFF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 </a:t>
            </a:r>
            <a:r>
              <a:rPr lang="en-CA" sz="1800" dirty="0" smtClean="0">
                <a:solidFill>
                  <a:srgbClr val="FFFF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Write, </a:t>
            </a:r>
            <a:r>
              <a:rPr lang="en-CA" sz="1800" dirty="0">
                <a:solidFill>
                  <a:srgbClr val="FFFF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to keep the cursor on the same line</a:t>
            </a:r>
            <a:endParaRPr lang="en-CA" sz="18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userName = Console.ReadLine();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Console.Write(“Enter age: ”);  </a:t>
            </a:r>
            <a:r>
              <a:rPr lang="en-CA" sz="2000" dirty="0">
                <a:solidFill>
                  <a:srgbClr val="FFFF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</a:t>
            </a:r>
            <a:endParaRPr lang="en-CA" sz="18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userAge</a:t>
            </a: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 = Convert.ToInt32(Console.ReadLine()); </a:t>
            </a:r>
            <a:r>
              <a:rPr lang="en-CA" sz="2000" dirty="0">
                <a:solidFill>
                  <a:srgbClr val="FFFF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 Convert and Store</a:t>
            </a:r>
            <a:endParaRPr lang="en-CA" sz="20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CA" sz="2000" dirty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r>
              <a:rPr lang="en-CA" dirty="0"/>
              <a:t>At this point we can now use </a:t>
            </a:r>
            <a:r>
              <a:rPr lang="en-CA" dirty="0">
                <a:solidFill>
                  <a:srgbClr val="FFFF00"/>
                </a:solidFill>
              </a:rPr>
              <a:t>userName</a:t>
            </a:r>
            <a:r>
              <a:rPr lang="en-CA" dirty="0"/>
              <a:t> and </a:t>
            </a:r>
            <a:r>
              <a:rPr lang="en-CA" dirty="0" err="1">
                <a:solidFill>
                  <a:srgbClr val="FFFF00"/>
                </a:solidFill>
              </a:rPr>
              <a:t>userAge</a:t>
            </a:r>
            <a:r>
              <a:rPr lang="en-CA" dirty="0"/>
              <a:t> for whatever purpose we want</a:t>
            </a:r>
          </a:p>
        </p:txBody>
      </p:sp>
    </p:spTree>
    <p:extLst>
      <p:ext uri="{BB962C8B-B14F-4D97-AF65-F5344CB8AC3E}">
        <p14:creationId xmlns:p14="http://schemas.microsoft.com/office/powerpoint/2010/main" val="1904012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41CFD-A525-4539-9E58-FD252297E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Teacher-Led Full Example with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30C64-97A4-40CC-BA48-EEB44F5F8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6"/>
            <a:ext cx="10360501" cy="4751539"/>
          </a:xfrm>
        </p:spPr>
        <p:txBody>
          <a:bodyPr>
            <a:normAutofit/>
          </a:bodyPr>
          <a:lstStyle/>
          <a:p>
            <a:r>
              <a:rPr lang="en-CA" dirty="0"/>
              <a:t>Write a user-friendly program that retrieves the following data:</a:t>
            </a:r>
          </a:p>
          <a:p>
            <a:pPr lvl="1"/>
            <a:r>
              <a:rPr lang="en-CA" dirty="0"/>
              <a:t>User’s first name</a:t>
            </a:r>
          </a:p>
          <a:p>
            <a:pPr lvl="1"/>
            <a:r>
              <a:rPr lang="en-CA" dirty="0"/>
              <a:t>User’s last name</a:t>
            </a:r>
          </a:p>
          <a:p>
            <a:pPr lvl="1"/>
            <a:r>
              <a:rPr lang="en-CA" dirty="0"/>
              <a:t>User’s age</a:t>
            </a:r>
          </a:p>
          <a:p>
            <a:pPr lvl="1"/>
            <a:r>
              <a:rPr lang="en-CA" dirty="0"/>
              <a:t>User’s Xbox Gamer score</a:t>
            </a:r>
          </a:p>
          <a:p>
            <a:r>
              <a:rPr lang="en-CA" dirty="0"/>
              <a:t>Output the </a:t>
            </a:r>
            <a:r>
              <a:rPr lang="en-CA" b="1" dirty="0">
                <a:solidFill>
                  <a:srgbClr val="92D050"/>
                </a:solidFill>
              </a:rPr>
              <a:t>user name </a:t>
            </a:r>
            <a:r>
              <a:rPr lang="en-CA" dirty="0"/>
              <a:t>as their first name + their last name</a:t>
            </a:r>
          </a:p>
          <a:p>
            <a:pPr lvl="1"/>
            <a:r>
              <a:rPr lang="en-CA" dirty="0"/>
              <a:t>Example: “Bob”, “Joe” will produce the user name “</a:t>
            </a:r>
            <a:r>
              <a:rPr lang="en-CA" dirty="0" err="1"/>
              <a:t>BobJoe</a:t>
            </a:r>
            <a:r>
              <a:rPr lang="en-CA" dirty="0"/>
              <a:t>”</a:t>
            </a:r>
          </a:p>
          <a:p>
            <a:r>
              <a:rPr lang="en-CA" dirty="0"/>
              <a:t>Output their </a:t>
            </a:r>
            <a:r>
              <a:rPr lang="en-CA" b="1" dirty="0">
                <a:solidFill>
                  <a:srgbClr val="92D050"/>
                </a:solidFill>
              </a:rPr>
              <a:t>rating</a:t>
            </a:r>
            <a:r>
              <a:rPr lang="en-CA" dirty="0"/>
              <a:t>, calculated as their gamer score divided by their age</a:t>
            </a:r>
          </a:p>
          <a:p>
            <a:pPr lvl="1"/>
            <a:r>
              <a:rPr lang="en-CA" dirty="0"/>
              <a:t>Example: a score of 10389 and age of 24 will produce 432.875</a:t>
            </a:r>
          </a:p>
        </p:txBody>
      </p:sp>
    </p:spTree>
    <p:extLst>
      <p:ext uri="{BB962C8B-B14F-4D97-AF65-F5344CB8AC3E}">
        <p14:creationId xmlns:p14="http://schemas.microsoft.com/office/powerpoint/2010/main" val="117728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311B6-01E0-4DB8-BB0A-FC9C8CCC3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C7F32-222F-4012-9851-FDA78F09B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>
                <a:solidFill>
                  <a:srgbClr val="FFFF00"/>
                </a:solidFill>
              </a:rPr>
              <a:t>BE CAREFUL WHEN WORKING WITH USER INPUT</a:t>
            </a:r>
            <a:r>
              <a:rPr lang="en-CA" dirty="0"/>
              <a:t>:</a:t>
            </a:r>
          </a:p>
          <a:p>
            <a:pPr lvl="1"/>
            <a:r>
              <a:rPr lang="en-CA" dirty="0"/>
              <a:t>What if the program asks for an age and the user enters “Boomerang”?</a:t>
            </a:r>
          </a:p>
          <a:p>
            <a:r>
              <a:rPr lang="en-CA" dirty="0"/>
              <a:t>This will result in your program trying to convert “Boomerang” into an int</a:t>
            </a:r>
          </a:p>
          <a:p>
            <a:r>
              <a:rPr lang="en-CA" b="1" dirty="0">
                <a:solidFill>
                  <a:srgbClr val="FF0000"/>
                </a:solidFill>
              </a:rPr>
              <a:t>ERROR</a:t>
            </a:r>
            <a:r>
              <a:rPr lang="en-CA" dirty="0"/>
              <a:t>…</a:t>
            </a:r>
            <a:r>
              <a:rPr lang="en-CA" dirty="0">
                <a:solidFill>
                  <a:srgbClr val="FFFF00"/>
                </a:solidFill>
              </a:rPr>
              <a:t>Program Crash</a:t>
            </a:r>
          </a:p>
          <a:p>
            <a:endParaRPr lang="en-CA" dirty="0">
              <a:solidFill>
                <a:srgbClr val="FFFF00"/>
              </a:solidFill>
            </a:endParaRPr>
          </a:p>
          <a:p>
            <a:r>
              <a:rPr lang="en-CA" dirty="0"/>
              <a:t>We must assume our users will make mistakes, later in the course we will learn how to protect our programs from this (</a:t>
            </a:r>
            <a:r>
              <a:rPr lang="en-CA" dirty="0" err="1"/>
              <a:t>TryParse</a:t>
            </a:r>
            <a:r>
              <a:rPr lang="en-CA" dirty="0"/>
              <a:t>).</a:t>
            </a:r>
          </a:p>
          <a:p>
            <a:r>
              <a:rPr lang="en-CA" b="1" dirty="0">
                <a:solidFill>
                  <a:srgbClr val="FFFF00"/>
                </a:solidFill>
              </a:rPr>
              <a:t>FOR NOW</a:t>
            </a:r>
            <a:r>
              <a:rPr lang="en-CA" dirty="0"/>
              <a:t>: assume the user will type correctly formatted data</a:t>
            </a:r>
          </a:p>
        </p:txBody>
      </p:sp>
    </p:spTree>
    <p:extLst>
      <p:ext uri="{BB962C8B-B14F-4D97-AF65-F5344CB8AC3E}">
        <p14:creationId xmlns:p14="http://schemas.microsoft.com/office/powerpoint/2010/main" val="2079450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402</TotalTime>
  <Words>666</Words>
  <Application>Microsoft Office PowerPoint</Application>
  <PresentationFormat>Custom</PresentationFormat>
  <Paragraphs>80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Wingdings</vt:lpstr>
      <vt:lpstr>Tech 16x9</vt:lpstr>
      <vt:lpstr>User Input</vt:lpstr>
      <vt:lpstr>What is Input?</vt:lpstr>
      <vt:lpstr>Keyboard Input</vt:lpstr>
      <vt:lpstr>Input in C#</vt:lpstr>
      <vt:lpstr>Input – Ask/Read</vt:lpstr>
      <vt:lpstr>Input – Reading in the data</vt:lpstr>
      <vt:lpstr>The Console.ReadLine() Method</vt:lpstr>
      <vt:lpstr>Teacher-Led Full Example with Processing</vt:lpstr>
      <vt:lpstr>Input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Variables: Day 1</dc:title>
  <dc:creator>Trevor Lane</dc:creator>
  <cp:lastModifiedBy>Lane, Trevor</cp:lastModifiedBy>
  <cp:revision>28</cp:revision>
  <dcterms:created xsi:type="dcterms:W3CDTF">2020-09-21T00:53:05Z</dcterms:created>
  <dcterms:modified xsi:type="dcterms:W3CDTF">2026-09-28T12:59:46Z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