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2" r:id="rId13"/>
    <p:sldId id="263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95" d="100"/>
          <a:sy n="95" d="100"/>
        </p:scale>
        <p:origin x="104" y="404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pi/system.string?view=netcore-3.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Manipulation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639" y="1484784"/>
            <a:ext cx="11278988" cy="4968552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String manipulation is made up of two facets:</a:t>
            </a:r>
          </a:p>
          <a:p>
            <a:pPr lvl="1"/>
            <a:r>
              <a:rPr lang="en-CA" dirty="0"/>
              <a:t>Inspecting a string for certain traits (String analysis)</a:t>
            </a:r>
          </a:p>
          <a:p>
            <a:pPr lvl="1"/>
            <a:r>
              <a:rPr lang="en-CA" dirty="0"/>
              <a:t>Modifying a string into something new (String manipulation)</a:t>
            </a:r>
          </a:p>
          <a:p>
            <a:pPr lvl="1"/>
            <a:endParaRPr lang="en-CA" dirty="0"/>
          </a:p>
          <a:p>
            <a:r>
              <a:rPr lang="en-CA" dirty="0"/>
              <a:t>The next couple of lessons will cover many of these operations, but know that there are many more.  See </a:t>
            </a:r>
            <a:r>
              <a:rPr lang="en-CA" dirty="0">
                <a:hlinkClick r:id="rId2"/>
              </a:rPr>
              <a:t>HERE</a:t>
            </a:r>
            <a:r>
              <a:rPr lang="en-CA" dirty="0"/>
              <a:t> for details</a:t>
            </a:r>
          </a:p>
          <a:p>
            <a:endParaRPr lang="en-CA" dirty="0"/>
          </a:p>
          <a:p>
            <a:r>
              <a:rPr lang="en-CA" dirty="0">
                <a:solidFill>
                  <a:srgbClr val="FFFF00"/>
                </a:solidFill>
              </a:rPr>
              <a:t>The key to working with string methods is that it is very similar to working with Convert methods and most Math methods.</a:t>
            </a:r>
          </a:p>
          <a:p>
            <a:pPr lvl="1"/>
            <a:r>
              <a:rPr lang="en-CA" dirty="0"/>
              <a:t>You are never manipulating the original string, as it is not changed.  Instead, we create a new string that we can choose to use immediately or store for later.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91DF-88E9-482D-9140-BD54B471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What is a string exactly?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D2A41-9602-4D93-9738-68E519931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12777"/>
            <a:ext cx="10360501" cy="5040560"/>
          </a:xfrm>
        </p:spPr>
        <p:txBody>
          <a:bodyPr>
            <a:normAutofit/>
          </a:bodyPr>
          <a:lstStyle/>
          <a:p>
            <a:r>
              <a:rPr lang="en-CA" dirty="0"/>
              <a:t>Remember from past lessons that strings are stored in memory as a collection of individual </a:t>
            </a:r>
            <a:r>
              <a:rPr lang="en-CA" dirty="0">
                <a:solidFill>
                  <a:srgbClr val="92D050"/>
                </a:solidFill>
              </a:rPr>
              <a:t>characters</a:t>
            </a:r>
            <a:r>
              <a:rPr lang="en-CA" dirty="0"/>
              <a:t> with an address, called an </a:t>
            </a:r>
            <a:r>
              <a:rPr lang="en-CA" dirty="0">
                <a:solidFill>
                  <a:srgbClr val="92D050"/>
                </a:solidFill>
              </a:rPr>
              <a:t>index</a:t>
            </a:r>
            <a:r>
              <a:rPr lang="en-CA" dirty="0"/>
              <a:t>.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r>
              <a:rPr lang="en-CA" dirty="0"/>
              <a:t>The analogy we used in class was the hanging</a:t>
            </a:r>
            <a:br>
              <a:rPr lang="en-CA" dirty="0"/>
            </a:br>
            <a:r>
              <a:rPr lang="en-CA" dirty="0"/>
              <a:t>“H-A-P-P-Y_B-I-R-T-H-D-A-Y” signs we see at birthday parties.</a:t>
            </a:r>
          </a:p>
          <a:p>
            <a:pPr lvl="1"/>
            <a:r>
              <a:rPr lang="en-CA" dirty="0"/>
              <a:t>Each character has a set position, and it cannot be reorganized</a:t>
            </a:r>
          </a:p>
          <a:p>
            <a:r>
              <a:rPr lang="en-CA" dirty="0"/>
              <a:t>When  we speak of manipulating a string, in truth, we are </a:t>
            </a:r>
            <a:r>
              <a:rPr lang="en-CA" b="1" dirty="0">
                <a:solidFill>
                  <a:srgbClr val="FF0000"/>
                </a:solidFill>
              </a:rPr>
              <a:t>NOT</a:t>
            </a:r>
            <a:r>
              <a:rPr lang="en-CA" dirty="0"/>
              <a:t> changing the original string at all.  We are making a </a:t>
            </a:r>
            <a:r>
              <a:rPr lang="en-CA" dirty="0">
                <a:solidFill>
                  <a:srgbClr val="00B0F0"/>
                </a:solidFill>
              </a:rPr>
              <a:t>new</a:t>
            </a:r>
            <a:r>
              <a:rPr lang="en-CA" dirty="0"/>
              <a:t> one!</a:t>
            </a:r>
          </a:p>
          <a:p>
            <a:pPr lvl="1"/>
            <a:r>
              <a:rPr lang="en-CA" dirty="0"/>
              <a:t>Then it is up to us to either store it in a </a:t>
            </a:r>
            <a:r>
              <a:rPr lang="en-CA" dirty="0">
                <a:solidFill>
                  <a:srgbClr val="92D050"/>
                </a:solidFill>
              </a:rPr>
              <a:t>new variable </a:t>
            </a:r>
            <a:r>
              <a:rPr lang="en-CA" dirty="0"/>
              <a:t>or </a:t>
            </a:r>
            <a:r>
              <a:rPr lang="en-CA" dirty="0">
                <a:solidFill>
                  <a:srgbClr val="92D050"/>
                </a:solidFill>
              </a:rPr>
              <a:t>overwrite the original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3B58EBD-0FCB-4626-AB1E-0D967149C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2425"/>
              </p:ext>
            </p:extLst>
          </p:nvPr>
        </p:nvGraphicFramePr>
        <p:xfrm>
          <a:off x="2336191" y="2492896"/>
          <a:ext cx="8125884" cy="7924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77157">
                  <a:extLst>
                    <a:ext uri="{9D8B030D-6E8A-4147-A177-3AD203B41FA5}">
                      <a16:colId xmlns:a16="http://schemas.microsoft.com/office/drawing/2014/main" val="473707504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2986497266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851212992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2265607675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184182839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3663799264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2636409499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418260259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2694318705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1976732917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4195663211"/>
                    </a:ext>
                  </a:extLst>
                </a:gridCol>
                <a:gridCol w="677157">
                  <a:extLst>
                    <a:ext uri="{9D8B030D-6E8A-4147-A177-3AD203B41FA5}">
                      <a16:colId xmlns:a16="http://schemas.microsoft.com/office/drawing/2014/main" val="3353399377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46740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8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70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4597-EB00-4E98-9BA5-543F474B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Explanation through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BDC06-A98D-4388-A1D7-179597B8F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For each of the string commands you will be given a description and a small code example to demonstrate its use.</a:t>
            </a:r>
          </a:p>
          <a:p>
            <a:endParaRPr lang="en-CA" dirty="0"/>
          </a:p>
          <a:p>
            <a:r>
              <a:rPr lang="en-CA" dirty="0"/>
              <a:t>For each of the examples, assume we have previously setup the following code in the program: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word = “Hello World!”;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phoneNumber = “(555)-123-4567”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string newWord; </a:t>
            </a:r>
            <a:r>
              <a:rPr lang="en-CA" sz="2200" dirty="0">
                <a:solidFill>
                  <a:srgbClr val="FFFF00"/>
                </a:solidFill>
                <a:sym typeface="Wingdings" panose="05000000000000000000" pitchFamily="2" charset="2"/>
              </a:rPr>
              <a:t> Used to hold modified versions of word after manipulation</a:t>
            </a:r>
            <a:endParaRPr lang="en-CA" sz="2200" dirty="0">
              <a:solidFill>
                <a:srgbClr val="FFFF00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723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Inspection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F33A-72B2-494D-85A9-44A7F554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285387"/>
            <a:ext cx="11089231" cy="46327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We can inspect a string and look for certain traits, like length for example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/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18595"/>
              </p:ext>
            </p:extLst>
          </p:nvPr>
        </p:nvGraphicFramePr>
        <p:xfrm>
          <a:off x="1218882" y="3365837"/>
          <a:ext cx="10360502" cy="15240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textA.Length</a:t>
                      </a:r>
                      <a:endParaRPr lang="en-CA" b="1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Gets the number of characters in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, including spaces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chemeClr val="lt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Console.Write(“Length: ” + word.Length);</a:t>
                      </a: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“Length: 12”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C943FFD-72BC-4840-98B6-F2CA71D86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80115"/>
              </p:ext>
            </p:extLst>
          </p:nvPr>
        </p:nvGraphicFramePr>
        <p:xfrm>
          <a:off x="1218882" y="4997217"/>
          <a:ext cx="10360502" cy="15240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textA.Contains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Does a </a:t>
                      </a:r>
                      <a:r>
                        <a:rPr lang="en-CA" sz="2000" dirty="0">
                          <a:solidFill>
                            <a:srgbClr val="92D050"/>
                          </a:solidFill>
                        </a:rPr>
                        <a:t>true/false</a:t>
                      </a:r>
                      <a:r>
                        <a:rPr lang="en-CA" sz="2000" dirty="0"/>
                        <a:t> check to see if </a:t>
                      </a:r>
                      <a:r>
                        <a:rPr lang="en-CA" sz="2000" dirty="0" err="1"/>
                        <a:t>textB</a:t>
                      </a:r>
                      <a:r>
                        <a:rPr lang="en-CA" sz="2000" dirty="0"/>
                        <a:t> exists inside </a:t>
                      </a:r>
                      <a:r>
                        <a:rPr lang="en-CA" sz="2000" dirty="0" err="1"/>
                        <a:t>textA</a:t>
                      </a:r>
                      <a:endParaRPr lang="en-CA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8987" rtl="0" eaLnBrk="1" latinLnBrk="0" hangingPunct="1"/>
                      <a:r>
                        <a:rPr lang="en-CA" sz="1600" kern="1200" dirty="0">
                          <a:solidFill>
                            <a:schemeClr val="lt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Console.Write(“Contains lo: ” + word.Contains(“lo”));</a:t>
                      </a: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</a:rPr>
                        <a:t>Displays “Contains lo: True”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60973"/>
              </p:ext>
            </p:extLst>
          </p:nvPr>
        </p:nvGraphicFramePr>
        <p:xfrm>
          <a:off x="1218882" y="1718219"/>
          <a:ext cx="10360502" cy="15544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35170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725332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[index] </a:t>
                      </a:r>
                      <a:r>
                        <a:rPr lang="en-CA" sz="2000" b="1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where </a:t>
                      </a:r>
                      <a:r>
                        <a:rPr lang="en-CA" sz="2000" b="1" dirty="0" err="1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textA</a:t>
                      </a:r>
                      <a:r>
                        <a:rPr lang="en-CA" sz="2000" b="1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 is a string literal or variable</a:t>
                      </a:r>
                      <a:endParaRPr lang="en-CA" b="1" dirty="0">
                        <a:solidFill>
                          <a:srgbClr val="00B0F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Gets a </a:t>
                      </a:r>
                      <a:r>
                        <a:rPr lang="en-CA" sz="2000" b="1" dirty="0">
                          <a:solidFill>
                            <a:srgbClr val="92D050"/>
                          </a:solidFill>
                        </a:rPr>
                        <a:t>char</a:t>
                      </a:r>
                      <a:r>
                        <a:rPr lang="en-CA" sz="2000" dirty="0"/>
                        <a:t> version of the character in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at index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Console.Write(“Character: ” + word[6]);</a:t>
                      </a:r>
                      <a:r>
                        <a:rPr lang="en-CA" sz="1800" dirty="0"/>
                        <a:t>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 word[6] is ‘W’</a:t>
                      </a:r>
                      <a:endParaRPr lang="en-CA" sz="1800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“Character: W”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83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408F-673B-4A5A-8202-8626D640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CA" dirty="0"/>
              <a:t>Text Representation in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C05B5-6D22-44D4-A243-529078366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We know that computers cannot understand English</a:t>
            </a:r>
          </a:p>
          <a:p>
            <a:r>
              <a:rPr lang="en-CA" dirty="0"/>
              <a:t>Characters are represented on the computer as numbers</a:t>
            </a:r>
          </a:p>
          <a:p>
            <a:r>
              <a:rPr lang="en-CA" dirty="0"/>
              <a:t>Every character has a specific associated number</a:t>
            </a:r>
          </a:p>
          <a:p>
            <a:r>
              <a:rPr lang="en-CA" dirty="0"/>
              <a:t>We can find these numbers in the Decimal column on ASCII (Ask-</a:t>
            </a:r>
            <a:r>
              <a:rPr lang="en-CA" dirty="0" err="1"/>
              <a:t>ee</a:t>
            </a:r>
            <a:r>
              <a:rPr lang="en-CA" dirty="0"/>
              <a:t>) table shown here</a:t>
            </a:r>
          </a:p>
        </p:txBody>
      </p:sp>
      <p:pic>
        <p:nvPicPr>
          <p:cNvPr id="1026" name="Picture 2" descr="ASCII - Simple English Wikipedia, the free encyclopedia">
            <a:extLst>
              <a:ext uri="{FF2B5EF4-FFF2-40B4-BE49-F238E27FC236}">
                <a16:creationId xmlns:a16="http://schemas.microsoft.com/office/drawing/2014/main" id="{CD277CBD-734C-42CB-B090-9EFA7939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0097" y="1844824"/>
            <a:ext cx="5964955" cy="396669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89876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DE33-84DB-4109-95D0-7BFF6E89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Text Representation in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7EA8-39E4-4924-AF80-C220CFFC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2"/>
            <a:ext cx="10708177" cy="5328592"/>
          </a:xfrm>
        </p:spPr>
        <p:txBody>
          <a:bodyPr>
            <a:normAutofit/>
          </a:bodyPr>
          <a:lstStyle/>
          <a:p>
            <a:r>
              <a:rPr lang="en-CA" dirty="0"/>
              <a:t>We can convert back and forth between the integer number and character versions with simple </a:t>
            </a:r>
            <a:r>
              <a:rPr lang="en-CA" b="1" dirty="0">
                <a:solidFill>
                  <a:srgbClr val="00B0F0"/>
                </a:solidFill>
              </a:rPr>
              <a:t>casting</a:t>
            </a:r>
          </a:p>
          <a:p>
            <a:r>
              <a:rPr lang="en-CA" b="1" dirty="0">
                <a:solidFill>
                  <a:srgbClr val="FFFF00"/>
                </a:solidFill>
              </a:rPr>
              <a:t>NOTE: This only works on </a:t>
            </a:r>
            <a:r>
              <a:rPr lang="en-CA" b="1" dirty="0">
                <a:solidFill>
                  <a:srgbClr val="00B0F0"/>
                </a:solidFill>
              </a:rPr>
              <a:t>char</a:t>
            </a:r>
            <a:r>
              <a:rPr lang="en-CA" b="1" dirty="0">
                <a:solidFill>
                  <a:srgbClr val="FFFF00"/>
                </a:solidFill>
              </a:rPr>
              <a:t> data types, not strings</a:t>
            </a:r>
          </a:p>
          <a:p>
            <a:r>
              <a:rPr lang="en-CA" dirty="0"/>
              <a:t>4 Examples: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831B7-2595-EACD-9E66-422DE25B9547}"/>
              </a:ext>
            </a:extLst>
          </p:cNvPr>
          <p:cNvSpPr txBox="1"/>
          <p:nvPr/>
        </p:nvSpPr>
        <p:spPr>
          <a:xfrm>
            <a:off x="837826" y="3377520"/>
            <a:ext cx="11293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nsolas" panose="020B0609020204030204" pitchFamily="49" charset="0"/>
              </a:rPr>
              <a:t>int 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 = 121;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//store ASCII number for ‘y’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char </a:t>
            </a:r>
            <a:r>
              <a:rPr lang="en-CA" sz="1600" dirty="0" err="1">
                <a:latin typeface="Consolas" panose="020B0609020204030204" pitchFamily="49" charset="0"/>
              </a:rPr>
              <a:t>charLetter</a:t>
            </a:r>
            <a:r>
              <a:rPr lang="en-CA" sz="1600" dirty="0">
                <a:latin typeface="Consolas" panose="020B0609020204030204" pitchFamily="49" charset="0"/>
              </a:rPr>
              <a:t> = (char)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//Store the char ‘y’ in </a:t>
            </a:r>
            <a:r>
              <a:rPr lang="en-CA" sz="1600" dirty="0" err="1">
                <a:solidFill>
                  <a:srgbClr val="92D050"/>
                </a:solidFill>
                <a:latin typeface="Consolas" panose="020B0609020204030204" pitchFamily="49" charset="0"/>
              </a:rPr>
              <a:t>charLetter</a:t>
            </a:r>
            <a:endParaRPr lang="en-CA" sz="16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((char)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);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//Display y directly on the screen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BDFE0-C74A-AE17-D9B7-F1A76219C253}"/>
              </a:ext>
            </a:extLst>
          </p:cNvPr>
          <p:cNvSpPr txBox="1"/>
          <p:nvPr/>
        </p:nvSpPr>
        <p:spPr>
          <a:xfrm>
            <a:off x="837827" y="4208517"/>
            <a:ext cx="11293476" cy="58477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CA" sz="1600" dirty="0">
                <a:latin typeface="Consolas" panose="020B0609020204030204" pitchFamily="49" charset="0"/>
              </a:rPr>
              <a:t>string name = “Fred”;</a:t>
            </a:r>
          </a:p>
          <a:p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((int)name[0]);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//Retrieves the first letter, ‘F’ and Displays its ASCII value, 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6427A-70FC-85EE-B0AB-25BF68EC6865}"/>
              </a:ext>
            </a:extLst>
          </p:cNvPr>
          <p:cNvSpPr txBox="1"/>
          <p:nvPr/>
        </p:nvSpPr>
        <p:spPr>
          <a:xfrm>
            <a:off x="837827" y="4793292"/>
            <a:ext cx="11293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nsolas" panose="020B0609020204030204" pitchFamily="49" charset="0"/>
              </a:rPr>
              <a:t>char </a:t>
            </a:r>
            <a:r>
              <a:rPr lang="en-CA" sz="1600" dirty="0" err="1">
                <a:latin typeface="Consolas" panose="020B0609020204030204" pitchFamily="49" charset="0"/>
              </a:rPr>
              <a:t>charLetter</a:t>
            </a:r>
            <a:r>
              <a:rPr lang="en-CA" sz="1600" dirty="0">
                <a:latin typeface="Consolas" panose="020B0609020204030204" pitchFamily="49" charset="0"/>
              </a:rPr>
              <a:t> = ‘y’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int 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 = (int)</a:t>
            </a:r>
            <a:r>
              <a:rPr lang="en-CA" sz="1600" dirty="0" err="1">
                <a:latin typeface="Consolas" panose="020B0609020204030204" pitchFamily="49" charset="0"/>
              </a:rPr>
              <a:t>charLetter</a:t>
            </a:r>
            <a:r>
              <a:rPr lang="en-CA" sz="1600" dirty="0">
                <a:latin typeface="Consolas" panose="020B0609020204030204" pitchFamily="49" charset="0"/>
              </a:rPr>
              <a:t>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//Stores the ASCII value of ‘y’, 121 in </a:t>
            </a:r>
            <a:r>
              <a:rPr lang="en-CA" sz="1600" dirty="0" err="1">
                <a:solidFill>
                  <a:srgbClr val="92D050"/>
                </a:solidFill>
                <a:latin typeface="Consolas" panose="020B0609020204030204" pitchFamily="49" charset="0"/>
              </a:rPr>
              <a:t>charNum</a:t>
            </a:r>
            <a:endParaRPr lang="en-CA" sz="16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((int)</a:t>
            </a:r>
            <a:r>
              <a:rPr lang="en-CA" sz="1600" dirty="0" err="1">
                <a:latin typeface="Consolas" panose="020B0609020204030204" pitchFamily="49" charset="0"/>
              </a:rPr>
              <a:t>charLetter</a:t>
            </a:r>
            <a:r>
              <a:rPr lang="en-CA" sz="1600" dirty="0">
                <a:latin typeface="Consolas" panose="020B0609020204030204" pitchFamily="49" charset="0"/>
              </a:rPr>
              <a:t>);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//Displays the ASCII value of ‘y’ on the screen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95922-9C7A-94D0-F91E-FBC5551EBE9B}"/>
              </a:ext>
            </a:extLst>
          </p:cNvPr>
          <p:cNvSpPr txBox="1"/>
          <p:nvPr/>
        </p:nvSpPr>
        <p:spPr>
          <a:xfrm>
            <a:off x="837827" y="5610806"/>
            <a:ext cx="11293475" cy="107721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nsolas" panose="020B0609020204030204" pitchFamily="49" charset="0"/>
              </a:rPr>
              <a:t>string name = “Fred”;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int 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 = (int)name[2];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//Retrieves the third letter, ‘e’ and stores its ASCII value, 121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int </a:t>
            </a:r>
            <a:r>
              <a:rPr lang="en-CA" sz="1600" dirty="0" err="1">
                <a:latin typeface="Consolas" panose="020B0609020204030204" pitchFamily="49" charset="0"/>
              </a:rPr>
              <a:t>shiftedLetter</a:t>
            </a:r>
            <a:r>
              <a:rPr lang="en-CA" sz="1600" dirty="0">
                <a:latin typeface="Consolas" panose="020B0609020204030204" pitchFamily="49" charset="0"/>
              </a:rPr>
              <a:t> = </a:t>
            </a:r>
            <a:r>
              <a:rPr lang="en-CA" sz="1600" dirty="0" err="1">
                <a:latin typeface="Consolas" panose="020B0609020204030204" pitchFamily="49" charset="0"/>
              </a:rPr>
              <a:t>charNum</a:t>
            </a:r>
            <a:r>
              <a:rPr lang="en-CA" sz="1600" dirty="0">
                <a:latin typeface="Consolas" panose="020B0609020204030204" pitchFamily="49" charset="0"/>
              </a:rPr>
              <a:t> + 2;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//Shift the ASCII number 2 forward to 123</a:t>
            </a:r>
          </a:p>
          <a:p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((char)</a:t>
            </a:r>
            <a:r>
              <a:rPr lang="en-CA" sz="1600" dirty="0" err="1">
                <a:latin typeface="Consolas" panose="020B0609020204030204" pitchFamily="49" charset="0"/>
              </a:rPr>
              <a:t>shiftedLetter</a:t>
            </a:r>
            <a:r>
              <a:rPr lang="en-CA" sz="1600" dirty="0">
                <a:latin typeface="Consolas" panose="020B0609020204030204" pitchFamily="49" charset="0"/>
              </a:rPr>
              <a:t>);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//Displays the char for ASCII 123, ‘g’ on the screen</a:t>
            </a:r>
          </a:p>
        </p:txBody>
      </p:sp>
    </p:spTree>
    <p:extLst>
      <p:ext uri="{BB962C8B-B14F-4D97-AF65-F5344CB8AC3E}">
        <p14:creationId xmlns:p14="http://schemas.microsoft.com/office/powerpoint/2010/main" val="229271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3E4E-4784-4138-B080-916D3B94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Convert Char to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2E25-19C3-407E-9862-D06C14C96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7" y="1196752"/>
            <a:ext cx="10669548" cy="5400599"/>
          </a:xfrm>
        </p:spPr>
        <p:txBody>
          <a:bodyPr>
            <a:normAutofit/>
          </a:bodyPr>
          <a:lstStyle/>
          <a:p>
            <a:r>
              <a:rPr lang="en-CA" dirty="0"/>
              <a:t>There may be times where you have a char but need it to be a string.  Maybe to compare it to a string or possibly in hopes of concatenation.</a:t>
            </a:r>
          </a:p>
          <a:p>
            <a:r>
              <a:rPr lang="en-CA" dirty="0"/>
              <a:t>Concatenating two chars will </a:t>
            </a:r>
            <a:r>
              <a:rPr lang="en-CA" dirty="0">
                <a:solidFill>
                  <a:srgbClr val="FFFF00"/>
                </a:solidFill>
              </a:rPr>
              <a:t>add</a:t>
            </a:r>
            <a:r>
              <a:rPr lang="en-CA" dirty="0"/>
              <a:t> their two ASCII values, </a:t>
            </a:r>
            <a:r>
              <a:rPr lang="en-CA" dirty="0">
                <a:solidFill>
                  <a:srgbClr val="92D050"/>
                </a:solidFill>
              </a:rPr>
              <a:t>not concatenate!</a:t>
            </a:r>
            <a:r>
              <a:rPr lang="en-CA" dirty="0"/>
              <a:t> Something you most likely do not want.</a:t>
            </a:r>
          </a:p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</a:rPr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string word = “Fred”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 We know word[0] would really be ‘F’ 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70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(word[0] + word[1]);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 70 + 114 and writes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184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(word[0].</a:t>
            </a:r>
            <a:r>
              <a:rPr lang="en-CA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ToString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() + word[1].</a:t>
            </a:r>
            <a:r>
              <a:rPr lang="en-CA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ToString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()); </a:t>
            </a:r>
            <a:r>
              <a:rPr lang="en-CA" dirty="0">
                <a:solidFill>
                  <a:srgbClr val="92D050"/>
                </a:solidFill>
                <a:sym typeface="Wingdings" panose="05000000000000000000" pitchFamily="2" charset="2"/>
              </a:rPr>
              <a:t> writes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Fr</a:t>
            </a:r>
          </a:p>
          <a:p>
            <a:pPr marL="0" indent="0">
              <a:spcBef>
                <a:spcPts val="800"/>
              </a:spcBef>
              <a:buNone/>
            </a:pPr>
            <a:endParaRPr lang="en-CA" dirty="0">
              <a:solidFill>
                <a:srgbClr val="FFFF00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OR, you could use concatenation instead of the </a:t>
            </a:r>
            <a:r>
              <a:rPr lang="en-CA" dirty="0" err="1">
                <a:solidFill>
                  <a:srgbClr val="FFFF00"/>
                </a:solidFill>
                <a:sym typeface="Wingdings" panose="05000000000000000000" pitchFamily="2" charset="2"/>
              </a:rPr>
              <a:t>ToString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() method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CA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(“” + word[0] + word[1]); </a:t>
            </a: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  <a:cs typeface="Calibri" panose="020F0502020204030204" pitchFamily="34" charset="0"/>
                <a:sym typeface="Wingdings" panose="05000000000000000000" pitchFamily="2" charset="2"/>
              </a:rPr>
              <a:t> writes 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  <a:cs typeface="Calibri" panose="020F0502020204030204" pitchFamily="34" charset="0"/>
                <a:sym typeface="Wingdings" panose="05000000000000000000" pitchFamily="2" charset="2"/>
              </a:rPr>
              <a:t>“Fr”</a:t>
            </a:r>
          </a:p>
        </p:txBody>
      </p:sp>
    </p:spTree>
    <p:extLst>
      <p:ext uri="{BB962C8B-B14F-4D97-AF65-F5344CB8AC3E}">
        <p14:creationId xmlns:p14="http://schemas.microsoft.com/office/powerpoint/2010/main" val="98488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Inspection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78326"/>
              </p:ext>
            </p:extLst>
          </p:nvPr>
        </p:nvGraphicFramePr>
        <p:xfrm>
          <a:off x="1200500" y="3933056"/>
          <a:ext cx="10582543" cy="15240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70214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912329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textA.LastIndexOf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Gets the index where </a:t>
                      </a:r>
                      <a:r>
                        <a:rPr lang="en-CA" sz="2000" dirty="0" err="1"/>
                        <a:t>textB</a:t>
                      </a:r>
                      <a:r>
                        <a:rPr lang="en-CA" sz="2000" dirty="0"/>
                        <a:t> is </a:t>
                      </a:r>
                      <a:r>
                        <a:rPr lang="en-CA" sz="2000" b="1" dirty="0">
                          <a:solidFill>
                            <a:srgbClr val="92D050"/>
                          </a:solidFill>
                        </a:rPr>
                        <a:t>last</a:t>
                      </a:r>
                      <a:r>
                        <a:rPr lang="en-CA" sz="2000" dirty="0"/>
                        <a:t> found from the left in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, or -1 if it is not found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Console.Write(“Last Index of l: ” +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word.LastIndexOf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(“l”));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“Last Index of l: 9”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78194"/>
              </p:ext>
            </p:extLst>
          </p:nvPr>
        </p:nvGraphicFramePr>
        <p:xfrm>
          <a:off x="1218882" y="1451738"/>
          <a:ext cx="10564162" cy="20421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667313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8896849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textA.IndexOf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Gets the index where </a:t>
                      </a:r>
                      <a:r>
                        <a:rPr lang="en-CA" sz="2000" dirty="0" err="1"/>
                        <a:t>textB</a:t>
                      </a:r>
                      <a:r>
                        <a:rPr lang="en-CA" sz="2000" dirty="0"/>
                        <a:t> is </a:t>
                      </a:r>
                      <a:r>
                        <a:rPr lang="en-CA" sz="2000" b="1" dirty="0">
                          <a:solidFill>
                            <a:srgbClr val="92D050"/>
                          </a:solidFill>
                        </a:rPr>
                        <a:t>first</a:t>
                      </a:r>
                      <a:r>
                        <a:rPr lang="en-CA" sz="2000" dirty="0"/>
                        <a:t> found from the left in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, or -1 if it is not found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Console.Write(“Index of or: ” +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word.IndexOf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(“or”));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“Index of or: 7”</a:t>
                      </a:r>
                    </a:p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Console.Write(“Index of w: ” +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word.IndexOf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(“w”));</a:t>
                      </a:r>
                      <a:endParaRPr lang="en-CA" sz="16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“Index of w: -1”   little w does not exist in the string so -1 is returned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39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F3F9-3370-4D25-9452-E39A41E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Inspection Operations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0B32D54-C33A-4E7F-B89B-BF04D8662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687519"/>
              </p:ext>
            </p:extLst>
          </p:nvPr>
        </p:nvGraphicFramePr>
        <p:xfrm>
          <a:off x="1218882" y="5026576"/>
          <a:ext cx="10780186" cy="15240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701408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9078778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textA.Equals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Does a </a:t>
                      </a:r>
                      <a:r>
                        <a:rPr lang="en-CA" sz="2000" dirty="0">
                          <a:solidFill>
                            <a:srgbClr val="92D050"/>
                          </a:solidFill>
                        </a:rPr>
                        <a:t>true/false</a:t>
                      </a:r>
                      <a:r>
                        <a:rPr lang="en-CA" sz="2000" dirty="0"/>
                        <a:t> check to see if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and </a:t>
                      </a:r>
                      <a:r>
                        <a:rPr lang="en-CA" sz="2000" dirty="0" err="1"/>
                        <a:t>textB</a:t>
                      </a:r>
                      <a:r>
                        <a:rPr lang="en-CA" sz="2000" dirty="0"/>
                        <a:t> have the exact same value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Console.Write(“Same: ” +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word.Equals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(phoneNumber));</a:t>
                      </a:r>
                    </a:p>
                    <a:p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Displays “Same: False”</a:t>
                      </a:r>
                      <a:endParaRPr lang="en-CA" sz="18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8B31B3-C4AC-4D93-BF72-8470BF12FF91}"/>
              </a:ext>
            </a:extLst>
          </p:cNvPr>
          <p:cNvSpPr/>
          <p:nvPr/>
        </p:nvSpPr>
        <p:spPr>
          <a:xfrm>
            <a:off x="6039232" y="118299"/>
            <a:ext cx="5544616" cy="11069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Consolas" panose="020B0609020204030204" pitchFamily="49" charset="0"/>
              </a:rPr>
              <a:t>string word = “Hello World!”;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phoneNumber = “(555)-123-4567”</a:t>
            </a:r>
          </a:p>
          <a:p>
            <a:r>
              <a:rPr lang="en-CA" sz="2000" dirty="0">
                <a:latin typeface="Consolas" panose="020B0609020204030204" pitchFamily="49" charset="0"/>
              </a:rPr>
              <a:t>string newWord;</a:t>
            </a: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A79D2BE-71D4-4C84-ADD2-82A207758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11990"/>
              </p:ext>
            </p:extLst>
          </p:nvPr>
        </p:nvGraphicFramePr>
        <p:xfrm>
          <a:off x="1218882" y="1381549"/>
          <a:ext cx="10780186" cy="32308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701407">
                  <a:extLst>
                    <a:ext uri="{9D8B030D-6E8A-4147-A177-3AD203B41FA5}">
                      <a16:colId xmlns:a16="http://schemas.microsoft.com/office/drawing/2014/main" val="215533889"/>
                    </a:ext>
                  </a:extLst>
                </a:gridCol>
                <a:gridCol w="9078779">
                  <a:extLst>
                    <a:ext uri="{9D8B030D-6E8A-4147-A177-3AD203B41FA5}">
                      <a16:colId xmlns:a16="http://schemas.microsoft.com/office/drawing/2014/main" val="3281182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textA.CompareTo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(string </a:t>
                      </a:r>
                      <a:r>
                        <a:rPr lang="en-CA" b="1" dirty="0" err="1">
                          <a:latin typeface="Consolas" panose="020B0609020204030204" pitchFamily="49" charset="0"/>
                        </a:rPr>
                        <a:t>textB</a:t>
                      </a:r>
                      <a:r>
                        <a:rPr lang="en-CA" b="1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8775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Alphabetically compares </a:t>
                      </a:r>
                      <a:r>
                        <a:rPr lang="en-CA" sz="2000" dirty="0" err="1"/>
                        <a:t>textA</a:t>
                      </a:r>
                      <a:r>
                        <a:rPr lang="en-CA" sz="2000" dirty="0"/>
                        <a:t> against </a:t>
                      </a:r>
                      <a:r>
                        <a:rPr lang="en-CA" sz="2000" dirty="0" err="1"/>
                        <a:t>textB</a:t>
                      </a:r>
                      <a:r>
                        <a:rPr lang="en-CA" sz="2000" dirty="0"/>
                        <a:t> and indicates which comes first:</a:t>
                      </a:r>
                    </a:p>
                    <a:p>
                      <a:r>
                        <a:rPr lang="en-CA" sz="2000" dirty="0"/>
                        <a:t>-1 result means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textA</a:t>
                      </a:r>
                      <a:r>
                        <a:rPr lang="en-CA" sz="2000" dirty="0"/>
                        <a:t> is first, </a:t>
                      </a:r>
                    </a:p>
                    <a:p>
                      <a:r>
                        <a:rPr lang="en-CA" sz="2000" dirty="0"/>
                        <a:t> 0 means they are the </a:t>
                      </a:r>
                      <a:r>
                        <a:rPr lang="en-CA" sz="2000" dirty="0">
                          <a:solidFill>
                            <a:srgbClr val="92D050"/>
                          </a:solidFill>
                        </a:rPr>
                        <a:t>same</a:t>
                      </a:r>
                      <a:r>
                        <a:rPr lang="en-CA" sz="2000" dirty="0"/>
                        <a:t>, </a:t>
                      </a:r>
                    </a:p>
                    <a:p>
                      <a:r>
                        <a:rPr lang="en-CA" sz="2000" dirty="0"/>
                        <a:t> 1 means </a:t>
                      </a:r>
                      <a:r>
                        <a:rPr lang="en-CA" sz="2000" dirty="0" err="1">
                          <a:solidFill>
                            <a:srgbClr val="92D050"/>
                          </a:solidFill>
                        </a:rPr>
                        <a:t>textB</a:t>
                      </a:r>
                      <a:r>
                        <a:rPr lang="en-CA" sz="2000" dirty="0"/>
                        <a:t> is first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37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latin typeface="Consolas" panose="020B0609020204030204" pitchFamily="49" charset="0"/>
                        </a:rPr>
                        <a:t>Console.Write(“What’s first: ” + 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word.CompareTo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(“</a:t>
                      </a:r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CA" sz="1600" dirty="0">
                          <a:latin typeface="Consolas" panose="020B0609020204030204" pitchFamily="49" charset="0"/>
                        </a:rPr>
                        <a:t>”));</a:t>
                      </a:r>
                      <a:r>
                        <a:rPr lang="en-CA" sz="1800" dirty="0"/>
                        <a:t> </a:t>
                      </a:r>
                      <a:r>
                        <a:rPr lang="en-CA" sz="1800" dirty="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 Displays “What’s first: 1”</a:t>
                      </a:r>
                      <a:endParaRPr lang="en-CA" sz="1800" dirty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en-CA" sz="1800" dirty="0">
                          <a:solidFill>
                            <a:srgbClr val="002060"/>
                          </a:solidFill>
                          <a:sym typeface="Wingdings" panose="05000000000000000000" pitchFamily="2" charset="2"/>
                        </a:rPr>
                        <a:t>This command is tricky, normally lowercase comes before uppercase, but only if the letters do not match at all:</a:t>
                      </a:r>
                    </a:p>
                    <a:p>
                      <a:r>
                        <a:rPr lang="en-CA" sz="18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E.g. “Hi” vs. “hi”  “hi” comes first</a:t>
                      </a:r>
                    </a:p>
                    <a:p>
                      <a:r>
                        <a:rPr lang="en-CA" sz="18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E.g. “He” vs “hi”  “He” comes first, the “e” beats the “</a:t>
                      </a:r>
                      <a:r>
                        <a:rPr lang="en-CA" sz="1800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CA" sz="18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”</a:t>
                      </a:r>
                      <a:endParaRPr lang="en-CA" sz="1800" dirty="0">
                        <a:solidFill>
                          <a:srgbClr val="002060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3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46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4873beb7-5857-4685-be1f-d57550cc96cc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1262</TotalTime>
  <Words>1278</Words>
  <Application>Microsoft Office PowerPoint</Application>
  <PresentationFormat>Custom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Wingdings</vt:lpstr>
      <vt:lpstr>Tech 16x9</vt:lpstr>
      <vt:lpstr>String Manipulation</vt:lpstr>
      <vt:lpstr>Introduction</vt:lpstr>
      <vt:lpstr>What is a string exactly?</vt:lpstr>
      <vt:lpstr>Explanation through Example</vt:lpstr>
      <vt:lpstr>Inspection Operations</vt:lpstr>
      <vt:lpstr>Text Representation in Computers</vt:lpstr>
      <vt:lpstr>Text Representation in Computers</vt:lpstr>
      <vt:lpstr>Convert Char to String</vt:lpstr>
      <vt:lpstr>Inspection Operations</vt:lpstr>
      <vt:lpstr>Inspection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57</cp:revision>
  <dcterms:created xsi:type="dcterms:W3CDTF">2020-09-21T00:53:05Z</dcterms:created>
  <dcterms:modified xsi:type="dcterms:W3CDTF">2025-10-02T13:46:34Z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