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90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5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96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25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720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00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268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1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75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40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2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589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02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422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595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116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424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67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671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49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216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704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658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2703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9840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0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384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F17E-C7A3-8E66-6C27-94F8E480F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FADF1-5A4B-ABCF-7B1F-E60EAE24B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7C8C-3E35-C734-088A-00F104F3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4293A-F06E-B0A6-520E-266022DE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6204F-1768-7571-DB6D-759E145F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238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C70938B-B825-4A32-A41D-8CF8E754F860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2E10A7C-5B89-4437-8671-4CB72D9B96EE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183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otopea.com/" TargetMode="External"/><Relationship Id="rId3" Type="http://schemas.openxmlformats.org/officeDocument/2006/relationships/hyperlink" Target="https://www.spriters-resource.com/" TargetMode="External"/><Relationship Id="rId7" Type="http://schemas.openxmlformats.org/officeDocument/2006/relationships/hyperlink" Target="https://www.piskelapp.com/" TargetMode="External"/><Relationship Id="rId2" Type="http://schemas.openxmlformats.org/officeDocument/2006/relationships/hyperlink" Target="https://itch.io/tags/as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zgif.com/gif-to-sprite" TargetMode="External"/><Relationship Id="rId5" Type="http://schemas.openxmlformats.org/officeDocument/2006/relationships/hyperlink" Target="https://opengameart.org/" TargetMode="External"/><Relationship Id="rId4" Type="http://schemas.openxmlformats.org/officeDocument/2006/relationships/hyperlink" Target="https://kenney.nl/asset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6A94-3FCA-336C-7DAC-D89EB959F5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Frame Animation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056D9-DE18-7EAE-D800-6D0528199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3" descr="Pierre Rougemont: Photo">
            <a:extLst>
              <a:ext uri="{FF2B5EF4-FFF2-40B4-BE49-F238E27FC236}">
                <a16:creationId xmlns:a16="http://schemas.microsoft.com/office/drawing/2014/main" id="{48D37080-C8AE-B566-D525-08270104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07" y="3509963"/>
            <a:ext cx="3822604" cy="2866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470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3A52-4005-7B01-CCA2-860D2BB4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Frame Animation?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21D6-1B7C-B1EF-66E0-FD3F5ED70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 animation in video games works the same as cartoons</a:t>
            </a:r>
          </a:p>
          <a:p>
            <a:pPr lvl="1"/>
            <a:r>
              <a:rPr lang="en-US" dirty="0"/>
              <a:t>Display a sequence of images, called </a:t>
            </a:r>
            <a:r>
              <a:rPr lang="en-US" b="1" dirty="0">
                <a:solidFill>
                  <a:srgbClr val="002060"/>
                </a:solidFill>
              </a:rPr>
              <a:t>frames</a:t>
            </a:r>
            <a:r>
              <a:rPr lang="en-US" dirty="0"/>
              <a:t>, over a period of time</a:t>
            </a:r>
          </a:p>
          <a:p>
            <a:pPr lvl="1"/>
            <a:r>
              <a:rPr lang="en-US" dirty="0"/>
              <a:t>The speed of frame display is called the </a:t>
            </a:r>
            <a:r>
              <a:rPr lang="en-US" b="1" dirty="0">
                <a:solidFill>
                  <a:srgbClr val="002060"/>
                </a:solidFill>
              </a:rPr>
              <a:t>frame rate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In video games, these frames are organized in a grid on a single image called a </a:t>
            </a:r>
            <a:r>
              <a:rPr lang="en-US" b="1" dirty="0">
                <a:solidFill>
                  <a:srgbClr val="002060"/>
                </a:solidFill>
              </a:rPr>
              <a:t>sprite sheet</a:t>
            </a:r>
            <a:r>
              <a:rPr lang="en-US" dirty="0"/>
              <a:t>.</a:t>
            </a:r>
          </a:p>
          <a:p>
            <a:r>
              <a:rPr lang="en-US" dirty="0"/>
              <a:t>The frames are numbered starting at </a:t>
            </a:r>
            <a:r>
              <a:rPr lang="en-US" b="1" dirty="0">
                <a:solidFill>
                  <a:srgbClr val="002060"/>
                </a:solidFill>
              </a:rPr>
              <a:t>zero</a:t>
            </a:r>
            <a:r>
              <a:rPr lang="en-US" dirty="0"/>
              <a:t> in the </a:t>
            </a:r>
            <a:r>
              <a:rPr lang="en-US" b="1" dirty="0">
                <a:solidFill>
                  <a:srgbClr val="002060"/>
                </a:solidFill>
              </a:rPr>
              <a:t>top left</a:t>
            </a:r>
            <a:r>
              <a:rPr lang="en-US" dirty="0"/>
              <a:t> corner of the grid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E4CF0-CAB0-F0E2-2F52-FF5E7D425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152" y="333694"/>
            <a:ext cx="3995131" cy="2247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172079-28FD-2FA1-55DE-32C3D08A7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442" y="4535458"/>
            <a:ext cx="4983173" cy="2131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290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1B89-2F36-6DA9-D072-9047012F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About Sprite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6A72F-9510-0468-93CA-6667578F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Sprite Sheet images should be </a:t>
            </a:r>
            <a:r>
              <a:rPr lang="en-CA" b="1" dirty="0">
                <a:solidFill>
                  <a:srgbClr val="002060"/>
                </a:solidFill>
              </a:rPr>
              <a:t>.</a:t>
            </a:r>
            <a:r>
              <a:rPr lang="en-CA" b="1" dirty="0" err="1">
                <a:solidFill>
                  <a:srgbClr val="002060"/>
                </a:solidFill>
              </a:rPr>
              <a:t>png</a:t>
            </a:r>
            <a:r>
              <a:rPr lang="en-CA" b="1" dirty="0">
                <a:solidFill>
                  <a:srgbClr val="002060"/>
                </a:solidFill>
              </a:rPr>
              <a:t> </a:t>
            </a:r>
            <a:r>
              <a:rPr lang="en-CA" dirty="0"/>
              <a:t>files so transparent backgrounds are possible</a:t>
            </a:r>
          </a:p>
          <a:p>
            <a:r>
              <a:rPr lang="en-CA" dirty="0"/>
              <a:t>Each grid box (animation frame) in the sprite sheet should have the </a:t>
            </a:r>
            <a:r>
              <a:rPr lang="en-CA" b="1" dirty="0">
                <a:solidFill>
                  <a:srgbClr val="002060"/>
                </a:solidFill>
              </a:rPr>
              <a:t>same dimensions</a:t>
            </a:r>
          </a:p>
          <a:p>
            <a:r>
              <a:rPr lang="en-CA" dirty="0"/>
              <a:t>You will need to know key information about the sprite sheet grid:</a:t>
            </a:r>
          </a:p>
          <a:p>
            <a:pPr lvl="1"/>
            <a:r>
              <a:rPr lang="en-CA" dirty="0"/>
              <a:t>How many </a:t>
            </a:r>
            <a:r>
              <a:rPr lang="en-CA" b="1" dirty="0">
                <a:solidFill>
                  <a:srgbClr val="002060"/>
                </a:solidFill>
              </a:rPr>
              <a:t>rows</a:t>
            </a:r>
            <a:r>
              <a:rPr lang="en-CA" dirty="0"/>
              <a:t> E.g. 5</a:t>
            </a:r>
          </a:p>
          <a:p>
            <a:pPr lvl="1"/>
            <a:r>
              <a:rPr lang="en-CA" dirty="0"/>
              <a:t>How many </a:t>
            </a:r>
            <a:r>
              <a:rPr lang="en-CA" b="1" dirty="0">
                <a:solidFill>
                  <a:srgbClr val="002060"/>
                </a:solidFill>
              </a:rPr>
              <a:t>columns</a:t>
            </a:r>
            <a:r>
              <a:rPr lang="en-CA" dirty="0"/>
              <a:t> E.g. 5</a:t>
            </a:r>
          </a:p>
          <a:p>
            <a:pPr lvl="1"/>
            <a:r>
              <a:rPr lang="en-CA" dirty="0"/>
              <a:t>Number of used frames in the grid (</a:t>
            </a:r>
            <a:r>
              <a:rPr lang="en-CA" b="1" dirty="0">
                <a:solidFill>
                  <a:srgbClr val="002060"/>
                </a:solidFill>
              </a:rPr>
              <a:t>frame count</a:t>
            </a:r>
            <a:r>
              <a:rPr lang="en-CA" dirty="0"/>
              <a:t>) E.g. 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DAF35-8D69-6993-0EF4-9A525A85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943" y="3689810"/>
            <a:ext cx="4983173" cy="2131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90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2B84-21E0-9FA3-9F8A-F19BDCAA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do the Sprite Sheets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0C6A-5EF1-2067-F804-F2794B49C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a number of options to find, convert and create sprite sheets</a:t>
            </a:r>
          </a:p>
          <a:p>
            <a:r>
              <a:rPr lang="en-CA" b="1" dirty="0">
                <a:solidFill>
                  <a:srgbClr val="002060"/>
                </a:solidFill>
              </a:rPr>
              <a:t>Finding</a:t>
            </a:r>
          </a:p>
          <a:p>
            <a:pPr lvl="1"/>
            <a:r>
              <a:rPr lang="en-CA" dirty="0"/>
              <a:t>Online resources like: </a:t>
            </a:r>
            <a:r>
              <a:rPr lang="en-CA" dirty="0">
                <a:hlinkClick r:id="rId2"/>
              </a:rPr>
              <a:t>itch.io</a:t>
            </a:r>
            <a:r>
              <a:rPr lang="en-CA" dirty="0"/>
              <a:t>, </a:t>
            </a:r>
            <a:r>
              <a:rPr lang="en-CA" dirty="0">
                <a:hlinkClick r:id="rId3"/>
              </a:rPr>
              <a:t>Spriters Resource</a:t>
            </a:r>
            <a:r>
              <a:rPr lang="en-CA" dirty="0"/>
              <a:t>, </a:t>
            </a:r>
            <a:r>
              <a:rPr lang="en-CA" dirty="0">
                <a:hlinkClick r:id="rId4"/>
              </a:rPr>
              <a:t>Kenny’s Assets</a:t>
            </a:r>
            <a:r>
              <a:rPr lang="en-CA" dirty="0"/>
              <a:t>, </a:t>
            </a:r>
            <a:r>
              <a:rPr lang="en-CA" dirty="0">
                <a:hlinkClick r:id="rId5"/>
              </a:rPr>
              <a:t>Open Game Art</a:t>
            </a:r>
            <a:endParaRPr lang="en-CA" dirty="0"/>
          </a:p>
          <a:p>
            <a:pPr lvl="1"/>
            <a:r>
              <a:rPr lang="en-CA" dirty="0"/>
              <a:t>A Google Search.  E.g. “Running character sprite sheet”</a:t>
            </a:r>
          </a:p>
          <a:p>
            <a:r>
              <a:rPr lang="en-CA" b="1" dirty="0">
                <a:solidFill>
                  <a:srgbClr val="002060"/>
                </a:solidFill>
              </a:rPr>
              <a:t>Converting</a:t>
            </a:r>
          </a:p>
          <a:p>
            <a:pPr lvl="1"/>
            <a:r>
              <a:rPr lang="en-CA" dirty="0"/>
              <a:t>Convert from an animated gif to a sprite sheet: </a:t>
            </a:r>
            <a:r>
              <a:rPr lang="en-CA" dirty="0">
                <a:hlinkClick r:id="rId6"/>
              </a:rPr>
              <a:t>Online GIF Converter</a:t>
            </a:r>
            <a:endParaRPr lang="en-CA" dirty="0"/>
          </a:p>
          <a:p>
            <a:r>
              <a:rPr lang="en-CA" b="1" dirty="0">
                <a:solidFill>
                  <a:srgbClr val="002060"/>
                </a:solidFill>
              </a:rPr>
              <a:t>Creating</a:t>
            </a:r>
          </a:p>
          <a:p>
            <a:pPr lvl="1"/>
            <a:r>
              <a:rPr lang="en-CA" dirty="0"/>
              <a:t>Easy to learn: </a:t>
            </a:r>
            <a:r>
              <a:rPr lang="en-CA" dirty="0">
                <a:hlinkClick r:id="rId7"/>
              </a:rPr>
              <a:t>Piskel</a:t>
            </a:r>
            <a:endParaRPr lang="en-CA" dirty="0"/>
          </a:p>
          <a:p>
            <a:pPr lvl="1"/>
            <a:r>
              <a:rPr lang="en-CA" dirty="0"/>
              <a:t>More advanced tool: </a:t>
            </a:r>
            <a:r>
              <a:rPr lang="en-CA" dirty="0">
                <a:hlinkClick r:id="rId8"/>
              </a:rPr>
              <a:t>Photopea</a:t>
            </a:r>
            <a:endParaRPr lang="en-CA" dirty="0"/>
          </a:p>
          <a:p>
            <a:pPr lvl="1"/>
            <a:r>
              <a:rPr lang="en-CA" dirty="0"/>
              <a:t>Various A.I. Tools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885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34D9-BCB1-4417-08CD-977B65A9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Animation 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082E-56FB-24DD-E5A5-11FABF958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the </a:t>
            </a:r>
            <a:r>
              <a:rPr lang="en-CA" dirty="0" err="1"/>
              <a:t>GameUtility</a:t>
            </a:r>
            <a:r>
              <a:rPr lang="en-CA" dirty="0"/>
              <a:t> was first created, the Animation library was written very quickly and was patched a number of times over the years.</a:t>
            </a:r>
          </a:p>
          <a:p>
            <a:r>
              <a:rPr lang="en-CA" dirty="0"/>
              <a:t>However, over time it was found to be sometimes too cumbersome, limited and starting to show its age</a:t>
            </a:r>
          </a:p>
          <a:p>
            <a:r>
              <a:rPr lang="en-CA" dirty="0"/>
              <a:t>This version of the Animation library is still in the </a:t>
            </a:r>
            <a:r>
              <a:rPr lang="en-CA" dirty="0" err="1"/>
              <a:t>GameUtility</a:t>
            </a:r>
            <a:r>
              <a:rPr lang="en-CA" dirty="0"/>
              <a:t> to ensure old software still works as intended</a:t>
            </a:r>
          </a:p>
          <a:p>
            <a:endParaRPr lang="en-CA" dirty="0"/>
          </a:p>
          <a:p>
            <a:r>
              <a:rPr lang="en-CA" dirty="0"/>
              <a:t>Going forward, everyone should be using the Animation 2.0 library.  Simply called </a:t>
            </a:r>
            <a:r>
              <a:rPr lang="en-CA" b="1" dirty="0">
                <a:solidFill>
                  <a:srgbClr val="002060"/>
                </a:solidFill>
              </a:rPr>
              <a:t>Anim</a:t>
            </a:r>
          </a:p>
        </p:txBody>
      </p:sp>
      <p:pic>
        <p:nvPicPr>
          <p:cNvPr id="4" name="Picture 3" descr="YARN | Time to take out the trash! | The Simpsons (1989) - S06E17 Comedy |  Video gifs by quotes | 8652fca0 | 紗">
            <a:extLst>
              <a:ext uri="{FF2B5EF4-FFF2-40B4-BE49-F238E27FC236}">
                <a16:creationId xmlns:a16="http://schemas.microsoft.com/office/drawing/2014/main" id="{ED0B3565-19D6-DCCE-F500-34D677A81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483" y="151477"/>
            <a:ext cx="2650958" cy="1988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09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1D9F-A1CA-0640-BC2D-7B4ECC04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Animation 2.0: Anim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16081-57EA-455A-F2D3-A3F0E5011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002060"/>
                </a:solidFill>
              </a:rPr>
              <a:t>Anim</a:t>
            </a:r>
            <a:r>
              <a:rPr lang="en-CA" dirty="0"/>
              <a:t> is the redesigned and recoded Animation library that is more streamlined, capable and user friendly</a:t>
            </a:r>
          </a:p>
          <a:p>
            <a:r>
              <a:rPr lang="en-CA" dirty="0"/>
              <a:t>It has a simpler structure to use that can be put to purpose faster compared to Animation 1.0</a:t>
            </a:r>
          </a:p>
          <a:p>
            <a:r>
              <a:rPr lang="en-CA" dirty="0"/>
              <a:t>It also offers several enhancements and new functionality over Animation 1.0</a:t>
            </a:r>
          </a:p>
          <a:p>
            <a:endParaRPr lang="en-CA" dirty="0"/>
          </a:p>
          <a:p>
            <a:r>
              <a:rPr lang="en-CA" dirty="0"/>
              <a:t>For full details on what is possible with </a:t>
            </a:r>
            <a:r>
              <a:rPr lang="en-CA" b="1" dirty="0">
                <a:solidFill>
                  <a:srgbClr val="002060"/>
                </a:solidFill>
              </a:rPr>
              <a:t>Animation 2.0 (Anim)</a:t>
            </a:r>
            <a:r>
              <a:rPr lang="en-CA" dirty="0"/>
              <a:t>, see the</a:t>
            </a:r>
            <a:br>
              <a:rPr lang="en-CA" dirty="0"/>
            </a:br>
            <a:r>
              <a:rPr lang="en-CA" b="1" dirty="0" err="1">
                <a:solidFill>
                  <a:srgbClr val="002060"/>
                </a:solidFill>
              </a:rPr>
              <a:t>GameUtility</a:t>
            </a:r>
            <a:r>
              <a:rPr lang="en-CA" b="1" dirty="0">
                <a:solidFill>
                  <a:srgbClr val="002060"/>
                </a:solidFill>
              </a:rPr>
              <a:t> Manual </a:t>
            </a:r>
            <a:r>
              <a:rPr lang="en-CA" dirty="0"/>
              <a:t>on our Google Classroom</a:t>
            </a:r>
          </a:p>
          <a:p>
            <a:r>
              <a:rPr lang="en-CA" dirty="0"/>
              <a:t>Here you will find what it is, how it works and all of the possible options</a:t>
            </a:r>
            <a:br>
              <a:rPr lang="en-CA" dirty="0"/>
            </a:br>
            <a:r>
              <a:rPr lang="en-CA" dirty="0"/>
              <a:t>and abilities with the library.  Way more than we can go into here.</a:t>
            </a:r>
          </a:p>
        </p:txBody>
      </p:sp>
      <p:pic>
        <p:nvPicPr>
          <p:cNvPr id="4" name="Picture 3" descr="new and improved Memes &amp; GIFs - Imgflip">
            <a:extLst>
              <a:ext uri="{FF2B5EF4-FFF2-40B4-BE49-F238E27FC236}">
                <a16:creationId xmlns:a16="http://schemas.microsoft.com/office/drawing/2014/main" id="{85171444-4E49-FE32-B0D8-A96432851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724" y="2987268"/>
            <a:ext cx="3574095" cy="3574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211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ED76-3B5D-762F-1893-219B1276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Anim: Setup and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92CA-D3C1-B9A2-ED82-49557328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First Step to using Anim is Setup and Preparation</a:t>
            </a:r>
          </a:p>
          <a:p>
            <a:pPr lvl="1"/>
            <a:r>
              <a:rPr lang="en-CA" dirty="0"/>
              <a:t>Ensure your image is suitable for use:</a:t>
            </a:r>
          </a:p>
          <a:p>
            <a:pPr lvl="2"/>
            <a:r>
              <a:rPr lang="en-CA" dirty="0"/>
              <a:t>A single animation per sprite sheet in a grid layout (although Anim does allow for multiple animations per sheet with some work)</a:t>
            </a:r>
            <a:endParaRPr lang="en-CA" sz="1000" dirty="0"/>
          </a:p>
          <a:p>
            <a:pPr lvl="2"/>
            <a:r>
              <a:rPr lang="en-CA" dirty="0"/>
              <a:t>A transparent background and image format like .</a:t>
            </a:r>
            <a:r>
              <a:rPr lang="en-CA" dirty="0" err="1"/>
              <a:t>png</a:t>
            </a:r>
            <a:r>
              <a:rPr lang="en-CA" dirty="0"/>
              <a:t> that supports this</a:t>
            </a:r>
            <a:endParaRPr lang="en-CA" sz="1000" dirty="0"/>
          </a:p>
          <a:p>
            <a:pPr lvl="2"/>
            <a:r>
              <a:rPr lang="en-CA" dirty="0"/>
              <a:t>No extra space around the used artwork, or within each frame of animation</a:t>
            </a:r>
            <a:endParaRPr lang="en-CA" sz="1000" dirty="0"/>
          </a:p>
          <a:p>
            <a:pPr lvl="2"/>
            <a:r>
              <a:rPr lang="en-CA" dirty="0"/>
              <a:t>EVERY frame has matching widths and matching heights (same dimensions for each frame)</a:t>
            </a:r>
          </a:p>
          <a:p>
            <a:pPr lvl="2"/>
            <a:endParaRPr lang="en-CA" sz="1200" dirty="0"/>
          </a:p>
          <a:p>
            <a:pPr lvl="1"/>
            <a:r>
              <a:rPr lang="en-CA" dirty="0"/>
              <a:t>Store the sprite sheets in the appropriate Builder/Assets project location</a:t>
            </a:r>
          </a:p>
          <a:p>
            <a:pPr lvl="2"/>
            <a:r>
              <a:rPr lang="en-CA" dirty="0"/>
              <a:t>Store them in your </a:t>
            </a:r>
            <a:r>
              <a:rPr lang="en-CA" b="1" dirty="0">
                <a:solidFill>
                  <a:srgbClr val="002060"/>
                </a:solidFill>
              </a:rPr>
              <a:t>Builder/Assets/Images</a:t>
            </a:r>
          </a:p>
          <a:p>
            <a:pPr lvl="3"/>
            <a:r>
              <a:rPr lang="en-CA" dirty="0"/>
              <a:t>If they are an animated background they go in </a:t>
            </a:r>
            <a:r>
              <a:rPr lang="en-CA" b="1" dirty="0">
                <a:solidFill>
                  <a:srgbClr val="002060"/>
                </a:solidFill>
              </a:rPr>
              <a:t>Backgrounds</a:t>
            </a:r>
            <a:r>
              <a:rPr lang="en-CA" dirty="0"/>
              <a:t>, otherwise store them in </a:t>
            </a:r>
            <a:r>
              <a:rPr lang="en-CA" b="1" dirty="0">
                <a:solidFill>
                  <a:srgbClr val="002060"/>
                </a:solidFill>
              </a:rPr>
              <a:t>Sprites</a:t>
            </a:r>
          </a:p>
          <a:p>
            <a:pPr lvl="1"/>
            <a:endParaRPr lang="en-CA" b="1" dirty="0">
              <a:solidFill>
                <a:srgbClr val="002060"/>
              </a:solidFill>
            </a:endParaRPr>
          </a:p>
          <a:p>
            <a:pPr lvl="1"/>
            <a:r>
              <a:rPr lang="en-CA" b="1" dirty="0">
                <a:solidFill>
                  <a:srgbClr val="002060"/>
                </a:solidFill>
              </a:rPr>
              <a:t>Rerun</a:t>
            </a:r>
            <a:r>
              <a:rPr lang="en-CA" dirty="0"/>
              <a:t> the Builder Program to compile your sprite sheet for use in your code</a:t>
            </a:r>
          </a:p>
        </p:txBody>
      </p:sp>
    </p:spTree>
    <p:extLst>
      <p:ext uri="{BB962C8B-B14F-4D97-AF65-F5344CB8AC3E}">
        <p14:creationId xmlns:p14="http://schemas.microsoft.com/office/powerpoint/2010/main" val="184899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3EDA-8497-68FB-D267-B70968D3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Anim: Basic Information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563B6-D2AC-F9E5-6EEC-518EF24F7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create an animation object, you need some key details, most of which can be found in the image:</a:t>
            </a:r>
          </a:p>
          <a:p>
            <a:pPr lvl="1"/>
            <a:r>
              <a:rPr lang="en-CA" dirty="0"/>
              <a:t>Number of </a:t>
            </a:r>
            <a:r>
              <a:rPr lang="en-CA" b="1" dirty="0">
                <a:solidFill>
                  <a:srgbClr val="002060"/>
                </a:solidFill>
              </a:rPr>
              <a:t>Rows</a:t>
            </a:r>
            <a:r>
              <a:rPr lang="en-CA" dirty="0"/>
              <a:t> in the animation grid</a:t>
            </a:r>
          </a:p>
          <a:p>
            <a:pPr lvl="1"/>
            <a:r>
              <a:rPr lang="en-CA" dirty="0"/>
              <a:t>Number of </a:t>
            </a:r>
            <a:r>
              <a:rPr lang="en-CA" b="1" dirty="0">
                <a:solidFill>
                  <a:srgbClr val="002060"/>
                </a:solidFill>
              </a:rPr>
              <a:t>Columns</a:t>
            </a:r>
            <a:r>
              <a:rPr lang="en-CA" dirty="0"/>
              <a:t> in the animation grid</a:t>
            </a:r>
          </a:p>
          <a:p>
            <a:pPr lvl="1"/>
            <a:r>
              <a:rPr lang="en-CA" dirty="0"/>
              <a:t>Number of Frames (</a:t>
            </a:r>
            <a:r>
              <a:rPr lang="en-CA" b="1" dirty="0">
                <a:solidFill>
                  <a:srgbClr val="002060"/>
                </a:solidFill>
              </a:rPr>
              <a:t>frame count</a:t>
            </a:r>
            <a:r>
              <a:rPr lang="en-CA" dirty="0"/>
              <a:t>) in the full animation</a:t>
            </a:r>
          </a:p>
          <a:p>
            <a:pPr lvl="1"/>
            <a:r>
              <a:rPr lang="en-CA" b="1" dirty="0">
                <a:solidFill>
                  <a:srgbClr val="002060"/>
                </a:solidFill>
              </a:rPr>
              <a:t>Duration</a:t>
            </a:r>
            <a:r>
              <a:rPr lang="en-CA" dirty="0"/>
              <a:t> the Animation should take to complete (in milliseconds)</a:t>
            </a:r>
          </a:p>
          <a:p>
            <a:pPr lvl="1"/>
            <a:r>
              <a:rPr lang="en-CA" dirty="0"/>
              <a:t>Number of times to repeat the Animation before stopping (</a:t>
            </a:r>
            <a:r>
              <a:rPr lang="en-CA" b="1" dirty="0">
                <a:solidFill>
                  <a:srgbClr val="002060"/>
                </a:solidFill>
              </a:rPr>
              <a:t>repeat count</a:t>
            </a:r>
            <a:r>
              <a:rPr lang="en-CA" dirty="0"/>
              <a:t>), an int &gt; 0 or use </a:t>
            </a:r>
            <a:r>
              <a:rPr lang="en-CA" b="1" dirty="0" err="1">
                <a:solidFill>
                  <a:srgbClr val="002060"/>
                </a:solidFill>
              </a:rPr>
              <a:t>Anim.FOREVER</a:t>
            </a:r>
            <a:endParaRPr lang="en-CA" b="1" dirty="0">
              <a:solidFill>
                <a:srgbClr val="002060"/>
              </a:solidFill>
            </a:endParaRPr>
          </a:p>
          <a:p>
            <a:pPr lvl="1"/>
            <a:r>
              <a:rPr lang="en-CA" dirty="0"/>
              <a:t>Vector2 </a:t>
            </a:r>
            <a:r>
              <a:rPr lang="en-CA" b="1" dirty="0">
                <a:solidFill>
                  <a:srgbClr val="002060"/>
                </a:solidFill>
              </a:rPr>
              <a:t>position</a:t>
            </a:r>
            <a:r>
              <a:rPr lang="en-CA" dirty="0"/>
              <a:t> of where the animation will start</a:t>
            </a:r>
          </a:p>
          <a:p>
            <a:pPr lvl="1"/>
            <a:r>
              <a:rPr lang="en-CA" dirty="0"/>
              <a:t>Start bool: </a:t>
            </a:r>
            <a:r>
              <a:rPr lang="en-CA" b="1" dirty="0">
                <a:solidFill>
                  <a:srgbClr val="002060"/>
                </a:solidFill>
              </a:rPr>
              <a:t>true</a:t>
            </a:r>
            <a:r>
              <a:rPr lang="en-CA" dirty="0"/>
              <a:t> for immediate animation, </a:t>
            </a:r>
            <a:r>
              <a:rPr lang="en-CA" b="1" dirty="0">
                <a:solidFill>
                  <a:srgbClr val="002060"/>
                </a:solidFill>
              </a:rPr>
              <a:t>false</a:t>
            </a:r>
            <a:r>
              <a:rPr lang="en-CA" dirty="0"/>
              <a:t> to trigger the animation later</a:t>
            </a:r>
          </a:p>
          <a:p>
            <a:pPr lvl="1"/>
            <a:r>
              <a:rPr lang="en-CA" dirty="0"/>
              <a:t>Size (</a:t>
            </a:r>
            <a:r>
              <a:rPr lang="en-CA" b="1" dirty="0">
                <a:solidFill>
                  <a:srgbClr val="002060"/>
                </a:solidFill>
              </a:rPr>
              <a:t>Width</a:t>
            </a:r>
            <a:r>
              <a:rPr lang="en-CA" dirty="0"/>
              <a:t> and </a:t>
            </a:r>
            <a:r>
              <a:rPr lang="en-CA" b="1" dirty="0">
                <a:solidFill>
                  <a:srgbClr val="002060"/>
                </a:solidFill>
              </a:rPr>
              <a:t>Height</a:t>
            </a:r>
            <a:r>
              <a:rPr lang="en-CA" dirty="0"/>
              <a:t> for one frame of animation to display as)</a:t>
            </a:r>
          </a:p>
          <a:p>
            <a:pPr lvl="1"/>
            <a:r>
              <a:rPr lang="en-CA" b="1" dirty="0">
                <a:solidFill>
                  <a:srgbClr val="002060"/>
                </a:solidFill>
              </a:rPr>
              <a:t>Idle Frame Index</a:t>
            </a:r>
            <a:r>
              <a:rPr lang="en-CA" dirty="0"/>
              <a:t> (The frame to draw when the animation is inactive from </a:t>
            </a:r>
            <a:r>
              <a:rPr lang="en-CA" b="1" dirty="0">
                <a:solidFill>
                  <a:srgbClr val="002060"/>
                </a:solidFill>
              </a:rPr>
              <a:t>0 </a:t>
            </a:r>
            <a:r>
              <a:rPr lang="en-CA" b="1" dirty="0">
                <a:solidFill>
                  <a:srgbClr val="002060"/>
                </a:solidFill>
                <a:sym typeface="Wingdings" panose="05000000000000000000" pitchFamily="2" charset="2"/>
              </a:rPr>
              <a:t> frame count – 1</a:t>
            </a:r>
            <a:r>
              <a:rPr lang="en-CA" dirty="0">
                <a:sym typeface="Wingdings" panose="05000000000000000000" pitchFamily="2" charset="2"/>
              </a:rPr>
              <a:t>, or </a:t>
            </a:r>
            <a:r>
              <a:rPr lang="en-CA" b="1" dirty="0" err="1">
                <a:solidFill>
                  <a:srgbClr val="002060"/>
                </a:solidFill>
                <a:sym typeface="Wingdings" panose="05000000000000000000" pitchFamily="2" charset="2"/>
              </a:rPr>
              <a:t>Anim.NO_IDLE</a:t>
            </a:r>
            <a:endParaRPr lang="en-CA" b="1" dirty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pPr lvl="1"/>
            <a:r>
              <a:rPr lang="en-CA" dirty="0">
                <a:sym typeface="Wingdings" panose="05000000000000000000" pitchFamily="2" charset="2"/>
              </a:rPr>
              <a:t>If a frame order other than </a:t>
            </a:r>
            <a:r>
              <a:rPr lang="en-CA" b="1" dirty="0">
                <a:solidFill>
                  <a:srgbClr val="002060"/>
                </a:solidFill>
                <a:sym typeface="Wingdings" panose="05000000000000000000" pitchFamily="2" charset="2"/>
              </a:rPr>
              <a:t>0  frame count – 1 </a:t>
            </a:r>
            <a:r>
              <a:rPr lang="en-CA" dirty="0">
                <a:sym typeface="Wingdings" panose="05000000000000000000" pitchFamily="2" charset="2"/>
              </a:rPr>
              <a:t>is wanted, record the frame index order desired to set later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142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C6FA-A7A5-D002-6B1C-605688F9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Anim:  Variables &amp;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67B0F-C471-5495-E809-D81614859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a basic animation, 3 variables are needed/recommended:</a:t>
            </a:r>
          </a:p>
          <a:p>
            <a:pPr lvl="1"/>
            <a:r>
              <a:rPr lang="en-CA" dirty="0"/>
              <a:t>A </a:t>
            </a:r>
            <a:r>
              <a:rPr lang="en-CA" b="1" dirty="0">
                <a:solidFill>
                  <a:srgbClr val="002060"/>
                </a:solidFill>
              </a:rPr>
              <a:t>Texture2D</a:t>
            </a:r>
            <a:r>
              <a:rPr lang="en-CA" dirty="0"/>
              <a:t> to store the sprite sheet image</a:t>
            </a:r>
          </a:p>
          <a:p>
            <a:pPr lvl="1"/>
            <a:r>
              <a:rPr lang="en-CA" dirty="0"/>
              <a:t>A </a:t>
            </a:r>
            <a:r>
              <a:rPr lang="en-CA" b="1" dirty="0">
                <a:solidFill>
                  <a:srgbClr val="002060"/>
                </a:solidFill>
              </a:rPr>
              <a:t>Vector2</a:t>
            </a:r>
            <a:r>
              <a:rPr lang="en-CA" dirty="0"/>
              <a:t> to store the animations true position</a:t>
            </a:r>
          </a:p>
          <a:p>
            <a:pPr lvl="1"/>
            <a:r>
              <a:rPr lang="en-CA" dirty="0"/>
              <a:t>An </a:t>
            </a:r>
            <a:r>
              <a:rPr lang="en-CA" b="1" dirty="0">
                <a:solidFill>
                  <a:srgbClr val="002060"/>
                </a:solidFill>
              </a:rPr>
              <a:t>Anim</a:t>
            </a:r>
            <a:r>
              <a:rPr lang="en-CA" dirty="0"/>
              <a:t> object to store the action Animation</a:t>
            </a:r>
          </a:p>
          <a:p>
            <a:pPr lvl="1"/>
            <a:endParaRPr lang="en-CA" dirty="0"/>
          </a:p>
          <a:p>
            <a:r>
              <a:rPr lang="en-CA" dirty="0"/>
              <a:t>In </a:t>
            </a:r>
            <a:r>
              <a:rPr lang="en-CA" b="1" dirty="0" err="1">
                <a:solidFill>
                  <a:srgbClr val="002060"/>
                </a:solidFill>
              </a:rPr>
              <a:t>LoadContent</a:t>
            </a:r>
            <a:r>
              <a:rPr lang="en-CA" dirty="0"/>
              <a:t>:</a:t>
            </a:r>
          </a:p>
          <a:p>
            <a:pPr lvl="1"/>
            <a:r>
              <a:rPr lang="en-CA" b="1" dirty="0">
                <a:solidFill>
                  <a:srgbClr val="002060"/>
                </a:solidFill>
              </a:rPr>
              <a:t>Load</a:t>
            </a:r>
            <a:r>
              <a:rPr lang="en-CA" dirty="0"/>
              <a:t> in the sprite sheet into the Texture2D</a:t>
            </a:r>
          </a:p>
          <a:p>
            <a:pPr lvl="1"/>
            <a:r>
              <a:rPr lang="en-CA" dirty="0"/>
              <a:t>Setup the location of the Vector2 </a:t>
            </a:r>
            <a:r>
              <a:rPr lang="en-CA" b="1" dirty="0">
                <a:solidFill>
                  <a:srgbClr val="002060"/>
                </a:solidFill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68820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AB76-4B0C-D5B7-E2FA-DC7F3B00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Anim: Create Anim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8EF5E-D988-3389-A911-BA99138DE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Basic Anim is meant to be simplified and then customized after setup.</a:t>
            </a:r>
          </a:p>
          <a:p>
            <a:r>
              <a:rPr lang="en-CA" dirty="0"/>
              <a:t>As such, some data will have default values unless you choose to change them, these include:</a:t>
            </a:r>
          </a:p>
          <a:p>
            <a:pPr lvl="1"/>
            <a:r>
              <a:rPr lang="en-CA" dirty="0"/>
              <a:t>The frame sequence (specified by frame index numbers) – default sequence is </a:t>
            </a:r>
            <a:r>
              <a:rPr lang="en-CA" b="1" dirty="0">
                <a:solidFill>
                  <a:srgbClr val="002060"/>
                </a:solidFill>
              </a:rPr>
              <a:t>0 </a:t>
            </a:r>
            <a:r>
              <a:rPr lang="en-CA" b="1" dirty="0">
                <a:solidFill>
                  <a:srgbClr val="002060"/>
                </a:solidFill>
                <a:sym typeface="Wingdings" panose="05000000000000000000" pitchFamily="2" charset="2"/>
              </a:rPr>
              <a:t>to frame count - 1</a:t>
            </a:r>
            <a:endParaRPr lang="en-CA" b="1" dirty="0">
              <a:solidFill>
                <a:srgbClr val="002060"/>
              </a:solidFill>
            </a:endParaRPr>
          </a:p>
          <a:p>
            <a:pPr lvl="1"/>
            <a:r>
              <a:rPr lang="en-CA" dirty="0"/>
              <a:t>Idle Frame Index – default is </a:t>
            </a:r>
            <a:r>
              <a:rPr lang="en-CA" b="1" dirty="0">
                <a:solidFill>
                  <a:srgbClr val="002060"/>
                </a:solidFill>
              </a:rPr>
              <a:t>0</a:t>
            </a:r>
          </a:p>
          <a:p>
            <a:pPr lvl="1"/>
            <a:r>
              <a:rPr lang="en-CA" dirty="0" err="1"/>
              <a:t>destRec</a:t>
            </a:r>
            <a:r>
              <a:rPr lang="en-CA" dirty="0"/>
              <a:t> (destination rectangle) frame dimensions (size) – default is image width and height</a:t>
            </a:r>
          </a:p>
          <a:p>
            <a:pPr lvl="1"/>
            <a:r>
              <a:rPr lang="en-CA" dirty="0"/>
              <a:t>Active bool (is animation immediately active or triggered later) – default it </a:t>
            </a:r>
            <a:r>
              <a:rPr lang="en-CA" b="1" dirty="0"/>
              <a:t>true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In Load Content, </a:t>
            </a:r>
            <a:r>
              <a:rPr lang="en-CA" b="1" dirty="0"/>
              <a:t>AFTER</a:t>
            </a:r>
            <a:r>
              <a:rPr lang="en-CA" dirty="0"/>
              <a:t> image is loaded and position is stored:</a:t>
            </a:r>
          </a:p>
          <a:p>
            <a:r>
              <a:rPr lang="en-CA" dirty="0"/>
              <a:t>Create and store the Anim object into your created Anim object variable, e.g. </a:t>
            </a:r>
            <a:r>
              <a:rPr lang="en-CA" dirty="0" err="1"/>
              <a:t>fireAnim</a:t>
            </a:r>
            <a:endParaRPr lang="en-CA" dirty="0"/>
          </a:p>
          <a:p>
            <a:pPr lvl="1"/>
            <a:r>
              <a:rPr lang="en-CA" dirty="0"/>
              <a:t>Generally: </a:t>
            </a:r>
            <a:r>
              <a:rPr lang="en-CA" sz="1400" dirty="0">
                <a:latin typeface="Consolas" panose="020B0609020204030204" pitchFamily="49" charset="0"/>
              </a:rPr>
              <a:t>new Anim(Texture2D, rows, columns, </a:t>
            </a:r>
            <a:r>
              <a:rPr lang="en-CA" sz="1400" dirty="0" err="1">
                <a:latin typeface="Consolas" panose="020B0609020204030204" pitchFamily="49" charset="0"/>
              </a:rPr>
              <a:t>frameCount</a:t>
            </a:r>
            <a:r>
              <a:rPr lang="en-CA" sz="1400" dirty="0">
                <a:latin typeface="Consolas" panose="020B0609020204030204" pitchFamily="49" charset="0"/>
              </a:rPr>
              <a:t>, duration, </a:t>
            </a:r>
            <a:r>
              <a:rPr lang="en-CA" sz="1400" dirty="0" err="1">
                <a:latin typeface="Consolas" panose="020B0609020204030204" pitchFamily="49" charset="0"/>
              </a:rPr>
              <a:t>repeatCount</a:t>
            </a:r>
            <a:r>
              <a:rPr lang="en-CA" sz="1400" dirty="0">
                <a:latin typeface="Consolas" panose="020B0609020204030204" pitchFamily="49" charset="0"/>
              </a:rPr>
              <a:t>, position, active)</a:t>
            </a:r>
            <a:endParaRPr lang="en-CA" dirty="0"/>
          </a:p>
          <a:p>
            <a:pPr lvl="1"/>
            <a:r>
              <a:rPr lang="en-CA" dirty="0"/>
              <a:t>For example: </a:t>
            </a:r>
            <a:r>
              <a:rPr lang="en-CA" dirty="0" err="1">
                <a:latin typeface="Consolas" panose="020B0609020204030204" pitchFamily="49" charset="0"/>
              </a:rPr>
              <a:t>fireAnim</a:t>
            </a:r>
            <a:r>
              <a:rPr lang="en-CA" dirty="0">
                <a:latin typeface="Consolas" panose="020B0609020204030204" pitchFamily="49" charset="0"/>
              </a:rPr>
              <a:t> = new Anim(</a:t>
            </a:r>
            <a:r>
              <a:rPr lang="en-CA" dirty="0" err="1">
                <a:latin typeface="Consolas" panose="020B0609020204030204" pitchFamily="49" charset="0"/>
              </a:rPr>
              <a:t>fireImg</a:t>
            </a:r>
            <a:r>
              <a:rPr lang="en-CA" dirty="0">
                <a:latin typeface="Consolas" panose="020B0609020204030204" pitchFamily="49" charset="0"/>
              </a:rPr>
              <a:t>, 6, 10, 60, 1000, </a:t>
            </a:r>
            <a:r>
              <a:rPr lang="en-CA" dirty="0" err="1">
                <a:latin typeface="Consolas" panose="020B0609020204030204" pitchFamily="49" charset="0"/>
              </a:rPr>
              <a:t>Anim.FOREVER</a:t>
            </a:r>
            <a:r>
              <a:rPr lang="en-CA" dirty="0">
                <a:latin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</a:rPr>
              <a:t>firePos</a:t>
            </a:r>
            <a:r>
              <a:rPr lang="en-CA" dirty="0">
                <a:latin typeface="Consolas" panose="020B0609020204030204" pitchFamily="49" charset="0"/>
              </a:rPr>
              <a:t>, true);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052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8A278-D4FF-2273-4828-000B9665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Anim: Set Optional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4A241-114A-7AC4-1587-82F2A69E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1842549"/>
            <a:ext cx="11253668" cy="5015451"/>
          </a:xfrm>
        </p:spPr>
        <p:txBody>
          <a:bodyPr>
            <a:normAutofit/>
          </a:bodyPr>
          <a:lstStyle/>
          <a:p>
            <a:r>
              <a:rPr lang="en-CA" dirty="0"/>
              <a:t>For example, assume you have an Anim named </a:t>
            </a:r>
            <a:r>
              <a:rPr lang="en-CA" dirty="0" err="1"/>
              <a:t>fireAnim</a:t>
            </a:r>
            <a:endParaRPr lang="en-CA" dirty="0"/>
          </a:p>
          <a:p>
            <a:r>
              <a:rPr lang="en-CA" dirty="0"/>
              <a:t>In </a:t>
            </a:r>
            <a:r>
              <a:rPr lang="en-CA" b="1" dirty="0" err="1">
                <a:solidFill>
                  <a:srgbClr val="002060"/>
                </a:solidFill>
              </a:rPr>
              <a:t>LoadContent</a:t>
            </a:r>
            <a:r>
              <a:rPr lang="en-CA" dirty="0"/>
              <a:t>, </a:t>
            </a:r>
            <a:r>
              <a:rPr lang="en-CA" u="sng" dirty="0"/>
              <a:t>AFTER</a:t>
            </a:r>
            <a:r>
              <a:rPr lang="en-CA" dirty="0"/>
              <a:t> the Anim Object has been created</a:t>
            </a:r>
          </a:p>
          <a:p>
            <a:r>
              <a:rPr lang="en-CA" b="1" dirty="0"/>
              <a:t>Example 1</a:t>
            </a:r>
            <a:r>
              <a:rPr lang="en-CA" dirty="0"/>
              <a:t>: Set the idle frame index to NO_IDLE (instead of the default 0)</a:t>
            </a:r>
          </a:p>
          <a:p>
            <a:pPr lvl="1"/>
            <a:r>
              <a:rPr lang="en-CA" dirty="0" err="1"/>
              <a:t>fireAnim.</a:t>
            </a:r>
            <a:r>
              <a:rPr lang="en-CA" b="1" dirty="0" err="1">
                <a:solidFill>
                  <a:srgbClr val="002060"/>
                </a:solidFill>
              </a:rPr>
              <a:t>IdleSeqIdx</a:t>
            </a:r>
            <a:r>
              <a:rPr lang="en-CA" dirty="0"/>
              <a:t> = </a:t>
            </a:r>
            <a:r>
              <a:rPr lang="en-CA" dirty="0" err="1"/>
              <a:t>Anim.NO_IDLE</a:t>
            </a:r>
            <a:r>
              <a:rPr lang="en-CA" dirty="0"/>
              <a:t>;</a:t>
            </a:r>
          </a:p>
          <a:p>
            <a:r>
              <a:rPr lang="en-CA" b="1" dirty="0"/>
              <a:t>Example 2</a:t>
            </a:r>
            <a:r>
              <a:rPr lang="en-CA" dirty="0"/>
              <a:t>: Set the size of the animation to be half its original size</a:t>
            </a:r>
          </a:p>
          <a:p>
            <a:pPr lvl="1"/>
            <a:r>
              <a:rPr lang="en-CA" dirty="0" err="1"/>
              <a:t>fireAnim</a:t>
            </a:r>
            <a:r>
              <a:rPr lang="en-CA" dirty="0"/>
              <a:t>. </a:t>
            </a:r>
            <a:r>
              <a:rPr lang="en-CA" b="1" dirty="0" err="1">
                <a:solidFill>
                  <a:srgbClr val="002060"/>
                </a:solidFill>
              </a:rPr>
              <a:t>SetSize</a:t>
            </a:r>
            <a:r>
              <a:rPr lang="en-CA" dirty="0"/>
              <a:t>(</a:t>
            </a:r>
            <a:r>
              <a:rPr lang="en-CA" dirty="0" err="1"/>
              <a:t>fireAnim.FrameWidth</a:t>
            </a:r>
            <a:r>
              <a:rPr lang="en-CA" dirty="0"/>
              <a:t>/2, </a:t>
            </a:r>
            <a:r>
              <a:rPr lang="en-CA" dirty="0" err="1"/>
              <a:t>fireAnim.FrameHeight</a:t>
            </a:r>
            <a:r>
              <a:rPr lang="en-CA" dirty="0"/>
              <a:t>/2);</a:t>
            </a:r>
          </a:p>
          <a:p>
            <a:r>
              <a:rPr lang="en-CA" b="1" dirty="0"/>
              <a:t>Example</a:t>
            </a:r>
            <a:r>
              <a:rPr lang="en-CA" dirty="0"/>
              <a:t> </a:t>
            </a:r>
            <a:r>
              <a:rPr lang="en-CA" b="1" dirty="0"/>
              <a:t>3</a:t>
            </a:r>
            <a:r>
              <a:rPr lang="en-CA" dirty="0"/>
              <a:t>: Set the size to </a:t>
            </a:r>
            <a:r>
              <a:rPr lang="en-CA" dirty="0" err="1"/>
              <a:t>screenWidth</a:t>
            </a:r>
            <a:r>
              <a:rPr lang="en-CA" dirty="0"/>
              <a:t> and </a:t>
            </a:r>
            <a:r>
              <a:rPr lang="en-CA" dirty="0" err="1"/>
              <a:t>screenHeight</a:t>
            </a:r>
            <a:r>
              <a:rPr lang="en-CA" dirty="0"/>
              <a:t> (for animated backgrounds) E.g. Anim called </a:t>
            </a:r>
            <a:r>
              <a:rPr lang="en-CA" dirty="0" err="1"/>
              <a:t>bgAnim</a:t>
            </a:r>
            <a:endParaRPr lang="en-CA" dirty="0"/>
          </a:p>
          <a:p>
            <a:pPr lvl="1"/>
            <a:r>
              <a:rPr lang="en-CA" dirty="0" err="1"/>
              <a:t>bgAnim.</a:t>
            </a:r>
            <a:r>
              <a:rPr lang="en-CA" b="1" dirty="0" err="1">
                <a:solidFill>
                  <a:srgbClr val="002060"/>
                </a:solidFill>
              </a:rPr>
              <a:t>SetSize</a:t>
            </a:r>
            <a:r>
              <a:rPr lang="en-CA" dirty="0"/>
              <a:t>(</a:t>
            </a:r>
            <a:r>
              <a:rPr lang="en-CA" dirty="0" err="1"/>
              <a:t>screenWidth</a:t>
            </a:r>
            <a:r>
              <a:rPr lang="en-CA" dirty="0"/>
              <a:t>, </a:t>
            </a:r>
            <a:r>
              <a:rPr lang="en-CA" dirty="0" err="1"/>
              <a:t>screenHeight</a:t>
            </a:r>
            <a:r>
              <a:rPr lang="en-CA" dirty="0"/>
              <a:t>;</a:t>
            </a:r>
          </a:p>
          <a:p>
            <a:r>
              <a:rPr lang="en-CA" b="1" dirty="0"/>
              <a:t>Example</a:t>
            </a:r>
            <a:r>
              <a:rPr lang="en-CA" dirty="0"/>
              <a:t> </a:t>
            </a:r>
            <a:r>
              <a:rPr lang="en-CA" b="1" dirty="0"/>
              <a:t>4</a:t>
            </a:r>
            <a:r>
              <a:rPr lang="en-CA" dirty="0"/>
              <a:t>: Set the animation sequence to be 0,1,2,3,2,1 (instead of just 0,1,2,3 for a 4-frame animation)</a:t>
            </a:r>
          </a:p>
          <a:p>
            <a:pPr lvl="1"/>
            <a:r>
              <a:rPr lang="en-CA" dirty="0" err="1"/>
              <a:t>fireAnim.</a:t>
            </a:r>
            <a:r>
              <a:rPr lang="en-CA" b="1" dirty="0" err="1">
                <a:solidFill>
                  <a:srgbClr val="002060"/>
                </a:solidFill>
              </a:rPr>
              <a:t>SetFrameSequence</a:t>
            </a:r>
            <a:r>
              <a:rPr lang="en-CA" dirty="0"/>
              <a:t>(new int[]{0,1,2,3,2,1});</a:t>
            </a:r>
          </a:p>
          <a:p>
            <a:r>
              <a:rPr lang="en-CA" b="1" dirty="0">
                <a:solidFill>
                  <a:srgbClr val="002060"/>
                </a:solidFill>
              </a:rPr>
              <a:t>Example 5</a:t>
            </a:r>
            <a:r>
              <a:rPr lang="en-CA" dirty="0"/>
              <a:t>: Set the rotation angle of your animation (in radians), in this case to 45</a:t>
            </a:r>
            <a:r>
              <a:rPr lang="en-CA" baseline="30000" dirty="0"/>
              <a:t>o</a:t>
            </a:r>
            <a:r>
              <a:rPr lang="en-CA" dirty="0"/>
              <a:t> = 0.785</a:t>
            </a:r>
          </a:p>
          <a:p>
            <a:pPr lvl="1"/>
            <a:r>
              <a:rPr lang="en-CA" dirty="0" err="1"/>
              <a:t>fireAnim.Angle</a:t>
            </a:r>
            <a:r>
              <a:rPr lang="en-CA" dirty="0"/>
              <a:t> = 0.785;</a:t>
            </a:r>
          </a:p>
        </p:txBody>
      </p:sp>
    </p:spTree>
    <p:extLst>
      <p:ext uri="{BB962C8B-B14F-4D97-AF65-F5344CB8AC3E}">
        <p14:creationId xmlns:p14="http://schemas.microsoft.com/office/powerpoint/2010/main" val="321110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75EC-E3F7-6C2D-7744-7549424C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 – Update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E4B2A-8031-E4D8-EF29-15F0E4CDC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1842550"/>
            <a:ext cx="11253668" cy="5015450"/>
          </a:xfrm>
        </p:spPr>
        <p:txBody>
          <a:bodyPr/>
          <a:lstStyle/>
          <a:p>
            <a:r>
              <a:rPr lang="en-CA" dirty="0"/>
              <a:t>First, near the top of Update()</a:t>
            </a:r>
          </a:p>
          <a:p>
            <a:pPr lvl="1"/>
            <a:r>
              <a:rPr lang="en-CA" dirty="0"/>
              <a:t>Update all Animations: E.g. </a:t>
            </a:r>
            <a:r>
              <a:rPr lang="en-CA" dirty="0" err="1"/>
              <a:t>fireAnim.Update</a:t>
            </a:r>
            <a:r>
              <a:rPr lang="en-CA" dirty="0"/>
              <a:t>(</a:t>
            </a:r>
            <a:r>
              <a:rPr lang="en-CA" dirty="0" err="1"/>
              <a:t>gameTime</a:t>
            </a:r>
            <a:r>
              <a:rPr lang="en-CA" dirty="0"/>
              <a:t>);</a:t>
            </a:r>
          </a:p>
          <a:p>
            <a:pPr lvl="1"/>
            <a:endParaRPr lang="en-CA" dirty="0"/>
          </a:p>
          <a:p>
            <a:r>
              <a:rPr lang="en-CA" dirty="0"/>
              <a:t>Further down in Update in an appropriate location:</a:t>
            </a:r>
          </a:p>
          <a:p>
            <a:r>
              <a:rPr lang="en-CA" dirty="0"/>
              <a:t>Optionally, this is also where you would perform various operations on the Anim objects.  For example:</a:t>
            </a:r>
          </a:p>
          <a:p>
            <a:pPr lvl="2"/>
            <a:r>
              <a:rPr lang="en-CA" dirty="0"/>
              <a:t>Translate(float </a:t>
            </a:r>
            <a:r>
              <a:rPr lang="en-CA" dirty="0" err="1"/>
              <a:t>changeInX</a:t>
            </a:r>
            <a:r>
              <a:rPr lang="en-CA" dirty="0"/>
              <a:t>, float </a:t>
            </a:r>
            <a:r>
              <a:rPr lang="en-CA" dirty="0" err="1"/>
              <a:t>changeInY</a:t>
            </a:r>
            <a:r>
              <a:rPr lang="en-CA" dirty="0"/>
              <a:t>) </a:t>
            </a:r>
            <a:r>
              <a:rPr lang="en-CA" dirty="0">
                <a:sym typeface="Wingdings" panose="05000000000000000000" pitchFamily="2" charset="2"/>
              </a:rPr>
              <a:t> Move the animation from its current location by specified amounts</a:t>
            </a:r>
            <a:endParaRPr lang="en-CA" dirty="0"/>
          </a:p>
          <a:p>
            <a:pPr lvl="2"/>
            <a:r>
              <a:rPr lang="en-CA" dirty="0" err="1"/>
              <a:t>TranslateTo</a:t>
            </a:r>
            <a:r>
              <a:rPr lang="en-CA" dirty="0"/>
              <a:t>(float x, float y) OR </a:t>
            </a:r>
            <a:r>
              <a:rPr lang="en-CA" dirty="0" err="1"/>
              <a:t>TranslateTo</a:t>
            </a:r>
            <a:r>
              <a:rPr lang="en-CA" dirty="0"/>
              <a:t>(Vector2 pos)</a:t>
            </a:r>
            <a:r>
              <a:rPr lang="en-CA" dirty="0">
                <a:sym typeface="Wingdings" panose="05000000000000000000" pitchFamily="2" charset="2"/>
              </a:rPr>
              <a:t> Move the animation to a Specific point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Angle = new angle  Change the Anim’s rotation angle during gameplay</a:t>
            </a:r>
          </a:p>
          <a:p>
            <a:pPr lvl="2"/>
            <a:r>
              <a:rPr lang="en-CA" dirty="0" err="1">
                <a:sym typeface="Wingdings" panose="05000000000000000000" pitchFamily="2" charset="2"/>
              </a:rPr>
              <a:t>OrbitRad</a:t>
            </a:r>
            <a:r>
              <a:rPr lang="en-CA" dirty="0">
                <a:sym typeface="Wingdings" panose="05000000000000000000" pitchFamily="2" charset="2"/>
              </a:rPr>
              <a:t>(Vector2 </a:t>
            </a:r>
            <a:r>
              <a:rPr lang="en-CA" dirty="0" err="1">
                <a:sym typeface="Wingdings" panose="05000000000000000000" pitchFamily="2" charset="2"/>
              </a:rPr>
              <a:t>orbitPoint</a:t>
            </a:r>
            <a:r>
              <a:rPr lang="en-CA" dirty="0">
                <a:sym typeface="Wingdings" panose="05000000000000000000" pitchFamily="2" charset="2"/>
              </a:rPr>
              <a:t>, float </a:t>
            </a:r>
            <a:r>
              <a:rPr lang="en-CA" dirty="0" err="1">
                <a:sym typeface="Wingdings" panose="05000000000000000000" pitchFamily="2" charset="2"/>
              </a:rPr>
              <a:t>radAngle</a:t>
            </a:r>
            <a:r>
              <a:rPr lang="en-CA" dirty="0">
                <a:sym typeface="Wingdings" panose="05000000000000000000" pitchFamily="2" charset="2"/>
              </a:rPr>
              <a:t>, float </a:t>
            </a:r>
            <a:r>
              <a:rPr lang="en-CA" dirty="0" err="1">
                <a:sym typeface="Wingdings" panose="05000000000000000000" pitchFamily="2" charset="2"/>
              </a:rPr>
              <a:t>orbitRadius</a:t>
            </a:r>
            <a:r>
              <a:rPr lang="en-CA" dirty="0">
                <a:sym typeface="Wingdings" panose="05000000000000000000" pitchFamily="2" charset="2"/>
              </a:rPr>
              <a:t>)  Orbit your Anim around a specified point given a radian angle</a:t>
            </a:r>
          </a:p>
          <a:p>
            <a:pPr lvl="2"/>
            <a:r>
              <a:rPr lang="en-CA" dirty="0" err="1">
                <a:sym typeface="Wingdings" panose="05000000000000000000" pitchFamily="2" charset="2"/>
              </a:rPr>
              <a:t>OrbitDeg</a:t>
            </a:r>
            <a:r>
              <a:rPr lang="en-CA" dirty="0">
                <a:sym typeface="Wingdings" panose="05000000000000000000" pitchFamily="2" charset="2"/>
              </a:rPr>
              <a:t>(Vector2 </a:t>
            </a:r>
            <a:r>
              <a:rPr lang="en-CA" dirty="0" err="1">
                <a:sym typeface="Wingdings" panose="05000000000000000000" pitchFamily="2" charset="2"/>
              </a:rPr>
              <a:t>orbitPoint</a:t>
            </a:r>
            <a:r>
              <a:rPr lang="en-CA" dirty="0">
                <a:sym typeface="Wingdings" panose="05000000000000000000" pitchFamily="2" charset="2"/>
              </a:rPr>
              <a:t>, float </a:t>
            </a:r>
            <a:r>
              <a:rPr lang="en-CA" dirty="0" err="1">
                <a:sym typeface="Wingdings" panose="05000000000000000000" pitchFamily="2" charset="2"/>
              </a:rPr>
              <a:t>degAngle</a:t>
            </a:r>
            <a:r>
              <a:rPr lang="en-CA" dirty="0">
                <a:sym typeface="Wingdings" panose="05000000000000000000" pitchFamily="2" charset="2"/>
              </a:rPr>
              <a:t>, float </a:t>
            </a:r>
            <a:r>
              <a:rPr lang="en-CA" dirty="0" err="1">
                <a:sym typeface="Wingdings" panose="05000000000000000000" pitchFamily="2" charset="2"/>
              </a:rPr>
              <a:t>orbitRadius</a:t>
            </a:r>
            <a:r>
              <a:rPr lang="en-CA" dirty="0">
                <a:sym typeface="Wingdings" panose="05000000000000000000" pitchFamily="2" charset="2"/>
              </a:rPr>
              <a:t>)  Orbit your Anim around a specified point given a degree angle</a:t>
            </a:r>
          </a:p>
          <a:p>
            <a:pPr lvl="2"/>
            <a:r>
              <a:rPr lang="en-CA" dirty="0" err="1">
                <a:sym typeface="Wingdings" panose="05000000000000000000" pitchFamily="2" charset="2"/>
              </a:rPr>
              <a:t>ResetAnim</a:t>
            </a:r>
            <a:r>
              <a:rPr lang="en-CA" dirty="0">
                <a:sym typeface="Wingdings" panose="05000000000000000000" pitchFamily="2" charset="2"/>
              </a:rPr>
              <a:t>(bool activate)  Restarts the animation in an ACTIVE or INACTIVE state</a:t>
            </a:r>
          </a:p>
          <a:p>
            <a:pPr lvl="2"/>
            <a:r>
              <a:rPr lang="en-CA" dirty="0" err="1">
                <a:sym typeface="Wingdings" panose="05000000000000000000" pitchFamily="2" charset="2"/>
              </a:rPr>
              <a:t>TogglePause</a:t>
            </a:r>
            <a:r>
              <a:rPr lang="en-CA" dirty="0">
                <a:sym typeface="Wingdings" panose="05000000000000000000" pitchFamily="2" charset="2"/>
              </a:rPr>
              <a:t>()  Pause/</a:t>
            </a:r>
            <a:r>
              <a:rPr lang="en-CA" dirty="0" err="1">
                <a:sym typeface="Wingdings" panose="05000000000000000000" pitchFamily="2" charset="2"/>
              </a:rPr>
              <a:t>Unpause</a:t>
            </a:r>
            <a:r>
              <a:rPr lang="en-CA" dirty="0">
                <a:sym typeface="Wingdings" panose="05000000000000000000" pitchFamily="2" charset="2"/>
              </a:rPr>
              <a:t> an animation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And so much more, check out the </a:t>
            </a:r>
            <a:r>
              <a:rPr lang="en-CA" b="1" dirty="0" err="1">
                <a:solidFill>
                  <a:srgbClr val="002060"/>
                </a:solidFill>
                <a:sym typeface="Wingdings" panose="05000000000000000000" pitchFamily="2" charset="2"/>
              </a:rPr>
              <a:t>GameUtility</a:t>
            </a:r>
            <a:r>
              <a:rPr lang="en-CA" b="1" dirty="0">
                <a:solidFill>
                  <a:srgbClr val="002060"/>
                </a:solidFill>
                <a:sym typeface="Wingdings" panose="05000000000000000000" pitchFamily="2" charset="2"/>
              </a:rPr>
              <a:t> Manual</a:t>
            </a:r>
            <a:r>
              <a:rPr lang="en-CA" dirty="0">
                <a:sym typeface="Wingdings" panose="05000000000000000000" pitchFamily="2" charset="2"/>
              </a:rPr>
              <a:t> for more details!</a:t>
            </a:r>
          </a:p>
          <a:p>
            <a:pPr lvl="2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842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25B9-389B-63DF-EED8-BA355EF8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Anim - Draw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D885-8A53-10C3-8B27-1BA67665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5"/>
            <a:ext cx="11253668" cy="4570487"/>
          </a:xfrm>
        </p:spPr>
        <p:txBody>
          <a:bodyPr/>
          <a:lstStyle/>
          <a:p>
            <a:r>
              <a:rPr lang="en-CA" dirty="0"/>
              <a:t>There are two commands to Draw an Anim object, but multiple options for these commands</a:t>
            </a:r>
          </a:p>
          <a:p>
            <a:r>
              <a:rPr lang="en-CA" b="1" dirty="0">
                <a:solidFill>
                  <a:srgbClr val="002060"/>
                </a:solidFill>
              </a:rPr>
              <a:t>Option 1: Draw(</a:t>
            </a:r>
            <a:r>
              <a:rPr lang="en-CA" b="1" dirty="0" err="1">
                <a:solidFill>
                  <a:srgbClr val="002060"/>
                </a:solidFill>
              </a:rPr>
              <a:t>SpriteBatch</a:t>
            </a:r>
            <a:r>
              <a:rPr lang="en-CA" b="1" dirty="0">
                <a:solidFill>
                  <a:srgbClr val="002060"/>
                </a:solidFill>
              </a:rPr>
              <a:t>, Color, </a:t>
            </a:r>
            <a:r>
              <a:rPr lang="en-CA" b="1" dirty="0" err="1">
                <a:solidFill>
                  <a:srgbClr val="002060"/>
                </a:solidFill>
              </a:rPr>
              <a:t>layerDepth</a:t>
            </a:r>
            <a:r>
              <a:rPr lang="en-CA" b="1" dirty="0">
                <a:solidFill>
                  <a:srgbClr val="002060"/>
                </a:solidFill>
              </a:rPr>
              <a:t>, </a:t>
            </a:r>
            <a:r>
              <a:rPr lang="en-CA" b="1" dirty="0" err="1">
                <a:solidFill>
                  <a:srgbClr val="002060"/>
                </a:solidFill>
              </a:rPr>
              <a:t>SpriteEffects</a:t>
            </a:r>
            <a:r>
              <a:rPr lang="en-CA" b="1" dirty="0">
                <a:solidFill>
                  <a:srgbClr val="002060"/>
                </a:solidFill>
              </a:rPr>
              <a:t>)</a:t>
            </a:r>
          </a:p>
          <a:p>
            <a:pPr lvl="1"/>
            <a:r>
              <a:rPr lang="en-CA" b="1" dirty="0" err="1">
                <a:solidFill>
                  <a:srgbClr val="002060"/>
                </a:solidFill>
              </a:rPr>
              <a:t>SpriteBatch</a:t>
            </a:r>
            <a:r>
              <a:rPr lang="en-CA" dirty="0"/>
              <a:t> and </a:t>
            </a:r>
            <a:r>
              <a:rPr lang="en-CA" b="1" dirty="0">
                <a:solidFill>
                  <a:srgbClr val="002060"/>
                </a:solidFill>
              </a:rPr>
              <a:t>Color</a:t>
            </a:r>
            <a:r>
              <a:rPr lang="en-CA" dirty="0"/>
              <a:t> are required parameters, but </a:t>
            </a:r>
            <a:r>
              <a:rPr lang="en-CA" b="1" dirty="0" err="1">
                <a:solidFill>
                  <a:srgbClr val="002060"/>
                </a:solidFill>
              </a:rPr>
              <a:t>layerDepth</a:t>
            </a:r>
            <a:r>
              <a:rPr lang="en-CA" dirty="0"/>
              <a:t> and </a:t>
            </a:r>
            <a:r>
              <a:rPr lang="en-CA" b="1" dirty="0" err="1">
                <a:solidFill>
                  <a:srgbClr val="002060"/>
                </a:solidFill>
              </a:rPr>
              <a:t>SpriteEffects</a:t>
            </a:r>
            <a:r>
              <a:rPr lang="en-CA" dirty="0"/>
              <a:t> are optional</a:t>
            </a:r>
          </a:p>
          <a:p>
            <a:pPr lvl="2"/>
            <a:r>
              <a:rPr lang="en-CA" dirty="0"/>
              <a:t>E.g. </a:t>
            </a:r>
            <a:r>
              <a:rPr lang="en-CA" dirty="0" err="1"/>
              <a:t>fireAnim.Draw</a:t>
            </a:r>
            <a:r>
              <a:rPr lang="en-CA" dirty="0"/>
              <a:t>(_</a:t>
            </a:r>
            <a:r>
              <a:rPr lang="en-CA" dirty="0" err="1"/>
              <a:t>spriteBatch</a:t>
            </a:r>
            <a:r>
              <a:rPr lang="en-CA" dirty="0"/>
              <a:t>, </a:t>
            </a:r>
            <a:r>
              <a:rPr lang="en-CA" dirty="0" err="1"/>
              <a:t>Color.White</a:t>
            </a:r>
            <a:r>
              <a:rPr lang="en-CA" dirty="0"/>
              <a:t>)</a:t>
            </a:r>
          </a:p>
          <a:p>
            <a:pPr lvl="1"/>
            <a:r>
              <a:rPr lang="en-CA" b="1" dirty="0" err="1">
                <a:solidFill>
                  <a:srgbClr val="002060"/>
                </a:solidFill>
              </a:rPr>
              <a:t>layerDepth</a:t>
            </a:r>
            <a:r>
              <a:rPr lang="en-CA" dirty="0"/>
              <a:t> can be used to modify what items are below and above others, typically </a:t>
            </a:r>
            <a:r>
              <a:rPr lang="en-CA" b="1" dirty="0">
                <a:solidFill>
                  <a:srgbClr val="002060"/>
                </a:solidFill>
              </a:rPr>
              <a:t>0</a:t>
            </a:r>
            <a:r>
              <a:rPr lang="en-CA" dirty="0"/>
              <a:t> is used</a:t>
            </a:r>
          </a:p>
          <a:p>
            <a:pPr lvl="1"/>
            <a:r>
              <a:rPr lang="en-CA" b="1" dirty="0" err="1">
                <a:solidFill>
                  <a:srgbClr val="002060"/>
                </a:solidFill>
              </a:rPr>
              <a:t>SpriteEffects</a:t>
            </a:r>
            <a:r>
              <a:rPr lang="en-CA" dirty="0"/>
              <a:t> is a collection of built in constants allowing you to flip your animation vertically or horizontally, use one of:</a:t>
            </a:r>
          </a:p>
          <a:p>
            <a:pPr lvl="2"/>
            <a:r>
              <a:rPr lang="en-CA" dirty="0" err="1"/>
              <a:t>SpriteEffects.</a:t>
            </a:r>
            <a:r>
              <a:rPr lang="en-CA" b="1" dirty="0" err="1">
                <a:solidFill>
                  <a:srgbClr val="002060"/>
                </a:solidFill>
              </a:rPr>
              <a:t>None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 Draw in normal orientation</a:t>
            </a:r>
            <a:endParaRPr lang="en-CA" dirty="0"/>
          </a:p>
          <a:p>
            <a:pPr lvl="2"/>
            <a:r>
              <a:rPr lang="en-CA" dirty="0" err="1"/>
              <a:t>SpriteEffects.</a:t>
            </a:r>
            <a:r>
              <a:rPr lang="en-CA" b="1" dirty="0" err="1">
                <a:solidFill>
                  <a:srgbClr val="002060"/>
                </a:solidFill>
              </a:rPr>
              <a:t>FlipVertically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 Flips the image upside down</a:t>
            </a:r>
            <a:endParaRPr lang="en-CA" dirty="0"/>
          </a:p>
          <a:p>
            <a:pPr lvl="2"/>
            <a:r>
              <a:rPr lang="en-CA" dirty="0" err="1"/>
              <a:t>SpriteEffects.</a:t>
            </a:r>
            <a:r>
              <a:rPr lang="en-CA" b="1" dirty="0" err="1">
                <a:solidFill>
                  <a:srgbClr val="002060"/>
                </a:solidFill>
              </a:rPr>
              <a:t>FlipHorizontally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 Flips the image sideways</a:t>
            </a:r>
          </a:p>
          <a:p>
            <a:pPr lvl="2"/>
            <a:endParaRPr lang="en-CA" dirty="0"/>
          </a:p>
          <a:p>
            <a:r>
              <a:rPr lang="en-CA" b="1" dirty="0">
                <a:solidFill>
                  <a:srgbClr val="002060"/>
                </a:solidFill>
              </a:rPr>
              <a:t>Option 2: </a:t>
            </a:r>
            <a:r>
              <a:rPr lang="en-CA" b="1" dirty="0" err="1">
                <a:solidFill>
                  <a:srgbClr val="002060"/>
                </a:solidFill>
              </a:rPr>
              <a:t>DrawRotated</a:t>
            </a:r>
            <a:r>
              <a:rPr lang="en-CA" b="1" dirty="0">
                <a:solidFill>
                  <a:srgbClr val="002060"/>
                </a:solidFill>
              </a:rPr>
              <a:t>(</a:t>
            </a:r>
            <a:r>
              <a:rPr lang="en-CA" b="1" dirty="0" err="1">
                <a:solidFill>
                  <a:srgbClr val="002060"/>
                </a:solidFill>
              </a:rPr>
              <a:t>SpriteBatch</a:t>
            </a:r>
            <a:r>
              <a:rPr lang="en-CA" b="1" dirty="0">
                <a:solidFill>
                  <a:srgbClr val="002060"/>
                </a:solidFill>
              </a:rPr>
              <a:t>, Color, bool </a:t>
            </a:r>
            <a:r>
              <a:rPr lang="en-CA" b="1" dirty="0" err="1">
                <a:solidFill>
                  <a:srgbClr val="002060"/>
                </a:solidFill>
              </a:rPr>
              <a:t>centredRotation</a:t>
            </a:r>
            <a:r>
              <a:rPr lang="en-CA" b="1" dirty="0">
                <a:solidFill>
                  <a:srgbClr val="002060"/>
                </a:solidFill>
              </a:rPr>
              <a:t>)</a:t>
            </a:r>
          </a:p>
          <a:p>
            <a:pPr lvl="1"/>
            <a:r>
              <a:rPr lang="en-CA" dirty="0"/>
              <a:t>This will draw an animation at its </a:t>
            </a:r>
            <a:r>
              <a:rPr lang="en-CA" b="1" dirty="0">
                <a:solidFill>
                  <a:srgbClr val="002060"/>
                </a:solidFill>
              </a:rPr>
              <a:t>rotated</a:t>
            </a:r>
            <a:r>
              <a:rPr lang="en-CA" dirty="0"/>
              <a:t> </a:t>
            </a:r>
            <a:r>
              <a:rPr lang="en-CA" b="1" dirty="0">
                <a:solidFill>
                  <a:srgbClr val="002060"/>
                </a:solidFill>
              </a:rPr>
              <a:t>angle</a:t>
            </a:r>
            <a:r>
              <a:rPr lang="en-CA" dirty="0"/>
              <a:t> (set previously), either rotated from its centre or its origin at its top left</a:t>
            </a:r>
          </a:p>
        </p:txBody>
      </p:sp>
    </p:spTree>
    <p:extLst>
      <p:ext uri="{BB962C8B-B14F-4D97-AF65-F5344CB8AC3E}">
        <p14:creationId xmlns:p14="http://schemas.microsoft.com/office/powerpoint/2010/main" val="1617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61AA-54DA-C077-6651-228F3305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Fully Implement a Moving Animation called </a:t>
            </a:r>
            <a:r>
              <a:rPr lang="en-CA" dirty="0" err="1"/>
              <a:t>fireAnim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6BB7-6F38-F7D1-02A4-ACBC124F2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2" y="1773857"/>
            <a:ext cx="11541927" cy="4805698"/>
          </a:xfrm>
        </p:spPr>
        <p:txBody>
          <a:bodyPr>
            <a:normAutofit fontScale="92500" lnSpcReduction="10000"/>
          </a:bodyPr>
          <a:lstStyle/>
          <a:p>
            <a:r>
              <a:rPr lang="en-CA" b="1" dirty="0">
                <a:solidFill>
                  <a:srgbClr val="002060"/>
                </a:solidFill>
              </a:rPr>
              <a:t>Global Variables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Texture2D </a:t>
            </a:r>
            <a:r>
              <a:rPr lang="en-CA" sz="1500" dirty="0" err="1">
                <a:latin typeface="Consolas" panose="020B0609020204030204" pitchFamily="49" charset="0"/>
              </a:rPr>
              <a:t>fireImg</a:t>
            </a:r>
            <a:r>
              <a:rPr lang="en-CA" sz="15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Vector2 </a:t>
            </a:r>
            <a:r>
              <a:rPr lang="en-CA" sz="1500" dirty="0" err="1">
                <a:latin typeface="Consolas" panose="020B0609020204030204" pitchFamily="49" charset="0"/>
              </a:rPr>
              <a:t>firePos</a:t>
            </a:r>
            <a:r>
              <a:rPr lang="en-CA" sz="15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Anim </a:t>
            </a:r>
            <a:r>
              <a:rPr lang="en-CA" sz="1500" dirty="0" err="1">
                <a:latin typeface="Consolas" panose="020B0609020204030204" pitchFamily="49" charset="0"/>
              </a:rPr>
              <a:t>fireAnim</a:t>
            </a:r>
            <a:r>
              <a:rPr lang="en-CA" sz="15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Vector2 </a:t>
            </a:r>
            <a:r>
              <a:rPr lang="en-CA" sz="1500" dirty="0" err="1">
                <a:latin typeface="Consolas" panose="020B0609020204030204" pitchFamily="49" charset="0"/>
              </a:rPr>
              <a:t>fireSpeed</a:t>
            </a:r>
            <a:r>
              <a:rPr lang="en-CA" sz="1500" dirty="0">
                <a:latin typeface="Consolas" panose="020B0609020204030204" pitchFamily="49" charset="0"/>
              </a:rPr>
              <a:t> = new Vector2(150, -20); //Movement speed here is </a:t>
            </a:r>
            <a:r>
              <a:rPr lang="en-CA" sz="1500" dirty="0" err="1">
                <a:latin typeface="Consolas" panose="020B0609020204030204" pitchFamily="49" charset="0"/>
              </a:rPr>
              <a:t>px</a:t>
            </a:r>
            <a:r>
              <a:rPr lang="en-CA" sz="1500" dirty="0">
                <a:latin typeface="Consolas" panose="020B0609020204030204" pitchFamily="49" charset="0"/>
              </a:rPr>
              <a:t>/Sec.</a:t>
            </a:r>
          </a:p>
          <a:p>
            <a:r>
              <a:rPr lang="en-CA" b="1" dirty="0" err="1">
                <a:solidFill>
                  <a:srgbClr val="002060"/>
                </a:solidFill>
              </a:rPr>
              <a:t>LoadContent</a:t>
            </a:r>
            <a:endParaRPr lang="en-CA" b="1" dirty="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fireImg</a:t>
            </a:r>
            <a:r>
              <a:rPr lang="en-CA" sz="1500" dirty="0">
                <a:latin typeface="Consolas" panose="020B0609020204030204" pitchFamily="49" charset="0"/>
              </a:rPr>
              <a:t> = </a:t>
            </a:r>
            <a:r>
              <a:rPr lang="en-CA" sz="1500" dirty="0" err="1">
                <a:latin typeface="Consolas" panose="020B0609020204030204" pitchFamily="49" charset="0"/>
              </a:rPr>
              <a:t>Content.Load</a:t>
            </a:r>
            <a:r>
              <a:rPr lang="en-CA" sz="1500" dirty="0">
                <a:latin typeface="Consolas" panose="020B0609020204030204" pitchFamily="49" charset="0"/>
              </a:rPr>
              <a:t>&lt;Texture2D&gt;(“Images/Sprites/Fire”);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firePos</a:t>
            </a:r>
            <a:r>
              <a:rPr lang="en-CA" sz="1500" dirty="0">
                <a:latin typeface="Consolas" panose="020B0609020204030204" pitchFamily="49" charset="0"/>
              </a:rPr>
              <a:t> = new Vector2(100,200);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fireAnim</a:t>
            </a:r>
            <a:r>
              <a:rPr lang="en-CA" sz="1500" dirty="0">
                <a:latin typeface="Consolas" panose="020B0609020204030204" pitchFamily="49" charset="0"/>
              </a:rPr>
              <a:t> = new Anim(</a:t>
            </a:r>
            <a:r>
              <a:rPr lang="en-CA" sz="1500" dirty="0" err="1">
                <a:latin typeface="Consolas" panose="020B0609020204030204" pitchFamily="49" charset="0"/>
              </a:rPr>
              <a:t>fireImg</a:t>
            </a:r>
            <a:r>
              <a:rPr lang="en-CA" sz="1500" dirty="0">
                <a:latin typeface="Consolas" panose="020B0609020204030204" pitchFamily="49" charset="0"/>
              </a:rPr>
              <a:t>, </a:t>
            </a:r>
            <a:r>
              <a:rPr lang="en-US" sz="1500" dirty="0">
                <a:latin typeface="Consolas" panose="020B0609020204030204" pitchFamily="49" charset="0"/>
              </a:rPr>
              <a:t>6, 10, 60, 1000, </a:t>
            </a:r>
            <a:r>
              <a:rPr lang="en-US" sz="1500" dirty="0" err="1">
                <a:latin typeface="Consolas" panose="020B0609020204030204" pitchFamily="49" charset="0"/>
              </a:rPr>
              <a:t>Anim.FOREVER</a:t>
            </a:r>
            <a:r>
              <a:rPr lang="en-US" sz="1500" dirty="0">
                <a:latin typeface="Consolas" panose="020B0609020204030204" pitchFamily="49" charset="0"/>
              </a:rPr>
              <a:t>, </a:t>
            </a:r>
            <a:r>
              <a:rPr lang="en-US" sz="1500" dirty="0" err="1">
                <a:latin typeface="Consolas" panose="020B0609020204030204" pitchFamily="49" charset="0"/>
              </a:rPr>
              <a:t>firePos</a:t>
            </a:r>
            <a:r>
              <a:rPr lang="en-US" sz="1500" dirty="0">
                <a:latin typeface="Consolas" panose="020B0609020204030204" pitchFamily="49" charset="0"/>
              </a:rPr>
              <a:t>, true);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fireAnim</a:t>
            </a:r>
            <a:r>
              <a:rPr lang="en-CA" sz="1500" dirty="0">
                <a:latin typeface="Consolas" panose="020B0609020204030204" pitchFamily="49" charset="0"/>
              </a:rPr>
              <a:t>. </a:t>
            </a:r>
            <a:r>
              <a:rPr lang="en-CA" sz="1500" dirty="0" err="1">
                <a:latin typeface="Consolas" panose="020B0609020204030204" pitchFamily="49" charset="0"/>
              </a:rPr>
              <a:t>SetSize</a:t>
            </a:r>
            <a:r>
              <a:rPr lang="en-CA" sz="1500" dirty="0">
                <a:latin typeface="Consolas" panose="020B0609020204030204" pitchFamily="49" charset="0"/>
              </a:rPr>
              <a:t>(</a:t>
            </a:r>
            <a:r>
              <a:rPr lang="en-CA" sz="1500" dirty="0" err="1">
                <a:latin typeface="Consolas" panose="020B0609020204030204" pitchFamily="49" charset="0"/>
              </a:rPr>
              <a:t>fireAnim.FrameWidth</a:t>
            </a:r>
            <a:r>
              <a:rPr lang="en-CA" sz="1500" dirty="0">
                <a:latin typeface="Consolas" panose="020B0609020204030204" pitchFamily="49" charset="0"/>
              </a:rPr>
              <a:t>/2, </a:t>
            </a:r>
            <a:r>
              <a:rPr lang="en-CA" sz="1500" dirty="0" err="1">
                <a:latin typeface="Consolas" panose="020B0609020204030204" pitchFamily="49" charset="0"/>
              </a:rPr>
              <a:t>fireAnim.FrameHeight</a:t>
            </a:r>
            <a:r>
              <a:rPr lang="en-CA" sz="1500" dirty="0">
                <a:latin typeface="Consolas" panose="020B0609020204030204" pitchFamily="49" charset="0"/>
              </a:rPr>
              <a:t>/2);</a:t>
            </a:r>
          </a:p>
          <a:p>
            <a:r>
              <a:rPr lang="en-CA" b="1" dirty="0">
                <a:solidFill>
                  <a:srgbClr val="002060"/>
                </a:solidFill>
              </a:rPr>
              <a:t>Update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fireAnim.Update</a:t>
            </a:r>
            <a:r>
              <a:rPr lang="en-CA" sz="1500" dirty="0">
                <a:latin typeface="Consolas" panose="020B0609020204030204" pitchFamily="49" charset="0"/>
              </a:rPr>
              <a:t>(</a:t>
            </a:r>
            <a:r>
              <a:rPr lang="en-CA" sz="1500" dirty="0" err="1">
                <a:latin typeface="Consolas" panose="020B0609020204030204" pitchFamily="49" charset="0"/>
              </a:rPr>
              <a:t>gameTime</a:t>
            </a:r>
            <a:r>
              <a:rPr lang="en-CA" sz="15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firePos</a:t>
            </a:r>
            <a:r>
              <a:rPr lang="en-CA" sz="1500" dirty="0">
                <a:latin typeface="Consolas" panose="020B0609020204030204" pitchFamily="49" charset="0"/>
              </a:rPr>
              <a:t> += </a:t>
            </a:r>
            <a:r>
              <a:rPr lang="en-CA" sz="1500" dirty="0" err="1">
                <a:latin typeface="Consolas" panose="020B0609020204030204" pitchFamily="49" charset="0"/>
              </a:rPr>
              <a:t>fireSpeed</a:t>
            </a:r>
            <a:r>
              <a:rPr lang="en-CA" sz="1500" dirty="0">
                <a:latin typeface="Consolas" panose="020B0609020204030204" pitchFamily="49" charset="0"/>
              </a:rPr>
              <a:t> * (float)</a:t>
            </a:r>
            <a:r>
              <a:rPr lang="en-CA" sz="1500" dirty="0" err="1">
                <a:latin typeface="Consolas" panose="020B0609020204030204" pitchFamily="49" charset="0"/>
              </a:rPr>
              <a:t>gameTime.ElapsedGameTime.TotalSeconds</a:t>
            </a:r>
            <a:r>
              <a:rPr lang="en-CA" sz="15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fireAnim.TranslateTo</a:t>
            </a:r>
            <a:r>
              <a:rPr lang="en-CA" sz="1500" dirty="0">
                <a:latin typeface="Consolas" panose="020B0609020204030204" pitchFamily="49" charset="0"/>
              </a:rPr>
              <a:t>(</a:t>
            </a:r>
            <a:r>
              <a:rPr lang="en-CA" sz="1500" dirty="0" err="1">
                <a:latin typeface="Consolas" panose="020B0609020204030204" pitchFamily="49" charset="0"/>
              </a:rPr>
              <a:t>firePos</a:t>
            </a:r>
            <a:r>
              <a:rPr lang="en-CA" sz="1500" dirty="0">
                <a:latin typeface="Consolas" panose="020B0609020204030204" pitchFamily="49" charset="0"/>
              </a:rPr>
              <a:t>);</a:t>
            </a:r>
          </a:p>
          <a:p>
            <a:r>
              <a:rPr lang="en-CA" b="1" dirty="0">
                <a:solidFill>
                  <a:srgbClr val="002060"/>
                </a:solidFill>
              </a:rPr>
              <a:t>Draw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CA" sz="1500" dirty="0" err="1">
                <a:latin typeface="Consolas" panose="020B0609020204030204" pitchFamily="49" charset="0"/>
              </a:rPr>
              <a:t>fireAnim.Draw</a:t>
            </a:r>
            <a:r>
              <a:rPr lang="en-CA" sz="1500" dirty="0">
                <a:latin typeface="Consolas" panose="020B0609020204030204" pitchFamily="49" charset="0"/>
              </a:rPr>
              <a:t>(_</a:t>
            </a:r>
            <a:r>
              <a:rPr lang="en-CA" sz="1500" dirty="0" err="1">
                <a:latin typeface="Consolas" panose="020B0609020204030204" pitchFamily="49" charset="0"/>
              </a:rPr>
              <a:t>spriteBatch</a:t>
            </a:r>
            <a:r>
              <a:rPr lang="en-CA" sz="1500" dirty="0">
                <a:latin typeface="Consolas" panose="020B0609020204030204" pitchFamily="49" charset="0"/>
              </a:rPr>
              <a:t>, </a:t>
            </a:r>
            <a:r>
              <a:rPr lang="en-CA" sz="1500" dirty="0" err="1">
                <a:latin typeface="Consolas" panose="020B0609020204030204" pitchFamily="49" charset="0"/>
              </a:rPr>
              <a:t>Color.White</a:t>
            </a:r>
            <a:r>
              <a:rPr lang="en-CA" sz="15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8717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39D3-B978-DD00-7453-986F8449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Helpful Data in Every Anim Object (See Manual for More!)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32131-C7AE-D751-F4DB-3600EA9D6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844" y="1540042"/>
            <a:ext cx="5737192" cy="5317957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CA" sz="1900" b="1" dirty="0">
                <a:solidFill>
                  <a:srgbClr val="002060"/>
                </a:solidFill>
              </a:rPr>
              <a:t>Public Constants you can access</a:t>
            </a:r>
          </a:p>
          <a:p>
            <a:pPr marL="0" indent="0">
              <a:buNone/>
            </a:pPr>
            <a:r>
              <a:rPr lang="en-CA" b="1" dirty="0"/>
              <a:t>Animation States</a:t>
            </a:r>
            <a:endParaRPr lang="en-CA" dirty="0"/>
          </a:p>
          <a:p>
            <a:pPr lvl="0"/>
            <a:r>
              <a:rPr lang="en-CA" dirty="0"/>
              <a:t>public const int INACTIVE = 0</a:t>
            </a:r>
          </a:p>
          <a:p>
            <a:pPr lvl="0"/>
            <a:r>
              <a:rPr lang="en-CA" dirty="0"/>
              <a:t>public const int ACTIVE = 1</a:t>
            </a:r>
          </a:p>
          <a:p>
            <a:pPr lvl="0"/>
            <a:r>
              <a:rPr lang="en-CA" dirty="0"/>
              <a:t>public const int PAUSED = 2</a:t>
            </a:r>
          </a:p>
          <a:p>
            <a:pPr lvl="0"/>
            <a:r>
              <a:rPr lang="en-CA" dirty="0"/>
              <a:t>public const int FINISHED = 3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Animation repetition and idle options</a:t>
            </a:r>
            <a:endParaRPr lang="en-CA" dirty="0"/>
          </a:p>
          <a:p>
            <a:pPr lvl="0"/>
            <a:r>
              <a:rPr lang="en-CA" dirty="0"/>
              <a:t>public const int FOREVER = -1</a:t>
            </a:r>
          </a:p>
          <a:p>
            <a:pPr lvl="0"/>
            <a:r>
              <a:rPr lang="en-CA" dirty="0"/>
              <a:t>public const int NO_IDLE = -1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Rotation options for directional facing relative to orbital rotational centre</a:t>
            </a:r>
            <a:endParaRPr lang="en-CA" dirty="0"/>
          </a:p>
          <a:p>
            <a:pPr lvl="0"/>
            <a:r>
              <a:rPr lang="en-CA" dirty="0"/>
              <a:t>public const int DEFAULT = 0</a:t>
            </a:r>
          </a:p>
          <a:p>
            <a:pPr lvl="0"/>
            <a:r>
              <a:rPr lang="en-CA" dirty="0"/>
              <a:t>public const int TOWARDS = 1</a:t>
            </a:r>
          </a:p>
          <a:p>
            <a:r>
              <a:rPr lang="en-CA" dirty="0"/>
              <a:t>public const int AWAY =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97865-B88D-558D-9CD2-C252D73EB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532" y="1540043"/>
            <a:ext cx="6392624" cy="5317956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CA" sz="1900" b="1" dirty="0">
                <a:solidFill>
                  <a:srgbClr val="002060"/>
                </a:solidFill>
              </a:rPr>
              <a:t>Various Properties (Get on ALL, Set with = on some)</a:t>
            </a:r>
          </a:p>
          <a:p>
            <a:pPr>
              <a:spcBef>
                <a:spcPts val="500"/>
              </a:spcBef>
            </a:pPr>
            <a:r>
              <a:rPr lang="en-CA" dirty="0"/>
              <a:t>int State = INACTIVE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RepeatCount</a:t>
            </a:r>
            <a:r>
              <a:rPr lang="en-CA" dirty="0"/>
              <a:t>	     </a:t>
            </a:r>
            <a:r>
              <a:rPr lang="en-CA" sz="1400" dirty="0">
                <a:latin typeface="Consolas" panose="020B0609020204030204" pitchFamily="49" charset="0"/>
              </a:rPr>
              <a:t>//get, set (</a:t>
            </a:r>
            <a:r>
              <a:rPr lang="en-CA" sz="1400" dirty="0" err="1">
                <a:latin typeface="Consolas" panose="020B0609020204030204" pitchFamily="49" charset="0"/>
              </a:rPr>
              <a:t>Anim.FOREVER</a:t>
            </a:r>
            <a:r>
              <a:rPr lang="en-CA" sz="1400" dirty="0">
                <a:latin typeface="Consolas" panose="020B0609020204030204" pitchFamily="49" charset="0"/>
              </a:rPr>
              <a:t> for infinite animation)</a:t>
            </a:r>
          </a:p>
          <a:p>
            <a:pPr>
              <a:spcBef>
                <a:spcPts val="500"/>
              </a:spcBef>
            </a:pPr>
            <a:r>
              <a:rPr lang="en-CA" dirty="0"/>
              <a:t>Vector2 Pos	 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  <a:endParaRPr lang="en-CA" dirty="0">
              <a:latin typeface="Consolas" panose="020B0609020204030204" pitchFamily="49" charset="0"/>
            </a:endParaRPr>
          </a:p>
          <a:p>
            <a:pPr>
              <a:spcBef>
                <a:spcPts val="500"/>
              </a:spcBef>
            </a:pPr>
            <a:r>
              <a:rPr lang="en-CA" dirty="0"/>
              <a:t>float Angle = 0f	     </a:t>
            </a:r>
            <a:r>
              <a:rPr lang="en-CA" sz="1400" dirty="0">
                <a:latin typeface="Consolas" panose="020B0609020204030204" pitchFamily="49" charset="0"/>
              </a:rPr>
              <a:t>//get, set (Angle in radians)</a:t>
            </a:r>
            <a:endParaRPr lang="en-CA" dirty="0">
              <a:latin typeface="Consolas" panose="020B0609020204030204" pitchFamily="49" charset="0"/>
            </a:endParaRPr>
          </a:p>
          <a:p>
            <a:pPr>
              <a:spcBef>
                <a:spcPts val="500"/>
              </a:spcBef>
            </a:pPr>
            <a:r>
              <a:rPr lang="en-CA" dirty="0"/>
              <a:t>Rectangle </a:t>
            </a:r>
            <a:r>
              <a:rPr lang="en-CA" dirty="0" err="1"/>
              <a:t>DestRec</a:t>
            </a:r>
            <a:r>
              <a:rPr lang="en-CA" dirty="0"/>
              <a:t>	     </a:t>
            </a:r>
            <a:r>
              <a:rPr lang="en-CA" sz="1400" dirty="0">
                <a:latin typeface="Consolas" panose="020B0609020204030204" pitchFamily="49" charset="0"/>
              </a:rPr>
              <a:t>//get only (Draw box &amp; Hit box when unrotated)</a:t>
            </a:r>
            <a:endParaRPr lang="en-CA" dirty="0">
              <a:latin typeface="Consolas" panose="020B0609020204030204" pitchFamily="49" charset="0"/>
            </a:endParaRPr>
          </a:p>
          <a:p>
            <a:pPr>
              <a:spcBef>
                <a:spcPts val="500"/>
              </a:spcBef>
            </a:pPr>
            <a:r>
              <a:rPr lang="en-CA" dirty="0"/>
              <a:t>Rectangle Hitbox	     </a:t>
            </a:r>
            <a:r>
              <a:rPr lang="en-CA" sz="1400" dirty="0">
                <a:latin typeface="Consolas" panose="020B0609020204030204" pitchFamily="49" charset="0"/>
              </a:rPr>
              <a:t>//get only (Hit box used for rotated Animations)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SequenceIdx</a:t>
            </a:r>
            <a:r>
              <a:rPr lang="en-CA" dirty="0"/>
              <a:t>	     </a:t>
            </a:r>
            <a:r>
              <a:rPr lang="en-CA" sz="1400" dirty="0">
                <a:latin typeface="Consolas" panose="020B0609020204030204" pitchFamily="49" charset="0"/>
              </a:rPr>
              <a:t>//get, set (0 -&gt; frameSequence.Length-1)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IdleSeqIdx</a:t>
            </a:r>
            <a:r>
              <a:rPr lang="en-CA" dirty="0"/>
              <a:t>	     </a:t>
            </a:r>
            <a:r>
              <a:rPr lang="en-CA" sz="1400" dirty="0">
                <a:latin typeface="Consolas" panose="020B0609020204030204" pitchFamily="49" charset="0"/>
              </a:rPr>
              <a:t>//get, set (</a:t>
            </a:r>
            <a:r>
              <a:rPr lang="en-CA" sz="1400" dirty="0" err="1">
                <a:latin typeface="Consolas" panose="020B0609020204030204" pitchFamily="49" charset="0"/>
              </a:rPr>
              <a:t>Anim.NO_IDLE</a:t>
            </a:r>
            <a:r>
              <a:rPr lang="en-CA" sz="1400" dirty="0">
                <a:latin typeface="Consolas" panose="020B0609020204030204" pitchFamily="49" charset="0"/>
              </a:rPr>
              <a:t> or index from 0 -&gt; frameSequence.Length-1)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CurFrame</a:t>
            </a:r>
            <a:r>
              <a:rPr lang="en-CA" dirty="0"/>
              <a:t>	 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  <a:p>
            <a:pPr>
              <a:spcBef>
                <a:spcPts val="500"/>
              </a:spcBef>
            </a:pPr>
            <a:r>
              <a:rPr lang="en-CA" dirty="0"/>
              <a:t>Vector2 </a:t>
            </a:r>
            <a:r>
              <a:rPr lang="en-CA" dirty="0" err="1"/>
              <a:t>ScaleFactor</a:t>
            </a:r>
            <a:r>
              <a:rPr lang="en-CA" dirty="0"/>
              <a:t> 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FrameWidth</a:t>
            </a:r>
            <a:r>
              <a:rPr lang="en-CA" dirty="0"/>
              <a:t> = 0	 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  <a:p>
            <a:pPr>
              <a:spcBef>
                <a:spcPts val="500"/>
              </a:spcBef>
            </a:pPr>
            <a:r>
              <a:rPr lang="en-CA" dirty="0"/>
              <a:t>int </a:t>
            </a:r>
            <a:r>
              <a:rPr lang="en-CA" dirty="0" err="1"/>
              <a:t>FrameHeight</a:t>
            </a:r>
            <a:r>
              <a:rPr lang="en-CA" dirty="0"/>
              <a:t> = 0    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  <a:p>
            <a:pPr>
              <a:spcBef>
                <a:spcPts val="500"/>
              </a:spcBef>
            </a:pPr>
            <a:r>
              <a:rPr lang="en-CA" dirty="0"/>
              <a:t>int Duration = 1000	     </a:t>
            </a:r>
            <a:r>
              <a:rPr lang="en-CA" sz="1400" dirty="0">
                <a:latin typeface="Consolas" panose="020B0609020204030204" pitchFamily="49" charset="0"/>
              </a:rPr>
              <a:t>//get + set (&gt;= 16)</a:t>
            </a:r>
          </a:p>
          <a:p>
            <a:pPr>
              <a:spcBef>
                <a:spcPts val="500"/>
              </a:spcBef>
            </a:pPr>
            <a:r>
              <a:rPr lang="en-CA" dirty="0"/>
              <a:t>string </a:t>
            </a:r>
            <a:r>
              <a:rPr lang="en-CA" dirty="0" err="1"/>
              <a:t>AnimName</a:t>
            </a:r>
            <a:r>
              <a:rPr lang="en-CA" dirty="0"/>
              <a:t> = "“ </a:t>
            </a:r>
            <a:r>
              <a:rPr lang="en-CA" sz="1400" dirty="0">
                <a:latin typeface="Consolas" panose="020B0609020204030204" pitchFamily="49" charset="0"/>
              </a:rPr>
              <a:t>//get only</a:t>
            </a:r>
          </a:p>
        </p:txBody>
      </p:sp>
    </p:spTree>
    <p:extLst>
      <p:ext uri="{BB962C8B-B14F-4D97-AF65-F5344CB8AC3E}">
        <p14:creationId xmlns:p14="http://schemas.microsoft.com/office/powerpoint/2010/main" val="689767565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1137</TotalTime>
  <Words>1901</Words>
  <Application>Microsoft Office PowerPoint</Application>
  <PresentationFormat>Widescreen</PresentationFormat>
  <Paragraphs>173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Editorial</vt:lpstr>
      <vt:lpstr>Frame Animation</vt:lpstr>
      <vt:lpstr>What is Frame Animation?</vt:lpstr>
      <vt:lpstr>About Sprite Sheets</vt:lpstr>
      <vt:lpstr>Where do the Sprite Sheets Come From?</vt:lpstr>
      <vt:lpstr>Animation 1.0</vt:lpstr>
      <vt:lpstr>Animation 2.0: Anim</vt:lpstr>
      <vt:lpstr>Using Anim: Setup and Storage</vt:lpstr>
      <vt:lpstr>Using Anim: Basic Information Needed</vt:lpstr>
      <vt:lpstr>Using Anim:  Variables &amp; Loading</vt:lpstr>
      <vt:lpstr>Using Anim: Create Anim Object</vt:lpstr>
      <vt:lpstr>Using Anim: Set Optional Data</vt:lpstr>
      <vt:lpstr>Using Anim – Update Logic</vt:lpstr>
      <vt:lpstr>Using Anim - Draw</vt:lpstr>
      <vt:lpstr>Example: Fully Implement a Moving Animation called fireAnim</vt:lpstr>
      <vt:lpstr>Other Helpful Data in Every Anim Object (See Manual for More!)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Lane</dc:creator>
  <cp:lastModifiedBy>Trevor Lane</cp:lastModifiedBy>
  <cp:revision>6</cp:revision>
  <dcterms:created xsi:type="dcterms:W3CDTF">2026-10-23T21:56:48Z</dcterms:created>
  <dcterms:modified xsi:type="dcterms:W3CDTF">2026-10-24T16:54:24Z</dcterms:modified>
</cp:coreProperties>
</file>