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811D"/>
    <a:srgbClr val="394404"/>
    <a:srgbClr val="5F6F0F"/>
    <a:srgbClr val="718412"/>
    <a:srgbClr val="65741A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51" d="100"/>
          <a:sy n="151" d="100"/>
        </p:scale>
        <p:origin x="2946" y="3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9/7/2025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9/7/2025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Programming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Review for Veterans – Overview for Rookies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AE0D-F759-420A-9287-C90D4C16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A942D-C481-462B-93FB-D596A7AE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is a program?</a:t>
            </a:r>
          </a:p>
          <a:p>
            <a:pPr lvl="1"/>
            <a:r>
              <a:rPr lang="en-CA" dirty="0"/>
              <a:t>An </a:t>
            </a:r>
            <a:r>
              <a:rPr lang="en-CA" dirty="0">
                <a:solidFill>
                  <a:srgbClr val="0070C0"/>
                </a:solidFill>
              </a:rPr>
              <a:t>ordered series</a:t>
            </a:r>
            <a:r>
              <a:rPr lang="en-CA" dirty="0"/>
              <a:t> of </a:t>
            </a:r>
            <a:r>
              <a:rPr lang="en-CA" dirty="0">
                <a:solidFill>
                  <a:srgbClr val="0070C0"/>
                </a:solidFill>
              </a:rPr>
              <a:t>steps</a:t>
            </a:r>
            <a:r>
              <a:rPr lang="en-CA" dirty="0"/>
              <a:t> to achieve a </a:t>
            </a:r>
            <a:r>
              <a:rPr lang="en-CA" dirty="0">
                <a:solidFill>
                  <a:srgbClr val="0070C0"/>
                </a:solidFill>
              </a:rPr>
              <a:t>goal</a:t>
            </a:r>
          </a:p>
          <a:p>
            <a:pPr lvl="2"/>
            <a:r>
              <a:rPr lang="en-CA" dirty="0"/>
              <a:t>E.g. Microsoft Word, Fortnite, Google Chrome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This is similar to a recipe; the steps must be followed in order and precisely to get the correct final product</a:t>
            </a:r>
          </a:p>
          <a:p>
            <a:endParaRPr lang="en-CA" dirty="0"/>
          </a:p>
          <a:p>
            <a:r>
              <a:rPr lang="en-CA" dirty="0"/>
              <a:t>Another term for programming instructions is </a:t>
            </a:r>
            <a:r>
              <a:rPr lang="en-CA" b="1" dirty="0">
                <a:solidFill>
                  <a:srgbClr val="0070C0"/>
                </a:solidFill>
              </a:rPr>
              <a:t>code</a:t>
            </a:r>
            <a:r>
              <a:rPr lang="en-CA" dirty="0"/>
              <a:t>.  For example, we may say: “how many lines of code is your program?”</a:t>
            </a:r>
          </a:p>
        </p:txBody>
      </p:sp>
      <p:pic>
        <p:nvPicPr>
          <p:cNvPr id="1026" name="Picture 2" descr="Emote GIFs - Get the best gif on GIFER">
            <a:extLst>
              <a:ext uri="{FF2B5EF4-FFF2-40B4-BE49-F238E27FC236}">
                <a16:creationId xmlns:a16="http://schemas.microsoft.com/office/drawing/2014/main" id="{9D0EED3D-DEF1-47F7-9AFF-1059012B725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3880" y="404665"/>
            <a:ext cx="3656628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332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20B5E-5F42-498F-B83D-6F7AEB2F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11E4F-3AD4-402E-8469-203CB114D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751539"/>
          </a:xfrm>
        </p:spPr>
        <p:txBody>
          <a:bodyPr>
            <a:normAutofit/>
          </a:bodyPr>
          <a:lstStyle/>
          <a:p>
            <a:r>
              <a:rPr lang="en-CA" dirty="0"/>
              <a:t>What is a programming language?</a:t>
            </a:r>
          </a:p>
          <a:p>
            <a:pPr lvl="1"/>
            <a:r>
              <a:rPr lang="en-CA" dirty="0"/>
              <a:t>An artificial language, like English, designed to give instructions to a computer</a:t>
            </a:r>
          </a:p>
          <a:p>
            <a:pPr lvl="2"/>
            <a:r>
              <a:rPr lang="en-CA" dirty="0"/>
              <a:t>This language is made up of special words called </a:t>
            </a:r>
            <a:r>
              <a:rPr lang="en-CA" b="1" dirty="0">
                <a:solidFill>
                  <a:srgbClr val="0070C0"/>
                </a:solidFill>
              </a:rPr>
              <a:t>keywords</a:t>
            </a:r>
            <a:r>
              <a:rPr lang="en-CA" dirty="0"/>
              <a:t>.</a:t>
            </a:r>
          </a:p>
          <a:p>
            <a:pPr lvl="2"/>
            <a:r>
              <a:rPr lang="en-CA" dirty="0"/>
              <a:t>Think of this like an English </a:t>
            </a:r>
            <a:r>
              <a:rPr lang="en-CA" b="1" dirty="0">
                <a:solidFill>
                  <a:srgbClr val="0070C0"/>
                </a:solidFill>
              </a:rPr>
              <a:t>dictionary</a:t>
            </a:r>
            <a:r>
              <a:rPr lang="en-CA" dirty="0"/>
              <a:t>, if you try to use a word not in the dictionary on an essay you would get an error.</a:t>
            </a:r>
          </a:p>
          <a:p>
            <a:pPr lvl="2"/>
            <a:r>
              <a:rPr lang="en-CA" dirty="0"/>
              <a:t>The language must follow a set of rules, in English we call these rules </a:t>
            </a:r>
            <a:r>
              <a:rPr lang="en-CA" b="1" dirty="0">
                <a:solidFill>
                  <a:srgbClr val="0070C0"/>
                </a:solidFill>
              </a:rPr>
              <a:t>grammar</a:t>
            </a:r>
            <a:r>
              <a:rPr lang="en-CA" dirty="0"/>
              <a:t>.  In programming we call this set of rules the </a:t>
            </a:r>
            <a:r>
              <a:rPr lang="en-CA" b="1" dirty="0">
                <a:solidFill>
                  <a:srgbClr val="0070C0"/>
                </a:solidFill>
              </a:rPr>
              <a:t>Syntax</a:t>
            </a:r>
          </a:p>
          <a:p>
            <a:pPr lvl="3"/>
            <a:r>
              <a:rPr lang="en-CA" dirty="0"/>
              <a:t>Syntax is the set of rules and formatting that govern programming instructions to ensure their validity so they can be recognized by the computer.</a:t>
            </a:r>
          </a:p>
          <a:p>
            <a:r>
              <a:rPr lang="en-CA" dirty="0"/>
              <a:t>Examples of programming languages</a:t>
            </a:r>
          </a:p>
          <a:p>
            <a:pPr lvl="1"/>
            <a:r>
              <a:rPr lang="en-CA" dirty="0"/>
              <a:t>Turing, C, C#, C++, Java, Basic, HTML, Python, Cobol, Fortran</a:t>
            </a:r>
          </a:p>
        </p:txBody>
      </p:sp>
      <p:pic>
        <p:nvPicPr>
          <p:cNvPr id="2050" name="Picture 2" descr="GIF what happened fuck fuck me - animated GIF on GIFER">
            <a:extLst>
              <a:ext uri="{FF2B5EF4-FFF2-40B4-BE49-F238E27FC236}">
                <a16:creationId xmlns:a16="http://schemas.microsoft.com/office/drawing/2014/main" id="{1E67D04B-7D92-46E3-85AC-8BF8AD4B41B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053" y="188640"/>
            <a:ext cx="2525267" cy="1959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0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84D91-D29A-4AE5-92C2-64AF032B2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D1D2-F693-49B6-8081-0020E4C75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What application do we use to write our programs?</a:t>
            </a:r>
          </a:p>
          <a:p>
            <a:pPr lvl="1"/>
            <a:r>
              <a:rPr lang="en-CA" dirty="0"/>
              <a:t>Typically, an </a:t>
            </a:r>
            <a:r>
              <a:rPr lang="en-CA" dirty="0">
                <a:solidFill>
                  <a:srgbClr val="70811D"/>
                </a:solidFill>
              </a:rPr>
              <a:t>Integrated Development Environment</a:t>
            </a:r>
            <a:r>
              <a:rPr lang="en-CA" dirty="0"/>
              <a:t> (</a:t>
            </a:r>
            <a:r>
              <a:rPr lang="en-CA" dirty="0">
                <a:solidFill>
                  <a:srgbClr val="0070C0"/>
                </a:solidFill>
              </a:rPr>
              <a:t>IDE</a:t>
            </a:r>
            <a:r>
              <a:rPr lang="en-CA" dirty="0"/>
              <a:t>)</a:t>
            </a:r>
          </a:p>
          <a:p>
            <a:pPr lvl="2"/>
            <a:r>
              <a:rPr lang="en-CA" dirty="0"/>
              <a:t>Although, it is possible to write your programs in simple applications like Notepad, more applications would be required to run the code</a:t>
            </a:r>
          </a:p>
          <a:p>
            <a:pPr marL="682633" lvl="2" indent="0">
              <a:buNone/>
            </a:pPr>
            <a:endParaRPr lang="en-CA" dirty="0"/>
          </a:p>
          <a:p>
            <a:pPr lvl="1"/>
            <a:r>
              <a:rPr lang="en-CA" dirty="0"/>
              <a:t>Most languages have their own unique IDE.  For example, Java programmers tend to use </a:t>
            </a:r>
            <a:r>
              <a:rPr lang="en-CA" b="1" dirty="0">
                <a:solidFill>
                  <a:srgbClr val="0070C0"/>
                </a:solidFill>
              </a:rPr>
              <a:t>eclipse</a:t>
            </a:r>
            <a:r>
              <a:rPr lang="en-CA" dirty="0"/>
              <a:t>, where C/C#/C++ programmers lean towards </a:t>
            </a:r>
            <a:r>
              <a:rPr lang="en-CA" b="1" dirty="0">
                <a:solidFill>
                  <a:srgbClr val="0070C0"/>
                </a:solidFill>
              </a:rPr>
              <a:t>Visual Studio, </a:t>
            </a:r>
            <a:r>
              <a:rPr lang="en-CA" dirty="0"/>
              <a:t>or more recently </a:t>
            </a:r>
            <a:r>
              <a:rPr lang="en-CA" b="1" dirty="0">
                <a:solidFill>
                  <a:srgbClr val="0070C0"/>
                </a:solidFill>
              </a:rPr>
              <a:t>Visual Studio Code (VS Code)</a:t>
            </a:r>
            <a:r>
              <a:rPr lang="en-CA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0859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F409-A00A-42BB-B464-720918D7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C10450-A163-4402-9F55-80EFFFFC7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How does a computer understand our code?</a:t>
            </a:r>
          </a:p>
          <a:p>
            <a:pPr lvl="1"/>
            <a:r>
              <a:rPr lang="en-CA" dirty="0"/>
              <a:t>It doesn’t…</a:t>
            </a:r>
          </a:p>
          <a:p>
            <a:pPr marL="377886" lvl="1" indent="0">
              <a:buNone/>
            </a:pPr>
            <a:endParaRPr lang="en-CA" dirty="0"/>
          </a:p>
          <a:p>
            <a:r>
              <a:rPr lang="en-CA" dirty="0"/>
              <a:t>We must use a </a:t>
            </a:r>
            <a:r>
              <a:rPr lang="en-CA" dirty="0">
                <a:solidFill>
                  <a:srgbClr val="0070C0"/>
                </a:solidFill>
              </a:rPr>
              <a:t>translation</a:t>
            </a:r>
            <a:r>
              <a:rPr lang="en-CA" dirty="0"/>
              <a:t> tool called a </a:t>
            </a:r>
            <a:r>
              <a:rPr lang="en-CA" b="1" dirty="0">
                <a:solidFill>
                  <a:srgbClr val="70811D"/>
                </a:solidFill>
              </a:rPr>
              <a:t>compiler</a:t>
            </a:r>
            <a:r>
              <a:rPr lang="en-CA" dirty="0"/>
              <a:t>, which translates our instructions (</a:t>
            </a:r>
            <a:r>
              <a:rPr lang="en-CA" dirty="0">
                <a:solidFill>
                  <a:srgbClr val="0070C0"/>
                </a:solidFill>
              </a:rPr>
              <a:t>source code</a:t>
            </a:r>
            <a:r>
              <a:rPr lang="en-CA" dirty="0"/>
              <a:t>) into binary (</a:t>
            </a:r>
            <a:r>
              <a:rPr lang="en-CA" dirty="0">
                <a:solidFill>
                  <a:srgbClr val="0070C0"/>
                </a:solidFill>
              </a:rPr>
              <a:t>machine code</a:t>
            </a:r>
            <a:r>
              <a:rPr lang="en-CA" dirty="0"/>
              <a:t>), the only language computers understand.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 compiler is like what two people that speak different languages would require to communicate to one another</a:t>
            </a:r>
          </a:p>
        </p:txBody>
      </p:sp>
      <p:pic>
        <p:nvPicPr>
          <p:cNvPr id="3074" name="Picture 2" descr="Compile GIF by Matteo | Gfycat">
            <a:extLst>
              <a:ext uri="{FF2B5EF4-FFF2-40B4-BE49-F238E27FC236}">
                <a16:creationId xmlns:a16="http://schemas.microsoft.com/office/drawing/2014/main" id="{75FDBAAB-3726-456B-8419-07458DE99FD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731" y="274636"/>
            <a:ext cx="3053689" cy="2290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33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A109-C5C7-4E3D-904F-DD5FFD03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Flow of Creating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01C02-C492-4F4C-B3DA-E7D5CF1B6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7"/>
            <a:ext cx="6531713" cy="4462272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CA" sz="2800" dirty="0"/>
              <a:t>Gather information to know final goal and</a:t>
            </a:r>
            <a:br>
              <a:rPr lang="en-CA" sz="2800" dirty="0"/>
            </a:br>
            <a:r>
              <a:rPr lang="en-CA" sz="2800" dirty="0"/>
              <a:t>specifications</a:t>
            </a:r>
            <a:endParaRPr lang="en-CA" sz="105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Design the program and User Interface</a:t>
            </a:r>
            <a:br>
              <a:rPr lang="en-CA" sz="2800" dirty="0"/>
            </a:br>
            <a:r>
              <a:rPr lang="en-CA" sz="2800" dirty="0"/>
              <a:t>according to  your specifications</a:t>
            </a:r>
            <a:endParaRPr lang="en-CA" sz="105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Write code in the IDE or editor</a:t>
            </a:r>
            <a:endParaRPr lang="en-CA" sz="105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Compile code to binary</a:t>
            </a:r>
            <a:endParaRPr lang="en-CA" sz="105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Test your code to meet specifications</a:t>
            </a:r>
            <a:endParaRPr lang="en-CA" sz="105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Repeat steps 2 through 5 as necessary</a:t>
            </a:r>
            <a:endParaRPr lang="en-CA" sz="105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Release your program to users</a:t>
            </a:r>
            <a:endParaRPr lang="en-CA" sz="1050" dirty="0"/>
          </a:p>
          <a:p>
            <a:pPr marL="514350" indent="-514350">
              <a:buFont typeface="+mj-lt"/>
              <a:buAutoNum type="arabicPeriod"/>
            </a:pPr>
            <a:r>
              <a:rPr lang="en-CA" sz="2800" dirty="0"/>
              <a:t>Support by fixing bugs, updating and releasing</a:t>
            </a:r>
            <a:br>
              <a:rPr lang="en-CA" sz="2800" dirty="0"/>
            </a:br>
            <a:r>
              <a:rPr lang="en-CA" sz="2800" dirty="0"/>
              <a:t>expansions/downloadable content (DLC)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36CBFA-D9CC-4D56-95F7-695808D02DB0}"/>
              </a:ext>
            </a:extLst>
          </p:cNvPr>
          <p:cNvSpPr txBox="1"/>
          <p:nvPr/>
        </p:nvSpPr>
        <p:spPr>
          <a:xfrm>
            <a:off x="5374332" y="2751891"/>
            <a:ext cx="2232248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CA" sz="8800" dirty="0">
                <a:solidFill>
                  <a:srgbClr val="FFFF00"/>
                </a:solidFill>
              </a:rPr>
              <a:t>}</a:t>
            </a:r>
            <a:r>
              <a:rPr lang="en-CA" sz="1600" kern="900" dirty="0">
                <a:solidFill>
                  <a:srgbClr val="FFFF00"/>
                </a:solidFill>
              </a:rPr>
              <a:t>Combined in IDE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D75D61CC-A301-4100-8C7B-4DB442347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692" y="1340768"/>
            <a:ext cx="2790186" cy="46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87AFF21D-D07A-46AA-9429-D82F0EB83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692" y="2060848"/>
            <a:ext cx="2790187" cy="46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D21F2560-633E-46A7-A258-CAE494FBE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692" y="2813911"/>
            <a:ext cx="2790187" cy="46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40A13B8E-5B71-4FCC-B5AA-6F5106289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691" y="3573016"/>
            <a:ext cx="2790187" cy="46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F61B8334-FE57-4F73-BA91-AD17E3C36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692" y="4326079"/>
            <a:ext cx="2790187" cy="46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A20B65FD-0B2E-4ACB-96FF-8116CB3A6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692" y="5085184"/>
            <a:ext cx="2790186" cy="46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9">
            <a:extLst>
              <a:ext uri="{FF2B5EF4-FFF2-40B4-BE49-F238E27FC236}">
                <a16:creationId xmlns:a16="http://schemas.microsoft.com/office/drawing/2014/main" id="{254DDAAE-1570-40CA-A760-AC738EAFF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4692" y="5766239"/>
            <a:ext cx="2790186" cy="465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6D8E13-9FDE-41AA-9B54-400A008EDF2B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0009785" y="1805799"/>
            <a:ext cx="1" cy="255049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887599-C2D3-418F-A4BD-65ED3D5C54DA}"/>
              </a:ext>
            </a:extLst>
          </p:cNvPr>
          <p:cNvCxnSpPr>
            <a:endCxn id="7" idx="0"/>
          </p:cNvCxnSpPr>
          <p:nvPr/>
        </p:nvCxnSpPr>
        <p:spPr>
          <a:xfrm>
            <a:off x="10009786" y="2525879"/>
            <a:ext cx="0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741194-8E9A-4BAF-AE05-FD97F92C4BD7}"/>
              </a:ext>
            </a:extLst>
          </p:cNvPr>
          <p:cNvCxnSpPr>
            <a:stCxn id="7" idx="2"/>
            <a:endCxn id="8" idx="0"/>
          </p:cNvCxnSpPr>
          <p:nvPr/>
        </p:nvCxnSpPr>
        <p:spPr>
          <a:xfrm flipH="1">
            <a:off x="10009785" y="3278942"/>
            <a:ext cx="1" cy="2940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459B05A-E643-4A81-9E35-47EF7EFFC141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009785" y="4038047"/>
            <a:ext cx="1" cy="28803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1224FC4-AB8C-4229-BEDD-B108FF1D8739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10009785" y="4791110"/>
            <a:ext cx="1" cy="29407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E4916C4-83E3-4D0C-A2FC-7EF3439C3429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0009785" y="5550215"/>
            <a:ext cx="0" cy="216024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8" name="Elbow Connector 16">
            <a:extLst>
              <a:ext uri="{FF2B5EF4-FFF2-40B4-BE49-F238E27FC236}">
                <a16:creationId xmlns:a16="http://schemas.microsoft.com/office/drawing/2014/main" id="{B275C70E-C488-49FB-BFC4-2D2C4432344B}"/>
              </a:ext>
            </a:extLst>
          </p:cNvPr>
          <p:cNvCxnSpPr>
            <a:endCxn id="6" idx="1"/>
          </p:cNvCxnSpPr>
          <p:nvPr/>
        </p:nvCxnSpPr>
        <p:spPr>
          <a:xfrm rot="16200000" flipV="1">
            <a:off x="7475728" y="3432328"/>
            <a:ext cx="2277930" cy="1"/>
          </a:xfrm>
          <a:prstGeom prst="bentConnector4">
            <a:avLst>
              <a:gd name="adj1" fmla="val -39"/>
              <a:gd name="adj2" fmla="val 2286010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803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1B257-4D1A-4A3F-84E7-42923850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Our Normal 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6C443-921E-44D0-90F0-2E1782393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 most years we use Visual Studio/VS Code for C# and eclipse for Java which are very powerful tools with a lot of capabilities:</a:t>
            </a:r>
          </a:p>
          <a:p>
            <a:pPr lvl="1"/>
            <a:r>
              <a:rPr lang="en-CA" dirty="0"/>
              <a:t>You can program in various languages</a:t>
            </a:r>
          </a:p>
          <a:p>
            <a:pPr lvl="1"/>
            <a:r>
              <a:rPr lang="en-CA" dirty="0"/>
              <a:t>A compiler is built-in to translate and test our code</a:t>
            </a:r>
          </a:p>
          <a:p>
            <a:pPr lvl="1"/>
            <a:r>
              <a:rPr lang="en-CA" dirty="0"/>
              <a:t>Colour based text highlighting to show different types of keywords</a:t>
            </a:r>
          </a:p>
          <a:p>
            <a:pPr lvl="1"/>
            <a:r>
              <a:rPr lang="en-CA" dirty="0"/>
              <a:t>A great autocomplete tool called </a:t>
            </a:r>
            <a:r>
              <a:rPr lang="en-CA" dirty="0" err="1">
                <a:solidFill>
                  <a:srgbClr val="0070C0"/>
                </a:solidFill>
              </a:rPr>
              <a:t>intellisense</a:t>
            </a:r>
            <a:endParaRPr lang="en-CA" dirty="0">
              <a:solidFill>
                <a:srgbClr val="0070C0"/>
              </a:solidFill>
            </a:endParaRPr>
          </a:p>
          <a:p>
            <a:pPr lvl="1"/>
            <a:r>
              <a:rPr lang="en-CA" dirty="0"/>
              <a:t>The ability to pause running code and step through it one line at a time using a built-in error handling tool called a </a:t>
            </a:r>
            <a:r>
              <a:rPr lang="en-CA" dirty="0">
                <a:solidFill>
                  <a:srgbClr val="0070C0"/>
                </a:solidFill>
              </a:rPr>
              <a:t>debugger</a:t>
            </a:r>
          </a:p>
          <a:p>
            <a:pPr lvl="1"/>
            <a:r>
              <a:rPr lang="en-CA" dirty="0"/>
              <a:t>It will give you fixing hints both when you try to compile as well as when you run (</a:t>
            </a:r>
            <a:r>
              <a:rPr lang="en-CA" dirty="0">
                <a:solidFill>
                  <a:srgbClr val="0070C0"/>
                </a:solidFill>
              </a:rPr>
              <a:t>execute</a:t>
            </a:r>
            <a:r>
              <a:rPr lang="en-CA" dirty="0"/>
              <a:t>) your code.</a:t>
            </a:r>
          </a:p>
        </p:txBody>
      </p:sp>
    </p:spTree>
    <p:extLst>
      <p:ext uri="{BB962C8B-B14F-4D97-AF65-F5344CB8AC3E}">
        <p14:creationId xmlns:p14="http://schemas.microsoft.com/office/powerpoint/2010/main" val="472623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191</TotalTime>
  <Words>553</Words>
  <Application>Microsoft Office PowerPoint</Application>
  <PresentationFormat>Custom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Tech 16x9</vt:lpstr>
      <vt:lpstr>Introduction to Programming</vt:lpstr>
      <vt:lpstr>The Basics</vt:lpstr>
      <vt:lpstr>The Basics</vt:lpstr>
      <vt:lpstr>The Basics</vt:lpstr>
      <vt:lpstr>The Basics</vt:lpstr>
      <vt:lpstr>The Flow of Creating a Program</vt:lpstr>
      <vt:lpstr>Our Normal 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</dc:title>
  <dc:creator>Trevor Lane</dc:creator>
  <cp:lastModifiedBy>Trevor Lane</cp:lastModifiedBy>
  <cp:revision>11</cp:revision>
  <dcterms:created xsi:type="dcterms:W3CDTF">2020-09-17T21:42:52Z</dcterms:created>
  <dcterms:modified xsi:type="dcterms:W3CDTF">2025-09-07T20:07:55Z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