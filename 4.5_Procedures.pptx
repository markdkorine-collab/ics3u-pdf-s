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9"/>
  </p:notesMasterIdLst>
  <p:handoutMasterIdLst>
    <p:handoutMasterId r:id="rId20"/>
  </p:handoutMasterIdLst>
  <p:sldIdLst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0093"/>
    <a:srgbClr val="BC0808"/>
    <a:srgbClr val="FFFFFF"/>
    <a:srgbClr val="394404"/>
    <a:srgbClr val="5F6F0F"/>
    <a:srgbClr val="718412"/>
    <a:srgbClr val="65741A"/>
    <a:srgbClr val="70811D"/>
    <a:srgbClr val="7B8D1F"/>
    <a:srgbClr val="8397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6" autoAdjust="0"/>
    <p:restoredTop sz="94660"/>
  </p:normalViewPr>
  <p:slideViewPr>
    <p:cSldViewPr>
      <p:cViewPr varScale="1">
        <p:scale>
          <a:sx n="123" d="100"/>
          <a:sy n="123" d="100"/>
        </p:scale>
        <p:origin x="108" y="378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5B4EDC-59C0-49C7-8ADA-5A781B329E02}" type="datetimeFigureOut">
              <a:rPr lang="en-US"/>
              <a:t>3/30/2022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429053-DC2A-4342-ADD4-2FD729D91E2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20457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D8D46A-B586-417D-BFBD-8C8FE0AAF762}" type="datetimeFigureOut">
              <a:rPr lang="en-US"/>
              <a:t>3/30/2022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BA5BD7-F043-4D1B-AA17-CD412FC534D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6705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4" name="Straight Connector 13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2" name="bottom lines"/>
          <p:cNvGrpSpPr/>
          <p:nvPr/>
        </p:nvGrpSpPr>
        <p:grpSpPr>
          <a:xfrm>
            <a:off x="-8916" y="6057149"/>
            <a:ext cx="5498726" cy="820207"/>
            <a:chOff x="-6689" y="4553748"/>
            <a:chExt cx="4125119" cy="615155"/>
          </a:xfrm>
        </p:grpSpPr>
        <p:sp>
          <p:nvSpPr>
            <p:cNvPr id="9" name="Freeform 8"/>
            <p:cNvSpPr/>
            <p:nvPr/>
          </p:nvSpPr>
          <p:spPr>
            <a:xfrm rot="16200000">
              <a:off x="1754302" y="2802395"/>
              <a:ext cx="612775" cy="411548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4115481 h 4115481"/>
                <a:gd name="connsiteX1" fmla="*/ 612775 w 612775"/>
                <a:gd name="connsiteY1" fmla="*/ 3180443 h 4115481"/>
                <a:gd name="connsiteX2" fmla="*/ 612775 w 612775"/>
                <a:gd name="connsiteY2" fmla="*/ 0 h 4115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4115481">
                  <a:moveTo>
                    <a:pt x="0" y="4115481"/>
                  </a:moveTo>
                  <a:lnTo>
                    <a:pt x="612775" y="3180443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0" name="Freeform 9"/>
            <p:cNvSpPr/>
            <p:nvPr/>
          </p:nvSpPr>
          <p:spPr>
            <a:xfrm rot="16200000">
              <a:off x="1604659" y="3152814"/>
              <a:ext cx="410751" cy="3621427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  <a:gd name="connsiteX0" fmla="*/ 0 w 410751"/>
                <a:gd name="connsiteY0" fmla="*/ 3614170 h 3614170"/>
                <a:gd name="connsiteX1" fmla="*/ 410751 w 410751"/>
                <a:gd name="connsiteY1" fmla="*/ 2990994 h 3614170"/>
                <a:gd name="connsiteX2" fmla="*/ 405947 w 410751"/>
                <a:gd name="connsiteY2" fmla="*/ 0 h 3614170"/>
                <a:gd name="connsiteX0" fmla="*/ 0 w 410751"/>
                <a:gd name="connsiteY0" fmla="*/ 3621427 h 3621427"/>
                <a:gd name="connsiteX1" fmla="*/ 410751 w 410751"/>
                <a:gd name="connsiteY1" fmla="*/ 2998251 h 3621427"/>
                <a:gd name="connsiteX2" fmla="*/ 405947 w 410751"/>
                <a:gd name="connsiteY2" fmla="*/ 0 h 3621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621427">
                  <a:moveTo>
                    <a:pt x="0" y="3621427"/>
                  </a:moveTo>
                  <a:lnTo>
                    <a:pt x="410751" y="2998251"/>
                  </a:lnTo>
                  <a:cubicBezTo>
                    <a:pt x="410359" y="2065358"/>
                    <a:pt x="406339" y="932893"/>
                    <a:pt x="405947" y="0"/>
                  </a:cubicBez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 rot="16200000">
              <a:off x="1462308" y="3453376"/>
              <a:ext cx="241768" cy="31797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  <a:gd name="connsiteX0" fmla="*/ 0 w 241768"/>
                <a:gd name="connsiteY0" fmla="*/ 3179761 h 3179761"/>
                <a:gd name="connsiteX1" fmla="*/ 238919 w 241768"/>
                <a:gd name="connsiteY1" fmla="*/ 2819370 h 3179761"/>
                <a:gd name="connsiteX2" fmla="*/ 241754 w 241768"/>
                <a:gd name="connsiteY2" fmla="*/ 0 h 317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1768" h="3179761">
                  <a:moveTo>
                    <a:pt x="0" y="3179761"/>
                  </a:moveTo>
                  <a:lnTo>
                    <a:pt x="238919" y="2819370"/>
                  </a:lnTo>
                  <a:cubicBezTo>
                    <a:pt x="238654" y="1947313"/>
                    <a:pt x="242019" y="872057"/>
                    <a:pt x="241754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5176" y="584200"/>
            <a:ext cx="8735325" cy="2000251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5176" y="2616200"/>
            <a:ext cx="8735325" cy="17526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" name="Date Placeholder 2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3/30/2022</a:t>
            </a:fld>
            <a:endParaRPr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4" name="Slide Number Placeholder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7488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3/30/2022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6769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2" name="Straight Connector 11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177" y="2209801"/>
            <a:ext cx="8938472" cy="2764335"/>
          </a:xfrm>
        </p:spPr>
        <p:txBody>
          <a:bodyPr anchor="b">
            <a:normAutofit/>
          </a:bodyPr>
          <a:lstStyle>
            <a:lvl1pPr algn="l">
              <a:defRPr sz="54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5176" y="4951266"/>
            <a:ext cx="7069519" cy="1220933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3/30/2022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6330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18883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0707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3/30/2022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57647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18883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96644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00707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3/30/2022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381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3/30/2022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15229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3/30/2022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72478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4971" y="584200"/>
            <a:ext cx="6094413" cy="55880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3/30/2022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18139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5484971" y="584200"/>
            <a:ext cx="6094413" cy="5588000"/>
          </a:xfrm>
          <a:ln w="12700">
            <a:solidFill>
              <a:schemeClr val="bg1">
                <a:lumMod val="75000"/>
                <a:lumOff val="25000"/>
              </a:schemeClr>
            </a:solidFill>
            <a:miter lim="800000"/>
          </a:ln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3/30/2022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343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3/30/2022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667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584200"/>
            <a:ext cx="2742486" cy="5588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8882" y="584200"/>
            <a:ext cx="7414869" cy="5588000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3/30/2022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886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100000"/>
                <a:shade val="0"/>
                <a:satMod val="100000"/>
              </a:schemeClr>
            </a:gs>
            <a:gs pos="85000">
              <a:schemeClr val="bg2">
                <a:tint val="100000"/>
                <a:shade val="30000"/>
                <a:satMod val="100000"/>
              </a:schemeClr>
            </a:gs>
            <a:gs pos="100000">
              <a:schemeClr val="bg2">
                <a:shade val="60000"/>
                <a:satMod val="100000"/>
              </a:schemeClr>
            </a:gs>
          </a:gsLst>
          <a:lin ang="3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left lines"/>
          <p:cNvGrpSpPr/>
          <p:nvPr/>
        </p:nvGrpSpPr>
        <p:grpSpPr>
          <a:xfrm>
            <a:off x="-15870" y="-3174"/>
            <a:ext cx="819993" cy="5229225"/>
            <a:chOff x="-11906" y="-2381"/>
            <a:chExt cx="615155" cy="3921919"/>
          </a:xfrm>
        </p:grpSpPr>
        <p:sp>
          <p:nvSpPr>
            <p:cNvPr id="10" name="Freeform 9"/>
            <p:cNvSpPr/>
            <p:nvPr/>
          </p:nvSpPr>
          <p:spPr>
            <a:xfrm>
              <a:off x="-9526" y="0"/>
              <a:ext cx="612775" cy="3919538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3919538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>
              <a:off x="-11906" y="0"/>
              <a:ext cx="410751" cy="3421856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421856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Freeform 13"/>
            <p:cNvSpPr/>
            <p:nvPr/>
          </p:nvSpPr>
          <p:spPr>
            <a:xfrm>
              <a:off x="-7144" y="-2381"/>
              <a:ext cx="238919" cy="29765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8919" h="2976561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239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797"/>
            <a:ext cx="10360501" cy="4462272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18882" y="6356352"/>
            <a:ext cx="2234618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DFD029-FB74-4578-B929-F66AA97659CA}" type="datetimeFigureOut">
              <a:rPr lang="en-US"/>
              <a:pPr/>
              <a:t>3/30/2022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3501" y="6356352"/>
            <a:ext cx="5281824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63649" y="6356352"/>
            <a:ext cx="1015735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14DD1E-5D91-48A3-AD6D-45FBA980D10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52758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218987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0000"/>
        </a:lnSpc>
        <a:spcBef>
          <a:spcPts val="1600"/>
        </a:spcBef>
        <a:buClr>
          <a:schemeClr val="accent1"/>
        </a:buClr>
        <a:buSzPct val="100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1898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73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48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13322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243797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74272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Subprograms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Part 3: Procedures</a:t>
            </a:r>
          </a:p>
          <a:p>
            <a:endParaRPr lang="en-US" dirty="0"/>
          </a:p>
          <a:p>
            <a:r>
              <a:rPr lang="en-US" dirty="0">
                <a:solidFill>
                  <a:srgbClr val="FFFF00"/>
                </a:solidFill>
              </a:rPr>
              <a:t>NOTE</a:t>
            </a:r>
            <a:r>
              <a:rPr lang="en-US" dirty="0"/>
              <a:t>: </a:t>
            </a:r>
            <a:r>
              <a:rPr lang="en-US" sz="2200" dirty="0"/>
              <a:t>This Slide Show is meant to be viewed in presentation mode.  Download and open it normally, not in Google Classroom Preview Mode</a:t>
            </a:r>
          </a:p>
        </p:txBody>
      </p:sp>
    </p:spTree>
    <p:extLst>
      <p:ext uri="{BB962C8B-B14F-4D97-AF65-F5344CB8AC3E}">
        <p14:creationId xmlns:p14="http://schemas.microsoft.com/office/powerpoint/2010/main" val="1332291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B528D-6EB2-48A7-B06B-3E090FB53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5FAD4-0926-4CD5-980A-16454199A0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Learn about </a:t>
            </a:r>
            <a:r>
              <a:rPr lang="en-US" dirty="0">
                <a:solidFill>
                  <a:srgbClr val="00B0F0"/>
                </a:solidFill>
              </a:rPr>
              <a:t>subprograms</a:t>
            </a:r>
            <a:r>
              <a:rPr lang="en-US" dirty="0"/>
              <a:t> (a.k.a. </a:t>
            </a:r>
            <a:r>
              <a:rPr lang="en-US" dirty="0">
                <a:solidFill>
                  <a:srgbClr val="00B0F0"/>
                </a:solidFill>
              </a:rPr>
              <a:t>methods</a:t>
            </a:r>
            <a:r>
              <a:rPr lang="en-US" dirty="0"/>
              <a:t>):</a:t>
            </a:r>
          </a:p>
          <a:p>
            <a:pPr lvl="1"/>
            <a:r>
              <a:rPr lang="en-US" dirty="0"/>
              <a:t>What they are</a:t>
            </a:r>
          </a:p>
          <a:p>
            <a:pPr lvl="1"/>
            <a:r>
              <a:rPr lang="en-US" dirty="0"/>
              <a:t>How to define them</a:t>
            </a:r>
          </a:p>
          <a:p>
            <a:pPr lvl="1"/>
            <a:r>
              <a:rPr lang="en-US" dirty="0"/>
              <a:t>How to use them</a:t>
            </a:r>
          </a:p>
        </p:txBody>
      </p:sp>
    </p:spTree>
    <p:extLst>
      <p:ext uri="{BB962C8B-B14F-4D97-AF65-F5344CB8AC3E}">
        <p14:creationId xmlns:p14="http://schemas.microsoft.com/office/powerpoint/2010/main" val="4061133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63692-A6D2-414F-BFAC-2D8E905FE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850107"/>
          </a:xfrm>
        </p:spPr>
        <p:txBody>
          <a:bodyPr/>
          <a:lstStyle/>
          <a:p>
            <a:r>
              <a:rPr lang="en-CA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5ACB2F-82D3-4470-8DAF-D42E3DD552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8883" y="1340768"/>
            <a:ext cx="10360501" cy="5242595"/>
          </a:xfrm>
        </p:spPr>
        <p:txBody>
          <a:bodyPr>
            <a:normAutofit lnSpcReduction="10000"/>
          </a:bodyPr>
          <a:lstStyle/>
          <a:p>
            <a:r>
              <a:rPr lang="en-CA" dirty="0"/>
              <a:t>Imagine it was graduation time and the school was getting ready for the ceremony.  One aspect of this is prepping the diplomas</a:t>
            </a:r>
          </a:p>
          <a:p>
            <a:endParaRPr lang="en-CA" sz="2000" dirty="0"/>
          </a:p>
          <a:p>
            <a:r>
              <a:rPr lang="en-CA" dirty="0"/>
              <a:t>Each diploma, say 400 of them, require the principal’s signature.  This can be both time consuming and painful for the principal.</a:t>
            </a:r>
          </a:p>
          <a:p>
            <a:endParaRPr lang="en-CA" sz="2000" dirty="0"/>
          </a:p>
          <a:p>
            <a:r>
              <a:rPr lang="en-CA" dirty="0"/>
              <a:t>It would be nice if there were a way to quicken this process…</a:t>
            </a:r>
          </a:p>
          <a:p>
            <a:endParaRPr lang="en-CA" sz="2000" dirty="0"/>
          </a:p>
          <a:p>
            <a:r>
              <a:rPr lang="en-CA" dirty="0"/>
              <a:t>There is, it is called a notarized </a:t>
            </a:r>
            <a:r>
              <a:rPr lang="en-CA" dirty="0">
                <a:solidFill>
                  <a:srgbClr val="FFFF00"/>
                </a:solidFill>
              </a:rPr>
              <a:t>stamp</a:t>
            </a:r>
            <a:r>
              <a:rPr lang="en-CA" dirty="0"/>
              <a:t>.  A legal rubber stamp copy of a signature that can be used in place of the real thing.</a:t>
            </a:r>
          </a:p>
          <a:p>
            <a:pPr lvl="1"/>
            <a:r>
              <a:rPr lang="en-CA" dirty="0"/>
              <a:t>The benefit of this stamp is that once it has been created once, it can be used over and over again…by anyone who has access to it</a:t>
            </a:r>
          </a:p>
        </p:txBody>
      </p:sp>
    </p:spTree>
    <p:extLst>
      <p:ext uri="{BB962C8B-B14F-4D97-AF65-F5344CB8AC3E}">
        <p14:creationId xmlns:p14="http://schemas.microsoft.com/office/powerpoint/2010/main" val="2367812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92999C-104A-4DD5-857D-2511B7B9A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706091"/>
          </a:xfrm>
        </p:spPr>
        <p:txBody>
          <a:bodyPr/>
          <a:lstStyle/>
          <a:p>
            <a:r>
              <a:rPr lang="en-CA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A1C16D-2431-4DA3-AF68-6C19D59EC4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8883" y="1124744"/>
            <a:ext cx="10360501" cy="5458619"/>
          </a:xfrm>
        </p:spPr>
        <p:txBody>
          <a:bodyPr>
            <a:normAutofit lnSpcReduction="10000"/>
          </a:bodyPr>
          <a:lstStyle/>
          <a:p>
            <a:r>
              <a:rPr lang="en-CA" dirty="0"/>
              <a:t>To make the stamp, all the principal needs to do is sign their name and send it off to the company who creates the physical stamp</a:t>
            </a:r>
          </a:p>
          <a:p>
            <a:endParaRPr lang="en-CA" dirty="0"/>
          </a:p>
          <a:p>
            <a:r>
              <a:rPr lang="en-CA" dirty="0"/>
              <a:t>Now, with a little ink, the principal can quickly and easily stamp all the diplomas in a fraction of the time…every year</a:t>
            </a:r>
          </a:p>
          <a:p>
            <a:endParaRPr lang="en-CA" dirty="0"/>
          </a:p>
          <a:p>
            <a:r>
              <a:rPr lang="en-CA" dirty="0"/>
              <a:t>This is thanks to a little extra effort upfront that reduced the workload later</a:t>
            </a:r>
          </a:p>
          <a:p>
            <a:endParaRPr lang="en-CA" dirty="0"/>
          </a:p>
          <a:p>
            <a:r>
              <a:rPr lang="en-CA" dirty="0">
                <a:solidFill>
                  <a:srgbClr val="92D050"/>
                </a:solidFill>
              </a:rPr>
              <a:t>Our goal today is to make the programming equivalent of the stamp in our programs</a:t>
            </a:r>
          </a:p>
        </p:txBody>
      </p:sp>
    </p:spTree>
    <p:extLst>
      <p:ext uri="{BB962C8B-B14F-4D97-AF65-F5344CB8AC3E}">
        <p14:creationId xmlns:p14="http://schemas.microsoft.com/office/powerpoint/2010/main" val="28841169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64ED8-2933-4D04-BA13-845910140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The Stamp: Subprogram/Method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18BF68-F76A-4634-9105-AEAB076623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A </a:t>
            </a:r>
            <a:r>
              <a:rPr lang="en-CA" b="1" dirty="0">
                <a:solidFill>
                  <a:srgbClr val="00B0F0"/>
                </a:solidFill>
              </a:rPr>
              <a:t>Subprogram</a:t>
            </a:r>
            <a:r>
              <a:rPr lang="en-CA" dirty="0"/>
              <a:t>, sometimes referred to as a </a:t>
            </a:r>
            <a:r>
              <a:rPr lang="en-CA" b="1" dirty="0">
                <a:solidFill>
                  <a:srgbClr val="00B0F0"/>
                </a:solidFill>
              </a:rPr>
              <a:t>Method</a:t>
            </a:r>
            <a:r>
              <a:rPr lang="en-CA" dirty="0"/>
              <a:t>, is a program within a program that performs a </a:t>
            </a:r>
            <a:r>
              <a:rPr lang="en-CA" b="1" dirty="0">
                <a:solidFill>
                  <a:srgbClr val="FFFF00"/>
                </a:solidFill>
              </a:rPr>
              <a:t>SINGLE</a:t>
            </a:r>
            <a:r>
              <a:rPr lang="en-CA" dirty="0"/>
              <a:t> task and can be </a:t>
            </a:r>
            <a:r>
              <a:rPr lang="en-CA" b="1" dirty="0">
                <a:solidFill>
                  <a:srgbClr val="FFFF00"/>
                </a:solidFill>
              </a:rPr>
              <a:t>REUSED</a:t>
            </a:r>
            <a:r>
              <a:rPr lang="en-CA" dirty="0"/>
              <a:t> to perform that same single task as many times as desired</a:t>
            </a:r>
          </a:p>
          <a:p>
            <a:endParaRPr lang="en-CA" dirty="0"/>
          </a:p>
          <a:p>
            <a:r>
              <a:rPr lang="en-CA" dirty="0"/>
              <a:t>Up until now, we have made use of methods created for us:</a:t>
            </a:r>
          </a:p>
          <a:p>
            <a:pPr lvl="1"/>
            <a:r>
              <a:rPr lang="en-CA" dirty="0"/>
              <a:t>E.g. </a:t>
            </a:r>
            <a:r>
              <a:rPr lang="en-CA" dirty="0">
                <a:solidFill>
                  <a:srgbClr val="00B0F0"/>
                </a:solidFill>
              </a:rPr>
              <a:t>WriteLine, Pow, </a:t>
            </a:r>
            <a:r>
              <a:rPr lang="en-CA" dirty="0" err="1">
                <a:solidFill>
                  <a:srgbClr val="00B0F0"/>
                </a:solidFill>
              </a:rPr>
              <a:t>ReadLine</a:t>
            </a:r>
            <a:r>
              <a:rPr lang="en-CA" dirty="0">
                <a:solidFill>
                  <a:srgbClr val="00B0F0"/>
                </a:solidFill>
              </a:rPr>
              <a:t>, Main</a:t>
            </a:r>
            <a:r>
              <a:rPr lang="en-CA" dirty="0"/>
              <a:t>, etc. are all examples of methods that someone else created for us to use in our programs</a:t>
            </a:r>
          </a:p>
          <a:p>
            <a:pPr lvl="1"/>
            <a:r>
              <a:rPr lang="en-CA" dirty="0"/>
              <a:t>We can use these subprograms potentially many times in a single program</a:t>
            </a:r>
          </a:p>
        </p:txBody>
      </p:sp>
    </p:spTree>
    <p:extLst>
      <p:ext uri="{BB962C8B-B14F-4D97-AF65-F5344CB8AC3E}">
        <p14:creationId xmlns:p14="http://schemas.microsoft.com/office/powerpoint/2010/main" val="3468167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6B082-E7B2-40EC-8FD0-0E69F9D51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94C36F-6E60-4E79-A2A6-208DCA7112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8883" y="1701796"/>
            <a:ext cx="10360501" cy="4751539"/>
          </a:xfrm>
        </p:spPr>
        <p:txBody>
          <a:bodyPr>
            <a:normAutofit lnSpcReduction="10000"/>
          </a:bodyPr>
          <a:lstStyle/>
          <a:p>
            <a:r>
              <a:rPr lang="en-CA" dirty="0"/>
              <a:t>Much like the principal’s stamp, before he can make use of it, he first had to spend that bit of extra time upfront to create it</a:t>
            </a:r>
          </a:p>
          <a:p>
            <a:r>
              <a:rPr lang="en-CA" dirty="0"/>
              <a:t>Then, as long as he had ink, the stamp could be used forever</a:t>
            </a:r>
          </a:p>
          <a:p>
            <a:endParaRPr lang="en-CA" dirty="0"/>
          </a:p>
          <a:p>
            <a:r>
              <a:rPr lang="en-CA" dirty="0"/>
              <a:t>This is the same for methods that WE create.  We must first define the method, much like we do a variable, before we can refer to it by name later</a:t>
            </a:r>
          </a:p>
          <a:p>
            <a:r>
              <a:rPr lang="en-CA" dirty="0"/>
              <a:t>We define variables to hold data, but we define methods to hold instructions</a:t>
            </a:r>
          </a:p>
          <a:p>
            <a:r>
              <a:rPr lang="en-CA" dirty="0"/>
              <a:t>Parameters are the equivalent of the ink in our example</a:t>
            </a:r>
          </a:p>
        </p:txBody>
      </p:sp>
    </p:spTree>
    <p:extLst>
      <p:ext uri="{BB962C8B-B14F-4D97-AF65-F5344CB8AC3E}">
        <p14:creationId xmlns:p14="http://schemas.microsoft.com/office/powerpoint/2010/main" val="151643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12274-4DB1-4B14-8E70-15F55584C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Two Kinds of Subprograms/Methods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9B0916-0EA7-4F2D-8EF0-9F1494AEBC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There are two types of methods we will make use of:</a:t>
            </a:r>
          </a:p>
          <a:p>
            <a:pPr marL="835086" lvl="1" indent="-457200">
              <a:buFont typeface="+mj-lt"/>
              <a:buAutoNum type="arabicPeriod"/>
            </a:pPr>
            <a:r>
              <a:rPr lang="en-CA" dirty="0"/>
              <a:t>A Procedure (This lesson)</a:t>
            </a:r>
          </a:p>
          <a:p>
            <a:pPr marL="835086" lvl="1" indent="-457200">
              <a:buFont typeface="+mj-lt"/>
              <a:buAutoNum type="arabicPeriod"/>
            </a:pPr>
            <a:r>
              <a:rPr lang="en-CA" dirty="0"/>
              <a:t>A Function (Next lesson)</a:t>
            </a:r>
          </a:p>
          <a:p>
            <a:pPr lvl="1"/>
            <a:endParaRPr lang="en-CA" dirty="0"/>
          </a:p>
          <a:p>
            <a:r>
              <a:rPr lang="en-CA" dirty="0"/>
              <a:t>For each of these we will clearly show:</a:t>
            </a:r>
          </a:p>
          <a:p>
            <a:pPr lvl="1"/>
            <a:r>
              <a:rPr lang="en-CA" dirty="0"/>
              <a:t>How to define</a:t>
            </a:r>
          </a:p>
          <a:p>
            <a:pPr lvl="1"/>
            <a:r>
              <a:rPr lang="en-CA" dirty="0"/>
              <a:t>Where to define</a:t>
            </a:r>
          </a:p>
          <a:p>
            <a:pPr lvl="1"/>
            <a:r>
              <a:rPr lang="en-CA" dirty="0"/>
              <a:t>How to call (use) it within our programs</a:t>
            </a:r>
          </a:p>
        </p:txBody>
      </p:sp>
    </p:spTree>
    <p:extLst>
      <p:ext uri="{BB962C8B-B14F-4D97-AF65-F5344CB8AC3E}">
        <p14:creationId xmlns:p14="http://schemas.microsoft.com/office/powerpoint/2010/main" val="3188815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F0E58-5FB1-4531-A99F-4CD1EEBD6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634083"/>
          </a:xfrm>
        </p:spPr>
        <p:txBody>
          <a:bodyPr/>
          <a:lstStyle/>
          <a:p>
            <a:r>
              <a:rPr lang="en-CA" dirty="0"/>
              <a:t>Procedure - Defining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250C5D-5ADA-43E6-9BB9-012A7C8A57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8883" y="1052736"/>
            <a:ext cx="10360501" cy="5530627"/>
          </a:xfrm>
        </p:spPr>
        <p:txBody>
          <a:bodyPr>
            <a:normAutofit lnSpcReduction="10000"/>
          </a:bodyPr>
          <a:lstStyle/>
          <a:p>
            <a:r>
              <a:rPr lang="en-CA" dirty="0"/>
              <a:t>A </a:t>
            </a:r>
            <a:r>
              <a:rPr lang="en-CA" dirty="0">
                <a:solidFill>
                  <a:srgbClr val="92D050"/>
                </a:solidFill>
              </a:rPr>
              <a:t>procedure</a:t>
            </a:r>
            <a:r>
              <a:rPr lang="en-CA" dirty="0"/>
              <a:t> is a mini-program within a program that performs a </a:t>
            </a:r>
            <a:r>
              <a:rPr lang="en-CA" dirty="0">
                <a:solidFill>
                  <a:srgbClr val="FFFF00"/>
                </a:solidFill>
              </a:rPr>
              <a:t>single task</a:t>
            </a:r>
            <a:r>
              <a:rPr lang="en-CA" dirty="0"/>
              <a:t>, E.g. </a:t>
            </a:r>
            <a:r>
              <a:rPr lang="en-CA" dirty="0">
                <a:solidFill>
                  <a:srgbClr val="00B0F0"/>
                </a:solidFill>
              </a:rPr>
              <a:t>WriteLine</a:t>
            </a:r>
          </a:p>
          <a:p>
            <a:pPr marL="0" indent="0">
              <a:buNone/>
            </a:pPr>
            <a:endParaRPr lang="en-CA" dirty="0">
              <a:solidFill>
                <a:srgbClr val="00B0F0"/>
              </a:solidFill>
            </a:endParaRP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CA" dirty="0">
                <a:solidFill>
                  <a:srgbClr val="00B0F0"/>
                </a:solidFill>
              </a:rPr>
              <a:t>Defining a Procedure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dirty="0">
                <a:solidFill>
                  <a:srgbClr val="FF0000"/>
                </a:solidFill>
              </a:rPr>
              <a:t>GENERAL SYNTAX (Yellow are the parts you add/change)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800" dirty="0">
                <a:latin typeface="Consolas" panose="020B0609020204030204" pitchFamily="49" charset="0"/>
              </a:rPr>
              <a:t>private static void </a:t>
            </a:r>
            <a:r>
              <a:rPr lang="en-CA" sz="1800" dirty="0">
                <a:solidFill>
                  <a:srgbClr val="FFFF00"/>
                </a:solidFill>
                <a:latin typeface="Consolas" panose="020B0609020204030204" pitchFamily="49" charset="0"/>
              </a:rPr>
              <a:t>Identifier</a:t>
            </a:r>
            <a:r>
              <a:rPr lang="en-CA" sz="1800" dirty="0">
                <a:latin typeface="Consolas" panose="020B0609020204030204" pitchFamily="49" charset="0"/>
              </a:rPr>
              <a:t>(</a:t>
            </a:r>
            <a:r>
              <a:rPr lang="en-CA" sz="1800" dirty="0">
                <a:solidFill>
                  <a:srgbClr val="FFFF00"/>
                </a:solidFill>
                <a:latin typeface="Consolas" panose="020B0609020204030204" pitchFamily="49" charset="0"/>
              </a:rPr>
              <a:t>type identifier1, type identifier2, …</a:t>
            </a:r>
            <a:r>
              <a:rPr lang="en-CA" sz="1800" dirty="0">
                <a:latin typeface="Consolas" panose="020B06090202040302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800" dirty="0"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800" dirty="0">
                <a:latin typeface="Consolas" panose="020B0609020204030204" pitchFamily="49" charset="0"/>
              </a:rPr>
              <a:t>  //</a:t>
            </a:r>
            <a:r>
              <a:rPr lang="en-CA" sz="1800" b="1" dirty="0">
                <a:solidFill>
                  <a:srgbClr val="FFFF00"/>
                </a:solidFill>
                <a:latin typeface="Consolas" panose="020B0609020204030204" pitchFamily="49" charset="0"/>
              </a:rPr>
              <a:t>code</a:t>
            </a:r>
            <a:r>
              <a:rPr lang="en-CA" sz="1800" dirty="0">
                <a:latin typeface="Consolas" panose="020B0609020204030204" pitchFamily="49" charset="0"/>
              </a:rPr>
              <a:t> that is executed fully, whenever the method is called by name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800" dirty="0"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CA" sz="1800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dirty="0">
                <a:solidFill>
                  <a:srgbClr val="FF0000"/>
                </a:solidFill>
              </a:rPr>
              <a:t>EXAMPLE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800" dirty="0">
                <a:latin typeface="Consolas" panose="020B0609020204030204" pitchFamily="49" charset="0"/>
              </a:rPr>
              <a:t>private static void </a:t>
            </a:r>
            <a:r>
              <a:rPr lang="en-CA" sz="1800" dirty="0" err="1">
                <a:solidFill>
                  <a:srgbClr val="FFFF00"/>
                </a:solidFill>
                <a:latin typeface="Consolas" panose="020B0609020204030204" pitchFamily="49" charset="0"/>
              </a:rPr>
              <a:t>OutputUserInfo</a:t>
            </a:r>
            <a:r>
              <a:rPr lang="en-CA" sz="1800" dirty="0">
                <a:latin typeface="Consolas" panose="020B0609020204030204" pitchFamily="49" charset="0"/>
              </a:rPr>
              <a:t>(</a:t>
            </a:r>
            <a:r>
              <a:rPr lang="en-CA" sz="1800" dirty="0">
                <a:solidFill>
                  <a:srgbClr val="FFFF00"/>
                </a:solidFill>
                <a:latin typeface="Consolas" panose="020B0609020204030204" pitchFamily="49" charset="0"/>
              </a:rPr>
              <a:t>string name, int age</a:t>
            </a:r>
            <a:r>
              <a:rPr lang="en-CA" sz="1800" dirty="0">
                <a:latin typeface="Consolas" panose="020B06090202040302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800" dirty="0"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800" dirty="0">
                <a:latin typeface="Consolas" panose="020B0609020204030204" pitchFamily="49" charset="0"/>
              </a:rPr>
              <a:t>  </a:t>
            </a:r>
            <a:r>
              <a:rPr lang="en-CA" sz="1800" dirty="0" err="1">
                <a:solidFill>
                  <a:srgbClr val="FFFF00"/>
                </a:solidFill>
                <a:latin typeface="Consolas" panose="020B0609020204030204" pitchFamily="49" charset="0"/>
              </a:rPr>
              <a:t>Console.WriteLine</a:t>
            </a:r>
            <a:r>
              <a:rPr lang="en-CA" sz="1800" dirty="0">
                <a:solidFill>
                  <a:srgbClr val="FFFF00"/>
                </a:solidFill>
                <a:latin typeface="Consolas" panose="020B0609020204030204" pitchFamily="49" charset="0"/>
              </a:rPr>
              <a:t>(“Name: ” + name);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800" dirty="0">
                <a:solidFill>
                  <a:srgbClr val="FFFF00"/>
                </a:solidFill>
                <a:latin typeface="Consolas" panose="020B0609020204030204" pitchFamily="49" charset="0"/>
              </a:rPr>
              <a:t>  </a:t>
            </a:r>
            <a:r>
              <a:rPr lang="en-CA" sz="1800" dirty="0" err="1">
                <a:solidFill>
                  <a:srgbClr val="FFFF00"/>
                </a:solidFill>
                <a:latin typeface="Consolas" panose="020B0609020204030204" pitchFamily="49" charset="0"/>
              </a:rPr>
              <a:t>Console.WriteLine</a:t>
            </a:r>
            <a:r>
              <a:rPr lang="en-CA" sz="1800" dirty="0">
                <a:solidFill>
                  <a:srgbClr val="FFFF00"/>
                </a:solidFill>
                <a:latin typeface="Consolas" panose="020B0609020204030204" pitchFamily="49" charset="0"/>
              </a:rPr>
              <a:t>(“Age: ” + age);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800" dirty="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35301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BE6AB-4882-4F02-AE2D-AFAB6989D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706091"/>
          </a:xfrm>
        </p:spPr>
        <p:txBody>
          <a:bodyPr/>
          <a:lstStyle/>
          <a:p>
            <a:r>
              <a:rPr lang="en-CA" dirty="0"/>
              <a:t>Breakdown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8A2ABA-EA82-4952-A372-2B43F6F37983}"/>
              </a:ext>
            </a:extLst>
          </p:cNvPr>
          <p:cNvSpPr txBox="1"/>
          <p:nvPr/>
        </p:nvSpPr>
        <p:spPr>
          <a:xfrm>
            <a:off x="146507" y="1414817"/>
            <a:ext cx="5366084" cy="276999"/>
          </a:xfrm>
          <a:prstGeom prst="rect">
            <a:avLst/>
          </a:prstGeom>
          <a:solidFill>
            <a:srgbClr val="0020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CA" sz="1200" dirty="0"/>
              <a:t>Required just like global variables because it is defined outside of the Main method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7F4DF8-7E37-453F-8BF4-C21A06D0E18E}"/>
              </a:ext>
            </a:extLst>
          </p:cNvPr>
          <p:cNvSpPr txBox="1"/>
          <p:nvPr/>
        </p:nvSpPr>
        <p:spPr>
          <a:xfrm>
            <a:off x="2678564" y="1851549"/>
            <a:ext cx="3532955" cy="276999"/>
          </a:xfrm>
          <a:prstGeom prst="rect">
            <a:avLst/>
          </a:prstGeom>
          <a:solidFill>
            <a:srgbClr val="0020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CA" sz="1200" dirty="0"/>
              <a:t>Tells the C# compiler this is a procedure specifically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8FEFB57-2FCF-42D8-8E0F-8E873CD5E5BF}"/>
              </a:ext>
            </a:extLst>
          </p:cNvPr>
          <p:cNvSpPr txBox="1"/>
          <p:nvPr/>
        </p:nvSpPr>
        <p:spPr>
          <a:xfrm>
            <a:off x="1107278" y="4082078"/>
            <a:ext cx="5071004" cy="646331"/>
          </a:xfrm>
          <a:prstGeom prst="rect">
            <a:avLst/>
          </a:prstGeom>
          <a:solidFill>
            <a:srgbClr val="0020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CA" sz="1200" dirty="0"/>
              <a:t>The name of our method.  Naming follows the same rules as variables</a:t>
            </a:r>
          </a:p>
          <a:p>
            <a:r>
              <a:rPr lang="en-CA" sz="1200" dirty="0"/>
              <a:t>except we use </a:t>
            </a:r>
            <a:r>
              <a:rPr lang="en-CA" sz="1200" b="1" dirty="0" err="1">
                <a:solidFill>
                  <a:srgbClr val="FFFF00"/>
                </a:solidFill>
              </a:rPr>
              <a:t>MixedCase</a:t>
            </a:r>
            <a:r>
              <a:rPr lang="en-CA" sz="1200" dirty="0"/>
              <a:t> to differentiate between variables and subprograms</a:t>
            </a:r>
          </a:p>
          <a:p>
            <a:r>
              <a:rPr lang="en-CA" sz="1200" dirty="0"/>
              <a:t>quickly.  This means </a:t>
            </a:r>
            <a:r>
              <a:rPr lang="en-CA" sz="1200" b="1" dirty="0">
                <a:solidFill>
                  <a:srgbClr val="FFFF00"/>
                </a:solidFill>
              </a:rPr>
              <a:t>EACH</a:t>
            </a:r>
            <a:r>
              <a:rPr lang="en-CA" sz="1200" dirty="0"/>
              <a:t> word starts with a capital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621FED-858F-4DB0-B444-4FDB23B268E0}"/>
              </a:ext>
            </a:extLst>
          </p:cNvPr>
          <p:cNvSpPr txBox="1"/>
          <p:nvPr/>
        </p:nvSpPr>
        <p:spPr>
          <a:xfrm>
            <a:off x="5230316" y="5013176"/>
            <a:ext cx="4112985" cy="830997"/>
          </a:xfrm>
          <a:prstGeom prst="rect">
            <a:avLst/>
          </a:prstGeom>
          <a:solidFill>
            <a:srgbClr val="0020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CA" sz="1200" dirty="0"/>
              <a:t>This is where parameters are </a:t>
            </a:r>
            <a:r>
              <a:rPr lang="en-CA" sz="1200" dirty="0">
                <a:solidFill>
                  <a:srgbClr val="FFFF00"/>
                </a:solidFill>
              </a:rPr>
              <a:t>defined</a:t>
            </a:r>
            <a:r>
              <a:rPr lang="en-CA" sz="1200" dirty="0"/>
              <a:t>, just like regular variables</a:t>
            </a:r>
          </a:p>
          <a:p>
            <a:endParaRPr lang="en-CA" sz="1200" b="1" dirty="0"/>
          </a:p>
          <a:p>
            <a:r>
              <a:rPr lang="en-CA" sz="1200" b="1" dirty="0">
                <a:solidFill>
                  <a:srgbClr val="FFFF00"/>
                </a:solidFill>
              </a:rPr>
              <a:t>REMEMBER</a:t>
            </a:r>
            <a:r>
              <a:rPr lang="en-CA" sz="1200" dirty="0"/>
              <a:t>: Not all subprograms will need them, but the (  )</a:t>
            </a:r>
          </a:p>
          <a:p>
            <a:r>
              <a:rPr lang="en-CA" sz="1200" dirty="0"/>
              <a:t>are </a:t>
            </a:r>
            <a:r>
              <a:rPr lang="en-CA" sz="1200" b="1" dirty="0"/>
              <a:t>ALWAYS</a:t>
            </a:r>
            <a:r>
              <a:rPr lang="en-CA" sz="1200" dirty="0"/>
              <a:t> necessary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0D09FBA-689B-4593-828A-E003980FF105}"/>
              </a:ext>
            </a:extLst>
          </p:cNvPr>
          <p:cNvCxnSpPr>
            <a:cxnSpLocks/>
          </p:cNvCxnSpPr>
          <p:nvPr/>
        </p:nvCxnSpPr>
        <p:spPr>
          <a:xfrm>
            <a:off x="2622765" y="1691816"/>
            <a:ext cx="0" cy="69348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92D2EDB-7986-4F95-9019-0550E6F4CE6C}"/>
              </a:ext>
            </a:extLst>
          </p:cNvPr>
          <p:cNvCxnSpPr>
            <a:cxnSpLocks/>
            <a:stCxn id="5" idx="2"/>
          </p:cNvCxnSpPr>
          <p:nvPr/>
        </p:nvCxnSpPr>
        <p:spPr>
          <a:xfrm flipH="1">
            <a:off x="3944820" y="2128548"/>
            <a:ext cx="500222" cy="25675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D0B31499-8483-49C3-BE35-9CCAE828ED0C}"/>
              </a:ext>
            </a:extLst>
          </p:cNvPr>
          <p:cNvSpPr txBox="1"/>
          <p:nvPr/>
        </p:nvSpPr>
        <p:spPr>
          <a:xfrm>
            <a:off x="8710950" y="3077206"/>
            <a:ext cx="2582713" cy="461665"/>
          </a:xfrm>
          <a:prstGeom prst="rect">
            <a:avLst/>
          </a:prstGeom>
          <a:solidFill>
            <a:srgbClr val="0020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CA" sz="1200" dirty="0"/>
              <a:t>The code to be executed </a:t>
            </a:r>
            <a:r>
              <a:rPr lang="en-CA" sz="1200" b="1" dirty="0">
                <a:solidFill>
                  <a:srgbClr val="FFFF00"/>
                </a:solidFill>
              </a:rPr>
              <a:t>EACH</a:t>
            </a:r>
            <a:r>
              <a:rPr lang="en-CA" sz="1200" b="1" dirty="0"/>
              <a:t> </a:t>
            </a:r>
          </a:p>
          <a:p>
            <a:r>
              <a:rPr lang="en-CA" sz="1200" dirty="0"/>
              <a:t>time </a:t>
            </a:r>
            <a:r>
              <a:rPr lang="en-CA" sz="1200" dirty="0" err="1">
                <a:solidFill>
                  <a:srgbClr val="92D050"/>
                </a:solidFill>
              </a:rPr>
              <a:t>OutputUserInfo</a:t>
            </a:r>
            <a:r>
              <a:rPr lang="en-CA" sz="1200" dirty="0"/>
              <a:t> is called by name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A928887-7EF5-4CEC-ABA9-DBB9A95B09EC}"/>
              </a:ext>
            </a:extLst>
          </p:cNvPr>
          <p:cNvCxnSpPr>
            <a:cxnSpLocks/>
            <a:stCxn id="6" idx="0"/>
          </p:cNvCxnSpPr>
          <p:nvPr/>
        </p:nvCxnSpPr>
        <p:spPr>
          <a:xfrm flipV="1">
            <a:off x="3642780" y="2611014"/>
            <a:ext cx="867456" cy="147106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C4DDC99-A5EE-46E3-ADCC-3BB917D56D78}"/>
              </a:ext>
            </a:extLst>
          </p:cNvPr>
          <p:cNvCxnSpPr/>
          <p:nvPr/>
        </p:nvCxnSpPr>
        <p:spPr>
          <a:xfrm flipH="1" flipV="1">
            <a:off x="7199010" y="2630931"/>
            <a:ext cx="947501" cy="238224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52666A8-6EC5-4E0D-A0DD-74B15BBF93AF}"/>
              </a:ext>
            </a:extLst>
          </p:cNvPr>
          <p:cNvCxnSpPr/>
          <p:nvPr/>
        </p:nvCxnSpPr>
        <p:spPr>
          <a:xfrm flipV="1">
            <a:off x="8128452" y="2630931"/>
            <a:ext cx="372285" cy="238224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F7AB054-8FF3-4917-A3DB-CA4E3FCEE22A}"/>
              </a:ext>
            </a:extLst>
          </p:cNvPr>
          <p:cNvCxnSpPr>
            <a:cxnSpLocks/>
            <a:stCxn id="12" idx="1"/>
          </p:cNvCxnSpPr>
          <p:nvPr/>
        </p:nvCxnSpPr>
        <p:spPr>
          <a:xfrm flipH="1">
            <a:off x="6663030" y="3308039"/>
            <a:ext cx="204792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32ABEC-B479-4DFB-A707-024FB7B41F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8883" y="1268760"/>
            <a:ext cx="10360501" cy="4895309"/>
          </a:xfrm>
        </p:spPr>
        <p:txBody>
          <a:bodyPr/>
          <a:lstStyle/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endParaRPr lang="en-CA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2000" dirty="0">
                <a:latin typeface="Consolas" panose="020B0609020204030204" pitchFamily="49" charset="0"/>
              </a:rPr>
              <a:t>private static void </a:t>
            </a:r>
            <a:r>
              <a:rPr lang="en-CA" sz="2000" dirty="0" err="1">
                <a:solidFill>
                  <a:srgbClr val="FFFF00"/>
                </a:solidFill>
                <a:latin typeface="Consolas" panose="020B0609020204030204" pitchFamily="49" charset="0"/>
              </a:rPr>
              <a:t>OutputUserInfo</a:t>
            </a:r>
            <a:r>
              <a:rPr lang="en-CA" sz="2000" dirty="0">
                <a:latin typeface="Consolas" panose="020B0609020204030204" pitchFamily="49" charset="0"/>
              </a:rPr>
              <a:t>(</a:t>
            </a:r>
            <a:r>
              <a:rPr lang="en-CA" sz="2000" dirty="0">
                <a:solidFill>
                  <a:srgbClr val="FFFF00"/>
                </a:solidFill>
                <a:latin typeface="Consolas" panose="020B0609020204030204" pitchFamily="49" charset="0"/>
              </a:rPr>
              <a:t>string name, int age</a:t>
            </a:r>
            <a:r>
              <a:rPr lang="en-CA" sz="2000" dirty="0">
                <a:latin typeface="Consolas" panose="020B06090202040302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2000" dirty="0"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2000" dirty="0">
                <a:latin typeface="Consolas" panose="020B0609020204030204" pitchFamily="49" charset="0"/>
              </a:rPr>
              <a:t>  </a:t>
            </a:r>
            <a:r>
              <a:rPr lang="en-CA" sz="2000" dirty="0" err="1">
                <a:solidFill>
                  <a:srgbClr val="FFFF00"/>
                </a:solidFill>
                <a:latin typeface="Consolas" panose="020B0609020204030204" pitchFamily="49" charset="0"/>
              </a:rPr>
              <a:t>Console.WriteLine</a:t>
            </a:r>
            <a:r>
              <a:rPr lang="en-CA" sz="2000" dirty="0">
                <a:solidFill>
                  <a:srgbClr val="FFFF00"/>
                </a:solidFill>
                <a:latin typeface="Consolas" panose="020B0609020204030204" pitchFamily="49" charset="0"/>
              </a:rPr>
              <a:t>(“Name: ” + name);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2000" dirty="0">
                <a:solidFill>
                  <a:srgbClr val="FFFF00"/>
                </a:solidFill>
                <a:latin typeface="Consolas" panose="020B0609020204030204" pitchFamily="49" charset="0"/>
              </a:rPr>
              <a:t>  </a:t>
            </a:r>
            <a:r>
              <a:rPr lang="en-CA" sz="2000" dirty="0" err="1">
                <a:solidFill>
                  <a:srgbClr val="FFFF00"/>
                </a:solidFill>
                <a:latin typeface="Consolas" panose="020B0609020204030204" pitchFamily="49" charset="0"/>
              </a:rPr>
              <a:t>Console.WriteLine</a:t>
            </a:r>
            <a:r>
              <a:rPr lang="en-CA" sz="2000" dirty="0">
                <a:solidFill>
                  <a:srgbClr val="FFFF00"/>
                </a:solidFill>
                <a:latin typeface="Consolas" panose="020B0609020204030204" pitchFamily="49" charset="0"/>
              </a:rPr>
              <a:t>(“Age: ” + age);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2000" dirty="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160256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1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F1CD4-CA4E-48A2-8199-829C71687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850107"/>
          </a:xfrm>
        </p:spPr>
        <p:txBody>
          <a:bodyPr/>
          <a:lstStyle/>
          <a:p>
            <a:r>
              <a:rPr lang="en-CA" dirty="0"/>
              <a:t>Procedures – Where Do We Define Them?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E1E9C6-D355-4A70-B6DD-BC2C488A94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8883" y="1340768"/>
            <a:ext cx="10492153" cy="5242595"/>
          </a:xfrm>
        </p:spPr>
        <p:txBody>
          <a:bodyPr>
            <a:normAutofit/>
          </a:bodyPr>
          <a:lstStyle/>
          <a:p>
            <a:r>
              <a:rPr lang="en-CA" dirty="0"/>
              <a:t>We define our methods </a:t>
            </a:r>
            <a:r>
              <a:rPr lang="en-CA" dirty="0">
                <a:solidFill>
                  <a:srgbClr val="FFFF00"/>
                </a:solidFill>
              </a:rPr>
              <a:t>outside</a:t>
            </a:r>
            <a:r>
              <a:rPr lang="en-CA" dirty="0"/>
              <a:t> and </a:t>
            </a:r>
            <a:r>
              <a:rPr lang="en-CA" dirty="0">
                <a:solidFill>
                  <a:srgbClr val="FFFF00"/>
                </a:solidFill>
              </a:rPr>
              <a:t>under</a:t>
            </a:r>
            <a:r>
              <a:rPr lang="en-CA" dirty="0"/>
              <a:t> the Main method.</a:t>
            </a:r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r>
              <a:rPr lang="en-CA" dirty="0"/>
              <a:t>This program defines, but never uses, the </a:t>
            </a:r>
            <a:r>
              <a:rPr lang="en-CA" dirty="0" err="1">
                <a:solidFill>
                  <a:srgbClr val="92D050"/>
                </a:solidFill>
              </a:rPr>
              <a:t>OutputUserInfo</a:t>
            </a:r>
            <a:r>
              <a:rPr lang="en-CA" dirty="0"/>
              <a:t> procedure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5281B0-A1AC-4364-AE06-986AB1ACEAB5}"/>
              </a:ext>
            </a:extLst>
          </p:cNvPr>
          <p:cNvSpPr txBox="1"/>
          <p:nvPr/>
        </p:nvSpPr>
        <p:spPr>
          <a:xfrm>
            <a:off x="1629916" y="2060848"/>
            <a:ext cx="8366393" cy="378565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CA" sz="2000" b="1" dirty="0">
                <a:solidFill>
                  <a:schemeClr val="tx1">
                    <a:lumMod val="85000"/>
                  </a:schemeClr>
                </a:solidFill>
                <a:latin typeface="Consolas" panose="020B0609020204030204" pitchFamily="49" charset="0"/>
              </a:rPr>
              <a:t>class Program</a:t>
            </a:r>
            <a:br>
              <a:rPr lang="en-CA" sz="2000" b="1" dirty="0">
                <a:solidFill>
                  <a:schemeClr val="tx1">
                    <a:lumMod val="85000"/>
                  </a:schemeClr>
                </a:solidFill>
                <a:latin typeface="Consolas" panose="020B0609020204030204" pitchFamily="49" charset="0"/>
              </a:rPr>
            </a:br>
            <a:r>
              <a:rPr lang="en-CA" sz="2000" b="1" dirty="0">
                <a:solidFill>
                  <a:schemeClr val="tx1">
                    <a:lumMod val="85000"/>
                  </a:schemeClr>
                </a:solidFill>
                <a:latin typeface="Consolas" panose="020B0609020204030204" pitchFamily="49" charset="0"/>
              </a:rPr>
              <a:t>{</a:t>
            </a:r>
            <a:br>
              <a:rPr lang="en-CA" sz="2000" b="1" dirty="0">
                <a:solidFill>
                  <a:schemeClr val="tx1">
                    <a:lumMod val="85000"/>
                  </a:schemeClr>
                </a:solidFill>
                <a:latin typeface="Consolas" panose="020B0609020204030204" pitchFamily="49" charset="0"/>
              </a:rPr>
            </a:br>
            <a:r>
              <a:rPr lang="en-CA" sz="2000" b="1" dirty="0">
                <a:solidFill>
                  <a:schemeClr val="tx1">
                    <a:lumMod val="85000"/>
                  </a:schemeClr>
                </a:solidFill>
                <a:latin typeface="Consolas" panose="020B0609020204030204" pitchFamily="49" charset="0"/>
              </a:rPr>
              <a:t>  public static void Main(string[] </a:t>
            </a:r>
            <a:r>
              <a:rPr lang="en-CA" sz="2000" b="1" dirty="0" err="1">
                <a:solidFill>
                  <a:schemeClr val="tx1">
                    <a:lumMod val="85000"/>
                  </a:schemeClr>
                </a:solidFill>
                <a:latin typeface="Consolas" panose="020B0609020204030204" pitchFamily="49" charset="0"/>
              </a:rPr>
              <a:t>args</a:t>
            </a:r>
            <a:r>
              <a:rPr lang="en-CA" sz="2000" b="1" dirty="0">
                <a:solidFill>
                  <a:schemeClr val="tx1">
                    <a:lumMod val="85000"/>
                  </a:schemeClr>
                </a:solidFill>
                <a:latin typeface="Consolas" panose="020B0609020204030204" pitchFamily="49" charset="0"/>
              </a:rPr>
              <a:t>)</a:t>
            </a:r>
            <a:br>
              <a:rPr lang="en-CA" sz="2000" b="1" dirty="0">
                <a:solidFill>
                  <a:schemeClr val="tx1">
                    <a:lumMod val="85000"/>
                  </a:schemeClr>
                </a:solidFill>
                <a:latin typeface="Consolas" panose="020B0609020204030204" pitchFamily="49" charset="0"/>
              </a:rPr>
            </a:br>
            <a:r>
              <a:rPr lang="en-CA" sz="2000" b="1" dirty="0">
                <a:solidFill>
                  <a:schemeClr val="tx1">
                    <a:lumMod val="85000"/>
                  </a:schemeClr>
                </a:solidFill>
                <a:latin typeface="Consolas" panose="020B0609020204030204" pitchFamily="49" charset="0"/>
              </a:rPr>
              <a:t>  {		</a:t>
            </a:r>
            <a:br>
              <a:rPr lang="en-CA" sz="2000" b="1" dirty="0">
                <a:solidFill>
                  <a:schemeClr val="tx1">
                    <a:lumMod val="85000"/>
                  </a:schemeClr>
                </a:solidFill>
                <a:latin typeface="Consolas" panose="020B0609020204030204" pitchFamily="49" charset="0"/>
              </a:rPr>
            </a:br>
            <a:r>
              <a:rPr lang="en-CA" sz="2000" b="1" dirty="0">
                <a:solidFill>
                  <a:schemeClr val="tx1">
                    <a:lumMod val="85000"/>
                  </a:schemeClr>
                </a:solidFill>
                <a:latin typeface="Consolas" panose="020B0609020204030204" pitchFamily="49" charset="0"/>
              </a:rPr>
              <a:t>  }</a:t>
            </a:r>
            <a:br>
              <a:rPr lang="en-CA" sz="2000" b="1" dirty="0">
                <a:solidFill>
                  <a:schemeClr val="tx1">
                    <a:lumMod val="85000"/>
                  </a:schemeClr>
                </a:solidFill>
                <a:latin typeface="Consolas" panose="020B0609020204030204" pitchFamily="49" charset="0"/>
              </a:rPr>
            </a:br>
            <a:endParaRPr lang="en-CA" sz="2000" b="1" dirty="0">
              <a:solidFill>
                <a:schemeClr val="tx1">
                  <a:lumMod val="85000"/>
                </a:schemeClr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CA" sz="2000" b="1" dirty="0">
                <a:solidFill>
                  <a:schemeClr val="tx1">
                    <a:lumMod val="85000"/>
                  </a:schemeClr>
                </a:solidFill>
                <a:latin typeface="Consolas" panose="020B0609020204030204" pitchFamily="49" charset="0"/>
              </a:rPr>
              <a:t>  private static void </a:t>
            </a:r>
            <a:r>
              <a:rPr lang="en-CA" sz="2000" b="1" dirty="0" err="1">
                <a:solidFill>
                  <a:schemeClr val="tx1">
                    <a:lumMod val="85000"/>
                  </a:schemeClr>
                </a:solidFill>
                <a:latin typeface="Consolas" panose="020B0609020204030204" pitchFamily="49" charset="0"/>
              </a:rPr>
              <a:t>OutputUserInfo</a:t>
            </a:r>
            <a:r>
              <a:rPr lang="en-CA" sz="2000" b="1" dirty="0">
                <a:solidFill>
                  <a:schemeClr val="tx1">
                    <a:lumMod val="85000"/>
                  </a:schemeClr>
                </a:solidFill>
                <a:latin typeface="Consolas" panose="020B0609020204030204" pitchFamily="49" charset="0"/>
              </a:rPr>
              <a:t>(string name, int age)</a:t>
            </a:r>
            <a:br>
              <a:rPr lang="en-CA" sz="2000" b="1" dirty="0">
                <a:solidFill>
                  <a:schemeClr val="tx1">
                    <a:lumMod val="85000"/>
                  </a:schemeClr>
                </a:solidFill>
                <a:latin typeface="Consolas" panose="020B0609020204030204" pitchFamily="49" charset="0"/>
              </a:rPr>
            </a:br>
            <a:r>
              <a:rPr lang="en-CA" sz="2000" b="1" dirty="0">
                <a:solidFill>
                  <a:schemeClr val="tx1">
                    <a:lumMod val="85000"/>
                  </a:schemeClr>
                </a:solidFill>
                <a:latin typeface="Consolas" panose="020B0609020204030204" pitchFamily="49" charset="0"/>
              </a:rPr>
              <a:t>  {</a:t>
            </a:r>
            <a:br>
              <a:rPr lang="en-CA" sz="2000" b="1" dirty="0">
                <a:solidFill>
                  <a:schemeClr val="tx1">
                    <a:lumMod val="85000"/>
                  </a:schemeClr>
                </a:solidFill>
                <a:latin typeface="Consolas" panose="020B0609020204030204" pitchFamily="49" charset="0"/>
              </a:rPr>
            </a:br>
            <a:r>
              <a:rPr lang="en-CA" sz="2000" b="1" dirty="0">
                <a:solidFill>
                  <a:schemeClr val="tx1">
                    <a:lumMod val="85000"/>
                  </a:schemeClr>
                </a:solidFill>
                <a:latin typeface="Consolas" panose="020B0609020204030204" pitchFamily="49" charset="0"/>
              </a:rPr>
              <a:t>    </a:t>
            </a:r>
            <a:r>
              <a:rPr lang="en-CA" sz="2000" b="1" dirty="0" err="1">
                <a:solidFill>
                  <a:schemeClr val="tx1">
                    <a:lumMod val="85000"/>
                  </a:schemeClr>
                </a:solidFill>
                <a:latin typeface="Consolas" panose="020B0609020204030204" pitchFamily="49" charset="0"/>
              </a:rPr>
              <a:t>Console.WriteLine</a:t>
            </a:r>
            <a:r>
              <a:rPr lang="en-CA" sz="2000" b="1" dirty="0">
                <a:solidFill>
                  <a:schemeClr val="tx1">
                    <a:lumMod val="85000"/>
                  </a:schemeClr>
                </a:solidFill>
                <a:latin typeface="Consolas" panose="020B0609020204030204" pitchFamily="49" charset="0"/>
              </a:rPr>
              <a:t>("Name: " + name);</a:t>
            </a:r>
            <a:br>
              <a:rPr lang="en-CA" sz="2000" b="1" dirty="0">
                <a:solidFill>
                  <a:schemeClr val="tx1">
                    <a:lumMod val="85000"/>
                  </a:schemeClr>
                </a:solidFill>
                <a:latin typeface="Consolas" panose="020B0609020204030204" pitchFamily="49" charset="0"/>
              </a:rPr>
            </a:br>
            <a:r>
              <a:rPr lang="en-CA" sz="2000" b="1" dirty="0">
                <a:solidFill>
                  <a:schemeClr val="tx1">
                    <a:lumMod val="85000"/>
                  </a:schemeClr>
                </a:solidFill>
                <a:latin typeface="Consolas" panose="020B0609020204030204" pitchFamily="49" charset="0"/>
              </a:rPr>
              <a:t>    </a:t>
            </a:r>
            <a:r>
              <a:rPr lang="en-CA" sz="2000" b="1" dirty="0" err="1">
                <a:solidFill>
                  <a:schemeClr val="tx1">
                    <a:lumMod val="85000"/>
                  </a:schemeClr>
                </a:solidFill>
                <a:latin typeface="Consolas" panose="020B0609020204030204" pitchFamily="49" charset="0"/>
              </a:rPr>
              <a:t>Console.WriteLine</a:t>
            </a:r>
            <a:r>
              <a:rPr lang="en-CA" sz="2000" b="1" dirty="0">
                <a:solidFill>
                  <a:schemeClr val="tx1">
                    <a:lumMod val="85000"/>
                  </a:schemeClr>
                </a:solidFill>
                <a:latin typeface="Consolas" panose="020B0609020204030204" pitchFamily="49" charset="0"/>
              </a:rPr>
              <a:t>("Age: " + age);</a:t>
            </a:r>
            <a:br>
              <a:rPr lang="en-CA" sz="2000" b="1" dirty="0">
                <a:solidFill>
                  <a:schemeClr val="tx1">
                    <a:lumMod val="85000"/>
                  </a:schemeClr>
                </a:solidFill>
                <a:latin typeface="Consolas" panose="020B0609020204030204" pitchFamily="49" charset="0"/>
              </a:rPr>
            </a:br>
            <a:r>
              <a:rPr lang="en-CA" sz="2000" b="1" dirty="0">
                <a:solidFill>
                  <a:schemeClr val="tx1">
                    <a:lumMod val="85000"/>
                  </a:schemeClr>
                </a:solidFill>
                <a:latin typeface="Consolas" panose="020B0609020204030204" pitchFamily="49" charset="0"/>
              </a:rPr>
              <a:t>  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CA" sz="2000" b="1" dirty="0">
                <a:solidFill>
                  <a:schemeClr val="tx1">
                    <a:lumMod val="85000"/>
                  </a:schemeClr>
                </a:solidFill>
                <a:latin typeface="Consolas" panose="020B0609020204030204" pitchFamily="49" charset="0"/>
              </a:rPr>
              <a:t>}</a:t>
            </a:r>
            <a:endParaRPr lang="en-CA" sz="2000" dirty="0">
              <a:solidFill>
                <a:schemeClr val="tx1">
                  <a:lumMod val="85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69632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E0111-579F-4016-9CF3-CC2ADB754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778099"/>
          </a:xfrm>
        </p:spPr>
        <p:txBody>
          <a:bodyPr/>
          <a:lstStyle/>
          <a:p>
            <a:r>
              <a:rPr lang="en-CA" dirty="0"/>
              <a:t>Time to Stamp!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AD5B5C-5312-4343-9CC5-C2B748BEDB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8883" y="1268760"/>
            <a:ext cx="10360501" cy="5314603"/>
          </a:xfrm>
        </p:spPr>
        <p:txBody>
          <a:bodyPr>
            <a:normAutofit/>
          </a:bodyPr>
          <a:lstStyle/>
          <a:p>
            <a:r>
              <a:rPr lang="en-CA" dirty="0"/>
              <a:t>Now that the method is defined, we can freely use it as much as we please</a:t>
            </a:r>
          </a:p>
          <a:p>
            <a:r>
              <a:rPr lang="en-CA" dirty="0"/>
              <a:t>To </a:t>
            </a:r>
            <a:r>
              <a:rPr lang="en-CA" b="1" dirty="0">
                <a:solidFill>
                  <a:srgbClr val="FFFF00"/>
                </a:solidFill>
              </a:rPr>
              <a:t>call</a:t>
            </a:r>
            <a:r>
              <a:rPr lang="en-CA" dirty="0"/>
              <a:t> (use) a method, we simply refer to it by name </a:t>
            </a:r>
            <a:r>
              <a:rPr lang="en-CA" dirty="0">
                <a:solidFill>
                  <a:srgbClr val="FFFF00"/>
                </a:solidFill>
              </a:rPr>
              <a:t>inside another method</a:t>
            </a:r>
            <a:r>
              <a:rPr lang="en-CA" dirty="0"/>
              <a:t>, like the Main method or another method we create.</a:t>
            </a:r>
          </a:p>
          <a:p>
            <a:r>
              <a:rPr lang="en-CA" dirty="0">
                <a:solidFill>
                  <a:srgbClr val="92D050"/>
                </a:solidFill>
              </a:rPr>
              <a:t>If the method has parameters</a:t>
            </a:r>
            <a:r>
              <a:rPr lang="en-CA" dirty="0"/>
              <a:t>, we must satisfy the contract that says </a:t>
            </a:r>
            <a:r>
              <a:rPr lang="en-CA" dirty="0">
                <a:solidFill>
                  <a:srgbClr val="00B0F0"/>
                </a:solidFill>
              </a:rPr>
              <a:t>we promise to provide the needed data for those parameters so the method can do its job</a:t>
            </a:r>
            <a:r>
              <a:rPr lang="en-CA" dirty="0"/>
              <a:t>.</a:t>
            </a:r>
          </a:p>
          <a:p>
            <a:endParaRPr lang="en-CA" dirty="0"/>
          </a:p>
          <a:p>
            <a:r>
              <a:rPr lang="en-CA" dirty="0"/>
              <a:t>The next two slides will demonstrate this in two ways</a:t>
            </a:r>
          </a:p>
          <a:p>
            <a:pPr marL="835086" lvl="1" indent="-457200">
              <a:buFont typeface="+mj-lt"/>
              <a:buAutoNum type="arabicPeriod"/>
            </a:pPr>
            <a:r>
              <a:rPr lang="en-CA" dirty="0"/>
              <a:t>Using </a:t>
            </a:r>
            <a:r>
              <a:rPr lang="en-CA" dirty="0">
                <a:solidFill>
                  <a:srgbClr val="FFFF00"/>
                </a:solidFill>
              </a:rPr>
              <a:t>literal data </a:t>
            </a:r>
            <a:r>
              <a:rPr lang="en-CA" dirty="0"/>
              <a:t>(actual values) for the parameters</a:t>
            </a:r>
          </a:p>
          <a:p>
            <a:pPr marL="835086" lvl="1" indent="-457200">
              <a:buFont typeface="+mj-lt"/>
              <a:buAutoNum type="arabicPeriod"/>
            </a:pPr>
            <a:r>
              <a:rPr lang="en-CA" dirty="0"/>
              <a:t>Using </a:t>
            </a:r>
            <a:r>
              <a:rPr lang="en-CA" dirty="0">
                <a:solidFill>
                  <a:srgbClr val="FFFF00"/>
                </a:solidFill>
              </a:rPr>
              <a:t>variables</a:t>
            </a:r>
            <a:r>
              <a:rPr lang="en-CA" dirty="0"/>
              <a:t>, filled with user data, for the parameters</a:t>
            </a:r>
          </a:p>
        </p:txBody>
      </p:sp>
    </p:spTree>
    <p:extLst>
      <p:ext uri="{BB962C8B-B14F-4D97-AF65-F5344CB8AC3E}">
        <p14:creationId xmlns:p14="http://schemas.microsoft.com/office/powerpoint/2010/main" val="1356303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7461A-7EEC-44F5-8D5A-C732A8DB66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850107"/>
          </a:xfrm>
        </p:spPr>
        <p:txBody>
          <a:bodyPr/>
          <a:lstStyle/>
          <a:p>
            <a:r>
              <a:rPr lang="en-CA" dirty="0"/>
              <a:t>Example 1: Literal values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45B932-C193-4390-9C28-82E60F8A57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8883" y="1268760"/>
            <a:ext cx="8475929" cy="4895309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2000" dirty="0">
                <a:latin typeface="Consolas" panose="020B0609020204030204" pitchFamily="49" charset="0"/>
              </a:rPr>
              <a:t>class Program</a:t>
            </a:r>
            <a:br>
              <a:rPr lang="en-CA" sz="2000" dirty="0">
                <a:latin typeface="Consolas" panose="020B0609020204030204" pitchFamily="49" charset="0"/>
              </a:rPr>
            </a:br>
            <a:r>
              <a:rPr lang="en-CA" sz="2000" dirty="0">
                <a:latin typeface="Consolas" panose="020B0609020204030204" pitchFamily="49" charset="0"/>
              </a:rPr>
              <a:t>{</a:t>
            </a:r>
            <a:br>
              <a:rPr lang="en-CA" sz="2000" dirty="0">
                <a:latin typeface="Consolas" panose="020B0609020204030204" pitchFamily="49" charset="0"/>
              </a:rPr>
            </a:br>
            <a:r>
              <a:rPr lang="en-CA" sz="2000" dirty="0">
                <a:latin typeface="Consolas" panose="020B0609020204030204" pitchFamily="49" charset="0"/>
              </a:rPr>
              <a:t>  public static void Main(string[] </a:t>
            </a:r>
            <a:r>
              <a:rPr lang="en-CA" sz="2000" dirty="0" err="1">
                <a:latin typeface="Consolas" panose="020B0609020204030204" pitchFamily="49" charset="0"/>
              </a:rPr>
              <a:t>args</a:t>
            </a:r>
            <a:r>
              <a:rPr lang="en-CA" sz="2000" dirty="0">
                <a:latin typeface="Consolas" panose="020B0609020204030204" pitchFamily="49" charset="0"/>
              </a:rPr>
              <a:t>)</a:t>
            </a:r>
            <a:br>
              <a:rPr lang="en-CA" sz="2000" dirty="0">
                <a:latin typeface="Consolas" panose="020B0609020204030204" pitchFamily="49" charset="0"/>
              </a:rPr>
            </a:br>
            <a:r>
              <a:rPr lang="en-CA" sz="2000" dirty="0">
                <a:latin typeface="Consolas" panose="020B0609020204030204" pitchFamily="49" charset="0"/>
              </a:rPr>
              <a:t> 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2000" dirty="0">
                <a:latin typeface="Consolas" panose="020B0609020204030204" pitchFamily="49" charset="0"/>
              </a:rPr>
              <a:t>    </a:t>
            </a:r>
            <a:r>
              <a:rPr lang="en-CA" sz="2000" dirty="0" err="1">
                <a:latin typeface="Consolas" panose="020B0609020204030204" pitchFamily="49" charset="0"/>
              </a:rPr>
              <a:t>OutputUserInfo</a:t>
            </a:r>
            <a:r>
              <a:rPr lang="en-CA" sz="2000" dirty="0">
                <a:latin typeface="Consolas" panose="020B0609020204030204" pitchFamily="49" charset="0"/>
              </a:rPr>
              <a:t>(“Bob”, 17);</a:t>
            </a:r>
            <a:br>
              <a:rPr lang="en-CA" sz="2000" dirty="0">
                <a:latin typeface="Consolas" panose="020B0609020204030204" pitchFamily="49" charset="0"/>
              </a:rPr>
            </a:br>
            <a:r>
              <a:rPr lang="en-CA" sz="2000" dirty="0">
                <a:latin typeface="Consolas" panose="020B0609020204030204" pitchFamily="49" charset="0"/>
              </a:rPr>
              <a:t>    </a:t>
            </a:r>
            <a:r>
              <a:rPr lang="en-CA" sz="2000" dirty="0" err="1">
                <a:latin typeface="Consolas" panose="020B0609020204030204" pitchFamily="49" charset="0"/>
              </a:rPr>
              <a:t>OutputUserInfo</a:t>
            </a:r>
            <a:r>
              <a:rPr lang="en-CA" sz="2000" dirty="0">
                <a:latin typeface="Consolas" panose="020B0609020204030204" pitchFamily="49" charset="0"/>
              </a:rPr>
              <a:t>(“Judy”, 23);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2000" dirty="0">
                <a:latin typeface="Consolas" panose="020B0609020204030204" pitchFamily="49" charset="0"/>
              </a:rPr>
              <a:t>  }</a:t>
            </a:r>
            <a:br>
              <a:rPr lang="en-CA" sz="2000" dirty="0">
                <a:latin typeface="Consolas" panose="020B0609020204030204" pitchFamily="49" charset="0"/>
              </a:rPr>
            </a:br>
            <a:endParaRPr lang="en-CA" sz="2000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2000" dirty="0">
                <a:latin typeface="Consolas" panose="020B0609020204030204" pitchFamily="49" charset="0"/>
              </a:rPr>
              <a:t>  private static void </a:t>
            </a:r>
            <a:r>
              <a:rPr lang="en-CA" sz="2000" dirty="0" err="1">
                <a:latin typeface="Consolas" panose="020B0609020204030204" pitchFamily="49" charset="0"/>
              </a:rPr>
              <a:t>OutputUserInfo</a:t>
            </a:r>
            <a:r>
              <a:rPr lang="en-CA" sz="2000" dirty="0">
                <a:latin typeface="Consolas" panose="020B0609020204030204" pitchFamily="49" charset="0"/>
              </a:rPr>
              <a:t>(string name, int age)</a:t>
            </a:r>
            <a:br>
              <a:rPr lang="en-CA" sz="2000" dirty="0">
                <a:latin typeface="Consolas" panose="020B0609020204030204" pitchFamily="49" charset="0"/>
              </a:rPr>
            </a:br>
            <a:r>
              <a:rPr lang="en-CA" sz="2000" dirty="0">
                <a:latin typeface="Consolas" panose="020B0609020204030204" pitchFamily="49" charset="0"/>
              </a:rPr>
              <a:t>  {</a:t>
            </a:r>
            <a:br>
              <a:rPr lang="en-CA" sz="2000" dirty="0">
                <a:latin typeface="Consolas" panose="020B0609020204030204" pitchFamily="49" charset="0"/>
              </a:rPr>
            </a:br>
            <a:r>
              <a:rPr lang="en-CA" sz="2000" dirty="0">
                <a:latin typeface="Consolas" panose="020B0609020204030204" pitchFamily="49" charset="0"/>
              </a:rPr>
              <a:t>    </a:t>
            </a:r>
            <a:r>
              <a:rPr lang="en-CA" sz="2000" dirty="0" err="1">
                <a:latin typeface="Consolas" panose="020B0609020204030204" pitchFamily="49" charset="0"/>
              </a:rPr>
              <a:t>Console.WriteLine</a:t>
            </a:r>
            <a:r>
              <a:rPr lang="en-CA" sz="2000" dirty="0">
                <a:latin typeface="Consolas" panose="020B0609020204030204" pitchFamily="49" charset="0"/>
              </a:rPr>
              <a:t>("Name: " + name);</a:t>
            </a:r>
            <a:br>
              <a:rPr lang="en-CA" sz="2000" dirty="0">
                <a:latin typeface="Consolas" panose="020B0609020204030204" pitchFamily="49" charset="0"/>
              </a:rPr>
            </a:br>
            <a:r>
              <a:rPr lang="en-CA" sz="2000" dirty="0">
                <a:latin typeface="Consolas" panose="020B0609020204030204" pitchFamily="49" charset="0"/>
              </a:rPr>
              <a:t>    </a:t>
            </a:r>
            <a:r>
              <a:rPr lang="en-CA" sz="2000" dirty="0" err="1">
                <a:latin typeface="Consolas" panose="020B0609020204030204" pitchFamily="49" charset="0"/>
              </a:rPr>
              <a:t>Console.WriteLine</a:t>
            </a:r>
            <a:r>
              <a:rPr lang="en-CA" sz="2000" dirty="0">
                <a:latin typeface="Consolas" panose="020B0609020204030204" pitchFamily="49" charset="0"/>
              </a:rPr>
              <a:t>("Age: " + age);</a:t>
            </a:r>
            <a:br>
              <a:rPr lang="en-CA" sz="2000" dirty="0">
                <a:latin typeface="Consolas" panose="020B0609020204030204" pitchFamily="49" charset="0"/>
              </a:rPr>
            </a:br>
            <a:r>
              <a:rPr lang="en-CA" sz="2000" dirty="0">
                <a:latin typeface="Consolas" panose="020B0609020204030204" pitchFamily="49" charset="0"/>
              </a:rPr>
              <a:t>  }</a:t>
            </a:r>
            <a:br>
              <a:rPr lang="en-CA" sz="2000" dirty="0">
                <a:latin typeface="Consolas" panose="020B0609020204030204" pitchFamily="49" charset="0"/>
              </a:rPr>
            </a:br>
            <a:r>
              <a:rPr lang="en-CA" sz="2000" dirty="0">
                <a:latin typeface="Consolas" panose="020B0609020204030204" pitchFamily="49" charset="0"/>
              </a:rPr>
              <a:t>}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15D116A0-179F-4C33-8A40-3AA1B7B35D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8307249"/>
              </p:ext>
            </p:extLst>
          </p:nvPr>
        </p:nvGraphicFramePr>
        <p:xfrm>
          <a:off x="11062964" y="699690"/>
          <a:ext cx="822582" cy="36576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822582">
                  <a:extLst>
                    <a:ext uri="{9D8B030D-6E8A-4147-A177-3AD203B41FA5}">
                      <a16:colId xmlns:a16="http://schemas.microsoft.com/office/drawing/2014/main" val="33625510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RAM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60916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CA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70480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CA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62364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CA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54513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CA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24741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CA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58826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CA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90033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CA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926659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E169799-4A3B-4977-9135-C3F1653BDAEC}"/>
              </a:ext>
            </a:extLst>
          </p:cNvPr>
          <p:cNvSpPr txBox="1"/>
          <p:nvPr/>
        </p:nvSpPr>
        <p:spPr>
          <a:xfrm>
            <a:off x="9782511" y="1096194"/>
            <a:ext cx="13676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CA" sz="2800" dirty="0">
                <a:latin typeface="Consolas" panose="020B0609020204030204" pitchFamily="49" charset="0"/>
              </a:rPr>
              <a:t>name {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EC5320-726E-45B2-B2DF-FF12AE4A5CB4}"/>
              </a:ext>
            </a:extLst>
          </p:cNvPr>
          <p:cNvSpPr txBox="1"/>
          <p:nvPr/>
        </p:nvSpPr>
        <p:spPr>
          <a:xfrm>
            <a:off x="9964613" y="1549797"/>
            <a:ext cx="11705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CA" sz="2800" dirty="0">
                <a:latin typeface="Consolas" panose="020B0609020204030204" pitchFamily="49" charset="0"/>
              </a:rPr>
              <a:t>age {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0B178B-11A8-44EF-9D64-9D7EC01C0A06}"/>
              </a:ext>
            </a:extLst>
          </p:cNvPr>
          <p:cNvSpPr txBox="1"/>
          <p:nvPr/>
        </p:nvSpPr>
        <p:spPr>
          <a:xfrm>
            <a:off x="11066074" y="1110497"/>
            <a:ext cx="776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sz="2800" dirty="0">
                <a:latin typeface="Consolas" panose="020B0609020204030204" pitchFamily="49" charset="0"/>
              </a:rPr>
              <a:t>Bob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0A14A85-E222-4118-A478-716945B148C3}"/>
              </a:ext>
            </a:extLst>
          </p:cNvPr>
          <p:cNvSpPr txBox="1"/>
          <p:nvPr/>
        </p:nvSpPr>
        <p:spPr>
          <a:xfrm>
            <a:off x="11184751" y="1578402"/>
            <a:ext cx="5790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sz="2800" dirty="0">
                <a:latin typeface="Consolas" panose="020B0609020204030204" pitchFamily="49" charset="0"/>
              </a:rPr>
              <a:t>17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2026C46-31F5-44FB-88A2-ADDA93EEA7F2}"/>
              </a:ext>
            </a:extLst>
          </p:cNvPr>
          <p:cNvSpPr txBox="1"/>
          <p:nvPr/>
        </p:nvSpPr>
        <p:spPr>
          <a:xfrm>
            <a:off x="7167618" y="1268760"/>
            <a:ext cx="2567049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600" dirty="0"/>
              <a:t>1) </a:t>
            </a:r>
            <a:r>
              <a:rPr lang="en-CA" sz="1600" dirty="0">
                <a:solidFill>
                  <a:srgbClr val="92D050"/>
                </a:solidFill>
              </a:rPr>
              <a:t>name</a:t>
            </a:r>
            <a:r>
              <a:rPr lang="en-CA" sz="1600" dirty="0"/>
              <a:t>, </a:t>
            </a:r>
            <a:r>
              <a:rPr lang="en-CA" sz="1600" dirty="0">
                <a:solidFill>
                  <a:srgbClr val="92D050"/>
                </a:solidFill>
              </a:rPr>
              <a:t>age</a:t>
            </a:r>
            <a:r>
              <a:rPr lang="en-CA" sz="1600" dirty="0"/>
              <a:t> are </a:t>
            </a:r>
            <a:r>
              <a:rPr lang="en-CA" sz="1600" dirty="0">
                <a:solidFill>
                  <a:srgbClr val="FFFF00"/>
                </a:solidFill>
              </a:rPr>
              <a:t>defined</a:t>
            </a:r>
          </a:p>
          <a:p>
            <a:r>
              <a:rPr lang="en-CA" sz="1600" dirty="0"/>
              <a:t>2) “Bob” and 17 are </a:t>
            </a:r>
            <a:r>
              <a:rPr lang="en-CA" sz="1600" dirty="0">
                <a:solidFill>
                  <a:srgbClr val="00B0F0"/>
                </a:solidFill>
              </a:rPr>
              <a:t>stored</a:t>
            </a:r>
          </a:p>
          <a:p>
            <a:r>
              <a:rPr lang="en-CA" sz="1600" dirty="0"/>
              <a:t>3) Data is displayed</a:t>
            </a:r>
          </a:p>
          <a:p>
            <a:r>
              <a:rPr lang="en-CA" sz="1600" dirty="0"/>
              <a:t>4) </a:t>
            </a:r>
            <a:r>
              <a:rPr lang="en-CA" sz="1600" dirty="0">
                <a:solidFill>
                  <a:srgbClr val="92D050"/>
                </a:solidFill>
              </a:rPr>
              <a:t>name</a:t>
            </a:r>
            <a:r>
              <a:rPr lang="en-CA" sz="1600" dirty="0"/>
              <a:t> and </a:t>
            </a:r>
            <a:r>
              <a:rPr lang="en-CA" sz="1600" dirty="0">
                <a:solidFill>
                  <a:srgbClr val="92D050"/>
                </a:solidFill>
              </a:rPr>
              <a:t>age</a:t>
            </a:r>
            <a:r>
              <a:rPr lang="en-CA" sz="1600" dirty="0"/>
              <a:t> are </a:t>
            </a:r>
            <a:r>
              <a:rPr lang="en-CA" sz="1600" dirty="0">
                <a:solidFill>
                  <a:srgbClr val="FF0000"/>
                </a:solidFill>
              </a:rPr>
              <a:t>deleted</a:t>
            </a:r>
          </a:p>
          <a:p>
            <a:r>
              <a:rPr lang="en-CA" sz="1600" dirty="0"/>
              <a:t>5) </a:t>
            </a:r>
            <a:r>
              <a:rPr lang="en-CA" sz="1600" dirty="0">
                <a:solidFill>
                  <a:srgbClr val="92D050"/>
                </a:solidFill>
              </a:rPr>
              <a:t>name</a:t>
            </a:r>
            <a:r>
              <a:rPr lang="en-CA" sz="1600" dirty="0"/>
              <a:t>, </a:t>
            </a:r>
            <a:r>
              <a:rPr lang="en-CA" sz="1600" dirty="0">
                <a:solidFill>
                  <a:srgbClr val="92D050"/>
                </a:solidFill>
              </a:rPr>
              <a:t>age</a:t>
            </a:r>
            <a:r>
              <a:rPr lang="en-CA" sz="1600" dirty="0"/>
              <a:t> are </a:t>
            </a:r>
            <a:r>
              <a:rPr lang="en-CA" sz="1600" dirty="0">
                <a:solidFill>
                  <a:srgbClr val="FFFF00"/>
                </a:solidFill>
              </a:rPr>
              <a:t>defined</a:t>
            </a:r>
          </a:p>
          <a:p>
            <a:r>
              <a:rPr lang="en-CA" sz="1600" dirty="0"/>
              <a:t>6) “Judy” and 23 are </a:t>
            </a:r>
            <a:r>
              <a:rPr lang="en-CA" sz="1600" dirty="0">
                <a:solidFill>
                  <a:srgbClr val="00B0F0"/>
                </a:solidFill>
              </a:rPr>
              <a:t>stored</a:t>
            </a:r>
          </a:p>
          <a:p>
            <a:r>
              <a:rPr lang="en-CA" sz="1600" dirty="0"/>
              <a:t>7) Data is displayed</a:t>
            </a:r>
          </a:p>
          <a:p>
            <a:r>
              <a:rPr lang="en-CA" sz="1600" dirty="0"/>
              <a:t>8) </a:t>
            </a:r>
            <a:r>
              <a:rPr lang="en-CA" sz="1600" dirty="0">
                <a:solidFill>
                  <a:srgbClr val="92D050"/>
                </a:solidFill>
              </a:rPr>
              <a:t>name</a:t>
            </a:r>
            <a:r>
              <a:rPr lang="en-CA" sz="1600" dirty="0"/>
              <a:t> and </a:t>
            </a:r>
            <a:r>
              <a:rPr lang="en-CA" sz="1600" dirty="0">
                <a:solidFill>
                  <a:srgbClr val="92D050"/>
                </a:solidFill>
              </a:rPr>
              <a:t>age</a:t>
            </a:r>
            <a:r>
              <a:rPr lang="en-CA" sz="1600" dirty="0"/>
              <a:t> are </a:t>
            </a:r>
            <a:r>
              <a:rPr lang="en-CA" sz="1600" dirty="0">
                <a:solidFill>
                  <a:srgbClr val="FF0000"/>
                </a:solidFill>
              </a:rPr>
              <a:t>deleted</a:t>
            </a:r>
          </a:p>
          <a:p>
            <a:pPr marL="514350" indent="-514350">
              <a:buAutoNum type="arabicParenR"/>
            </a:pPr>
            <a:endParaRPr lang="en-CA" sz="16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1CD7631-7E0C-4E91-BB6E-13F59D7C8C9E}"/>
              </a:ext>
            </a:extLst>
          </p:cNvPr>
          <p:cNvSpPr txBox="1"/>
          <p:nvPr/>
        </p:nvSpPr>
        <p:spPr>
          <a:xfrm>
            <a:off x="8407860" y="5031883"/>
            <a:ext cx="2142009" cy="138499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CA" sz="1400" dirty="0">
                <a:latin typeface="Consolas" panose="020B0609020204030204" pitchFamily="49" charset="0"/>
              </a:rPr>
              <a:t>Name: Bob</a:t>
            </a:r>
          </a:p>
          <a:p>
            <a:r>
              <a:rPr lang="en-CA" sz="1400" dirty="0">
                <a:latin typeface="Consolas" panose="020B0609020204030204" pitchFamily="49" charset="0"/>
              </a:rPr>
              <a:t>Age: 17</a:t>
            </a:r>
          </a:p>
          <a:p>
            <a:r>
              <a:rPr lang="en-CA" sz="1400" dirty="0">
                <a:latin typeface="Consolas" panose="020B0609020204030204" pitchFamily="49" charset="0"/>
              </a:rPr>
              <a:t>Name: Judy</a:t>
            </a:r>
          </a:p>
          <a:p>
            <a:r>
              <a:rPr lang="en-CA" sz="1400" dirty="0">
                <a:latin typeface="Consolas" panose="020B0609020204030204" pitchFamily="49" charset="0"/>
              </a:rPr>
              <a:t>Age: 23</a:t>
            </a:r>
          </a:p>
          <a:p>
            <a:endParaRPr lang="en-CA" sz="1400" dirty="0">
              <a:latin typeface="Consolas" panose="020B0609020204030204" pitchFamily="49" charset="0"/>
            </a:endParaRPr>
          </a:p>
          <a:p>
            <a:endParaRPr lang="en-CA" sz="1400" dirty="0">
              <a:latin typeface="Consolas" panose="020B0609020204030204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84C9EEB-8B53-4334-83EE-E595B66ADBE4}"/>
              </a:ext>
            </a:extLst>
          </p:cNvPr>
          <p:cNvSpPr txBox="1"/>
          <p:nvPr/>
        </p:nvSpPr>
        <p:spPr>
          <a:xfrm>
            <a:off x="9778020" y="1096194"/>
            <a:ext cx="13676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CA" sz="2800" dirty="0">
                <a:latin typeface="Consolas" panose="020B0609020204030204" pitchFamily="49" charset="0"/>
              </a:rPr>
              <a:t>name {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80DD727-4AA2-4DA8-88D7-1990592A97F4}"/>
              </a:ext>
            </a:extLst>
          </p:cNvPr>
          <p:cNvSpPr txBox="1"/>
          <p:nvPr/>
        </p:nvSpPr>
        <p:spPr>
          <a:xfrm>
            <a:off x="9960122" y="1549797"/>
            <a:ext cx="11705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CA" sz="2800" dirty="0">
                <a:latin typeface="Consolas" panose="020B0609020204030204" pitchFamily="49" charset="0"/>
              </a:rPr>
              <a:t>age {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E0ED03F-9559-4666-A2FA-6259A9719602}"/>
              </a:ext>
            </a:extLst>
          </p:cNvPr>
          <p:cNvSpPr txBox="1"/>
          <p:nvPr/>
        </p:nvSpPr>
        <p:spPr>
          <a:xfrm>
            <a:off x="10980522" y="1110497"/>
            <a:ext cx="9733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sz="2800" dirty="0">
                <a:latin typeface="Consolas" panose="020B0609020204030204" pitchFamily="49" charset="0"/>
              </a:rPr>
              <a:t>Judy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AE24334-8D4A-49C6-BD73-33D359694E67}"/>
              </a:ext>
            </a:extLst>
          </p:cNvPr>
          <p:cNvSpPr txBox="1"/>
          <p:nvPr/>
        </p:nvSpPr>
        <p:spPr>
          <a:xfrm>
            <a:off x="11197783" y="1578402"/>
            <a:ext cx="5790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sz="2800" dirty="0">
                <a:latin typeface="Consolas" panose="020B0609020204030204" pitchFamily="49" charset="0"/>
              </a:rPr>
              <a:t>23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EBFFB7D-F396-48FC-9DA2-FBB6CE9B64DD}"/>
              </a:ext>
            </a:extLst>
          </p:cNvPr>
          <p:cNvSpPr txBox="1"/>
          <p:nvPr/>
        </p:nvSpPr>
        <p:spPr>
          <a:xfrm>
            <a:off x="8807045" y="4523374"/>
            <a:ext cx="13436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dirty="0"/>
              <a:t>Console</a:t>
            </a:r>
          </a:p>
        </p:txBody>
      </p:sp>
    </p:spTree>
    <p:extLst>
      <p:ext uri="{BB962C8B-B14F-4D97-AF65-F5344CB8AC3E}">
        <p14:creationId xmlns:p14="http://schemas.microsoft.com/office/powerpoint/2010/main" val="528620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14" presetClass="exit" presetSubtype="1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5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5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5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00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50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000"/>
                            </p:stCondLst>
                            <p:childTnLst>
                              <p:par>
                                <p:cTn id="8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500"/>
                            </p:stCondLst>
                            <p:childTnLst>
                              <p:par>
                                <p:cTn id="9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1000"/>
                            </p:stCondLst>
                            <p:childTnLst>
                              <p:par>
                                <p:cTn id="10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500"/>
                            </p:stCondLst>
                            <p:childTnLst>
                              <p:par>
                                <p:cTn id="113" presetID="14" presetClass="exit" presetSubtype="1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  <p:bldP spid="7" grpId="0"/>
      <p:bldP spid="7" grpId="1"/>
      <p:bldP spid="9" grpId="0"/>
      <p:bldP spid="9" grpId="1"/>
      <p:bldP spid="11" grpId="0"/>
      <p:bldP spid="11" grpId="1"/>
      <p:bldP spid="14" grpId="0"/>
      <p:bldP spid="14" grpId="1"/>
      <p:bldP spid="15" grpId="0"/>
      <p:bldP spid="15" grpId="1"/>
      <p:bldP spid="16" grpId="0"/>
      <p:bldP spid="16" grpId="1"/>
      <p:bldP spid="17" grpId="0"/>
      <p:bldP spid="17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5441B-1325-483C-9B09-434B9EF7DD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706091"/>
          </a:xfrm>
        </p:spPr>
        <p:txBody>
          <a:bodyPr/>
          <a:lstStyle/>
          <a:p>
            <a:r>
              <a:rPr lang="en-CA" dirty="0"/>
              <a:t>Example 2: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1A3228-EABD-4418-8F24-793DB9B934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5821" y="980728"/>
            <a:ext cx="6840759" cy="5328592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CA" sz="1600" dirty="0">
                <a:latin typeface="Consolas" panose="020B0609020204030204" pitchFamily="49" charset="0"/>
              </a:rPr>
              <a:t>class Program</a:t>
            </a:r>
            <a:br>
              <a:rPr lang="en-CA" sz="1600" dirty="0">
                <a:latin typeface="Consolas" panose="020B0609020204030204" pitchFamily="49" charset="0"/>
              </a:rPr>
            </a:br>
            <a:r>
              <a:rPr lang="en-CA" sz="1600" dirty="0">
                <a:latin typeface="Consolas" panose="020B0609020204030204" pitchFamily="49" charset="0"/>
              </a:rPr>
              <a:t>{</a:t>
            </a:r>
            <a:br>
              <a:rPr lang="en-CA" sz="1600" dirty="0">
                <a:latin typeface="Consolas" panose="020B0609020204030204" pitchFamily="49" charset="0"/>
              </a:rPr>
            </a:br>
            <a:r>
              <a:rPr lang="en-CA" sz="1600" dirty="0">
                <a:latin typeface="Consolas" panose="020B0609020204030204" pitchFamily="49" charset="0"/>
              </a:rPr>
              <a:t>  public static void Main(string[] </a:t>
            </a:r>
            <a:r>
              <a:rPr lang="en-CA" sz="1600" dirty="0" err="1">
                <a:latin typeface="Consolas" panose="020B0609020204030204" pitchFamily="49" charset="0"/>
              </a:rPr>
              <a:t>args</a:t>
            </a:r>
            <a:r>
              <a:rPr lang="en-CA" sz="1600" dirty="0">
                <a:latin typeface="Consolas" panose="020B0609020204030204" pitchFamily="49" charset="0"/>
              </a:rPr>
              <a:t>)</a:t>
            </a:r>
            <a:br>
              <a:rPr lang="en-CA" sz="1600" dirty="0">
                <a:latin typeface="Consolas" panose="020B0609020204030204" pitchFamily="49" charset="0"/>
              </a:rPr>
            </a:br>
            <a:r>
              <a:rPr lang="en-CA" sz="1600" dirty="0">
                <a:latin typeface="Consolas" panose="020B0609020204030204" pitchFamily="49" charset="0"/>
              </a:rPr>
              <a:t>  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CA" sz="1600" dirty="0">
                <a:latin typeface="Consolas" panose="020B0609020204030204" pitchFamily="49" charset="0"/>
              </a:rPr>
              <a:t>    string </a:t>
            </a:r>
            <a:r>
              <a:rPr lang="en-CA" sz="1600" dirty="0" err="1">
                <a:latin typeface="Consolas" panose="020B0609020204030204" pitchFamily="49" charset="0"/>
              </a:rPr>
              <a:t>userName</a:t>
            </a:r>
            <a:r>
              <a:rPr lang="en-CA" sz="1600" dirty="0">
                <a:latin typeface="Consolas" panose="020B0609020204030204" pitchFamily="49" charset="0"/>
              </a:rPr>
              <a:t> = “Fred”;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CA" sz="1600" dirty="0">
                <a:latin typeface="Consolas" panose="020B0609020204030204" pitchFamily="49" charset="0"/>
              </a:rPr>
              <a:t>    int </a:t>
            </a:r>
            <a:r>
              <a:rPr lang="en-CA" sz="1600" dirty="0" err="1">
                <a:latin typeface="Consolas" panose="020B0609020204030204" pitchFamily="49" charset="0"/>
              </a:rPr>
              <a:t>userAge</a:t>
            </a:r>
            <a:r>
              <a:rPr lang="en-CA" sz="1600" dirty="0">
                <a:latin typeface="Consolas" panose="020B0609020204030204" pitchFamily="49" charset="0"/>
              </a:rPr>
              <a:t> = 21;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CA" sz="1600" dirty="0">
                <a:latin typeface="Consolas" panose="020B0609020204030204" pitchFamily="49" charset="0"/>
              </a:rPr>
              <a:t>    </a:t>
            </a:r>
            <a:r>
              <a:rPr lang="en-CA" sz="1600" dirty="0" err="1">
                <a:latin typeface="Consolas" panose="020B0609020204030204" pitchFamily="49" charset="0"/>
              </a:rPr>
              <a:t>OutputUserInfo</a:t>
            </a:r>
            <a:r>
              <a:rPr lang="en-CA" sz="1600" dirty="0">
                <a:latin typeface="Consolas" panose="020B0609020204030204" pitchFamily="49" charset="0"/>
              </a:rPr>
              <a:t>(</a:t>
            </a:r>
            <a:r>
              <a:rPr lang="en-CA" sz="1600" dirty="0" err="1">
                <a:latin typeface="Consolas" panose="020B0609020204030204" pitchFamily="49" charset="0"/>
              </a:rPr>
              <a:t>userName</a:t>
            </a:r>
            <a:r>
              <a:rPr lang="en-CA" sz="1600" dirty="0">
                <a:latin typeface="Consolas" panose="020B0609020204030204" pitchFamily="49" charset="0"/>
              </a:rPr>
              <a:t>, </a:t>
            </a:r>
            <a:r>
              <a:rPr lang="en-CA" sz="1600" dirty="0" err="1">
                <a:latin typeface="Consolas" panose="020B0609020204030204" pitchFamily="49" charset="0"/>
              </a:rPr>
              <a:t>userAge</a:t>
            </a:r>
            <a:r>
              <a:rPr lang="en-CA" sz="1600" dirty="0"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en-CA" sz="1600" dirty="0"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CA" sz="1600" dirty="0">
                <a:latin typeface="Consolas" panose="020B0609020204030204" pitchFamily="49" charset="0"/>
              </a:rPr>
              <a:t>    </a:t>
            </a:r>
            <a:r>
              <a:rPr lang="en-CA" sz="1600" dirty="0" err="1">
                <a:latin typeface="Consolas" panose="020B0609020204030204" pitchFamily="49" charset="0"/>
              </a:rPr>
              <a:t>Console.Write</a:t>
            </a:r>
            <a:r>
              <a:rPr lang="en-CA" sz="1600" dirty="0">
                <a:latin typeface="Consolas" panose="020B0609020204030204" pitchFamily="49" charset="0"/>
              </a:rPr>
              <a:t>(“Enter Name: ”);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CA" sz="1600" dirty="0">
                <a:latin typeface="Consolas" panose="020B0609020204030204" pitchFamily="49" charset="0"/>
              </a:rPr>
              <a:t>    </a:t>
            </a:r>
            <a:r>
              <a:rPr lang="en-CA" sz="1600" dirty="0" err="1">
                <a:latin typeface="Consolas" panose="020B0609020204030204" pitchFamily="49" charset="0"/>
              </a:rPr>
              <a:t>userName</a:t>
            </a:r>
            <a:r>
              <a:rPr lang="en-CA" sz="1600" dirty="0">
                <a:latin typeface="Consolas" panose="020B0609020204030204" pitchFamily="49" charset="0"/>
              </a:rPr>
              <a:t> = </a:t>
            </a:r>
            <a:r>
              <a:rPr lang="en-CA" sz="1600" dirty="0" err="1">
                <a:latin typeface="Consolas" panose="020B0609020204030204" pitchFamily="49" charset="0"/>
              </a:rPr>
              <a:t>Console.ReadLine</a:t>
            </a:r>
            <a:r>
              <a:rPr lang="en-CA" sz="1600" dirty="0">
                <a:latin typeface="Consolas" panose="020B0609020204030204" pitchFamily="49" charset="0"/>
              </a:rPr>
              <a:t>();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CA" sz="1600" dirty="0">
                <a:latin typeface="Consolas" panose="020B0609020204030204" pitchFamily="49" charset="0"/>
              </a:rPr>
              <a:t>    </a:t>
            </a:r>
            <a:r>
              <a:rPr lang="en-CA" sz="1600" dirty="0" err="1">
                <a:latin typeface="Consolas" panose="020B0609020204030204" pitchFamily="49" charset="0"/>
              </a:rPr>
              <a:t>Console.Write</a:t>
            </a:r>
            <a:r>
              <a:rPr lang="en-CA" sz="1600" dirty="0">
                <a:latin typeface="Consolas" panose="020B0609020204030204" pitchFamily="49" charset="0"/>
              </a:rPr>
              <a:t>(“Enter Age: ”); 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CA" sz="1600" dirty="0">
                <a:latin typeface="Consolas" panose="020B0609020204030204" pitchFamily="49" charset="0"/>
              </a:rPr>
              <a:t>    </a:t>
            </a:r>
            <a:r>
              <a:rPr lang="en-CA" sz="1600" dirty="0" err="1">
                <a:latin typeface="Consolas" panose="020B0609020204030204" pitchFamily="49" charset="0"/>
              </a:rPr>
              <a:t>userAge</a:t>
            </a:r>
            <a:r>
              <a:rPr lang="en-CA" sz="1600" dirty="0">
                <a:latin typeface="Consolas" panose="020B0609020204030204" pitchFamily="49" charset="0"/>
              </a:rPr>
              <a:t> = Convert.ToInt32(</a:t>
            </a:r>
            <a:r>
              <a:rPr lang="en-CA" sz="1600" dirty="0" err="1">
                <a:latin typeface="Consolas" panose="020B0609020204030204" pitchFamily="49" charset="0"/>
              </a:rPr>
              <a:t>Console.ReadLine</a:t>
            </a:r>
            <a:r>
              <a:rPr lang="en-CA" sz="1600" dirty="0">
                <a:latin typeface="Consolas" panose="020B0609020204030204" pitchFamily="49" charset="0"/>
              </a:rPr>
              <a:t>());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CA" sz="1600" dirty="0">
                <a:latin typeface="Consolas" panose="020B0609020204030204" pitchFamily="49" charset="0"/>
              </a:rPr>
              <a:t>    </a:t>
            </a:r>
            <a:r>
              <a:rPr lang="en-CA" sz="1600" dirty="0" err="1">
                <a:latin typeface="Consolas" panose="020B0609020204030204" pitchFamily="49" charset="0"/>
              </a:rPr>
              <a:t>OutputUserInfo</a:t>
            </a:r>
            <a:r>
              <a:rPr lang="en-CA" sz="1600" dirty="0">
                <a:latin typeface="Consolas" panose="020B0609020204030204" pitchFamily="49" charset="0"/>
              </a:rPr>
              <a:t>(</a:t>
            </a:r>
            <a:r>
              <a:rPr lang="en-CA" sz="1600" dirty="0" err="1">
                <a:latin typeface="Consolas" panose="020B0609020204030204" pitchFamily="49" charset="0"/>
              </a:rPr>
              <a:t>userName</a:t>
            </a:r>
            <a:r>
              <a:rPr lang="en-CA" sz="1600" dirty="0">
                <a:latin typeface="Consolas" panose="020B0609020204030204" pitchFamily="49" charset="0"/>
              </a:rPr>
              <a:t>, </a:t>
            </a:r>
            <a:r>
              <a:rPr lang="en-CA" sz="1600" dirty="0" err="1">
                <a:latin typeface="Consolas" panose="020B0609020204030204" pitchFamily="49" charset="0"/>
              </a:rPr>
              <a:t>userAge</a:t>
            </a:r>
            <a:r>
              <a:rPr lang="en-CA" sz="1600" dirty="0"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CA" sz="1600" dirty="0">
                <a:latin typeface="Consolas" panose="020B0609020204030204" pitchFamily="49" charset="0"/>
              </a:rPr>
              <a:t>  }</a:t>
            </a:r>
            <a:br>
              <a:rPr lang="en-CA" sz="1600" dirty="0">
                <a:latin typeface="Consolas" panose="020B0609020204030204" pitchFamily="49" charset="0"/>
              </a:rPr>
            </a:br>
            <a:endParaRPr lang="en-CA" sz="1600" dirty="0"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CA" sz="1600" dirty="0">
                <a:latin typeface="Consolas" panose="020B0609020204030204" pitchFamily="49" charset="0"/>
              </a:rPr>
              <a:t>  private static void </a:t>
            </a:r>
            <a:r>
              <a:rPr lang="en-CA" sz="1600" dirty="0" err="1">
                <a:latin typeface="Consolas" panose="020B0609020204030204" pitchFamily="49" charset="0"/>
              </a:rPr>
              <a:t>OutputUserInfo</a:t>
            </a:r>
            <a:r>
              <a:rPr lang="en-CA" sz="1600" dirty="0">
                <a:latin typeface="Consolas" panose="020B0609020204030204" pitchFamily="49" charset="0"/>
              </a:rPr>
              <a:t>(string name, int age)</a:t>
            </a:r>
            <a:br>
              <a:rPr lang="en-CA" sz="1600" dirty="0">
                <a:latin typeface="Consolas" panose="020B0609020204030204" pitchFamily="49" charset="0"/>
              </a:rPr>
            </a:br>
            <a:r>
              <a:rPr lang="en-CA" sz="1600" dirty="0">
                <a:latin typeface="Consolas" panose="020B0609020204030204" pitchFamily="49" charset="0"/>
              </a:rPr>
              <a:t>  {</a:t>
            </a:r>
            <a:br>
              <a:rPr lang="en-CA" sz="1600" dirty="0">
                <a:latin typeface="Consolas" panose="020B0609020204030204" pitchFamily="49" charset="0"/>
              </a:rPr>
            </a:br>
            <a:r>
              <a:rPr lang="en-CA" sz="1600" dirty="0">
                <a:latin typeface="Consolas" panose="020B0609020204030204" pitchFamily="49" charset="0"/>
              </a:rPr>
              <a:t>    </a:t>
            </a:r>
            <a:r>
              <a:rPr lang="en-CA" sz="1600" dirty="0" err="1">
                <a:latin typeface="Consolas" panose="020B0609020204030204" pitchFamily="49" charset="0"/>
              </a:rPr>
              <a:t>Console.WriteLine</a:t>
            </a:r>
            <a:r>
              <a:rPr lang="en-CA" sz="1600" dirty="0">
                <a:latin typeface="Consolas" panose="020B0609020204030204" pitchFamily="49" charset="0"/>
              </a:rPr>
              <a:t>("Name: " + name);</a:t>
            </a:r>
            <a:br>
              <a:rPr lang="en-CA" sz="1600" dirty="0">
                <a:latin typeface="Consolas" panose="020B0609020204030204" pitchFamily="49" charset="0"/>
              </a:rPr>
            </a:br>
            <a:r>
              <a:rPr lang="en-CA" sz="1600" dirty="0">
                <a:latin typeface="Consolas" panose="020B0609020204030204" pitchFamily="49" charset="0"/>
              </a:rPr>
              <a:t>    </a:t>
            </a:r>
            <a:r>
              <a:rPr lang="en-CA" sz="1600" dirty="0" err="1">
                <a:latin typeface="Consolas" panose="020B0609020204030204" pitchFamily="49" charset="0"/>
              </a:rPr>
              <a:t>Console.WriteLine</a:t>
            </a:r>
            <a:r>
              <a:rPr lang="en-CA" sz="1600" dirty="0">
                <a:latin typeface="Consolas" panose="020B0609020204030204" pitchFamily="49" charset="0"/>
              </a:rPr>
              <a:t>("Age: " + age);</a:t>
            </a:r>
            <a:br>
              <a:rPr lang="en-CA" sz="1600" dirty="0">
                <a:latin typeface="Consolas" panose="020B0609020204030204" pitchFamily="49" charset="0"/>
              </a:rPr>
            </a:br>
            <a:r>
              <a:rPr lang="en-CA" sz="1600" dirty="0">
                <a:latin typeface="Consolas" panose="020B0609020204030204" pitchFamily="49" charset="0"/>
              </a:rPr>
              <a:t>  }</a:t>
            </a:r>
            <a:br>
              <a:rPr lang="en-CA" sz="1600" dirty="0">
                <a:latin typeface="Consolas" panose="020B0609020204030204" pitchFamily="49" charset="0"/>
              </a:rPr>
            </a:br>
            <a:r>
              <a:rPr lang="en-CA" sz="1600" dirty="0">
                <a:latin typeface="Consolas" panose="020B0609020204030204" pitchFamily="49" charset="0"/>
              </a:rPr>
              <a:t>}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EA3B5D6-9A59-435F-B840-7541D5485D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2090046"/>
              </p:ext>
            </p:extLst>
          </p:nvPr>
        </p:nvGraphicFramePr>
        <p:xfrm>
          <a:off x="11062964" y="699690"/>
          <a:ext cx="822582" cy="36576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822582">
                  <a:extLst>
                    <a:ext uri="{9D8B030D-6E8A-4147-A177-3AD203B41FA5}">
                      <a16:colId xmlns:a16="http://schemas.microsoft.com/office/drawing/2014/main" val="33625510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RAM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60916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CA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70480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CA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62364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CA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54513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CA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24741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CA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58826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CA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90033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CA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926659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B9FE7647-2E97-4F5F-A750-73124E428D24}"/>
              </a:ext>
            </a:extLst>
          </p:cNvPr>
          <p:cNvSpPr txBox="1"/>
          <p:nvPr/>
        </p:nvSpPr>
        <p:spPr>
          <a:xfrm>
            <a:off x="9772756" y="5198368"/>
            <a:ext cx="2142009" cy="138499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CA" sz="1400" dirty="0">
                <a:latin typeface="Consolas" panose="020B0609020204030204" pitchFamily="49" charset="0"/>
              </a:rPr>
              <a:t>Name: Fred</a:t>
            </a:r>
          </a:p>
          <a:p>
            <a:r>
              <a:rPr lang="en-CA" sz="1400" dirty="0">
                <a:latin typeface="Consolas" panose="020B0609020204030204" pitchFamily="49" charset="0"/>
              </a:rPr>
              <a:t>Age: 21</a:t>
            </a:r>
          </a:p>
          <a:p>
            <a:r>
              <a:rPr lang="en-CA" sz="1400" dirty="0">
                <a:latin typeface="Consolas" panose="020B0609020204030204" pitchFamily="49" charset="0"/>
              </a:rPr>
              <a:t>Enter Name: Judy</a:t>
            </a:r>
          </a:p>
          <a:p>
            <a:r>
              <a:rPr lang="en-CA" sz="1400" dirty="0">
                <a:latin typeface="Consolas" panose="020B0609020204030204" pitchFamily="49" charset="0"/>
              </a:rPr>
              <a:t>Enter Age: 23</a:t>
            </a:r>
          </a:p>
          <a:p>
            <a:r>
              <a:rPr lang="en-CA" sz="1400" dirty="0">
                <a:latin typeface="Consolas" panose="020B0609020204030204" pitchFamily="49" charset="0"/>
              </a:rPr>
              <a:t>Name: Judy</a:t>
            </a:r>
          </a:p>
          <a:p>
            <a:r>
              <a:rPr lang="en-CA" sz="1400" dirty="0">
                <a:latin typeface="Consolas" panose="020B0609020204030204" pitchFamily="49" charset="0"/>
              </a:rPr>
              <a:t>Age: 23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309AB6-1D51-4DE8-B73F-C741BAA646DE}"/>
              </a:ext>
            </a:extLst>
          </p:cNvPr>
          <p:cNvSpPr txBox="1"/>
          <p:nvPr/>
        </p:nvSpPr>
        <p:spPr>
          <a:xfrm>
            <a:off x="10171941" y="4689859"/>
            <a:ext cx="13436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dirty="0"/>
              <a:t>Console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2234BF-EA3C-48A1-B1EC-34F65A190126}"/>
              </a:ext>
            </a:extLst>
          </p:cNvPr>
          <p:cNvSpPr txBox="1"/>
          <p:nvPr/>
        </p:nvSpPr>
        <p:spPr>
          <a:xfrm>
            <a:off x="6672976" y="183033"/>
            <a:ext cx="3272434" cy="47243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500" dirty="0"/>
              <a:t>1) </a:t>
            </a:r>
            <a:r>
              <a:rPr lang="en-CA" sz="1500" dirty="0" err="1">
                <a:solidFill>
                  <a:srgbClr val="92D050"/>
                </a:solidFill>
              </a:rPr>
              <a:t>userName</a:t>
            </a:r>
            <a:r>
              <a:rPr lang="en-CA" sz="1500" dirty="0"/>
              <a:t> is </a:t>
            </a:r>
            <a:r>
              <a:rPr lang="en-CA" sz="1500" dirty="0">
                <a:solidFill>
                  <a:srgbClr val="FFFF00"/>
                </a:solidFill>
              </a:rPr>
              <a:t>defined</a:t>
            </a:r>
            <a:r>
              <a:rPr lang="en-CA" sz="1500" dirty="0"/>
              <a:t> with “Fred”</a:t>
            </a:r>
          </a:p>
          <a:p>
            <a:r>
              <a:rPr lang="en-CA" sz="1500" dirty="0"/>
              <a:t>2) </a:t>
            </a:r>
            <a:r>
              <a:rPr lang="en-CA" sz="1500" dirty="0" err="1">
                <a:solidFill>
                  <a:srgbClr val="92D050"/>
                </a:solidFill>
              </a:rPr>
              <a:t>userAge</a:t>
            </a:r>
            <a:r>
              <a:rPr lang="en-CA" sz="1500" dirty="0"/>
              <a:t> is </a:t>
            </a:r>
            <a:r>
              <a:rPr lang="en-CA" sz="1500" dirty="0">
                <a:solidFill>
                  <a:srgbClr val="FFFF00"/>
                </a:solidFill>
              </a:rPr>
              <a:t>defined</a:t>
            </a:r>
            <a:r>
              <a:rPr lang="en-CA" sz="1500" dirty="0"/>
              <a:t> with 21</a:t>
            </a:r>
          </a:p>
          <a:p>
            <a:r>
              <a:rPr lang="en-CA" sz="1500" dirty="0"/>
              <a:t>3) </a:t>
            </a:r>
            <a:r>
              <a:rPr lang="en-CA" sz="1500" dirty="0">
                <a:solidFill>
                  <a:srgbClr val="92D050"/>
                </a:solidFill>
              </a:rPr>
              <a:t>name</a:t>
            </a:r>
            <a:r>
              <a:rPr lang="en-CA" sz="1500" dirty="0"/>
              <a:t>, </a:t>
            </a:r>
            <a:r>
              <a:rPr lang="en-CA" sz="1500" dirty="0">
                <a:solidFill>
                  <a:srgbClr val="92D050"/>
                </a:solidFill>
              </a:rPr>
              <a:t>age</a:t>
            </a:r>
            <a:r>
              <a:rPr lang="en-CA" sz="1500" dirty="0"/>
              <a:t> are </a:t>
            </a:r>
            <a:r>
              <a:rPr lang="en-CA" sz="1500" dirty="0">
                <a:solidFill>
                  <a:srgbClr val="FFFF00"/>
                </a:solidFill>
              </a:rPr>
              <a:t>defined</a:t>
            </a:r>
          </a:p>
          <a:p>
            <a:r>
              <a:rPr lang="en-CA" sz="1500" dirty="0"/>
              <a:t>4) “Fred” is </a:t>
            </a:r>
            <a:r>
              <a:rPr lang="en-CA" sz="1500" dirty="0">
                <a:solidFill>
                  <a:srgbClr val="D60093"/>
                </a:solidFill>
              </a:rPr>
              <a:t>copied</a:t>
            </a:r>
            <a:r>
              <a:rPr lang="en-CA" sz="1500" dirty="0"/>
              <a:t> from </a:t>
            </a:r>
            <a:r>
              <a:rPr lang="en-CA" sz="1500" dirty="0" err="1">
                <a:solidFill>
                  <a:srgbClr val="92D050"/>
                </a:solidFill>
              </a:rPr>
              <a:t>userName</a:t>
            </a:r>
            <a:endParaRPr lang="en-CA" sz="1500" dirty="0">
              <a:solidFill>
                <a:srgbClr val="92D050"/>
              </a:solidFill>
            </a:endParaRPr>
          </a:p>
          <a:p>
            <a:r>
              <a:rPr lang="en-CA" sz="1500" dirty="0"/>
              <a:t>5) “Fred” is </a:t>
            </a:r>
            <a:r>
              <a:rPr lang="en-CA" sz="1500" dirty="0">
                <a:solidFill>
                  <a:srgbClr val="00B0F0"/>
                </a:solidFill>
              </a:rPr>
              <a:t>stored</a:t>
            </a:r>
            <a:r>
              <a:rPr lang="en-CA" sz="1500" dirty="0"/>
              <a:t> in </a:t>
            </a:r>
            <a:r>
              <a:rPr lang="en-CA" sz="1500" dirty="0">
                <a:solidFill>
                  <a:srgbClr val="92D050"/>
                </a:solidFill>
              </a:rPr>
              <a:t>name</a:t>
            </a:r>
          </a:p>
          <a:p>
            <a:r>
              <a:rPr lang="en-CA" sz="1500" dirty="0"/>
              <a:t>6) 21 is </a:t>
            </a:r>
            <a:r>
              <a:rPr lang="en-CA" sz="1500" dirty="0">
                <a:solidFill>
                  <a:srgbClr val="D60093"/>
                </a:solidFill>
              </a:rPr>
              <a:t>copied</a:t>
            </a:r>
            <a:r>
              <a:rPr lang="en-CA" sz="1500" dirty="0"/>
              <a:t> from </a:t>
            </a:r>
            <a:r>
              <a:rPr lang="en-CA" sz="1500" dirty="0" err="1">
                <a:solidFill>
                  <a:srgbClr val="92D050"/>
                </a:solidFill>
              </a:rPr>
              <a:t>userAge</a:t>
            </a:r>
            <a:endParaRPr lang="en-CA" sz="1500" dirty="0">
              <a:solidFill>
                <a:srgbClr val="92D050"/>
              </a:solidFill>
            </a:endParaRPr>
          </a:p>
          <a:p>
            <a:r>
              <a:rPr lang="en-CA" sz="1500" dirty="0"/>
              <a:t>7) 21 is </a:t>
            </a:r>
            <a:r>
              <a:rPr lang="en-CA" sz="1500" dirty="0">
                <a:solidFill>
                  <a:srgbClr val="00B0F0"/>
                </a:solidFill>
              </a:rPr>
              <a:t>stored</a:t>
            </a:r>
            <a:r>
              <a:rPr lang="en-CA" sz="1500" dirty="0"/>
              <a:t> in </a:t>
            </a:r>
            <a:r>
              <a:rPr lang="en-CA" sz="1500" dirty="0">
                <a:solidFill>
                  <a:srgbClr val="92D050"/>
                </a:solidFill>
              </a:rPr>
              <a:t>age</a:t>
            </a:r>
          </a:p>
          <a:p>
            <a:r>
              <a:rPr lang="en-CA" sz="1500" dirty="0"/>
              <a:t>8) Data is displayed</a:t>
            </a:r>
          </a:p>
          <a:p>
            <a:r>
              <a:rPr lang="en-CA" sz="1500" dirty="0"/>
              <a:t>9) </a:t>
            </a:r>
            <a:r>
              <a:rPr lang="en-CA" sz="1500" dirty="0">
                <a:solidFill>
                  <a:srgbClr val="92D050"/>
                </a:solidFill>
              </a:rPr>
              <a:t>name</a:t>
            </a:r>
            <a:r>
              <a:rPr lang="en-CA" sz="1500" dirty="0"/>
              <a:t> and </a:t>
            </a:r>
            <a:r>
              <a:rPr lang="en-CA" sz="1500" dirty="0">
                <a:solidFill>
                  <a:srgbClr val="92D050"/>
                </a:solidFill>
              </a:rPr>
              <a:t>age</a:t>
            </a:r>
            <a:r>
              <a:rPr lang="en-CA" sz="1500" dirty="0"/>
              <a:t> are </a:t>
            </a:r>
            <a:r>
              <a:rPr lang="en-CA" sz="1500" dirty="0">
                <a:solidFill>
                  <a:srgbClr val="FF0000"/>
                </a:solidFill>
              </a:rPr>
              <a:t>deleted</a:t>
            </a:r>
          </a:p>
          <a:p>
            <a:r>
              <a:rPr lang="en-CA" sz="1500" dirty="0"/>
              <a:t>10) </a:t>
            </a:r>
            <a:r>
              <a:rPr lang="en-CA" sz="1500" dirty="0" err="1">
                <a:solidFill>
                  <a:srgbClr val="92D050"/>
                </a:solidFill>
              </a:rPr>
              <a:t>userName</a:t>
            </a:r>
            <a:r>
              <a:rPr lang="en-CA" sz="1500" dirty="0"/>
              <a:t> is requested and read in</a:t>
            </a:r>
          </a:p>
          <a:p>
            <a:r>
              <a:rPr lang="en-CA" sz="1500" dirty="0"/>
              <a:t>11) </a:t>
            </a:r>
            <a:r>
              <a:rPr lang="en-CA" sz="1500" dirty="0" err="1">
                <a:solidFill>
                  <a:srgbClr val="92D050"/>
                </a:solidFill>
              </a:rPr>
              <a:t>userAge</a:t>
            </a:r>
            <a:r>
              <a:rPr lang="en-CA" sz="1500" dirty="0"/>
              <a:t> is requested and read in</a:t>
            </a:r>
          </a:p>
          <a:p>
            <a:r>
              <a:rPr lang="en-CA" sz="1500" dirty="0"/>
              <a:t>12) </a:t>
            </a:r>
            <a:r>
              <a:rPr lang="en-CA" sz="1500" dirty="0">
                <a:solidFill>
                  <a:srgbClr val="92D050"/>
                </a:solidFill>
              </a:rPr>
              <a:t>name</a:t>
            </a:r>
            <a:r>
              <a:rPr lang="en-CA" sz="1500" dirty="0"/>
              <a:t>, </a:t>
            </a:r>
            <a:r>
              <a:rPr lang="en-CA" sz="1500" dirty="0">
                <a:solidFill>
                  <a:srgbClr val="92D050"/>
                </a:solidFill>
              </a:rPr>
              <a:t>age</a:t>
            </a:r>
            <a:r>
              <a:rPr lang="en-CA" sz="1500" dirty="0"/>
              <a:t> are defined</a:t>
            </a:r>
          </a:p>
          <a:p>
            <a:r>
              <a:rPr lang="en-CA" sz="1500" dirty="0"/>
              <a:t>13) “Judy” is </a:t>
            </a:r>
            <a:r>
              <a:rPr lang="en-CA" sz="1500" dirty="0">
                <a:solidFill>
                  <a:srgbClr val="D60093"/>
                </a:solidFill>
              </a:rPr>
              <a:t>copied</a:t>
            </a:r>
            <a:r>
              <a:rPr lang="en-CA" sz="1500" dirty="0"/>
              <a:t> from </a:t>
            </a:r>
            <a:r>
              <a:rPr lang="en-CA" sz="1500" dirty="0" err="1">
                <a:solidFill>
                  <a:srgbClr val="92D050"/>
                </a:solidFill>
              </a:rPr>
              <a:t>userName</a:t>
            </a:r>
            <a:endParaRPr lang="en-CA" sz="1500" dirty="0">
              <a:solidFill>
                <a:srgbClr val="92D050"/>
              </a:solidFill>
            </a:endParaRPr>
          </a:p>
          <a:p>
            <a:r>
              <a:rPr lang="en-CA" sz="1500" dirty="0"/>
              <a:t>14) “Judy” is </a:t>
            </a:r>
            <a:r>
              <a:rPr lang="en-CA" sz="1500" dirty="0">
                <a:solidFill>
                  <a:srgbClr val="00B0F0"/>
                </a:solidFill>
              </a:rPr>
              <a:t>stored</a:t>
            </a:r>
            <a:r>
              <a:rPr lang="en-CA" sz="1500" dirty="0"/>
              <a:t> in </a:t>
            </a:r>
            <a:r>
              <a:rPr lang="en-CA" sz="1500" dirty="0">
                <a:solidFill>
                  <a:srgbClr val="92D050"/>
                </a:solidFill>
              </a:rPr>
              <a:t>name</a:t>
            </a:r>
          </a:p>
          <a:p>
            <a:r>
              <a:rPr lang="en-CA" sz="1500" dirty="0"/>
              <a:t>15) 23 is </a:t>
            </a:r>
            <a:r>
              <a:rPr lang="en-CA" sz="1500" dirty="0">
                <a:solidFill>
                  <a:srgbClr val="D60093"/>
                </a:solidFill>
              </a:rPr>
              <a:t>copied</a:t>
            </a:r>
            <a:r>
              <a:rPr lang="en-CA" sz="1500" dirty="0"/>
              <a:t> from </a:t>
            </a:r>
            <a:r>
              <a:rPr lang="en-CA" sz="1500" dirty="0" err="1">
                <a:solidFill>
                  <a:srgbClr val="92D050"/>
                </a:solidFill>
              </a:rPr>
              <a:t>userAge</a:t>
            </a:r>
            <a:endParaRPr lang="en-CA" sz="1500" dirty="0">
              <a:solidFill>
                <a:srgbClr val="92D050"/>
              </a:solidFill>
            </a:endParaRPr>
          </a:p>
          <a:p>
            <a:r>
              <a:rPr lang="en-CA" sz="1500" dirty="0"/>
              <a:t>16) 23 is </a:t>
            </a:r>
            <a:r>
              <a:rPr lang="en-CA" sz="1500" dirty="0">
                <a:solidFill>
                  <a:srgbClr val="00B0F0"/>
                </a:solidFill>
              </a:rPr>
              <a:t>stored</a:t>
            </a:r>
            <a:r>
              <a:rPr lang="en-CA" sz="1500" dirty="0"/>
              <a:t> in </a:t>
            </a:r>
            <a:r>
              <a:rPr lang="en-CA" sz="1500" dirty="0">
                <a:solidFill>
                  <a:srgbClr val="92D050"/>
                </a:solidFill>
              </a:rPr>
              <a:t>age</a:t>
            </a:r>
          </a:p>
          <a:p>
            <a:r>
              <a:rPr lang="en-CA" sz="1500" dirty="0"/>
              <a:t>17) Data is displayed</a:t>
            </a:r>
          </a:p>
          <a:p>
            <a:r>
              <a:rPr lang="en-CA" sz="1500" dirty="0"/>
              <a:t>18) </a:t>
            </a:r>
            <a:r>
              <a:rPr lang="en-CA" sz="1500" dirty="0">
                <a:solidFill>
                  <a:srgbClr val="92D050"/>
                </a:solidFill>
              </a:rPr>
              <a:t>name</a:t>
            </a:r>
            <a:r>
              <a:rPr lang="en-CA" sz="1500" dirty="0"/>
              <a:t> and </a:t>
            </a:r>
            <a:r>
              <a:rPr lang="en-CA" sz="1500" dirty="0">
                <a:solidFill>
                  <a:srgbClr val="92D050"/>
                </a:solidFill>
              </a:rPr>
              <a:t>age</a:t>
            </a:r>
            <a:r>
              <a:rPr lang="en-CA" sz="1500" dirty="0"/>
              <a:t> are </a:t>
            </a:r>
            <a:r>
              <a:rPr lang="en-CA" sz="1500" dirty="0">
                <a:solidFill>
                  <a:srgbClr val="FF0000"/>
                </a:solidFill>
              </a:rPr>
              <a:t>deleted</a:t>
            </a:r>
          </a:p>
          <a:p>
            <a:r>
              <a:rPr lang="en-CA" sz="1500" dirty="0"/>
              <a:t>19) </a:t>
            </a:r>
            <a:r>
              <a:rPr lang="en-CA" sz="1500" dirty="0" err="1">
                <a:solidFill>
                  <a:srgbClr val="92D050"/>
                </a:solidFill>
              </a:rPr>
              <a:t>userName</a:t>
            </a:r>
            <a:r>
              <a:rPr lang="en-CA" sz="1500" dirty="0"/>
              <a:t> and </a:t>
            </a:r>
            <a:r>
              <a:rPr lang="en-CA" sz="1500" dirty="0" err="1">
                <a:solidFill>
                  <a:srgbClr val="92D050"/>
                </a:solidFill>
              </a:rPr>
              <a:t>userAge</a:t>
            </a:r>
            <a:r>
              <a:rPr lang="en-CA" sz="1500" dirty="0"/>
              <a:t> are </a:t>
            </a:r>
            <a:r>
              <a:rPr lang="en-CA" sz="1500" dirty="0">
                <a:solidFill>
                  <a:srgbClr val="FF0000"/>
                </a:solidFill>
              </a:rPr>
              <a:t>deleted</a:t>
            </a:r>
          </a:p>
          <a:p>
            <a:pPr marL="514350" indent="-514350">
              <a:buAutoNum type="arabicParenR"/>
            </a:pPr>
            <a:endParaRPr lang="en-CA" sz="1600" dirty="0"/>
          </a:p>
        </p:txBody>
      </p:sp>
    </p:spTree>
    <p:extLst>
      <p:ext uri="{BB962C8B-B14F-4D97-AF65-F5344CB8AC3E}">
        <p14:creationId xmlns:p14="http://schemas.microsoft.com/office/powerpoint/2010/main" val="911414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500"/>
                            </p:stCondLst>
                            <p:childTnLst>
                              <p:par>
                                <p:cTn id="8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8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8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500"/>
                            </p:stCondLst>
                            <p:childTnLst>
                              <p:par>
                                <p:cTn id="1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1000"/>
                            </p:stCondLst>
                            <p:childTnLst>
                              <p:par>
                                <p:cTn id="1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8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8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8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8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B72E8-4EDB-4C14-86DE-C28D3D2A2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706091"/>
          </a:xfrm>
        </p:spPr>
        <p:txBody>
          <a:bodyPr/>
          <a:lstStyle/>
          <a:p>
            <a:r>
              <a:rPr lang="en-CA" dirty="0"/>
              <a:t>Why do we use Subprogram/Methods?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5CD95B-3CD7-4160-9102-07E80ACCC7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8883" y="1124744"/>
            <a:ext cx="10360501" cy="5458619"/>
          </a:xfrm>
        </p:spPr>
        <p:txBody>
          <a:bodyPr>
            <a:normAutofit/>
          </a:bodyPr>
          <a:lstStyle/>
          <a:p>
            <a:r>
              <a:rPr lang="en-CA" dirty="0">
                <a:solidFill>
                  <a:srgbClr val="92D050"/>
                </a:solidFill>
              </a:rPr>
              <a:t>We use Methods for 2 reasons</a:t>
            </a:r>
            <a:r>
              <a:rPr lang="en-CA" dirty="0"/>
              <a:t>:</a:t>
            </a:r>
          </a:p>
          <a:p>
            <a:pPr marL="835086" lvl="1" indent="-457200">
              <a:buFont typeface="+mj-lt"/>
              <a:buAutoNum type="arabicPeriod"/>
            </a:pPr>
            <a:r>
              <a:rPr lang="en-CA" dirty="0">
                <a:solidFill>
                  <a:srgbClr val="00B0F0"/>
                </a:solidFill>
              </a:rPr>
              <a:t>Reusability</a:t>
            </a:r>
            <a:r>
              <a:rPr lang="en-CA" dirty="0"/>
              <a:t>: Creating a program that calculates the grade average of every student in the school.  It would take about 5 lines of code per student.  </a:t>
            </a:r>
          </a:p>
          <a:p>
            <a:pPr lvl="3">
              <a:buFont typeface="Wingdings" panose="05000000000000000000" pitchFamily="2" charset="2"/>
              <a:buChar char="§"/>
            </a:pPr>
            <a:r>
              <a:rPr lang="en-CA" dirty="0"/>
              <a:t>If you had a method that calculates a single student’s average you would only need 1 line of code per student.  That would save you about 6000 lines of code alone.</a:t>
            </a:r>
          </a:p>
          <a:p>
            <a:pPr lvl="2">
              <a:buFont typeface="Wingdings" panose="05000000000000000000" pitchFamily="2" charset="2"/>
              <a:buChar char="§"/>
            </a:pPr>
            <a:endParaRPr lang="en-CA" dirty="0"/>
          </a:p>
          <a:p>
            <a:pPr marL="835086" lvl="1" indent="-457200">
              <a:buFont typeface="+mj-lt"/>
              <a:buAutoNum type="arabicPeriod"/>
            </a:pPr>
            <a:r>
              <a:rPr lang="en-CA" dirty="0">
                <a:solidFill>
                  <a:srgbClr val="00B0F0"/>
                </a:solidFill>
              </a:rPr>
              <a:t>Readability</a:t>
            </a:r>
            <a:r>
              <a:rPr lang="en-CA" dirty="0"/>
              <a:t>: Much like the use of constants and variables in the place of magic values, we use methods to clean up complicated code.</a:t>
            </a:r>
          </a:p>
          <a:p>
            <a:pPr lvl="3">
              <a:buFont typeface="Wingdings" panose="05000000000000000000" pitchFamily="2" charset="2"/>
              <a:buChar char="§"/>
            </a:pPr>
            <a:r>
              <a:rPr lang="en-CA" dirty="0"/>
              <a:t>Even code that is only done once in a program can benefit from methods.  Imagine having code that handles applying physics in a game you create.  </a:t>
            </a:r>
          </a:p>
          <a:p>
            <a:pPr lvl="3">
              <a:buFont typeface="Wingdings" panose="05000000000000000000" pitchFamily="2" charset="2"/>
              <a:buChar char="§"/>
            </a:pPr>
            <a:r>
              <a:rPr lang="en-CA" dirty="0"/>
              <a:t>That code can get quite complicated.  But by putting it into a well named method you could replace the complicated code with one simple call to the method. Making the main code much more readable.</a:t>
            </a:r>
          </a:p>
        </p:txBody>
      </p:sp>
    </p:spTree>
    <p:extLst>
      <p:ext uri="{BB962C8B-B14F-4D97-AF65-F5344CB8AC3E}">
        <p14:creationId xmlns:p14="http://schemas.microsoft.com/office/powerpoint/2010/main" val="2834485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ech 16x9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>
    <a:spDef>
      <a:spPr/>
      <a:bodyPr rtlCol="0" anchor="ctr"/>
      <a:lstStyle>
        <a:defPPr algn="ctr">
          <a:defRPr sz="28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800"/>
        </a:defPPr>
      </a:lstStyle>
    </a:txDef>
  </a:objectDefaults>
  <a:extraClrSchemeLst/>
  <a:extLst>
    <a:ext uri="{05A4C25C-085E-4340-85A3-A5531E510DB2}">
      <thm15:themeFamily xmlns:thm15="http://schemas.microsoft.com/office/thememl/2012/main" name="TF02787990.potx" id="{BDB9CD5E-36EC-45F3-B87D-6D062B8A3823}" vid="{51682E2F-7C85-4D6F-AD40-072EFC83910D}"/>
    </a:ext>
  </a:extLst>
</a:theme>
</file>

<file path=ppt/theme/theme2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ocPublishedLinkedAssetsLookup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LocLastLocAttemptVersionTypeLookup xmlns="4873beb7-5857-4685-be1f-d57550cc96cc" xsi:nil="true"/>
    <DirectSourceMarket xmlns="4873beb7-5857-4685-be1f-d57550cc96cc" xsi:nil="true"/>
    <ThumbnailAssetId xmlns="4873beb7-5857-4685-be1f-d57550cc96cc" xsi:nil="true"/>
    <PrimaryImageGen xmlns="4873beb7-5857-4685-be1f-d57550cc96cc">false</PrimaryImageGen>
    <LocNewPublishedVersionLookup xmlns="4873beb7-5857-4685-be1f-d57550cc96cc" xsi:nil="true"/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LocOverallPublishStatusLookup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LocOverallLocStatusLookup xmlns="4873beb7-5857-4685-be1f-d57550cc96cc" xsi:nil="true"/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1345093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>This simple template design works for technology and  businesses, but it's versatile enough to use in other contexts.  It features multiple slide layouts designed for widescreen (16x9 resolution) and includes a sample SmartArt list and chart that are easily editable.</APDescription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2011-11-26T00:30:00+00:00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TemplateStatus xmlns="4873beb7-5857-4685-be1f-d57550cc96cc">Complete</TemplateStatus>
    <Downloads xmlns="4873beb7-5857-4685-be1f-d57550cc96cc">0</Downloads>
    <OOCacheId xmlns="4873beb7-5857-4685-be1f-d57550cc96cc" xsi:nil="true"/>
    <IsDeleted xmlns="4873beb7-5857-4685-be1f-d57550cc96cc">false</IsDeleted>
    <LocPublishedDependentAssetsLookup xmlns="4873beb7-5857-4685-be1f-d57550cc96cc" xsi:nil="true"/>
    <TPExecutable xmlns="4873beb7-5857-4685-be1f-d57550cc96cc" xsi:nil="true"/>
    <EditorialTags xmlns="4873beb7-5857-4685-be1f-d57550cc96cc" xsi:nil="true"/>
    <SubmitterId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TP102787989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694266</LocLastLocAttemptVersionLookup>
    <LocProcessedForHandoffsLookup xmlns="4873beb7-5857-4685-be1f-d57550cc96cc" xsi:nil="true"/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LocOverallPreviewStatusLookup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 xsi:nil="true"/>
    <OutputCachingOn xmlns="4873beb7-5857-4685-be1f-d57550cc96cc">false</OutputCachingOn>
    <AverageRating xmlns="4873beb7-5857-4685-be1f-d57550cc96cc" xsi:nil="true"/>
    <APAuthor xmlns="4873beb7-5857-4685-be1f-d57550cc96cc">
      <UserInfo>
        <DisplayName>REDMOND\kristaa</DisplayName>
        <AccountId>136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LocProcessedForMarketsLookup xmlns="4873beb7-5857-4685-be1f-d57550cc96cc" xsi:nil="true"/>
    <TPLaunchHelpLinkType xmlns="4873beb7-5857-4685-be1f-d57550cc96cc">Template</TPLaunchHelpLinkType>
    <OriginalRelease xmlns="4873beb7-5857-4685-be1f-d57550cc96cc">15</OriginalRelease>
    <LocalizationTagsTaxHTField0 xmlns="4873beb7-5857-4685-be1f-d57550cc96cc">
      <Terms xmlns="http://schemas.microsoft.com/office/infopath/2007/PartnerControls"/>
    </LocalizationTagsTaxHTField0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LocOverallHandbackStatusLookup xmlns="4873beb7-5857-4685-be1f-d57550cc96cc" xsi:nil="true"/>
    <ShowIn xmlns="4873beb7-5857-4685-be1f-d57550cc96cc">Show everywhere</ShowIn>
    <UANotes xmlns="4873beb7-5857-4685-be1f-d57550cc96cc" xsi:nil="true"/>
    <InternalTagsTaxHTField0 xmlns="4873beb7-5857-4685-be1f-d57550cc96cc">
      <Terms xmlns="http://schemas.microsoft.com/office/infopath/2007/PartnerControls"/>
    </InternalTagsTaxHTField0>
    <CSXHash xmlns="4873beb7-5857-4685-be1f-d57550cc96cc" xsi:nil="true"/>
    <VoteCount xmlns="4873beb7-5857-4685-be1f-d57550cc96cc" xsi:nil="true"/>
    <AssetExpire xmlns="4873beb7-5857-4685-be1f-d57550cc96cc">2029-05-12T07:00:00+00:00</AssetExpire>
    <DSATActionTaken xmlns="4873beb7-5857-4685-be1f-d57550cc96cc" xsi:nil="true"/>
    <CSXSubmissionMarket xmlns="4873beb7-5857-4685-be1f-d57550cc96cc" xsi:nil="true"/>
    <LocMarketGroupTiers2 xmlns="4873beb7-5857-4685-be1f-d57550cc96cc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60C67BEE-D13F-4BD2-98A5-34D8A0977F68}">
  <ds:schemaRefs>
    <ds:schemaRef ds:uri="4873beb7-5857-4685-be1f-d57550cc96cc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A09BF4D4-EF60-4196-BFC3-9462D60797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836F65B-1B07-41EE-A0E8-BC6EF385522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Triple circuit lines presentation (widescreen)</Template>
  <TotalTime>1573</TotalTime>
  <Words>1587</Words>
  <Application>Microsoft Office PowerPoint</Application>
  <PresentationFormat>Custom</PresentationFormat>
  <Paragraphs>179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Consolas</vt:lpstr>
      <vt:lpstr>Wingdings</vt:lpstr>
      <vt:lpstr>Tech 16x9</vt:lpstr>
      <vt:lpstr>Subprograms</vt:lpstr>
      <vt:lpstr>Objectives</vt:lpstr>
      <vt:lpstr>Introduction</vt:lpstr>
      <vt:lpstr>Introduction</vt:lpstr>
      <vt:lpstr>The Stamp: Subprogram/Method</vt:lpstr>
      <vt:lpstr>Setup</vt:lpstr>
      <vt:lpstr>Two Kinds of Subprograms/Methods</vt:lpstr>
      <vt:lpstr>Procedure - Defining</vt:lpstr>
      <vt:lpstr>Breakdown</vt:lpstr>
      <vt:lpstr>Procedures – Where Do We Define Them?</vt:lpstr>
      <vt:lpstr>Time to Stamp!</vt:lpstr>
      <vt:lpstr>Example 1: Literal values</vt:lpstr>
      <vt:lpstr>Example 2: Variables</vt:lpstr>
      <vt:lpstr>Why do we use Subprogram/Methods?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Variables: Day 1</dc:title>
  <dc:creator>Trevor Lane</dc:creator>
  <cp:lastModifiedBy>Trevor Lane</cp:lastModifiedBy>
  <cp:revision>90</cp:revision>
  <dcterms:created xsi:type="dcterms:W3CDTF">2020-09-21T00:53:05Z</dcterms:created>
  <dcterms:modified xsi:type="dcterms:W3CDTF">2022-03-30T13:01:27Z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