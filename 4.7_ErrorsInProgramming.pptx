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8401" y="4145282"/>
            <a:ext cx="4687338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8" y="6057150"/>
            <a:ext cx="5500158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sz="1800"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sz="1800"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600" y="584201"/>
            <a:ext cx="8737600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2616200"/>
            <a:ext cx="8737600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740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079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8401" y="4145282"/>
            <a:ext cx="4687338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1" y="2209802"/>
            <a:ext cx="8940800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600" y="4951267"/>
            <a:ext cx="7071361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87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1" y="1706880"/>
            <a:ext cx="5080000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2401" y="1706880"/>
            <a:ext cx="5080000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891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701800"/>
            <a:ext cx="5084064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9201" y="2717800"/>
            <a:ext cx="5080000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8336" y="1701800"/>
            <a:ext cx="5084064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2401" y="2717800"/>
            <a:ext cx="5080000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980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949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9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701800"/>
            <a:ext cx="4064000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4241800"/>
            <a:ext cx="4064000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0" y="584200"/>
            <a:ext cx="6096001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9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701800"/>
            <a:ext cx="4064000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4241800"/>
            <a:ext cx="4064000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6400" y="584200"/>
            <a:ext cx="6096001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1227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3694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584200"/>
            <a:ext cx="2743200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584200"/>
            <a:ext cx="7416800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50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4" y="-3174"/>
            <a:ext cx="820207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9201" y="274637"/>
            <a:ext cx="10363200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1" y="1701797"/>
            <a:ext cx="10363200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9200" y="6356353"/>
            <a:ext cx="22352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5B40D-7984-48F0-AB3D-CA493BB7E330}" type="datetimeFigureOut">
              <a:rPr lang="en-CA" smtClean="0"/>
              <a:t>2022-04-21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4401" y="6356353"/>
            <a:ext cx="52832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6401" y="6356353"/>
            <a:ext cx="1016000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66F1C-5CF1-41AE-AB8C-1B86C3D270C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50255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7D849-8FFC-49CE-A5B1-B04DA29E75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Errors in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B1E7B-4A01-45DF-A201-67944AE92C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err="1"/>
              <a:t>a.K.A.</a:t>
            </a:r>
            <a:r>
              <a:rPr lang="en-CA" dirty="0"/>
              <a:t> Bugs</a:t>
            </a:r>
          </a:p>
        </p:txBody>
      </p:sp>
    </p:spTree>
    <p:extLst>
      <p:ext uri="{BB962C8B-B14F-4D97-AF65-F5344CB8AC3E}">
        <p14:creationId xmlns:p14="http://schemas.microsoft.com/office/powerpoint/2010/main" val="134424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30ED-5EA9-4382-AB46-5842D044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B47E0-6097-48BD-A3F0-DE5A118C0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Now that we have completed a little over half of the course you have had your own experience in dealing with errors</a:t>
            </a:r>
          </a:p>
          <a:p>
            <a:endParaRPr lang="en-CA" dirty="0"/>
          </a:p>
          <a:p>
            <a:r>
              <a:rPr lang="en-CA" dirty="0"/>
              <a:t>Today’s lesson will focus on identifying the 3 types of errors and what we can do to solve them</a:t>
            </a:r>
          </a:p>
        </p:txBody>
      </p:sp>
    </p:spTree>
    <p:extLst>
      <p:ext uri="{BB962C8B-B14F-4D97-AF65-F5344CB8AC3E}">
        <p14:creationId xmlns:p14="http://schemas.microsoft.com/office/powerpoint/2010/main" val="350285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7ADF-5A2C-494E-8DAD-584CADA8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274638"/>
            <a:ext cx="10363200" cy="768972"/>
          </a:xfrm>
        </p:spPr>
        <p:txBody>
          <a:bodyPr>
            <a:normAutofit fontScale="90000"/>
          </a:bodyPr>
          <a:lstStyle/>
          <a:p>
            <a:r>
              <a:rPr lang="en-CA" sz="4000" dirty="0"/>
              <a:t>Types of Errors: </a:t>
            </a:r>
            <a:r>
              <a:rPr lang="en-CA" sz="3100" dirty="0">
                <a:solidFill>
                  <a:srgbClr val="FF0000"/>
                </a:solidFill>
              </a:rPr>
              <a:t>Compiler Errors </a:t>
            </a:r>
            <a:r>
              <a:rPr lang="en-CA" sz="3100" dirty="0"/>
              <a:t>(also known as </a:t>
            </a:r>
            <a:r>
              <a:rPr lang="en-CA" sz="3100" dirty="0">
                <a:solidFill>
                  <a:srgbClr val="FFFF00"/>
                </a:solidFill>
              </a:rPr>
              <a:t>Syntax Errors</a:t>
            </a:r>
            <a:r>
              <a:rPr lang="en-CA" sz="31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919B1-328B-4253-AA0C-DB92ADF5D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262270"/>
            <a:ext cx="10363200" cy="5321092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92D050"/>
                </a:solidFill>
              </a:rPr>
              <a:t>Errors that prevent your program from running, occur as a result of bad syntax</a:t>
            </a:r>
          </a:p>
          <a:p>
            <a:endParaRPr lang="en-CA" dirty="0">
              <a:solidFill>
                <a:srgbClr val="92D050"/>
              </a:solidFill>
            </a:endParaRPr>
          </a:p>
          <a:p>
            <a:r>
              <a:rPr lang="en-CA" dirty="0"/>
              <a:t>These are the most common types of errors, but usually the easiest to fix</a:t>
            </a:r>
          </a:p>
          <a:p>
            <a:r>
              <a:rPr lang="en-CA" dirty="0"/>
              <a:t>Most compiler errors are caused by mistakes that you make when typing code</a:t>
            </a:r>
          </a:p>
          <a:p>
            <a:pPr lvl="1"/>
            <a:r>
              <a:rPr lang="en-CA" dirty="0"/>
              <a:t>E.g. Forgetting a semi-colon or a bracket, or spelling a word incorrectly</a:t>
            </a:r>
          </a:p>
          <a:p>
            <a:pPr lvl="1"/>
            <a:r>
              <a:rPr lang="en-CA" dirty="0"/>
              <a:t>For example: You may misspell a keyword, leave out some necessary punctuation, or try to use a variable before it is defined</a:t>
            </a:r>
          </a:p>
          <a:p>
            <a:pPr lvl="2"/>
            <a:r>
              <a:rPr lang="en-CA" dirty="0"/>
              <a:t>E.g. </a:t>
            </a:r>
            <a:r>
              <a:rPr lang="en-CA" dirty="0" err="1"/>
              <a:t>bol</a:t>
            </a:r>
            <a:r>
              <a:rPr lang="en-CA" dirty="0"/>
              <a:t> </a:t>
            </a:r>
            <a:r>
              <a:rPr lang="en-CA" dirty="0" err="1"/>
              <a:t>testVariable</a:t>
            </a:r>
            <a:r>
              <a:rPr lang="en-CA" dirty="0"/>
              <a:t>;   </a:t>
            </a:r>
            <a:r>
              <a:rPr lang="en-CA" dirty="0">
                <a:sym typeface="Wingdings" panose="05000000000000000000" pitchFamily="2" charset="2"/>
              </a:rPr>
              <a:t> Here bool is misspelled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9561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8F4B-99C6-40EB-B3E9-5DDB6AD9D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274637"/>
            <a:ext cx="10363200" cy="1110279"/>
          </a:xfrm>
        </p:spPr>
        <p:txBody>
          <a:bodyPr/>
          <a:lstStyle/>
          <a:p>
            <a:r>
              <a:rPr lang="en-CA" dirty="0">
                <a:solidFill>
                  <a:srgbClr val="00B0F0"/>
                </a:solidFill>
              </a:rPr>
              <a:t>Find the Compiler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ED322-E788-4710-A0BD-5C0EDE76A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1597981"/>
            <a:ext cx="10363200" cy="4566088"/>
          </a:xfrm>
        </p:spPr>
        <p:txBody>
          <a:bodyPr/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</a:rPr>
              <a:t>int </a:t>
            </a:r>
            <a:r>
              <a:rPr lang="en-CA" dirty="0" err="1">
                <a:latin typeface="Consolas" panose="020B0609020204030204" pitchFamily="49" charset="0"/>
              </a:rPr>
              <a:t>phoneNumber</a:t>
            </a:r>
            <a:r>
              <a:rPr lang="en-CA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</a:rPr>
              <a:t>int age = 21;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 err="1">
                <a:latin typeface="Consolas" panose="020B0609020204030204" pitchFamily="49" charset="0"/>
              </a:rPr>
              <a:t>phneNumber</a:t>
            </a:r>
            <a:r>
              <a:rPr lang="en-CA" dirty="0">
                <a:latin typeface="Consolas" panose="020B0609020204030204" pitchFamily="49" charset="0"/>
              </a:rPr>
              <a:t> = 4165551234;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</a:rPr>
              <a:t>If (age =&gt; 18)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</a:rPr>
              <a:t>    WriteLine(You are over 18)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0C7CBC-487B-4C4A-A208-0CF448B9D6FF}"/>
              </a:ext>
            </a:extLst>
          </p:cNvPr>
          <p:cNvSpPr txBox="1"/>
          <p:nvPr/>
        </p:nvSpPr>
        <p:spPr>
          <a:xfrm>
            <a:off x="9514896" y="630030"/>
            <a:ext cx="1235961" cy="46166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cs typeface="+mn-cs"/>
              </a:rPr>
              <a:t>ERRORS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F3315A8-A669-4273-A356-6FFF9A07269A}"/>
              </a:ext>
            </a:extLst>
          </p:cNvPr>
          <p:cNvCxnSpPr/>
          <p:nvPr/>
        </p:nvCxnSpPr>
        <p:spPr>
          <a:xfrm flipH="1">
            <a:off x="2929631" y="1091695"/>
            <a:ext cx="6585265" cy="23373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91B441-AA49-45F8-A5EC-82A1993549C6}"/>
              </a:ext>
            </a:extLst>
          </p:cNvPr>
          <p:cNvCxnSpPr>
            <a:cxnSpLocks/>
          </p:cNvCxnSpPr>
          <p:nvPr/>
        </p:nvCxnSpPr>
        <p:spPr>
          <a:xfrm flipH="1">
            <a:off x="5761608" y="1091695"/>
            <a:ext cx="3753288" cy="2337305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7AFB4D-A59C-4555-8CD8-38450B2AD625}"/>
              </a:ext>
            </a:extLst>
          </p:cNvPr>
          <p:cNvCxnSpPr>
            <a:cxnSpLocks/>
          </p:cNvCxnSpPr>
          <p:nvPr/>
        </p:nvCxnSpPr>
        <p:spPr>
          <a:xfrm flipH="1">
            <a:off x="1766656" y="1091695"/>
            <a:ext cx="7748240" cy="293876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223AD8-EA52-47E4-8145-9C5E595926A6}"/>
              </a:ext>
            </a:extLst>
          </p:cNvPr>
          <p:cNvCxnSpPr>
            <a:cxnSpLocks/>
          </p:cNvCxnSpPr>
          <p:nvPr/>
        </p:nvCxnSpPr>
        <p:spPr>
          <a:xfrm flipH="1">
            <a:off x="3195961" y="1091953"/>
            <a:ext cx="6312023" cy="301840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0B1D40-85B7-448A-A6EF-294B0265D1CA}"/>
              </a:ext>
            </a:extLst>
          </p:cNvPr>
          <p:cNvCxnSpPr>
            <a:cxnSpLocks/>
          </p:cNvCxnSpPr>
          <p:nvPr/>
        </p:nvCxnSpPr>
        <p:spPr>
          <a:xfrm flipH="1">
            <a:off x="1441143" y="1091695"/>
            <a:ext cx="8073753" cy="34181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54F97B-1C8C-4C44-A61C-2CE9333951CE}"/>
              </a:ext>
            </a:extLst>
          </p:cNvPr>
          <p:cNvCxnSpPr>
            <a:cxnSpLocks/>
          </p:cNvCxnSpPr>
          <p:nvPr/>
        </p:nvCxnSpPr>
        <p:spPr>
          <a:xfrm flipH="1">
            <a:off x="3133817" y="1091695"/>
            <a:ext cx="6381079" cy="353357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B71F82-5364-4065-8752-8087E2F16FBC}"/>
              </a:ext>
            </a:extLst>
          </p:cNvPr>
          <p:cNvCxnSpPr>
            <a:cxnSpLocks/>
          </p:cNvCxnSpPr>
          <p:nvPr/>
        </p:nvCxnSpPr>
        <p:spPr>
          <a:xfrm flipH="1">
            <a:off x="5618340" y="1091695"/>
            <a:ext cx="3889644" cy="353357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65F70B1-5DE6-4E30-BDBD-ED86743CACAC}"/>
              </a:ext>
            </a:extLst>
          </p:cNvPr>
          <p:cNvCxnSpPr>
            <a:cxnSpLocks/>
          </p:cNvCxnSpPr>
          <p:nvPr/>
        </p:nvCxnSpPr>
        <p:spPr>
          <a:xfrm flipH="1">
            <a:off x="7226423" y="1091695"/>
            <a:ext cx="2288473" cy="374663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81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7ADF-5A2C-494E-8DAD-584CADA8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274638"/>
            <a:ext cx="10363200" cy="768972"/>
          </a:xfrm>
        </p:spPr>
        <p:txBody>
          <a:bodyPr>
            <a:normAutofit/>
          </a:bodyPr>
          <a:lstStyle/>
          <a:p>
            <a:r>
              <a:rPr lang="en-CA" sz="4000" dirty="0"/>
              <a:t>Types of Errors: </a:t>
            </a:r>
            <a:r>
              <a:rPr lang="en-CA" sz="3100" dirty="0">
                <a:solidFill>
                  <a:srgbClr val="FF0000"/>
                </a:solidFill>
              </a:rPr>
              <a:t>Runtime Errors</a:t>
            </a:r>
            <a:endParaRPr lang="en-CA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919B1-328B-4253-AA0C-DB92ADF5D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586" y="1262270"/>
            <a:ext cx="10668000" cy="5321092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92D050"/>
                </a:solidFill>
              </a:rPr>
              <a:t>Errors that occur while your program runs, usually when your program attempts an impossible operation, e.g. Convert “boat” to int</a:t>
            </a:r>
          </a:p>
          <a:p>
            <a:pPr>
              <a:spcBef>
                <a:spcPts val="0"/>
              </a:spcBef>
            </a:pPr>
            <a:endParaRPr lang="en-CA" sz="1400" dirty="0">
              <a:solidFill>
                <a:srgbClr val="92D050"/>
              </a:solidFill>
            </a:endParaRPr>
          </a:p>
          <a:p>
            <a:r>
              <a:rPr lang="en-CA" dirty="0"/>
              <a:t>These errors cause our programs to crash while running, not nice…</a:t>
            </a:r>
          </a:p>
          <a:p>
            <a:pPr>
              <a:spcBef>
                <a:spcPts val="0"/>
              </a:spcBef>
            </a:pPr>
            <a:endParaRPr lang="en-CA" sz="1400" dirty="0">
              <a:solidFill>
                <a:srgbClr val="92D050"/>
              </a:solidFill>
            </a:endParaRPr>
          </a:p>
          <a:p>
            <a:r>
              <a:rPr lang="en-CA" dirty="0"/>
              <a:t>Common Examples:</a:t>
            </a:r>
          </a:p>
          <a:p>
            <a:pPr lvl="1"/>
            <a:r>
              <a:rPr lang="en-CA" dirty="0"/>
              <a:t>Divide an int or byte by Zero (dividing a double by 0 gives the value </a:t>
            </a:r>
            <a:r>
              <a:rPr lang="en-CA" dirty="0">
                <a:solidFill>
                  <a:srgbClr val="00B0F0"/>
                </a:solidFill>
              </a:rPr>
              <a:t>infinity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Trying to convert incompatible data</a:t>
            </a:r>
          </a:p>
          <a:p>
            <a:pPr lvl="2"/>
            <a:r>
              <a:rPr lang="en-CA" dirty="0"/>
              <a:t>E.g. “boat” or “6.7” to an int</a:t>
            </a:r>
          </a:p>
          <a:p>
            <a:pPr lvl="1"/>
            <a:r>
              <a:rPr lang="en-CA" dirty="0"/>
              <a:t>Trying to access an index of a string that does not exist</a:t>
            </a:r>
          </a:p>
          <a:p>
            <a:pPr lvl="2"/>
            <a:r>
              <a:rPr lang="en-CA" dirty="0"/>
              <a:t>E.g. IF String word = “Hello” then word[10] would be a runtime error</a:t>
            </a:r>
          </a:p>
          <a:p>
            <a:pPr lvl="1"/>
            <a:r>
              <a:rPr lang="en-CA" dirty="0"/>
              <a:t>A Stack overflow error (running out of memory) – we won’t see this much, yet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1766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03A5-706B-47A8-B090-49B431DA9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Find the Runtime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27A4F-5A1D-4C18-BA5B-295623DA0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8483" y="1701797"/>
            <a:ext cx="10583918" cy="446227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srgbClr val="92D050"/>
                </a:solidFill>
                <a:latin typeface="Consolas" panose="020B0609020204030204" pitchFamily="49" charset="0"/>
              </a:rPr>
              <a:t>//Assume the user typed 685.50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600" b="0" dirty="0">
                <a:effectLst/>
                <a:latin typeface="Consolas" panose="020B0609020204030204" pitchFamily="49" charset="0"/>
              </a:rPr>
              <a:t>int </a:t>
            </a:r>
            <a:r>
              <a:rPr lang="en-US" sz="2600" b="0" dirty="0" err="1">
                <a:effectLst/>
                <a:latin typeface="Consolas" panose="020B0609020204030204" pitchFamily="49" charset="0"/>
              </a:rPr>
              <a:t>payPerHour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600" b="0" dirty="0">
                <a:effectLst/>
                <a:latin typeface="Consolas" panose="020B0609020204030204" pitchFamily="49" charset="0"/>
              </a:rPr>
              <a:t>int </a:t>
            </a:r>
            <a:r>
              <a:rPr lang="en-US" sz="2600" b="0" dirty="0" err="1">
                <a:effectLst/>
                <a:latin typeface="Consolas" panose="020B0609020204030204" pitchFamily="49" charset="0"/>
              </a:rPr>
              <a:t>totalPay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600" b="0" dirty="0">
                <a:effectLst/>
                <a:latin typeface="Consolas" panose="020B0609020204030204" pitchFamily="49" charset="0"/>
              </a:rPr>
              <a:t>int hours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600" b="0" dirty="0"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600" b="0" dirty="0" err="1">
                <a:effectLst/>
                <a:latin typeface="Consolas" panose="020B0609020204030204" pitchFamily="49" charset="0"/>
              </a:rPr>
              <a:t>Console.Write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(“How much money did you earn: ”);</a:t>
            </a:r>
            <a:br>
              <a:rPr lang="en-US" sz="2600" b="0" dirty="0">
                <a:effectLst/>
                <a:latin typeface="Consolas" panose="020B0609020204030204" pitchFamily="49" charset="0"/>
              </a:rPr>
            </a:br>
            <a:r>
              <a:rPr lang="en-US" sz="2600" b="0" dirty="0" err="1">
                <a:effectLst/>
                <a:latin typeface="Consolas" panose="020B0609020204030204" pitchFamily="49" charset="0"/>
              </a:rPr>
              <a:t>totalPay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 = Convert.ToInt32(</a:t>
            </a:r>
            <a:r>
              <a:rPr lang="en-US" sz="2600" b="0" dirty="0" err="1">
                <a:effectLst/>
                <a:latin typeface="Consolas" panose="020B0609020204030204" pitchFamily="49" charset="0"/>
              </a:rPr>
              <a:t>Console.ReadLine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2600" b="0" dirty="0">
                <a:effectLst/>
                <a:latin typeface="Consolas" panose="020B0609020204030204" pitchFamily="49" charset="0"/>
              </a:rPr>
            </a:br>
            <a:r>
              <a:rPr lang="en-US" sz="2600" b="0" dirty="0" err="1">
                <a:effectLst/>
                <a:latin typeface="Consolas" panose="020B0609020204030204" pitchFamily="49" charset="0"/>
              </a:rPr>
              <a:t>payPerHour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 = </a:t>
            </a:r>
            <a:r>
              <a:rPr lang="en-US" sz="2600" b="0" dirty="0" err="1">
                <a:effectLst/>
                <a:latin typeface="Consolas" panose="020B0609020204030204" pitchFamily="49" charset="0"/>
              </a:rPr>
              <a:t>totalPay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 / hours;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US" sz="2600" b="0" dirty="0">
                <a:effectLst/>
                <a:latin typeface="Consolas" panose="020B0609020204030204" pitchFamily="49" charset="0"/>
              </a:rPr>
            </a:br>
            <a:r>
              <a:rPr lang="en-US" sz="2600" b="0" dirty="0" err="1">
                <a:effectLst/>
                <a:latin typeface="Consolas" panose="020B0609020204030204" pitchFamily="49" charset="0"/>
              </a:rPr>
              <a:t>Console.WriteLine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("Your pay is $" + </a:t>
            </a:r>
            <a:r>
              <a:rPr lang="en-US" sz="2600" b="0" dirty="0" err="1">
                <a:effectLst/>
                <a:latin typeface="Consolas" panose="020B0609020204030204" pitchFamily="49" charset="0"/>
              </a:rPr>
              <a:t>payPerHour</a:t>
            </a:r>
            <a:r>
              <a:rPr lang="en-US" sz="2600" b="0" dirty="0">
                <a:effectLst/>
                <a:latin typeface="Consolas" panose="020B0609020204030204" pitchFamily="49" charset="0"/>
              </a:rPr>
              <a:t> + "per hour");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250D6-D5B8-48E6-AC37-876C95901165}"/>
              </a:ext>
            </a:extLst>
          </p:cNvPr>
          <p:cNvSpPr txBox="1"/>
          <p:nvPr/>
        </p:nvSpPr>
        <p:spPr>
          <a:xfrm>
            <a:off x="9514896" y="630030"/>
            <a:ext cx="1235961" cy="46166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  <a:cs typeface="+mn-cs"/>
              </a:rPr>
              <a:t>ERRORS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364467-EECB-46AB-A2F9-CBB1ADFA3330}"/>
              </a:ext>
            </a:extLst>
          </p:cNvPr>
          <p:cNvCxnSpPr>
            <a:cxnSpLocks/>
          </p:cNvCxnSpPr>
          <p:nvPr/>
        </p:nvCxnSpPr>
        <p:spPr>
          <a:xfrm flipH="1" flipV="1">
            <a:off x="6579477" y="2154621"/>
            <a:ext cx="683171" cy="830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6E37B6-B571-4DDF-A84A-A6A9092FF1D1}"/>
              </a:ext>
            </a:extLst>
          </p:cNvPr>
          <p:cNvCxnSpPr>
            <a:cxnSpLocks/>
          </p:cNvCxnSpPr>
          <p:nvPr/>
        </p:nvCxnSpPr>
        <p:spPr>
          <a:xfrm flipH="1">
            <a:off x="5875283" y="1091695"/>
            <a:ext cx="3639614" cy="2996829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BB77DD-65CC-47A9-9B70-0C0AF7A22C1B}"/>
              </a:ext>
            </a:extLst>
          </p:cNvPr>
          <p:cNvCxnSpPr>
            <a:cxnSpLocks/>
          </p:cNvCxnSpPr>
          <p:nvPr/>
        </p:nvCxnSpPr>
        <p:spPr>
          <a:xfrm flipH="1" flipV="1">
            <a:off x="3436883" y="3121572"/>
            <a:ext cx="2659117" cy="15029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0706D8-1392-4420-8AB1-EFAB41B001EB}"/>
              </a:ext>
            </a:extLst>
          </p:cNvPr>
          <p:cNvCxnSpPr>
            <a:cxnSpLocks/>
          </p:cNvCxnSpPr>
          <p:nvPr/>
        </p:nvCxnSpPr>
        <p:spPr>
          <a:xfrm flipH="1">
            <a:off x="5875283" y="1091695"/>
            <a:ext cx="3639614" cy="374306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5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7ADF-5A2C-494E-8DAD-584CADA8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274638"/>
            <a:ext cx="10363200" cy="768972"/>
          </a:xfrm>
        </p:spPr>
        <p:txBody>
          <a:bodyPr>
            <a:normAutofit/>
          </a:bodyPr>
          <a:lstStyle/>
          <a:p>
            <a:r>
              <a:rPr lang="en-CA" sz="4000" dirty="0"/>
              <a:t>Types of Errors: </a:t>
            </a:r>
            <a:r>
              <a:rPr lang="en-CA" sz="3100" dirty="0">
                <a:solidFill>
                  <a:srgbClr val="FF0000"/>
                </a:solidFill>
              </a:rPr>
              <a:t>Logic Errors  </a:t>
            </a:r>
            <a:r>
              <a:rPr lang="en-CA" sz="3100" dirty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CA" sz="3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F919B1-328B-4253-AA0C-DB92ADF5D1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3586" y="1262270"/>
                <a:ext cx="10668000" cy="5321092"/>
              </a:xfrm>
            </p:spPr>
            <p:txBody>
              <a:bodyPr>
                <a:normAutofit/>
              </a:bodyPr>
              <a:lstStyle/>
              <a:p>
                <a:r>
                  <a:rPr lang="en-CA" dirty="0">
                    <a:solidFill>
                      <a:srgbClr val="92D050"/>
                    </a:solidFill>
                  </a:rPr>
                  <a:t>Errors that prevent your program from doing what you intend it to do, producing an unexpected result</a:t>
                </a:r>
              </a:p>
              <a:p>
                <a:pPr lvl="1"/>
                <a:r>
                  <a:rPr lang="en-CA" dirty="0">
                    <a:solidFill>
                      <a:srgbClr val="92D050"/>
                    </a:solidFill>
                  </a:rPr>
                  <a:t>These errors will not break your program, only give incorrect results</a:t>
                </a:r>
              </a:p>
              <a:p>
                <a:pPr>
                  <a:spcBef>
                    <a:spcPts val="0"/>
                  </a:spcBef>
                </a:pPr>
                <a:endParaRPr lang="en-CA" sz="1400" dirty="0">
                  <a:solidFill>
                    <a:srgbClr val="92D050"/>
                  </a:solidFill>
                </a:endParaRPr>
              </a:p>
              <a:p>
                <a:r>
                  <a:rPr lang="en-CA" dirty="0"/>
                  <a:t>For Example: using 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CA" dirty="0"/>
                  <a:t> instead of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CA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CA" dirty="0"/>
                  <a:t> to calculate circle area</a:t>
                </a:r>
              </a:p>
              <a:p>
                <a:endParaRPr lang="en-CA" dirty="0"/>
              </a:p>
              <a:p>
                <a:pPr>
                  <a:spcBef>
                    <a:spcPts val="0"/>
                  </a:spcBef>
                </a:pPr>
                <a:endParaRPr lang="en-CA" sz="1400" dirty="0">
                  <a:solidFill>
                    <a:srgbClr val="92D050"/>
                  </a:solidFill>
                </a:endParaRPr>
              </a:p>
              <a:p>
                <a:r>
                  <a:rPr lang="en-CA" dirty="0"/>
                  <a:t>Because these errors do not break our program, they often go unnoticed.  </a:t>
                </a:r>
              </a:p>
              <a:p>
                <a:r>
                  <a:rPr lang="en-CA" dirty="0"/>
                  <a:t>This also makes them the most challenging to find and fix because you do not necessarily know what is the cause of the problem</a:t>
                </a:r>
              </a:p>
              <a:p>
                <a:pPr lvl="1"/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F919B1-328B-4253-AA0C-DB92ADF5D1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586" y="1262270"/>
                <a:ext cx="10668000" cy="5321092"/>
              </a:xfrm>
              <a:blipFill>
                <a:blip r:embed="rId2"/>
                <a:stretch>
                  <a:fillRect l="-743" t="-1604" r="-1314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357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CAB83-47F3-4CEA-83FF-7D506141D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Find the Logic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D4C0-306C-4D51-BA4D-CAB952484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double radius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Consolas" panose="020B0609020204030204" pitchFamily="49" charset="0"/>
              </a:rPr>
              <a:t>double area;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0" dirty="0">
                <a:effectLst/>
                <a:latin typeface="Consolas" panose="020B0609020204030204" pitchFamily="49" charset="0"/>
              </a:rPr>
              <a:t>area = 2 * </a:t>
            </a:r>
            <a:r>
              <a:rPr lang="en-US" sz="2800" b="0" dirty="0" err="1">
                <a:effectLst/>
                <a:latin typeface="Consolas" panose="020B0609020204030204" pitchFamily="49" charset="0"/>
              </a:rPr>
              <a:t>Math.PI</a:t>
            </a:r>
            <a:r>
              <a:rPr lang="en-US" sz="2800" b="0" dirty="0">
                <a:effectLst/>
                <a:latin typeface="Consolas" panose="020B0609020204030204" pitchFamily="49" charset="0"/>
              </a:rPr>
              <a:t> * radius;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err="1">
                <a:latin typeface="Consolas" panose="020B0609020204030204" pitchFamily="49" charset="0"/>
              </a:rPr>
              <a:t>Console.WriteLine</a:t>
            </a:r>
            <a:r>
              <a:rPr lang="en-US" dirty="0">
                <a:latin typeface="Consolas" panose="020B0609020204030204" pitchFamily="49" charset="0"/>
              </a:rPr>
              <a:t>(“The area is: ” + radius);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F03539A-93FC-4CCC-A49C-52C36C2CD080}"/>
              </a:ext>
            </a:extLst>
          </p:cNvPr>
          <p:cNvCxnSpPr>
            <a:cxnSpLocks/>
          </p:cNvCxnSpPr>
          <p:nvPr/>
        </p:nvCxnSpPr>
        <p:spPr>
          <a:xfrm flipH="1">
            <a:off x="6374642" y="2145069"/>
            <a:ext cx="1220416" cy="1283931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6D6BF3F-2126-4FDD-80C5-94E2AC794950}"/>
              </a:ext>
            </a:extLst>
          </p:cNvPr>
          <p:cNvSpPr txBox="1"/>
          <p:nvPr/>
        </p:nvSpPr>
        <p:spPr>
          <a:xfrm>
            <a:off x="6490258" y="1701797"/>
            <a:ext cx="4976527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/>
              <a:t>radius is still 0, it needs a proper value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D1DC81D-B7D4-4EA4-A50C-7CA02FBCF16B}"/>
              </a:ext>
            </a:extLst>
          </p:cNvPr>
          <p:cNvCxnSpPr>
            <a:cxnSpLocks/>
          </p:cNvCxnSpPr>
          <p:nvPr/>
        </p:nvCxnSpPr>
        <p:spPr>
          <a:xfrm flipH="1">
            <a:off x="6821214" y="3153225"/>
            <a:ext cx="1189003" cy="399272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FB58F1A-633C-4340-8174-E86723594CB3}"/>
              </a:ext>
            </a:extLst>
          </p:cNvPr>
          <p:cNvSpPr txBox="1"/>
          <p:nvPr/>
        </p:nvSpPr>
        <p:spPr>
          <a:xfrm>
            <a:off x="7444984" y="2691560"/>
            <a:ext cx="3872333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/>
              <a:t>Wrong equation, PI * radius</a:t>
            </a:r>
            <a:r>
              <a:rPr lang="en-CA" baseline="30000" dirty="0"/>
              <a:t>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F4FB28-0B9D-4055-9AFC-30F4CCF33776}"/>
              </a:ext>
            </a:extLst>
          </p:cNvPr>
          <p:cNvCxnSpPr>
            <a:cxnSpLocks/>
          </p:cNvCxnSpPr>
          <p:nvPr/>
        </p:nvCxnSpPr>
        <p:spPr>
          <a:xfrm flipV="1">
            <a:off x="8839200" y="4293577"/>
            <a:ext cx="0" cy="989763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EF7875E-E1E8-45B8-BE96-C4A7DB7FE216}"/>
              </a:ext>
            </a:extLst>
          </p:cNvPr>
          <p:cNvSpPr txBox="1"/>
          <p:nvPr/>
        </p:nvSpPr>
        <p:spPr>
          <a:xfrm>
            <a:off x="5947260" y="5283340"/>
            <a:ext cx="3872333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dirty="0"/>
              <a:t>Wrong variable displayed</a:t>
            </a:r>
            <a:endParaRPr lang="en-CA" baseline="30000" dirty="0"/>
          </a:p>
        </p:txBody>
      </p:sp>
    </p:spTree>
    <p:extLst>
      <p:ext uri="{BB962C8B-B14F-4D97-AF65-F5344CB8AC3E}">
        <p14:creationId xmlns:p14="http://schemas.microsoft.com/office/powerpoint/2010/main" val="170395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C074B-5046-4583-892A-8F257C180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274638"/>
            <a:ext cx="10363200" cy="618742"/>
          </a:xfrm>
        </p:spPr>
        <p:txBody>
          <a:bodyPr/>
          <a:lstStyle/>
          <a:p>
            <a:r>
              <a:rPr lang="en-CA" dirty="0"/>
              <a:t>Tips to Solve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F8AA7-1DB0-4763-80CF-F05AEAC83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998483"/>
            <a:ext cx="10636468" cy="5584880"/>
          </a:xfrm>
        </p:spPr>
        <p:txBody>
          <a:bodyPr>
            <a:normAutofit fontScale="92500" lnSpcReduction="10000"/>
          </a:bodyPr>
          <a:lstStyle/>
          <a:p>
            <a:r>
              <a:rPr lang="en-CA" dirty="0">
                <a:solidFill>
                  <a:srgbClr val="FF0000"/>
                </a:solidFill>
              </a:rPr>
              <a:t>Compiler Errors</a:t>
            </a:r>
          </a:p>
          <a:p>
            <a:pPr lvl="1"/>
            <a:r>
              <a:rPr lang="en-CA" dirty="0"/>
              <a:t>Always start with the top error</a:t>
            </a:r>
          </a:p>
          <a:p>
            <a:pPr lvl="1"/>
            <a:r>
              <a:rPr lang="en-CA" dirty="0"/>
              <a:t>Fix one error at a time, then test again…many may disappear</a:t>
            </a:r>
          </a:p>
          <a:p>
            <a:pPr lvl="1"/>
            <a:endParaRPr lang="en-CA" dirty="0"/>
          </a:p>
          <a:p>
            <a:r>
              <a:rPr lang="en-CA" dirty="0">
                <a:solidFill>
                  <a:srgbClr val="FF0000"/>
                </a:solidFill>
              </a:rPr>
              <a:t>Runtime</a:t>
            </a:r>
            <a:r>
              <a:rPr lang="en-CA" dirty="0"/>
              <a:t>/</a:t>
            </a:r>
            <a:r>
              <a:rPr lang="en-CA" dirty="0">
                <a:solidFill>
                  <a:srgbClr val="FF0000"/>
                </a:solidFill>
              </a:rPr>
              <a:t>Logic</a:t>
            </a:r>
            <a:r>
              <a:rPr lang="en-CA" dirty="0"/>
              <a:t> </a:t>
            </a:r>
            <a:r>
              <a:rPr lang="en-CA" dirty="0">
                <a:solidFill>
                  <a:srgbClr val="FF0000"/>
                </a:solidFill>
              </a:rPr>
              <a:t>Errors</a:t>
            </a:r>
          </a:p>
          <a:p>
            <a:pPr lvl="1"/>
            <a:r>
              <a:rPr lang="en-CA" dirty="0"/>
              <a:t>A runtime error will tell you where the issue was in the error message</a:t>
            </a:r>
          </a:p>
          <a:p>
            <a:pPr lvl="1"/>
            <a:r>
              <a:rPr lang="en-CA" dirty="0"/>
              <a:t>A logic error you have to discover it exists, then track down the line with the problem</a:t>
            </a:r>
          </a:p>
          <a:p>
            <a:pPr lvl="1"/>
            <a:r>
              <a:rPr lang="en-CA" dirty="0"/>
              <a:t>For both types of errors we use the same techniques:</a:t>
            </a:r>
          </a:p>
          <a:p>
            <a:pPr lvl="2"/>
            <a:r>
              <a:rPr lang="en-CA" dirty="0"/>
              <a:t>Analyse the line with the error on it by looking at the method calls and the data give to those methods</a:t>
            </a:r>
          </a:p>
          <a:p>
            <a:pPr lvl="3"/>
            <a:r>
              <a:rPr lang="en-CA" dirty="0"/>
              <a:t>Check their type first, then their values</a:t>
            </a:r>
          </a:p>
          <a:p>
            <a:pPr lvl="3"/>
            <a:r>
              <a:rPr lang="en-CA" dirty="0"/>
              <a:t>Work your way backwards until you found how the value was determined to find the issue</a:t>
            </a:r>
          </a:p>
          <a:p>
            <a:pPr lvl="3"/>
            <a:r>
              <a:rPr lang="en-CA" dirty="0"/>
              <a:t>Step through your code one line at a time</a:t>
            </a:r>
          </a:p>
          <a:p>
            <a:pPr lvl="3"/>
            <a:r>
              <a:rPr lang="en-CA" dirty="0"/>
              <a:t>Make use of temporary output statements to display variable values (or use Variable windows if you are using Visual Studio or Eclipse to write code)</a:t>
            </a:r>
          </a:p>
        </p:txBody>
      </p:sp>
    </p:spTree>
    <p:extLst>
      <p:ext uri="{BB962C8B-B14F-4D97-AF65-F5344CB8AC3E}">
        <p14:creationId xmlns:p14="http://schemas.microsoft.com/office/powerpoint/2010/main" val="46681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SLesson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CSLessonTheme" id="{E5C224CD-0DE8-4810-B8D0-B7191DD2EB93}" vid="{B7C52DB4-96F6-475F-BE57-A21AC0DF06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CSLessonTheme</Template>
  <TotalTime>158</TotalTime>
  <Words>699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Consolas</vt:lpstr>
      <vt:lpstr>CSLessonTheme</vt:lpstr>
      <vt:lpstr>Errors in Programming</vt:lpstr>
      <vt:lpstr>Introduction</vt:lpstr>
      <vt:lpstr>Types of Errors: Compiler Errors (also known as Syntax Errors)</vt:lpstr>
      <vt:lpstr>Find the Compiler Errors</vt:lpstr>
      <vt:lpstr>Types of Errors: Runtime Errors</vt:lpstr>
      <vt:lpstr>Find the Runtime Errors</vt:lpstr>
      <vt:lpstr>Types of Errors: Logic Errors  </vt:lpstr>
      <vt:lpstr>Find the Logic Errors</vt:lpstr>
      <vt:lpstr>Tips to Solve Errors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Errors in Programming</dc:title>
  <dc:creator>Trevor Lane</dc:creator>
  <cp:lastModifiedBy>Trevor Lane</cp:lastModifiedBy>
  <cp:revision>12</cp:revision>
  <dcterms:created xsi:type="dcterms:W3CDTF">2020-11-03T15:27:12Z</dcterms:created>
  <dcterms:modified xsi:type="dcterms:W3CDTF">2022-04-21T13:16:27Z</dcterms:modified>
</cp:coreProperties>
</file>