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59" r:id="rId14"/>
    <p:sldId id="260" r:id="rId15"/>
    <p:sldId id="268" r:id="rId1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109" d="100"/>
          <a:sy n="109" d="100"/>
        </p:scale>
        <p:origin x="114" y="600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4/24/2025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4/24/2025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4/24/2025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4/24/2025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4/24/2025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4/24/2025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4/24/2025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4/24/2025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4/24/2025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4/24/2025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4/24/2025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4/24/2025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4/24/2025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Introduction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1A806-9AF5-4FE5-A6BA-1AC1D29AC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17CED-584E-44FE-ADCE-BD2A9E041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Learn about arrays and when to use them</a:t>
            </a:r>
          </a:p>
          <a:p>
            <a:r>
              <a:rPr lang="en-CA" dirty="0"/>
              <a:t>Learn the syntax to declare/define a new array of any type</a:t>
            </a:r>
          </a:p>
          <a:p>
            <a:endParaRPr lang="en-CA" dirty="0"/>
          </a:p>
          <a:p>
            <a:pPr marL="0" indent="0">
              <a:buNone/>
            </a:pPr>
            <a:r>
              <a:rPr lang="en-CA" dirty="0">
                <a:solidFill>
                  <a:srgbClr val="FFFF00"/>
                </a:solidFill>
              </a:rPr>
              <a:t>INTRODUCTION</a:t>
            </a:r>
          </a:p>
          <a:p>
            <a:r>
              <a:rPr lang="en-CA" dirty="0"/>
              <a:t>Imagine creating a program that stored the name of every student in the school</a:t>
            </a:r>
          </a:p>
          <a:p>
            <a:pPr lvl="1"/>
            <a:r>
              <a:rPr lang="en-CA" dirty="0"/>
              <a:t>You would need 1750 uniquely named string variables</a:t>
            </a:r>
          </a:p>
          <a:p>
            <a:pPr lvl="1"/>
            <a:r>
              <a:rPr lang="en-CA" dirty="0"/>
              <a:t>To display a name using their student number, you would need a MASSIVE if or switch statement to figure out which one to display</a:t>
            </a:r>
          </a:p>
        </p:txBody>
      </p:sp>
    </p:spTree>
    <p:extLst>
      <p:ext uri="{BB962C8B-B14F-4D97-AF65-F5344CB8AC3E}">
        <p14:creationId xmlns:p14="http://schemas.microsoft.com/office/powerpoint/2010/main" val="165932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80F23-6CA4-4C8A-B3C9-DD86C40F3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359" y="260648"/>
            <a:ext cx="10360501" cy="1223963"/>
          </a:xfrm>
        </p:spPr>
        <p:txBody>
          <a:bodyPr/>
          <a:lstStyle/>
          <a:p>
            <a:r>
              <a:rPr lang="en-CA" dirty="0"/>
              <a:t>What is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6970D-0C1D-4583-8A9C-25BBF65C6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359" y="1687808"/>
            <a:ext cx="4875529" cy="4967563"/>
          </a:xfrm>
        </p:spPr>
        <p:txBody>
          <a:bodyPr>
            <a:normAutofit/>
          </a:bodyPr>
          <a:lstStyle/>
          <a:p>
            <a:r>
              <a:rPr lang="en-CA" dirty="0"/>
              <a:t>An array is a variable that holds a </a:t>
            </a:r>
            <a:r>
              <a:rPr lang="en-CA" dirty="0">
                <a:solidFill>
                  <a:srgbClr val="FFFF00"/>
                </a:solidFill>
              </a:rPr>
              <a:t>collection</a:t>
            </a:r>
            <a:r>
              <a:rPr lang="en-CA" dirty="0"/>
              <a:t> of </a:t>
            </a:r>
            <a:r>
              <a:rPr lang="en-CA" dirty="0">
                <a:solidFill>
                  <a:srgbClr val="FFFF00"/>
                </a:solidFill>
              </a:rPr>
              <a:t>related</a:t>
            </a:r>
            <a:r>
              <a:rPr lang="en-CA" dirty="0"/>
              <a:t> data of a </a:t>
            </a:r>
            <a:r>
              <a:rPr lang="en-CA" dirty="0">
                <a:solidFill>
                  <a:srgbClr val="FFFF00"/>
                </a:solidFill>
              </a:rPr>
              <a:t>single type</a:t>
            </a:r>
          </a:p>
          <a:p>
            <a:endParaRPr lang="en-CA" dirty="0">
              <a:solidFill>
                <a:srgbClr val="FFFF00"/>
              </a:solidFill>
            </a:endParaRPr>
          </a:p>
          <a:p>
            <a:r>
              <a:rPr lang="en-CA" dirty="0"/>
              <a:t>The </a:t>
            </a:r>
            <a:r>
              <a:rPr lang="en-CA" dirty="0">
                <a:solidFill>
                  <a:srgbClr val="92D050"/>
                </a:solidFill>
              </a:rPr>
              <a:t>size</a:t>
            </a:r>
            <a:r>
              <a:rPr lang="en-CA" dirty="0"/>
              <a:t> (length) of an array is assigned when it is defined</a:t>
            </a:r>
          </a:p>
          <a:p>
            <a:endParaRPr lang="en-CA" dirty="0">
              <a:solidFill>
                <a:srgbClr val="FFFF00"/>
              </a:solidFill>
            </a:endParaRPr>
          </a:p>
          <a:p>
            <a:r>
              <a:rPr lang="en-CA" dirty="0"/>
              <a:t>Each component of the array has an address, called an </a:t>
            </a:r>
            <a:r>
              <a:rPr lang="en-CA" dirty="0">
                <a:solidFill>
                  <a:srgbClr val="92D050"/>
                </a:solidFill>
              </a:rPr>
              <a:t>index</a:t>
            </a:r>
          </a:p>
        </p:txBody>
      </p:sp>
      <p:pic>
        <p:nvPicPr>
          <p:cNvPr id="1026" name="Picture 2" descr="Illustration of an array as 10 boxes numbered 0 through 9; an index of 0 indicates the first element in the array">
            <a:extLst>
              <a:ext uri="{FF2B5EF4-FFF2-40B4-BE49-F238E27FC236}">
                <a16:creationId xmlns:a16="http://schemas.microsoft.com/office/drawing/2014/main" id="{93D0465E-96DF-4F87-AE23-D5F49AF42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752" y="927884"/>
            <a:ext cx="3190875" cy="1181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129B80-93C2-4EF4-9DAC-A5C8D7ACD2B1}"/>
              </a:ext>
            </a:extLst>
          </p:cNvPr>
          <p:cNvSpPr txBox="1"/>
          <p:nvPr/>
        </p:nvSpPr>
        <p:spPr>
          <a:xfrm>
            <a:off x="7534572" y="404664"/>
            <a:ext cx="3665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92D050"/>
                </a:solidFill>
              </a:rPr>
              <a:t>How we visualize 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C99E0B-FB2C-4403-9600-BBEDFCACF7D9}"/>
              </a:ext>
            </a:extLst>
          </p:cNvPr>
          <p:cNvSpPr txBox="1"/>
          <p:nvPr/>
        </p:nvSpPr>
        <p:spPr>
          <a:xfrm>
            <a:off x="5788888" y="2312181"/>
            <a:ext cx="6281387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solidFill>
                  <a:srgbClr val="92D050"/>
                </a:solidFill>
              </a:rPr>
              <a:t>Array Terminology: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solidFill>
                  <a:srgbClr val="FF0000"/>
                </a:solidFill>
              </a:rPr>
              <a:t>Element</a:t>
            </a:r>
            <a:r>
              <a:rPr lang="en-CA" sz="2800" dirty="0"/>
              <a:t>: One </a:t>
            </a:r>
            <a:r>
              <a:rPr lang="en-CA" sz="3200" dirty="0"/>
              <a:t>component</a:t>
            </a:r>
            <a:r>
              <a:rPr lang="en-CA" sz="2800" dirty="0"/>
              <a:t> of an array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solidFill>
                  <a:srgbClr val="FF0000"/>
                </a:solidFill>
              </a:rPr>
              <a:t>Length</a:t>
            </a:r>
            <a:r>
              <a:rPr lang="en-CA" sz="2800" dirty="0"/>
              <a:t>: The number of elements in an array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solidFill>
                  <a:srgbClr val="FF0000"/>
                </a:solidFill>
              </a:rPr>
              <a:t>Index</a:t>
            </a:r>
            <a:r>
              <a:rPr lang="en-CA" sz="2800" dirty="0"/>
              <a:t>: The address of an element of an array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>
                <a:solidFill>
                  <a:srgbClr val="FF0000"/>
                </a:solidFill>
              </a:rPr>
              <a:t>Indices</a:t>
            </a:r>
            <a:r>
              <a:rPr lang="en-CA" sz="2800" dirty="0"/>
              <a:t>: The plural of index</a:t>
            </a:r>
          </a:p>
        </p:txBody>
      </p:sp>
    </p:spTree>
    <p:extLst>
      <p:ext uri="{BB962C8B-B14F-4D97-AF65-F5344CB8AC3E}">
        <p14:creationId xmlns:p14="http://schemas.microsoft.com/office/powerpoint/2010/main" val="3494863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26BFF-718D-4358-8585-F7295C615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354163"/>
          </a:xfrm>
        </p:spPr>
        <p:txBody>
          <a:bodyPr/>
          <a:lstStyle/>
          <a:p>
            <a:r>
              <a:rPr lang="en-CA" dirty="0"/>
              <a:t>Discussing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6F495-E412-4969-8A9C-D9649A9D0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7" y="1844824"/>
            <a:ext cx="11017224" cy="4738539"/>
          </a:xfrm>
        </p:spPr>
        <p:txBody>
          <a:bodyPr/>
          <a:lstStyle/>
          <a:p>
            <a:r>
              <a:rPr lang="en-CA" dirty="0"/>
              <a:t>Imagine we have an </a:t>
            </a:r>
            <a:r>
              <a:rPr lang="en-CA" dirty="0">
                <a:solidFill>
                  <a:srgbClr val="FFFF00"/>
                </a:solidFill>
              </a:rPr>
              <a:t>int</a:t>
            </a:r>
            <a:r>
              <a:rPr lang="en-CA" dirty="0"/>
              <a:t> array named </a:t>
            </a:r>
            <a:r>
              <a:rPr lang="en-CA" dirty="0" err="1">
                <a:solidFill>
                  <a:srgbClr val="FFFF00"/>
                </a:solidFill>
              </a:rPr>
              <a:t>nums</a:t>
            </a:r>
            <a:r>
              <a:rPr lang="en-CA" dirty="0"/>
              <a:t>, which has the following data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I might say “</a:t>
            </a:r>
            <a:r>
              <a:rPr lang="en-CA" dirty="0">
                <a:solidFill>
                  <a:srgbClr val="00B0F0"/>
                </a:solidFill>
              </a:rPr>
              <a:t>Which value is stored at index 4</a:t>
            </a:r>
            <a:r>
              <a:rPr lang="en-CA" dirty="0"/>
              <a:t>”</a:t>
            </a:r>
          </a:p>
          <a:p>
            <a:pPr lvl="1"/>
            <a:r>
              <a:rPr lang="en-CA" dirty="0"/>
              <a:t>The answer is </a:t>
            </a:r>
            <a:r>
              <a:rPr lang="en-CA" b="1" dirty="0" smtClean="0">
                <a:solidFill>
                  <a:srgbClr val="92D050"/>
                </a:solidFill>
              </a:rPr>
              <a:t>7</a:t>
            </a:r>
            <a:endParaRPr lang="en-CA" b="1" dirty="0">
              <a:solidFill>
                <a:srgbClr val="92D050"/>
              </a:solidFill>
            </a:endParaRPr>
          </a:p>
          <a:p>
            <a:r>
              <a:rPr lang="en-CA" dirty="0"/>
              <a:t>I might say “</a:t>
            </a:r>
            <a:r>
              <a:rPr lang="en-CA" dirty="0">
                <a:solidFill>
                  <a:srgbClr val="00B0F0"/>
                </a:solidFill>
              </a:rPr>
              <a:t>Which value is stored at the fourth index</a:t>
            </a:r>
            <a:r>
              <a:rPr lang="en-CA" dirty="0"/>
              <a:t>”</a:t>
            </a:r>
          </a:p>
          <a:p>
            <a:pPr lvl="1"/>
            <a:r>
              <a:rPr lang="en-CA" dirty="0"/>
              <a:t>The answer is, </a:t>
            </a:r>
            <a:r>
              <a:rPr lang="en-CA" b="1" dirty="0">
                <a:solidFill>
                  <a:srgbClr val="92D050"/>
                </a:solidFill>
              </a:rPr>
              <a:t>-1</a:t>
            </a:r>
            <a:r>
              <a:rPr lang="en-CA" dirty="0"/>
              <a:t>.  </a:t>
            </a:r>
            <a:r>
              <a:rPr lang="en-CA" dirty="0" smtClean="0"/>
              <a:t>(Notice </a:t>
            </a:r>
            <a:r>
              <a:rPr lang="en-CA" dirty="0"/>
              <a:t>the change in wording</a:t>
            </a:r>
            <a:r>
              <a:rPr lang="en-CA" dirty="0" smtClean="0"/>
              <a:t>.)</a:t>
            </a:r>
            <a:endParaRPr lang="en-CA" dirty="0"/>
          </a:p>
          <a:p>
            <a:r>
              <a:rPr lang="en-CA" dirty="0"/>
              <a:t>I might say “</a:t>
            </a:r>
            <a:r>
              <a:rPr lang="en-CA" dirty="0">
                <a:solidFill>
                  <a:srgbClr val="00B0F0"/>
                </a:solidFill>
              </a:rPr>
              <a:t>What is the length of the array</a:t>
            </a:r>
            <a:r>
              <a:rPr lang="en-CA" dirty="0"/>
              <a:t>” or “</a:t>
            </a:r>
            <a:r>
              <a:rPr lang="en-CA" dirty="0">
                <a:solidFill>
                  <a:srgbClr val="00B0F0"/>
                </a:solidFill>
              </a:rPr>
              <a:t>How big is the array</a:t>
            </a:r>
            <a:r>
              <a:rPr lang="en-CA" dirty="0"/>
              <a:t>”</a:t>
            </a:r>
          </a:p>
          <a:p>
            <a:pPr lvl="1"/>
            <a:r>
              <a:rPr lang="en-CA" dirty="0"/>
              <a:t>The answer is </a:t>
            </a:r>
            <a:r>
              <a:rPr lang="en-CA" b="1" dirty="0" smtClean="0">
                <a:solidFill>
                  <a:srgbClr val="92D050"/>
                </a:solidFill>
              </a:rPr>
              <a:t>8 </a:t>
            </a:r>
            <a:r>
              <a:rPr lang="en-CA" dirty="0" smtClean="0"/>
              <a:t>(Remember, the number of elements.  Not the last index.)</a:t>
            </a:r>
            <a:endParaRPr lang="en-CA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B98D931-E2F4-4B4E-9388-C6F19C10C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508052"/>
              </p:ext>
            </p:extLst>
          </p:nvPr>
        </p:nvGraphicFramePr>
        <p:xfrm>
          <a:off x="4566996" y="2420888"/>
          <a:ext cx="3054832" cy="55682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81854">
                  <a:extLst>
                    <a:ext uri="{9D8B030D-6E8A-4147-A177-3AD203B41FA5}">
                      <a16:colId xmlns:a16="http://schemas.microsoft.com/office/drawing/2014/main" val="1280991558"/>
                    </a:ext>
                  </a:extLst>
                </a:gridCol>
                <a:gridCol w="381854">
                  <a:extLst>
                    <a:ext uri="{9D8B030D-6E8A-4147-A177-3AD203B41FA5}">
                      <a16:colId xmlns:a16="http://schemas.microsoft.com/office/drawing/2014/main" val="2014841784"/>
                    </a:ext>
                  </a:extLst>
                </a:gridCol>
                <a:gridCol w="381854">
                  <a:extLst>
                    <a:ext uri="{9D8B030D-6E8A-4147-A177-3AD203B41FA5}">
                      <a16:colId xmlns:a16="http://schemas.microsoft.com/office/drawing/2014/main" val="76885324"/>
                    </a:ext>
                  </a:extLst>
                </a:gridCol>
                <a:gridCol w="381854">
                  <a:extLst>
                    <a:ext uri="{9D8B030D-6E8A-4147-A177-3AD203B41FA5}">
                      <a16:colId xmlns:a16="http://schemas.microsoft.com/office/drawing/2014/main" val="4030388717"/>
                    </a:ext>
                  </a:extLst>
                </a:gridCol>
                <a:gridCol w="381854">
                  <a:extLst>
                    <a:ext uri="{9D8B030D-6E8A-4147-A177-3AD203B41FA5}">
                      <a16:colId xmlns:a16="http://schemas.microsoft.com/office/drawing/2014/main" val="3717126557"/>
                    </a:ext>
                  </a:extLst>
                </a:gridCol>
                <a:gridCol w="381854">
                  <a:extLst>
                    <a:ext uri="{9D8B030D-6E8A-4147-A177-3AD203B41FA5}">
                      <a16:colId xmlns:a16="http://schemas.microsoft.com/office/drawing/2014/main" val="2991187880"/>
                    </a:ext>
                  </a:extLst>
                </a:gridCol>
                <a:gridCol w="381854">
                  <a:extLst>
                    <a:ext uri="{9D8B030D-6E8A-4147-A177-3AD203B41FA5}">
                      <a16:colId xmlns:a16="http://schemas.microsoft.com/office/drawing/2014/main" val="1308025784"/>
                    </a:ext>
                  </a:extLst>
                </a:gridCol>
                <a:gridCol w="381854">
                  <a:extLst>
                    <a:ext uri="{9D8B030D-6E8A-4147-A177-3AD203B41FA5}">
                      <a16:colId xmlns:a16="http://schemas.microsoft.com/office/drawing/2014/main" val="965655620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rgbClr val="FF0000"/>
                          </a:solidFill>
                        </a:rP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74738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CA" sz="1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0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91742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40444" y="2379921"/>
            <a:ext cx="1303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ß"/>
            </a:pPr>
            <a:r>
              <a:rPr lang="en-US" sz="1800" dirty="0" smtClean="0">
                <a:solidFill>
                  <a:srgbClr val="FFFF00"/>
                </a:solidFill>
                <a:sym typeface="Wingdings" panose="05000000000000000000" pitchFamily="2" charset="2"/>
              </a:rPr>
              <a:t>Values</a:t>
            </a:r>
          </a:p>
          <a:p>
            <a:pPr marL="457200" indent="-457200">
              <a:buFont typeface="Wingdings" panose="05000000000000000000" pitchFamily="2" charset="2"/>
              <a:buChar char="ß"/>
            </a:pPr>
            <a:r>
              <a:rPr lang="en-US" sz="1800" dirty="0" smtClean="0">
                <a:solidFill>
                  <a:srgbClr val="FFFF00"/>
                </a:solidFill>
                <a:sym typeface="Wingdings" panose="05000000000000000000" pitchFamily="2" charset="2"/>
              </a:rPr>
              <a:t>Indices</a:t>
            </a:r>
            <a:endParaRPr lang="en-US" sz="1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69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07381-AAA3-4307-ACB9-803B21316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8BFF9-253B-4F09-A8C1-AED3A2A66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6"/>
            <a:ext cx="10564161" cy="4679531"/>
          </a:xfrm>
        </p:spPr>
        <p:txBody>
          <a:bodyPr>
            <a:normAutofit/>
          </a:bodyPr>
          <a:lstStyle/>
          <a:p>
            <a:r>
              <a:rPr lang="en-CA" dirty="0"/>
              <a:t>If we have a regular variable and we want to access its value we </a:t>
            </a:r>
            <a:r>
              <a:rPr lang="en-CA" dirty="0" smtClean="0">
                <a:solidFill>
                  <a:srgbClr val="FFFF00"/>
                </a:solidFill>
              </a:rPr>
              <a:t>call </a:t>
            </a:r>
            <a:r>
              <a:rPr lang="en-CA" dirty="0">
                <a:solidFill>
                  <a:srgbClr val="FFFF00"/>
                </a:solidFill>
              </a:rPr>
              <a:t>it by </a:t>
            </a:r>
            <a:r>
              <a:rPr lang="en-CA" dirty="0">
                <a:solidFill>
                  <a:srgbClr val="FF0000"/>
                </a:solidFill>
              </a:rPr>
              <a:t>name</a:t>
            </a:r>
            <a:r>
              <a:rPr lang="en-CA" dirty="0"/>
              <a:t>: e.g. </a:t>
            </a:r>
            <a:r>
              <a:rPr lang="en-CA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Console.WriteLine</a:t>
            </a: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(</a:t>
            </a:r>
            <a:r>
              <a:rPr lang="en-CA" sz="2400" dirty="0" err="1">
                <a:solidFill>
                  <a:srgbClr val="00B0F0"/>
                </a:solidFill>
                <a:latin typeface="Consolas" panose="020B0609020204030204" pitchFamily="49" charset="0"/>
              </a:rPr>
              <a:t>userAge</a:t>
            </a:r>
            <a:r>
              <a:rPr lang="en-CA" sz="2400" dirty="0">
                <a:solidFill>
                  <a:srgbClr val="00B0F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CA" dirty="0"/>
          </a:p>
          <a:p>
            <a:r>
              <a:rPr lang="en-CA" dirty="0"/>
              <a:t>Similarly, if we want to access a value in an array we </a:t>
            </a:r>
            <a:r>
              <a:rPr lang="en-CA" dirty="0" smtClean="0"/>
              <a:t>call </a:t>
            </a:r>
            <a:r>
              <a:rPr lang="en-CA" dirty="0"/>
              <a:t>it by </a:t>
            </a:r>
            <a:r>
              <a:rPr lang="en-CA" dirty="0">
                <a:solidFill>
                  <a:srgbClr val="FF0000"/>
                </a:solidFill>
              </a:rPr>
              <a:t>name</a:t>
            </a:r>
            <a:r>
              <a:rPr lang="en-CA" dirty="0"/>
              <a:t>, but now </a:t>
            </a:r>
            <a:r>
              <a:rPr lang="en-CA" dirty="0">
                <a:solidFill>
                  <a:srgbClr val="FFFF00"/>
                </a:solidFill>
              </a:rPr>
              <a:t>we must also specify which </a:t>
            </a:r>
            <a:r>
              <a:rPr lang="en-CA" dirty="0">
                <a:solidFill>
                  <a:srgbClr val="FF0000"/>
                </a:solidFill>
              </a:rPr>
              <a:t>index</a:t>
            </a:r>
            <a:r>
              <a:rPr lang="en-CA" dirty="0">
                <a:solidFill>
                  <a:srgbClr val="FFFF00"/>
                </a:solidFill>
              </a:rPr>
              <a:t> we want</a:t>
            </a:r>
            <a:r>
              <a:rPr lang="en-CA" dirty="0"/>
              <a:t>.  We do this with square brackets</a:t>
            </a:r>
            <a:r>
              <a:rPr lang="en-CA" dirty="0" smtClean="0"/>
              <a:t>.  This is the same as accessing a character in a string.</a:t>
            </a:r>
            <a:endParaRPr lang="en-CA" dirty="0"/>
          </a:p>
          <a:p>
            <a:pPr lvl="1"/>
            <a:r>
              <a:rPr lang="en-CA" dirty="0"/>
              <a:t>E.g. Assuming we have a string array called names</a:t>
            </a:r>
            <a:br>
              <a:rPr lang="en-CA" dirty="0"/>
            </a:b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Console.WriteLine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(names[0]); </a:t>
            </a:r>
            <a:r>
              <a:rPr lang="en-CA" dirty="0">
                <a:sym typeface="Wingdings" panose="05000000000000000000" pitchFamily="2" charset="2"/>
              </a:rPr>
              <a:t> Prints out the name stored at index 0</a:t>
            </a:r>
          </a:p>
          <a:p>
            <a:r>
              <a:rPr lang="en-CA" dirty="0">
                <a:sym typeface="Wingdings" panose="05000000000000000000" pitchFamily="2" charset="2"/>
              </a:rPr>
              <a:t>If we accidentally use an index number that is too big or small for the array we will get an “</a:t>
            </a:r>
            <a:r>
              <a:rPr lang="en-CA" dirty="0">
                <a:solidFill>
                  <a:srgbClr val="FFFF00"/>
                </a:solidFill>
                <a:sym typeface="Wingdings" panose="05000000000000000000" pitchFamily="2" charset="2"/>
              </a:rPr>
              <a:t>out of bounds</a:t>
            </a:r>
            <a:r>
              <a:rPr lang="en-CA" dirty="0">
                <a:sym typeface="Wingdings" panose="05000000000000000000" pitchFamily="2" charset="2"/>
              </a:rPr>
              <a:t>” error, </a:t>
            </a:r>
            <a:r>
              <a:rPr lang="en-CA" b="1" dirty="0">
                <a:solidFill>
                  <a:srgbClr val="FF0000"/>
                </a:solidFill>
                <a:sym typeface="Wingdings" panose="05000000000000000000" pitchFamily="2" charset="2"/>
              </a:rPr>
              <a:t>crashing</a:t>
            </a:r>
            <a:r>
              <a:rPr lang="en-CA" dirty="0">
                <a:sym typeface="Wingdings" panose="05000000000000000000" pitchFamily="2" charset="2"/>
              </a:rPr>
              <a:t> the program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0094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DBD2C-7A8F-43D8-9078-17BCC5246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922115"/>
          </a:xfrm>
        </p:spPr>
        <p:txBody>
          <a:bodyPr/>
          <a:lstStyle/>
          <a:p>
            <a:r>
              <a:rPr lang="en-CA" dirty="0"/>
              <a:t>Indices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C8B9D-B852-4A1C-83FA-D0B3DE0C8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861" y="1412776"/>
            <a:ext cx="10729192" cy="4968552"/>
          </a:xfrm>
        </p:spPr>
        <p:txBody>
          <a:bodyPr>
            <a:normAutofit/>
          </a:bodyPr>
          <a:lstStyle/>
          <a:p>
            <a:r>
              <a:rPr lang="en-CA" dirty="0"/>
              <a:t>When specifying the index of an array in the square brackets we can use </a:t>
            </a:r>
            <a:r>
              <a:rPr lang="en-CA" dirty="0">
                <a:solidFill>
                  <a:srgbClr val="00B0F0"/>
                </a:solidFill>
              </a:rPr>
              <a:t>any</a:t>
            </a:r>
            <a:r>
              <a:rPr lang="en-CA" dirty="0"/>
              <a:t> expression that results in an integer </a:t>
            </a:r>
            <a:r>
              <a:rPr lang="en-CA" dirty="0">
                <a:solidFill>
                  <a:srgbClr val="FFC000"/>
                </a:solidFill>
              </a:rPr>
              <a:t>between 0 and the array length – </a:t>
            </a:r>
            <a:r>
              <a:rPr lang="en-CA" dirty="0" smtClean="0">
                <a:solidFill>
                  <a:srgbClr val="FFC000"/>
                </a:solidFill>
              </a:rPr>
              <a:t>1</a:t>
            </a:r>
          </a:p>
          <a:p>
            <a:pPr lvl="1"/>
            <a:r>
              <a:rPr lang="en-CA" dirty="0" smtClean="0">
                <a:solidFill>
                  <a:srgbClr val="FFFF00"/>
                </a:solidFill>
              </a:rPr>
              <a:t>NOTE:</a:t>
            </a:r>
            <a:r>
              <a:rPr lang="en-CA" dirty="0" smtClean="0">
                <a:solidFill>
                  <a:srgbClr val="FFC000"/>
                </a:solidFill>
              </a:rPr>
              <a:t> </a:t>
            </a:r>
            <a:r>
              <a:rPr lang="en-CA" dirty="0" smtClean="0"/>
              <a:t>Just like strings, arrays have an index range of </a:t>
            </a:r>
            <a:r>
              <a:rPr lang="en-CA" dirty="0" smtClean="0">
                <a:solidFill>
                  <a:srgbClr val="00B0F0"/>
                </a:solidFill>
              </a:rPr>
              <a:t>0 to length - 1</a:t>
            </a:r>
            <a:endParaRPr lang="en-CA" dirty="0">
              <a:solidFill>
                <a:srgbClr val="00B0F0"/>
              </a:solidFill>
            </a:endParaRPr>
          </a:p>
          <a:p>
            <a:endParaRPr lang="en-CA" dirty="0"/>
          </a:p>
          <a:p>
            <a:r>
              <a:rPr lang="en-CA" dirty="0">
                <a:solidFill>
                  <a:srgbClr val="FF0000"/>
                </a:solidFill>
              </a:rPr>
              <a:t>For Example</a:t>
            </a:r>
            <a:r>
              <a:rPr lang="en-CA" dirty="0"/>
              <a:t>: Assuming we have </a:t>
            </a:r>
            <a:r>
              <a:rPr lang="en-CA" dirty="0" smtClean="0"/>
              <a:t>a </a:t>
            </a:r>
            <a:r>
              <a:rPr lang="en-CA" dirty="0">
                <a:solidFill>
                  <a:srgbClr val="FFC000"/>
                </a:solidFill>
              </a:rPr>
              <a:t>string array</a:t>
            </a:r>
            <a:r>
              <a:rPr lang="en-CA" dirty="0"/>
              <a:t> named </a:t>
            </a:r>
            <a:r>
              <a:rPr lang="en-CA" dirty="0">
                <a:solidFill>
                  <a:srgbClr val="FFC000"/>
                </a:solidFill>
              </a:rPr>
              <a:t>names</a:t>
            </a:r>
          </a:p>
          <a:p>
            <a:pPr lvl="1"/>
            <a:r>
              <a:rPr lang="en-CA" sz="2000" dirty="0">
                <a:latin typeface="Consolas" panose="020B0609020204030204" pitchFamily="49" charset="0"/>
              </a:rPr>
              <a:t>names[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</a:rPr>
              <a:t>3</a:t>
            </a:r>
            <a:r>
              <a:rPr lang="en-CA" sz="2000" dirty="0">
                <a:latin typeface="Consolas" panose="020B0609020204030204" pitchFamily="49" charset="0"/>
              </a:rPr>
              <a:t>]</a:t>
            </a:r>
            <a:r>
              <a:rPr lang="en-CA" dirty="0"/>
              <a:t> </a:t>
            </a:r>
            <a:r>
              <a:rPr lang="en-CA" dirty="0">
                <a:sym typeface="Wingdings" panose="05000000000000000000" pitchFamily="2" charset="2"/>
              </a:rPr>
              <a:t> References the 4</a:t>
            </a:r>
            <a:r>
              <a:rPr lang="en-CA" baseline="30000" dirty="0">
                <a:sym typeface="Wingdings" panose="05000000000000000000" pitchFamily="2" charset="2"/>
              </a:rPr>
              <a:t>th</a:t>
            </a:r>
            <a:r>
              <a:rPr lang="en-CA" dirty="0">
                <a:sym typeface="Wingdings" panose="05000000000000000000" pitchFamily="2" charset="2"/>
              </a:rPr>
              <a:t> student name of the array</a:t>
            </a:r>
          </a:p>
          <a:p>
            <a:pPr lvl="1"/>
            <a:r>
              <a:rPr lang="en-CA" sz="2000" dirty="0">
                <a:latin typeface="Consolas" panose="020B0609020204030204" pitchFamily="49" charset="0"/>
              </a:rPr>
              <a:t>names</a:t>
            </a:r>
            <a:r>
              <a:rPr lang="en-CA" sz="2000" dirty="0">
                <a:latin typeface="Consolas" panose="020B0609020204030204" pitchFamily="49" charset="0"/>
                <a:sym typeface="Wingdings" panose="05000000000000000000" pitchFamily="2" charset="2"/>
              </a:rPr>
              <a:t>[</a:t>
            </a:r>
            <a:r>
              <a:rPr lang="en-CA" sz="2000" dirty="0" err="1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studentNumber</a:t>
            </a:r>
            <a:r>
              <a:rPr lang="en-CA" sz="2000" dirty="0">
                <a:latin typeface="Consolas" panose="020B0609020204030204" pitchFamily="49" charset="0"/>
                <a:sym typeface="Wingdings" panose="05000000000000000000" pitchFamily="2" charset="2"/>
              </a:rPr>
              <a:t>] </a:t>
            </a:r>
            <a:r>
              <a:rPr lang="en-CA" dirty="0">
                <a:sym typeface="Wingdings" panose="05000000000000000000" pitchFamily="2" charset="2"/>
              </a:rPr>
              <a:t> uses a variable as the index</a:t>
            </a:r>
          </a:p>
          <a:p>
            <a:pPr lvl="1"/>
            <a:r>
              <a:rPr lang="en-CA" sz="2000" dirty="0">
                <a:latin typeface="Consolas" panose="020B0609020204030204" pitchFamily="49" charset="0"/>
              </a:rPr>
              <a:t>names</a:t>
            </a:r>
            <a:r>
              <a:rPr lang="en-CA" sz="2000" dirty="0">
                <a:latin typeface="Consolas" panose="020B0609020204030204" pitchFamily="49" charset="0"/>
                <a:sym typeface="Wingdings" panose="05000000000000000000" pitchFamily="2" charset="2"/>
              </a:rPr>
              <a:t>[</a:t>
            </a:r>
            <a:r>
              <a:rPr lang="en-CA" sz="2000" dirty="0" err="1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studentNumber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– 2</a:t>
            </a:r>
            <a:r>
              <a:rPr lang="en-CA" sz="2000" dirty="0">
                <a:latin typeface="Consolas" panose="020B0609020204030204" pitchFamily="49" charset="0"/>
                <a:sym typeface="Wingdings" panose="05000000000000000000" pitchFamily="2" charset="2"/>
              </a:rPr>
              <a:t>] </a:t>
            </a:r>
            <a:r>
              <a:rPr lang="en-CA" dirty="0">
                <a:sym typeface="Wingdings" panose="05000000000000000000" pitchFamily="2" charset="2"/>
              </a:rPr>
              <a:t> Uses a mathematical expression to get the index</a:t>
            </a:r>
          </a:p>
          <a:p>
            <a:pPr lvl="1"/>
            <a:r>
              <a:rPr lang="en-CA" sz="2000" dirty="0">
                <a:latin typeface="Consolas" panose="020B0609020204030204" pitchFamily="49" charset="0"/>
              </a:rPr>
              <a:t>names</a:t>
            </a:r>
            <a:r>
              <a:rPr lang="en-CA" sz="2000" dirty="0">
                <a:latin typeface="Consolas" panose="020B0609020204030204" pitchFamily="49" charset="0"/>
                <a:sym typeface="Wingdings" panose="05000000000000000000" pitchFamily="2" charset="2"/>
              </a:rPr>
              <a:t>[</a:t>
            </a:r>
            <a:r>
              <a:rPr lang="en-CA" sz="2000" dirty="0" err="1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GetStudentNumber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()</a:t>
            </a:r>
            <a:r>
              <a:rPr lang="en-CA" sz="2000" dirty="0">
                <a:latin typeface="Consolas" panose="020B0609020204030204" pitchFamily="49" charset="0"/>
                <a:sym typeface="Wingdings" panose="05000000000000000000" pitchFamily="2" charset="2"/>
              </a:rPr>
              <a:t>] </a:t>
            </a:r>
            <a:r>
              <a:rPr lang="en-CA" dirty="0">
                <a:sym typeface="Wingdings" panose="05000000000000000000" pitchFamily="2" charset="2"/>
              </a:rPr>
              <a:t> Uses a function to retrieve the student number, 			              which is then used as the index into the array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33566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C50DC-2377-4F32-92EA-089C0F291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Restaurant Analogy Returns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82868-5331-4073-9A25-12C143F67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When defining an array we must specify its length, just like reserving a dinner table for a specific number of people</a:t>
            </a:r>
          </a:p>
          <a:p>
            <a:pPr lvl="1"/>
            <a:r>
              <a:rPr lang="en-CA" dirty="0"/>
              <a:t>This implies you cannot put more people at the table than you have chairs</a:t>
            </a:r>
          </a:p>
          <a:p>
            <a:pPr lvl="1"/>
            <a:r>
              <a:rPr lang="en-CA" dirty="0"/>
              <a:t>The same works for an array, we cannot store more data than we promised to store</a:t>
            </a:r>
          </a:p>
          <a:p>
            <a:pPr lvl="1"/>
            <a:endParaRPr lang="en-CA" dirty="0"/>
          </a:p>
          <a:p>
            <a:r>
              <a:rPr lang="en-CA" dirty="0">
                <a:solidFill>
                  <a:srgbClr val="92D050"/>
                </a:solidFill>
              </a:rPr>
              <a:t>For Example</a:t>
            </a:r>
            <a:r>
              <a:rPr lang="en-CA" dirty="0"/>
              <a:t>: If you have an array of names with a length of 4</a:t>
            </a:r>
          </a:p>
          <a:p>
            <a:pPr lvl="1"/>
            <a:r>
              <a:rPr lang="en-CA" dirty="0"/>
              <a:t>If you try to sit add a 5</a:t>
            </a:r>
            <a:r>
              <a:rPr lang="en-CA" baseline="30000" dirty="0"/>
              <a:t>th</a:t>
            </a:r>
            <a:r>
              <a:rPr lang="en-CA" dirty="0"/>
              <a:t> name by placing it at index 4 you would get that pesky “</a:t>
            </a:r>
            <a:r>
              <a:rPr lang="en-CA" dirty="0">
                <a:solidFill>
                  <a:srgbClr val="FFFF00"/>
                </a:solidFill>
              </a:rPr>
              <a:t>out of bounds</a:t>
            </a:r>
            <a:r>
              <a:rPr lang="en-CA" dirty="0"/>
              <a:t>” error previously mentioned and </a:t>
            </a:r>
            <a:r>
              <a:rPr lang="en-CA" b="1" dirty="0">
                <a:solidFill>
                  <a:srgbClr val="FF0000"/>
                </a:solidFill>
              </a:rPr>
              <a:t>crash</a:t>
            </a:r>
            <a:r>
              <a:rPr lang="en-CA" dirty="0"/>
              <a:t> your program</a:t>
            </a:r>
          </a:p>
        </p:txBody>
      </p:sp>
    </p:spTree>
    <p:extLst>
      <p:ext uri="{BB962C8B-B14F-4D97-AF65-F5344CB8AC3E}">
        <p14:creationId xmlns:p14="http://schemas.microsoft.com/office/powerpoint/2010/main" val="85497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FD6F-9D1A-4C77-9440-6EC9F125E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922115"/>
          </a:xfrm>
        </p:spPr>
        <p:txBody>
          <a:bodyPr/>
          <a:lstStyle/>
          <a:p>
            <a:r>
              <a:rPr lang="en-CA" dirty="0"/>
              <a:t>Why do we need Arrays?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09E16-658F-4584-832B-F76F7B3E4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340768"/>
            <a:ext cx="10360501" cy="5242595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The power of arrays stems from simplification and data organization</a:t>
            </a:r>
          </a:p>
          <a:p>
            <a:r>
              <a:rPr lang="en-CA" dirty="0"/>
              <a:t>If we did not use an array we would be forced to use individual variables in their place.</a:t>
            </a:r>
          </a:p>
          <a:p>
            <a:endParaRPr lang="en-CA" dirty="0"/>
          </a:p>
          <a:p>
            <a:r>
              <a:rPr lang="en-CA" dirty="0"/>
              <a:t>Let’s revisit that program with all of the student names…</a:t>
            </a:r>
          </a:p>
          <a:p>
            <a:pPr lvl="1"/>
            <a:r>
              <a:rPr lang="en-CA" dirty="0"/>
              <a:t>Before we needed to store every single student in a separate string variable</a:t>
            </a:r>
          </a:p>
          <a:p>
            <a:pPr lvl="1"/>
            <a:r>
              <a:rPr lang="en-CA" dirty="0"/>
              <a:t>To display a name, we had to have a massive if/switch statement</a:t>
            </a:r>
          </a:p>
          <a:p>
            <a:pPr lvl="1"/>
            <a:endParaRPr lang="en-CA" dirty="0"/>
          </a:p>
          <a:p>
            <a:r>
              <a:rPr lang="en-CA" dirty="0">
                <a:solidFill>
                  <a:srgbClr val="FFFF00"/>
                </a:solidFill>
              </a:rPr>
              <a:t>ORRRRR</a:t>
            </a:r>
            <a:r>
              <a:rPr lang="en-CA" dirty="0"/>
              <a:t>, you could have 1 string array with a single name that held 1750 elements.</a:t>
            </a:r>
          </a:p>
          <a:p>
            <a:pPr lvl="1"/>
            <a:r>
              <a:rPr lang="en-CA" dirty="0"/>
              <a:t>Now, if the index values represented the student number, the entire name display code is reduced to a single line of code</a:t>
            </a:r>
          </a:p>
        </p:txBody>
      </p:sp>
    </p:spTree>
    <p:extLst>
      <p:ext uri="{BB962C8B-B14F-4D97-AF65-F5344CB8AC3E}">
        <p14:creationId xmlns:p14="http://schemas.microsoft.com/office/powerpoint/2010/main" val="414182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338BC-BCB9-461C-9016-7DC8E905D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Declaring (Defining)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40BCF-07B3-432C-9519-FED9FE9F1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459" y="1052736"/>
            <a:ext cx="10978593" cy="5616624"/>
          </a:xfrm>
        </p:spPr>
        <p:txBody>
          <a:bodyPr>
            <a:normAutofit fontScale="70000" lnSpcReduction="20000"/>
          </a:bodyPr>
          <a:lstStyle/>
          <a:p>
            <a:r>
              <a:rPr lang="en-CA" dirty="0" smtClean="0"/>
              <a:t>Before </a:t>
            </a:r>
            <a:r>
              <a:rPr lang="en-CA" dirty="0"/>
              <a:t>we can use it we must define </a:t>
            </a:r>
            <a:r>
              <a:rPr lang="en-CA" dirty="0" smtClean="0"/>
              <a:t>it to reserve memory and add it to the dictionary.</a:t>
            </a:r>
            <a:endParaRPr lang="en-CA" dirty="0"/>
          </a:p>
          <a:p>
            <a:r>
              <a:rPr lang="en-CA" b="1" dirty="0">
                <a:solidFill>
                  <a:srgbClr val="FF0000"/>
                </a:solidFill>
              </a:rPr>
              <a:t>RECALL</a:t>
            </a:r>
            <a:r>
              <a:rPr lang="en-CA" dirty="0"/>
              <a:t>: </a:t>
            </a:r>
            <a:r>
              <a:rPr lang="en-CA" dirty="0" smtClean="0"/>
              <a:t>To define </a:t>
            </a:r>
            <a:r>
              <a:rPr lang="en-CA" dirty="0"/>
              <a:t>an int variable named </a:t>
            </a:r>
            <a:r>
              <a:rPr lang="en-CA" dirty="0" err="1" smtClean="0"/>
              <a:t>num</a:t>
            </a:r>
            <a:r>
              <a:rPr lang="en-CA" dirty="0" smtClean="0"/>
              <a:t>, we to state its type and identifier</a:t>
            </a:r>
            <a:endParaRPr lang="en-CA" dirty="0"/>
          </a:p>
          <a:p>
            <a:pPr lvl="1"/>
            <a:r>
              <a:rPr lang="en-CA" b="1" dirty="0">
                <a:solidFill>
                  <a:srgbClr val="FFFF00"/>
                </a:solidFill>
                <a:latin typeface="Consolas" panose="020B0609020204030204" pitchFamily="49" charset="0"/>
              </a:rPr>
              <a:t>int num;</a:t>
            </a:r>
          </a:p>
          <a:p>
            <a:endParaRPr lang="en-CA" dirty="0"/>
          </a:p>
          <a:p>
            <a:r>
              <a:rPr lang="en-CA" dirty="0"/>
              <a:t>Defining an array is the same, but we have to remember we are defining a collection of data, so our </a:t>
            </a:r>
            <a:r>
              <a:rPr lang="en-CA" dirty="0">
                <a:solidFill>
                  <a:srgbClr val="92D050"/>
                </a:solidFill>
              </a:rPr>
              <a:t>variable names are typically pluralized</a:t>
            </a:r>
            <a:r>
              <a:rPr lang="en-CA" dirty="0"/>
              <a:t>.</a:t>
            </a:r>
          </a:p>
          <a:p>
            <a:r>
              <a:rPr lang="en-CA" dirty="0"/>
              <a:t>We also must inform the compiler that we are defining an array and how big it will be</a:t>
            </a:r>
          </a:p>
          <a:p>
            <a:endParaRPr lang="en-CA" dirty="0"/>
          </a:p>
          <a:p>
            <a:r>
              <a:rPr lang="en-CA" b="1" dirty="0"/>
              <a:t>Example: </a:t>
            </a:r>
            <a:r>
              <a:rPr lang="en-CA" b="1" dirty="0">
                <a:solidFill>
                  <a:srgbClr val="00B0F0"/>
                </a:solidFill>
              </a:rPr>
              <a:t>Define</a:t>
            </a:r>
            <a:r>
              <a:rPr lang="en-CA" b="1" dirty="0"/>
              <a:t> </a:t>
            </a:r>
            <a:r>
              <a:rPr lang="en-CA" b="1" dirty="0" smtClean="0"/>
              <a:t>and </a:t>
            </a:r>
            <a:r>
              <a:rPr lang="en-CA" b="1" dirty="0" smtClean="0">
                <a:solidFill>
                  <a:srgbClr val="92D050"/>
                </a:solidFill>
              </a:rPr>
              <a:t>instantiate</a:t>
            </a:r>
            <a:r>
              <a:rPr lang="en-CA" b="1" dirty="0" smtClean="0"/>
              <a:t> (setup) an </a:t>
            </a:r>
            <a:r>
              <a:rPr lang="en-CA" b="1" dirty="0"/>
              <a:t>array of 5 </a:t>
            </a:r>
            <a:r>
              <a:rPr lang="en-CA" b="1" dirty="0" err="1"/>
              <a:t>ints</a:t>
            </a:r>
            <a:r>
              <a:rPr lang="en-CA" b="1" dirty="0"/>
              <a:t> named </a:t>
            </a:r>
            <a:r>
              <a:rPr lang="en-CA" b="1" dirty="0" err="1"/>
              <a:t>nums</a:t>
            </a:r>
            <a:endParaRPr lang="en-CA" b="1" dirty="0"/>
          </a:p>
          <a:p>
            <a:pPr lvl="1"/>
            <a:r>
              <a:rPr lang="en-CA" b="1" dirty="0">
                <a:solidFill>
                  <a:srgbClr val="00B0F0"/>
                </a:solidFill>
                <a:latin typeface="Consolas" panose="020B0609020204030204" pitchFamily="49" charset="0"/>
              </a:rPr>
              <a:t>int [] </a:t>
            </a:r>
            <a:r>
              <a:rPr lang="en-CA" b="1" dirty="0" err="1">
                <a:solidFill>
                  <a:srgbClr val="00B0F0"/>
                </a:solidFill>
                <a:latin typeface="Consolas" panose="020B0609020204030204" pitchFamily="49" charset="0"/>
              </a:rPr>
              <a:t>nums</a:t>
            </a:r>
            <a:r>
              <a:rPr lang="en-CA" b="1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CA" b="1" dirty="0">
                <a:latin typeface="Consolas" panose="020B0609020204030204" pitchFamily="49" charset="0"/>
              </a:rPr>
              <a:t>=</a:t>
            </a:r>
            <a:r>
              <a:rPr lang="en-CA" b="1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r>
              <a:rPr lang="en-CA" b="1" dirty="0">
                <a:solidFill>
                  <a:srgbClr val="92D050"/>
                </a:solidFill>
                <a:latin typeface="Consolas" panose="020B0609020204030204" pitchFamily="49" charset="0"/>
              </a:rPr>
              <a:t>new int[5];</a:t>
            </a:r>
          </a:p>
          <a:p>
            <a:pPr lvl="1"/>
            <a:r>
              <a:rPr lang="en-CA" dirty="0"/>
              <a:t>The square brackets tell the compiler it is an array, the second half reserves enough memory for 5 int values</a:t>
            </a:r>
          </a:p>
          <a:p>
            <a:pPr marL="377886" lvl="1" indent="0">
              <a:buNone/>
            </a:pPr>
            <a:endParaRPr lang="en-CA" dirty="0"/>
          </a:p>
          <a:p>
            <a:r>
              <a:rPr lang="en-CA" dirty="0">
                <a:solidFill>
                  <a:srgbClr val="FF0000"/>
                </a:solidFill>
              </a:rPr>
              <a:t>NOTE: </a:t>
            </a:r>
            <a:r>
              <a:rPr lang="en-CA" dirty="0"/>
              <a:t>You can split up the definition and the </a:t>
            </a:r>
            <a:r>
              <a:rPr lang="en-CA" dirty="0" smtClean="0"/>
              <a:t>instantiation (memory reservation)</a:t>
            </a:r>
            <a:endParaRPr lang="en-CA" dirty="0"/>
          </a:p>
          <a:p>
            <a:pPr lvl="1"/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</a:rPr>
              <a:t>int [] </a:t>
            </a:r>
            <a:r>
              <a:rPr lang="en-CA" sz="2000" dirty="0" err="1">
                <a:solidFill>
                  <a:srgbClr val="FFFF00"/>
                </a:solidFill>
                <a:latin typeface="Consolas" panose="020B0609020204030204" pitchFamily="49" charset="0"/>
              </a:rPr>
              <a:t>nums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CA" sz="2000" dirty="0" err="1">
                <a:solidFill>
                  <a:srgbClr val="FFFF00"/>
                </a:solidFill>
                <a:latin typeface="Consolas" panose="020B0609020204030204" pitchFamily="49" charset="0"/>
              </a:rPr>
              <a:t>nums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</a:rPr>
              <a:t> = new int[5]; </a:t>
            </a:r>
            <a:r>
              <a:rPr lang="en-CA" dirty="0">
                <a:sym typeface="Wingdings" panose="05000000000000000000" pitchFamily="2" charset="2"/>
              </a:rPr>
              <a:t> This can be useful if you don’t know the size until later, e.g. getting the size from the user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9743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C0582-4B88-4605-86F3-14EE4EFC4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Assigning Values to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DB68E-835C-420A-9787-ECA668476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844825"/>
            <a:ext cx="10360501" cy="4464496"/>
          </a:xfrm>
        </p:spPr>
        <p:txBody>
          <a:bodyPr/>
          <a:lstStyle/>
          <a:p>
            <a:r>
              <a:rPr lang="en-CA" dirty="0"/>
              <a:t>This too, is similar to working with an individual variable</a:t>
            </a:r>
          </a:p>
          <a:p>
            <a:r>
              <a:rPr lang="en-CA" dirty="0"/>
              <a:t>Example: Assign the value </a:t>
            </a:r>
            <a:r>
              <a:rPr lang="en-CA" dirty="0">
                <a:solidFill>
                  <a:srgbClr val="FFFF00"/>
                </a:solidFill>
              </a:rPr>
              <a:t>7</a:t>
            </a:r>
            <a:r>
              <a:rPr lang="en-CA" dirty="0"/>
              <a:t> to the </a:t>
            </a:r>
            <a:r>
              <a:rPr lang="en-CA" dirty="0">
                <a:solidFill>
                  <a:srgbClr val="FFFF00"/>
                </a:solidFill>
              </a:rPr>
              <a:t>num</a:t>
            </a:r>
            <a:r>
              <a:rPr lang="en-CA" dirty="0"/>
              <a:t> variable</a:t>
            </a:r>
          </a:p>
          <a:p>
            <a:pPr lvl="1"/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num = 7;</a:t>
            </a:r>
          </a:p>
          <a:p>
            <a:pPr lvl="1"/>
            <a:endParaRPr lang="en-CA" dirty="0"/>
          </a:p>
          <a:p>
            <a:r>
              <a:rPr lang="en-CA" dirty="0"/>
              <a:t>When dealing with an array we must also specify a specific index</a:t>
            </a:r>
          </a:p>
          <a:p>
            <a:r>
              <a:rPr lang="en-CA" dirty="0"/>
              <a:t>To do this, we use the square brackets again</a:t>
            </a:r>
          </a:p>
          <a:p>
            <a:pPr lvl="1"/>
            <a:r>
              <a:rPr lang="en-CA" dirty="0"/>
              <a:t>Example: Assign the value 7 to index 3 of the </a:t>
            </a:r>
            <a:r>
              <a:rPr lang="en-CA" dirty="0" err="1">
                <a:solidFill>
                  <a:srgbClr val="FFFF00"/>
                </a:solidFill>
              </a:rPr>
              <a:t>nums</a:t>
            </a:r>
            <a:r>
              <a:rPr lang="en-CA" dirty="0"/>
              <a:t> array</a:t>
            </a:r>
          </a:p>
          <a:p>
            <a:pPr lvl="2"/>
            <a:r>
              <a:rPr lang="en-CA" dirty="0" err="1">
                <a:solidFill>
                  <a:srgbClr val="FFFF00"/>
                </a:solidFill>
                <a:latin typeface="Consolas" panose="020B0609020204030204" pitchFamily="49" charset="0"/>
              </a:rPr>
              <a:t>nums</a:t>
            </a:r>
            <a:r>
              <a:rPr lang="en-CA" dirty="0">
                <a:solidFill>
                  <a:srgbClr val="FFFF00"/>
                </a:solidFill>
                <a:latin typeface="Consolas" panose="020B0609020204030204" pitchFamily="49" charset="0"/>
              </a:rPr>
              <a:t>[3] = 7;</a:t>
            </a:r>
          </a:p>
        </p:txBody>
      </p:sp>
    </p:spTree>
    <p:extLst>
      <p:ext uri="{BB962C8B-B14F-4D97-AF65-F5344CB8AC3E}">
        <p14:creationId xmlns:p14="http://schemas.microsoft.com/office/powerpoint/2010/main" val="25314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A2051-58FF-4AC8-9F0C-2723DC17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Assign Values to the Whole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DBA37-2FD8-4356-A486-8BA2EC98D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Often times we may know all the values of the array when it is created.  Such as setting all the scores in a scoreboard to 0 to start</a:t>
            </a:r>
          </a:p>
          <a:p>
            <a:r>
              <a:rPr lang="en-CA" dirty="0"/>
              <a:t>Unfortunately, there is no one-line command to do this in C#. </a:t>
            </a:r>
            <a:br>
              <a:rPr lang="en-CA" dirty="0"/>
            </a:br>
            <a:r>
              <a:rPr lang="en-CA" dirty="0"/>
              <a:t>You cannot just say scores = 0, this will break the program</a:t>
            </a:r>
          </a:p>
          <a:p>
            <a:endParaRPr lang="en-CA" dirty="0"/>
          </a:p>
          <a:p>
            <a:r>
              <a:rPr lang="en-CA" dirty="0"/>
              <a:t>At this point in the course (this will change later), there are only two ways to assign all the elements of an array to a value</a:t>
            </a:r>
          </a:p>
          <a:p>
            <a:pPr lvl="1"/>
            <a:r>
              <a:rPr lang="en-CA" dirty="0"/>
              <a:t>One by one, starting at index 0, e.g. scores[0] = 0; </a:t>
            </a:r>
            <a:endParaRPr lang="en-CA" dirty="0" smtClean="0"/>
          </a:p>
          <a:p>
            <a:pPr marL="377886" lvl="1" indent="0">
              <a:buNone/>
            </a:pPr>
            <a:r>
              <a:rPr lang="en-CA" dirty="0"/>
              <a:t>	</a:t>
            </a:r>
            <a:r>
              <a:rPr lang="en-CA" dirty="0" smtClean="0"/>
              <a:t>			   </a:t>
            </a:r>
            <a:r>
              <a:rPr lang="en-CA" dirty="0" smtClean="0"/>
              <a:t>scores[1</a:t>
            </a:r>
            <a:r>
              <a:rPr lang="en-CA" dirty="0"/>
              <a:t>] = 0;   and so on</a:t>
            </a:r>
          </a:p>
          <a:p>
            <a:pPr lvl="1"/>
            <a:r>
              <a:rPr lang="en-CA" dirty="0"/>
              <a:t>Assign them at the time of </a:t>
            </a:r>
            <a:r>
              <a:rPr lang="en-CA" dirty="0">
                <a:solidFill>
                  <a:srgbClr val="00B0F0"/>
                </a:solidFill>
              </a:rPr>
              <a:t>instantiation</a:t>
            </a:r>
          </a:p>
        </p:txBody>
      </p:sp>
    </p:spTree>
    <p:extLst>
      <p:ext uri="{BB962C8B-B14F-4D97-AF65-F5344CB8AC3E}">
        <p14:creationId xmlns:p14="http://schemas.microsoft.com/office/powerpoint/2010/main" val="3741758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51BE-020F-4FBA-B395-E057C6343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CA" dirty="0"/>
              <a:t>Assign Values to the Whole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115A8-0A14-47B7-87C3-54F21C048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6" y="1208288"/>
            <a:ext cx="10801200" cy="5400599"/>
          </a:xfrm>
        </p:spPr>
        <p:txBody>
          <a:bodyPr>
            <a:normAutofit lnSpcReduction="10000"/>
          </a:bodyPr>
          <a:lstStyle/>
          <a:p>
            <a:r>
              <a:rPr lang="en-CA" dirty="0"/>
              <a:t>Previously our array definition statement was straight forward:</a:t>
            </a:r>
          </a:p>
          <a:p>
            <a:pPr lvl="1"/>
            <a:r>
              <a:rPr lang="en-CA" dirty="0">
                <a:solidFill>
                  <a:srgbClr val="92D050"/>
                </a:solidFill>
                <a:latin typeface="Consolas" panose="020B0609020204030204" pitchFamily="49" charset="0"/>
              </a:rPr>
              <a:t>int [] scores = new int[5];</a:t>
            </a:r>
          </a:p>
          <a:p>
            <a:r>
              <a:rPr lang="en-CA" dirty="0"/>
              <a:t>If we know all the values of the array when we define it, say for example 0, or descending values for a scores array, it becomes:</a:t>
            </a:r>
          </a:p>
          <a:p>
            <a:pPr lvl="1"/>
            <a:r>
              <a:rPr lang="en-CA" dirty="0">
                <a:solidFill>
                  <a:srgbClr val="92D050"/>
                </a:solidFill>
                <a:latin typeface="Consolas" panose="020B0609020204030204" pitchFamily="49" charset="0"/>
              </a:rPr>
              <a:t>int [] scores = new int[]{1000, 800, 600, 400, 200};</a:t>
            </a:r>
          </a:p>
          <a:p>
            <a:pPr lvl="2"/>
            <a:r>
              <a:rPr lang="en-CA" dirty="0"/>
              <a:t>OR more simply:</a:t>
            </a:r>
          </a:p>
          <a:p>
            <a:pPr lvl="1"/>
            <a:r>
              <a:rPr lang="en-CA" dirty="0">
                <a:solidFill>
                  <a:srgbClr val="92D050"/>
                </a:solidFill>
                <a:latin typeface="Consolas" panose="020B0609020204030204" pitchFamily="49" charset="0"/>
              </a:rPr>
              <a:t>int [] scores = {1000, 800, 600, 400, 200};</a:t>
            </a:r>
          </a:p>
          <a:p>
            <a:pPr lvl="1"/>
            <a:endParaRPr lang="en-CA" dirty="0">
              <a:solidFill>
                <a:srgbClr val="92D050"/>
              </a:solidFill>
              <a:latin typeface="Consolas" panose="020B0609020204030204" pitchFamily="49" charset="0"/>
            </a:endParaRPr>
          </a:p>
          <a:p>
            <a:r>
              <a:rPr lang="en-CA" dirty="0">
                <a:solidFill>
                  <a:srgbClr val="FF0000"/>
                </a:solidFill>
              </a:rPr>
              <a:t>NOTES:</a:t>
            </a:r>
          </a:p>
          <a:p>
            <a:pPr lvl="1"/>
            <a:r>
              <a:rPr lang="en-CA" dirty="0"/>
              <a:t>We </a:t>
            </a:r>
            <a:r>
              <a:rPr lang="en-CA" dirty="0">
                <a:solidFill>
                  <a:srgbClr val="FFFF00"/>
                </a:solidFill>
              </a:rPr>
              <a:t>do not have to specify the size</a:t>
            </a:r>
            <a:r>
              <a:rPr lang="en-CA" dirty="0"/>
              <a:t>, it is implied by the number of values you give</a:t>
            </a:r>
          </a:p>
          <a:p>
            <a:pPr lvl="1"/>
            <a:r>
              <a:rPr lang="en-CA" dirty="0"/>
              <a:t>The curly braces </a:t>
            </a:r>
            <a:r>
              <a:rPr lang="en-CA" dirty="0">
                <a:solidFill>
                  <a:srgbClr val="FFFF00"/>
                </a:solidFill>
              </a:rPr>
              <a:t>ONLY</a:t>
            </a:r>
            <a:r>
              <a:rPr lang="en-CA" dirty="0"/>
              <a:t> surround the values to be stored</a:t>
            </a:r>
          </a:p>
          <a:p>
            <a:pPr lvl="1"/>
            <a:r>
              <a:rPr lang="en-CA" dirty="0"/>
              <a:t>You can set the values to </a:t>
            </a:r>
            <a:r>
              <a:rPr lang="en-CA" dirty="0">
                <a:solidFill>
                  <a:srgbClr val="FFFF00"/>
                </a:solidFill>
              </a:rPr>
              <a:t>ANYTHING</a:t>
            </a:r>
            <a:r>
              <a:rPr lang="en-CA" dirty="0"/>
              <a:t>, the do not have to match, but they can.</a:t>
            </a:r>
          </a:p>
        </p:txBody>
      </p:sp>
    </p:spTree>
    <p:extLst>
      <p:ext uri="{BB962C8B-B14F-4D97-AF65-F5344CB8AC3E}">
        <p14:creationId xmlns:p14="http://schemas.microsoft.com/office/powerpoint/2010/main" val="1626707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745</TotalTime>
  <Words>1244</Words>
  <Application>Microsoft Office PowerPoint</Application>
  <PresentationFormat>Custom</PresentationFormat>
  <Paragraphs>128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Wingdings</vt:lpstr>
      <vt:lpstr>Tech 16x9</vt:lpstr>
      <vt:lpstr>Arrays</vt:lpstr>
      <vt:lpstr>Objectives</vt:lpstr>
      <vt:lpstr>What is an Array</vt:lpstr>
      <vt:lpstr>Discussing Arrays</vt:lpstr>
      <vt:lpstr>Indices</vt:lpstr>
      <vt:lpstr>Indices Continued</vt:lpstr>
      <vt:lpstr>The Restaurant Analogy Returns</vt:lpstr>
      <vt:lpstr>Why do we need Arrays?</vt:lpstr>
      <vt:lpstr>Declaring (Defining) an Array</vt:lpstr>
      <vt:lpstr>Assigning Values to an Array</vt:lpstr>
      <vt:lpstr>Assign Values to the Whole Array</vt:lpstr>
      <vt:lpstr>Assign Values to the Whole Array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Variables: Day 1</dc:title>
  <dc:creator>Trevor Lane</dc:creator>
  <cp:lastModifiedBy>Lane, Trevor</cp:lastModifiedBy>
  <cp:revision>57</cp:revision>
  <dcterms:created xsi:type="dcterms:W3CDTF">2020-09-21T00:53:05Z</dcterms:created>
  <dcterms:modified xsi:type="dcterms:W3CDTF">2025-04-24T11:45:17Z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