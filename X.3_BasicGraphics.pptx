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www.piskelapp.com/" TargetMode="External"/><Relationship Id="rId7" Type="http://schemas.openxmlformats.org/officeDocument/2006/relationships/image" Target="../media/image5.jpg"/><Relationship Id="rId2" Type="http://schemas.openxmlformats.org/officeDocument/2006/relationships/hyperlink" Target="https://www.photopea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www.remove.bg/" TargetMode="External"/><Relationship Id="rId4" Type="http://schemas.openxmlformats.org/officeDocument/2006/relationships/hyperlink" Target="https://removal.ai/" TargetMode="External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5EE95-878B-31BC-FA61-0C30F54DE0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err="1"/>
              <a:t>MonoGame</a:t>
            </a:r>
            <a:r>
              <a:rPr lang="en-CA" dirty="0"/>
              <a:t> Graphics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1E88E-E643-1BAE-957F-BF31D0020F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Customize Game Framerate, Resolution</a:t>
            </a:r>
          </a:p>
          <a:p>
            <a:r>
              <a:rPr lang="en-CA" dirty="0"/>
              <a:t>And Add images (sprites) into our games!</a:t>
            </a:r>
          </a:p>
        </p:txBody>
      </p:sp>
    </p:spTree>
    <p:extLst>
      <p:ext uri="{BB962C8B-B14F-4D97-AF65-F5344CB8AC3E}">
        <p14:creationId xmlns:p14="http://schemas.microsoft.com/office/powerpoint/2010/main" val="2053281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667BF-1F25-7BAC-45EA-BBB28BA8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Customizing graphical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D8C41-8A4A-B8DA-6525-C229672BB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565968" cy="3649133"/>
          </a:xfrm>
        </p:spPr>
        <p:txBody>
          <a:bodyPr/>
          <a:lstStyle/>
          <a:p>
            <a:r>
              <a:rPr lang="en-CA" dirty="0"/>
              <a:t>There are several graphical options and settings we can customize.</a:t>
            </a:r>
          </a:p>
          <a:p>
            <a:r>
              <a:rPr lang="en-CA" dirty="0"/>
              <a:t>Some modify the </a:t>
            </a:r>
            <a:r>
              <a:rPr lang="en-CA" dirty="0">
                <a:solidFill>
                  <a:srgbClr val="FFFF00"/>
                </a:solidFill>
              </a:rPr>
              <a:t>look</a:t>
            </a:r>
            <a:r>
              <a:rPr lang="en-CA" dirty="0"/>
              <a:t>, while others modify the </a:t>
            </a:r>
            <a:r>
              <a:rPr lang="en-CA" dirty="0">
                <a:solidFill>
                  <a:srgbClr val="FFFF00"/>
                </a:solidFill>
              </a:rPr>
              <a:t>feel</a:t>
            </a:r>
            <a:r>
              <a:rPr lang="en-CA" dirty="0"/>
              <a:t> of the game</a:t>
            </a:r>
          </a:p>
          <a:p>
            <a:endParaRPr lang="en-CA" dirty="0"/>
          </a:p>
          <a:p>
            <a:r>
              <a:rPr lang="en-CA" dirty="0"/>
              <a:t>The following slides will walk you through, the what and how of each of the major customizations</a:t>
            </a:r>
          </a:p>
          <a:p>
            <a:r>
              <a:rPr lang="en-CA" b="1" dirty="0">
                <a:solidFill>
                  <a:srgbClr val="FFFF00"/>
                </a:solidFill>
              </a:rPr>
              <a:t>NOTE:</a:t>
            </a:r>
            <a:r>
              <a:rPr lang="en-CA" dirty="0"/>
              <a:t> Major graphical changes (resolution and framerate) require two things:</a:t>
            </a:r>
          </a:p>
          <a:p>
            <a:pPr lvl="1"/>
            <a:r>
              <a:rPr lang="en-CA" dirty="0"/>
              <a:t>1) They should be done in the </a:t>
            </a:r>
            <a:r>
              <a:rPr lang="en-CA" dirty="0">
                <a:solidFill>
                  <a:srgbClr val="92D050"/>
                </a:solidFill>
              </a:rPr>
              <a:t>Initialize Method</a:t>
            </a:r>
          </a:p>
          <a:p>
            <a:pPr lvl="1"/>
            <a:r>
              <a:rPr lang="en-CA" dirty="0"/>
              <a:t>2) After </a:t>
            </a:r>
            <a:r>
              <a:rPr lang="en-CA" b="1" dirty="0">
                <a:solidFill>
                  <a:srgbClr val="FFFF00"/>
                </a:solidFill>
              </a:rPr>
              <a:t>ALL</a:t>
            </a:r>
            <a:r>
              <a:rPr lang="en-CA" dirty="0"/>
              <a:t> the changes, for them to take effect, use the command:</a:t>
            </a:r>
          </a:p>
          <a:p>
            <a:pPr lvl="2"/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_</a:t>
            </a:r>
            <a:r>
              <a:rPr lang="en-CA" dirty="0" err="1">
                <a:solidFill>
                  <a:srgbClr val="FFFF00"/>
                </a:solidFill>
                <a:latin typeface="Consolas" panose="020B0609020204030204" pitchFamily="49" charset="0"/>
              </a:rPr>
              <a:t>graphics.ApplyChanges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();</a:t>
            </a:r>
            <a:endParaRPr lang="en-CA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073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53119-1BF0-3424-568C-FF0631117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Making the Mouse Pointer Visible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A7F62-55F2-7D2C-3482-F988D81A6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By default, the mouse cursor is visible. (Seen in the Game1() constructor method)</a:t>
            </a:r>
          </a:p>
          <a:p>
            <a:r>
              <a:rPr lang="en-CA" dirty="0"/>
              <a:t>This is something you can turn on and off with the simple change of a bool variable.</a:t>
            </a:r>
          </a:p>
          <a:p>
            <a:pPr lvl="1"/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IsMouseVisible = true;</a:t>
            </a:r>
          </a:p>
          <a:p>
            <a:pPr lvl="1"/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IsMouseVisible = false;</a:t>
            </a:r>
          </a:p>
          <a:p>
            <a:pPr marL="457200" lvl="1" indent="0">
              <a:buNone/>
            </a:pPr>
            <a:endParaRPr lang="en-CA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r>
              <a:rPr lang="en-CA" dirty="0"/>
              <a:t>Adding either of these lines in the game loop will change the mouse visibility during gameplay</a:t>
            </a:r>
          </a:p>
        </p:txBody>
      </p:sp>
    </p:spTree>
    <p:extLst>
      <p:ext uri="{BB962C8B-B14F-4D97-AF65-F5344CB8AC3E}">
        <p14:creationId xmlns:p14="http://schemas.microsoft.com/office/powerpoint/2010/main" val="1820673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78F9F-5176-82DA-DDA4-9CF074179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Changing Game Resolution (Window Size)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ACD4A-B99A-FE60-EAF6-50A1C2682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180912"/>
          </a:xfrm>
        </p:spPr>
        <p:txBody>
          <a:bodyPr>
            <a:normAutofit/>
          </a:bodyPr>
          <a:lstStyle/>
          <a:p>
            <a:r>
              <a:rPr lang="en-CA" dirty="0"/>
              <a:t>By default, the game window has a resolution of </a:t>
            </a:r>
            <a:r>
              <a:rPr lang="en-CA" b="1" dirty="0">
                <a:solidFill>
                  <a:srgbClr val="92D050"/>
                </a:solidFill>
              </a:rPr>
              <a:t>800x480</a:t>
            </a:r>
            <a:r>
              <a:rPr lang="en-CA" dirty="0"/>
              <a:t> (800 width, 480 height)</a:t>
            </a:r>
          </a:p>
          <a:p>
            <a:r>
              <a:rPr lang="en-CA" dirty="0"/>
              <a:t>To modify these values, we must change two values inside the Initialize Method</a:t>
            </a:r>
          </a:p>
          <a:p>
            <a:pPr marL="0" indent="0">
              <a:spcAft>
                <a:spcPts val="0"/>
              </a:spcAft>
              <a:buNone/>
            </a:pPr>
            <a:endParaRPr lang="en-CA" dirty="0"/>
          </a:p>
          <a:p>
            <a:pPr marL="0" indent="0">
              <a:spcAft>
                <a:spcPts val="0"/>
              </a:spcAft>
              <a:buNone/>
            </a:pPr>
            <a:endParaRPr lang="en-CA" sz="1600" dirty="0">
              <a:solidFill>
                <a:srgbClr val="FFFF00"/>
              </a:solidFill>
            </a:endParaRPr>
          </a:p>
          <a:p>
            <a:pPr marL="0" indent="0">
              <a:spcAft>
                <a:spcPts val="0"/>
              </a:spcAft>
              <a:buNone/>
            </a:pPr>
            <a:endParaRPr lang="en-CA" sz="1600" dirty="0">
              <a:solidFill>
                <a:srgbClr val="FFFF00"/>
              </a:solidFill>
            </a:endParaRPr>
          </a:p>
          <a:p>
            <a:pPr marL="0" indent="0">
              <a:spcAft>
                <a:spcPts val="0"/>
              </a:spcAft>
              <a:buNone/>
            </a:pPr>
            <a:endParaRPr lang="en-CA" sz="1600" dirty="0">
              <a:solidFill>
                <a:srgbClr val="FFFF00"/>
              </a:solidFill>
            </a:endParaRPr>
          </a:p>
          <a:p>
            <a:pPr marL="0" indent="0">
              <a:spcAft>
                <a:spcPts val="0"/>
              </a:spcAft>
              <a:buNone/>
            </a:pPr>
            <a:endParaRPr lang="en-CA" sz="1600" dirty="0">
              <a:solidFill>
                <a:srgbClr val="FFFF00"/>
              </a:solidFill>
            </a:endParaRPr>
          </a:p>
          <a:p>
            <a:pPr marL="0" indent="0">
              <a:spcAft>
                <a:spcPts val="0"/>
              </a:spcAft>
              <a:buNone/>
            </a:pPr>
            <a:endParaRPr lang="en-CA" sz="1600" dirty="0">
              <a:solidFill>
                <a:srgbClr val="FFFF00"/>
              </a:solidFill>
            </a:endParaRPr>
          </a:p>
          <a:p>
            <a:pPr marL="0" indent="0">
              <a:spcAft>
                <a:spcPts val="0"/>
              </a:spcAft>
              <a:buNone/>
            </a:pPr>
            <a:endParaRPr lang="en-CA" sz="1600" dirty="0">
              <a:solidFill>
                <a:srgbClr val="FFFF00"/>
              </a:solidFill>
            </a:endParaRPr>
          </a:p>
          <a:p>
            <a:pPr marL="0" indent="0">
              <a:spcAft>
                <a:spcPts val="0"/>
              </a:spcAft>
              <a:buNone/>
            </a:pPr>
            <a:endParaRPr lang="en-CA" sz="1600" dirty="0">
              <a:solidFill>
                <a:srgbClr val="FFFF00"/>
              </a:solidFill>
            </a:endParaRPr>
          </a:p>
          <a:p>
            <a:pPr marL="0" indent="0">
              <a:spcAft>
                <a:spcPts val="0"/>
              </a:spcAft>
              <a:buNone/>
            </a:pPr>
            <a:endParaRPr lang="en-CA" sz="1600" dirty="0">
              <a:solidFill>
                <a:srgbClr val="FFFF00"/>
              </a:solidFill>
            </a:endParaRPr>
          </a:p>
          <a:p>
            <a:pPr marL="0" indent="0">
              <a:spcAft>
                <a:spcPts val="0"/>
              </a:spcAft>
              <a:buNone/>
            </a:pPr>
            <a:endParaRPr lang="en-CA" sz="1600" dirty="0">
              <a:solidFill>
                <a:srgbClr val="FFFF00"/>
              </a:solidFill>
            </a:endParaRPr>
          </a:p>
          <a:p>
            <a:pPr marL="0" indent="0">
              <a:spcAft>
                <a:spcPts val="0"/>
              </a:spcAft>
              <a:buNone/>
            </a:pPr>
            <a:endParaRPr lang="en-CA" sz="1600" dirty="0">
              <a:solidFill>
                <a:srgbClr val="FFFF00"/>
              </a:solidFill>
            </a:endParaRPr>
          </a:p>
          <a:p>
            <a:r>
              <a:rPr lang="en-CA" b="1" dirty="0">
                <a:solidFill>
                  <a:srgbClr val="FF0000"/>
                </a:solidFill>
              </a:rPr>
              <a:t>Potential Problem:</a:t>
            </a:r>
            <a:r>
              <a:rPr lang="en-CA" dirty="0"/>
              <a:t> It is possible you choose a size that is not compatible with the monitor or graphics card.  That is why the command is </a:t>
            </a:r>
            <a:r>
              <a:rPr lang="en-CA" dirty="0" err="1">
                <a:solidFill>
                  <a:srgbClr val="FFFF00"/>
                </a:solidFill>
              </a:rPr>
              <a:t>Preferred</a:t>
            </a:r>
            <a:r>
              <a:rPr lang="en-CA" dirty="0" err="1"/>
              <a:t>BackBufferWidth</a:t>
            </a:r>
            <a:r>
              <a:rPr lang="en-CA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616496-9D20-0E2A-B48D-7FFFFB3BDDC4}"/>
              </a:ext>
            </a:extLst>
          </p:cNvPr>
          <p:cNvSpPr/>
          <p:nvPr/>
        </p:nvSpPr>
        <p:spPr>
          <a:xfrm>
            <a:off x="685801" y="3064213"/>
            <a:ext cx="9893030" cy="255837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protected override void Initialize()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_</a:t>
            </a:r>
            <a:r>
              <a:rPr lang="en-CA" dirty="0" err="1">
                <a:solidFill>
                  <a:srgbClr val="FFFF00"/>
                </a:solidFill>
                <a:latin typeface="Consolas" panose="020B0609020204030204" pitchFamily="49" charset="0"/>
              </a:rPr>
              <a:t>graphics.PreferredBackBufferWidth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 = 1000;</a:t>
            </a: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Set the width to 1000</a:t>
            </a:r>
            <a:endParaRPr lang="en-CA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_</a:t>
            </a:r>
            <a:r>
              <a:rPr lang="en-CA" dirty="0" err="1">
                <a:solidFill>
                  <a:srgbClr val="FFFF00"/>
                </a:solidFill>
                <a:latin typeface="Consolas" panose="020B0609020204030204" pitchFamily="49" charset="0"/>
              </a:rPr>
              <a:t>graphics.PreferredBackBufferHeight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 = 800;</a:t>
            </a: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Set the height to 800</a:t>
            </a:r>
          </a:p>
          <a:p>
            <a:pPr marL="0" indent="0">
              <a:spcAft>
                <a:spcPts val="0"/>
              </a:spcAft>
              <a:buNone/>
            </a:pPr>
            <a:endParaRPr lang="en-CA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_</a:t>
            </a:r>
            <a:r>
              <a:rPr lang="en-CA" dirty="0" err="1">
                <a:solidFill>
                  <a:srgbClr val="FFFF00"/>
                </a:solidFill>
                <a:latin typeface="Consolas" panose="020B0609020204030204" pitchFamily="49" charset="0"/>
              </a:rPr>
              <a:t>graphics.ApplyChanges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();</a:t>
            </a: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				</a:t>
            </a: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Force the changes to take effect</a:t>
            </a:r>
            <a:endParaRPr lang="en-CA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en-CA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   base.Initialize();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06951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D7AF3-C664-E19E-8E51-EBA923DA2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10131425" cy="762000"/>
          </a:xfrm>
        </p:spPr>
        <p:txBody>
          <a:bodyPr/>
          <a:lstStyle/>
          <a:p>
            <a:r>
              <a:rPr lang="en-CA" dirty="0"/>
              <a:t>Handling the Resolution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FAC85-77A6-BF7C-6090-279C090F4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066800"/>
            <a:ext cx="10131425" cy="4419599"/>
          </a:xfrm>
        </p:spPr>
        <p:txBody>
          <a:bodyPr/>
          <a:lstStyle/>
          <a:p>
            <a:r>
              <a:rPr lang="en-CA" dirty="0"/>
              <a:t>Since the size changes may fail, instead we will detect and store the true values </a:t>
            </a:r>
            <a:r>
              <a:rPr lang="en-CA" dirty="0">
                <a:solidFill>
                  <a:srgbClr val="92D050"/>
                </a:solidFill>
              </a:rPr>
              <a:t>AFTER</a:t>
            </a:r>
            <a:r>
              <a:rPr lang="en-CA" dirty="0"/>
              <a:t> the graphical changes have been applied</a:t>
            </a:r>
          </a:p>
          <a:p>
            <a:r>
              <a:rPr lang="en-CA" dirty="0"/>
              <a:t>Start by defining two global int variables</a:t>
            </a:r>
          </a:p>
          <a:p>
            <a:pPr lvl="1"/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int screenWidth;</a:t>
            </a:r>
          </a:p>
          <a:p>
            <a:pPr lvl="1"/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int screenHeight;</a:t>
            </a:r>
          </a:p>
          <a:p>
            <a:r>
              <a:rPr lang="en-CA" dirty="0"/>
              <a:t>Now, we will store the newly set screen resolution in those variables in Initialize (after </a:t>
            </a:r>
            <a:r>
              <a:rPr lang="en-CA" dirty="0" err="1"/>
              <a:t>ApplyChanges</a:t>
            </a:r>
            <a:r>
              <a:rPr lang="en-CA" dirty="0"/>
              <a:t>)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4AA458-CE8B-7293-F907-6C124C8DC9D4}"/>
              </a:ext>
            </a:extLst>
          </p:cNvPr>
          <p:cNvSpPr/>
          <p:nvPr/>
        </p:nvSpPr>
        <p:spPr>
          <a:xfrm>
            <a:off x="685800" y="3205264"/>
            <a:ext cx="10820400" cy="33868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CA" sz="1800" dirty="0">
                <a:solidFill>
                  <a:schemeClr val="tx1">
                    <a:lumMod val="95000"/>
                  </a:schemeClr>
                </a:solidFill>
              </a:rPr>
              <a:t>protected override void Initialize()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   _</a:t>
            </a:r>
            <a:r>
              <a:rPr lang="en-CA" sz="1800" dirty="0" err="1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graphics.PreferredBackBufferWidth</a:t>
            </a: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= 1000;	</a:t>
            </a: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Set the width to 1000</a:t>
            </a:r>
            <a:endParaRPr lang="en-CA" sz="1800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   _</a:t>
            </a:r>
            <a:r>
              <a:rPr lang="en-CA" sz="1800" dirty="0" err="1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graphics.PreferredBackBufferHeight</a:t>
            </a: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= 800;	</a:t>
            </a: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Set the height to 800</a:t>
            </a:r>
          </a:p>
          <a:p>
            <a:pPr marL="0" indent="0">
              <a:spcAft>
                <a:spcPts val="0"/>
              </a:spcAft>
              <a:buNone/>
            </a:pPr>
            <a:endParaRPr lang="en-CA" sz="1800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   _</a:t>
            </a:r>
            <a:r>
              <a:rPr lang="en-CA" sz="1800" dirty="0" err="1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graphics.ApplyChanges</a:t>
            </a: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();				</a:t>
            </a: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Force the changes to take effect</a:t>
            </a:r>
            <a:endParaRPr lang="en-CA" sz="1800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en-CA" sz="1800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screenWidth = _</a:t>
            </a:r>
            <a:r>
              <a:rPr lang="en-CA" dirty="0" err="1">
                <a:solidFill>
                  <a:srgbClr val="FFFF00"/>
                </a:solidFill>
                <a:latin typeface="Consolas" panose="020B0609020204030204" pitchFamily="49" charset="0"/>
              </a:rPr>
              <a:t>graphics.GraphicsDevice.Viewport.Width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;		</a:t>
            </a: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store screen width</a:t>
            </a:r>
            <a:endParaRPr lang="en-CA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    screenHeight = _</a:t>
            </a:r>
            <a:r>
              <a:rPr lang="en-CA" dirty="0" err="1">
                <a:solidFill>
                  <a:srgbClr val="FFFF00"/>
                </a:solidFill>
                <a:latin typeface="Consolas" panose="020B0609020204030204" pitchFamily="49" charset="0"/>
              </a:rPr>
              <a:t>graphics.GraphicsDevice.Viewport.Height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;	</a:t>
            </a: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store screen height</a:t>
            </a:r>
            <a:endParaRPr lang="en-CA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en-CA" sz="1800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   base.Initialize();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61070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CE751-8610-E8D9-D119-9077A58D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92349"/>
            <a:ext cx="10131425" cy="674451"/>
          </a:xfrm>
        </p:spPr>
        <p:txBody>
          <a:bodyPr/>
          <a:lstStyle/>
          <a:p>
            <a:r>
              <a:rPr lang="en-CA" dirty="0"/>
              <a:t>Changing the Game’s Framerate (FPS)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CB33D-312C-39FD-8ABD-30C29E8FA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066800"/>
            <a:ext cx="10131425" cy="4507149"/>
          </a:xfrm>
        </p:spPr>
        <p:txBody>
          <a:bodyPr/>
          <a:lstStyle/>
          <a:p>
            <a:r>
              <a:rPr lang="en-CA" dirty="0"/>
              <a:t>The game updates and draws at a specific frequency, we call this the framerate</a:t>
            </a:r>
          </a:p>
          <a:p>
            <a:r>
              <a:rPr lang="en-CA" dirty="0"/>
              <a:t>We measure it in </a:t>
            </a:r>
            <a:r>
              <a:rPr lang="en-CA" dirty="0">
                <a:solidFill>
                  <a:srgbClr val="FFFF00"/>
                </a:solidFill>
              </a:rPr>
              <a:t>frames per second</a:t>
            </a:r>
            <a:r>
              <a:rPr lang="en-CA" dirty="0"/>
              <a:t> (</a:t>
            </a:r>
            <a:r>
              <a:rPr lang="en-CA" dirty="0">
                <a:solidFill>
                  <a:srgbClr val="92D050"/>
                </a:solidFill>
              </a:rPr>
              <a:t>FPS</a:t>
            </a:r>
            <a:r>
              <a:rPr lang="en-CA" dirty="0"/>
              <a:t>), meaning how many frames are drawn per second</a:t>
            </a:r>
          </a:p>
          <a:p>
            <a:r>
              <a:rPr lang="en-CA" dirty="0"/>
              <a:t>By default, a MonoGame project runs at 60 FPS</a:t>
            </a:r>
          </a:p>
          <a:p>
            <a:endParaRPr lang="en-CA" dirty="0"/>
          </a:p>
          <a:p>
            <a:r>
              <a:rPr lang="en-CA" dirty="0"/>
              <a:t>To modify this rate, we need 1 new global int variable and 3 lines of logic in the </a:t>
            </a:r>
            <a:r>
              <a:rPr lang="en-CA" dirty="0">
                <a:solidFill>
                  <a:srgbClr val="92D050"/>
                </a:solidFill>
              </a:rPr>
              <a:t>Initialize</a:t>
            </a:r>
            <a:r>
              <a:rPr lang="en-CA" dirty="0"/>
              <a:t> Method</a:t>
            </a:r>
          </a:p>
          <a:p>
            <a:pPr lvl="1"/>
            <a:r>
              <a:rPr lang="en-CA" dirty="0"/>
              <a:t>Begin by defining the variable and assigning it the desired frame rate, (</a:t>
            </a:r>
            <a:r>
              <a:rPr lang="en-CA" b="1" dirty="0">
                <a:solidFill>
                  <a:srgbClr val="C00000"/>
                </a:solidFill>
              </a:rPr>
              <a:t>e.g. 30 FPS</a:t>
            </a:r>
            <a:r>
              <a:rPr lang="en-CA" dirty="0"/>
              <a:t>): 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int targetFPS = 30;</a:t>
            </a:r>
          </a:p>
          <a:p>
            <a:r>
              <a:rPr lang="en-CA" dirty="0"/>
              <a:t>The three lines of code will ensure the game will do its best to set the value and reach it while playing!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22BEB6-83FD-9EC4-F114-F007868D0B08}"/>
              </a:ext>
            </a:extLst>
          </p:cNvPr>
          <p:cNvSpPr/>
          <p:nvPr/>
        </p:nvSpPr>
        <p:spPr>
          <a:xfrm>
            <a:off x="685798" y="3891063"/>
            <a:ext cx="9893030" cy="28599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protected override void Initialize()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_</a:t>
            </a:r>
            <a:r>
              <a:rPr lang="en-CA" dirty="0" err="1">
                <a:solidFill>
                  <a:srgbClr val="FFFF00"/>
                </a:solidFill>
                <a:latin typeface="Consolas" panose="020B0609020204030204" pitchFamily="49" charset="0"/>
              </a:rPr>
              <a:t>graphics.SynchronizeWithVerticalRetrace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 = false;	</a:t>
            </a: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 Turn off VSync</a:t>
            </a:r>
            <a:endParaRPr lang="en-CA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    IsFixedTimeStep = true;			</a:t>
            </a:r>
            <a:r>
              <a:rPr lang="en-CA" sz="20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Try to ensure equal frame time</a:t>
            </a:r>
            <a:endParaRPr lang="en-CA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    TargetElapsedTime = TimeSpan.FromMilliseconds(1000.0f / targetFPS);</a:t>
            </a:r>
          </a:p>
          <a:p>
            <a:pPr marL="0" indent="0">
              <a:spcAft>
                <a:spcPts val="0"/>
              </a:spcAft>
              <a:buNone/>
            </a:pPr>
            <a:endParaRPr lang="en-CA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   _</a:t>
            </a:r>
            <a:r>
              <a:rPr lang="en-CA" dirty="0" err="1">
                <a:solidFill>
                  <a:schemeClr val="tx1"/>
                </a:solidFill>
                <a:latin typeface="Consolas" panose="020B0609020204030204" pitchFamily="49" charset="0"/>
              </a:rPr>
              <a:t>graphics.ApplyChanges</a:t>
            </a:r>
            <a:r>
              <a:rPr lang="en-CA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  <a:endParaRPr lang="en-CA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en-CA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   base.Initialize();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9B512-CFFC-C815-59E1-DB3DD14A410A}"/>
              </a:ext>
            </a:extLst>
          </p:cNvPr>
          <p:cNvSpPr txBox="1"/>
          <p:nvPr/>
        </p:nvSpPr>
        <p:spPr>
          <a:xfrm>
            <a:off x="9883302" y="4777477"/>
            <a:ext cx="2023354" cy="923330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chemeClr val="bg1"/>
                </a:solidFill>
              </a:rPr>
              <a:t>1000ms = 1 second</a:t>
            </a:r>
          </a:p>
          <a:p>
            <a:endParaRPr lang="en-CA" sz="600" dirty="0">
              <a:solidFill>
                <a:schemeClr val="bg1"/>
              </a:solidFill>
            </a:endParaRPr>
          </a:p>
          <a:p>
            <a:r>
              <a:rPr lang="en-CA" sz="1400" dirty="0">
                <a:solidFill>
                  <a:schemeClr val="bg1"/>
                </a:solidFill>
              </a:rPr>
              <a:t>1000ms/30 = 33ms</a:t>
            </a:r>
          </a:p>
          <a:p>
            <a:endParaRPr lang="en-CA" sz="600" dirty="0">
              <a:solidFill>
                <a:schemeClr val="bg1"/>
              </a:solidFill>
            </a:endParaRPr>
          </a:p>
          <a:p>
            <a:r>
              <a:rPr lang="en-CA" sz="1400" dirty="0">
                <a:solidFill>
                  <a:schemeClr val="bg1"/>
                </a:solidFill>
              </a:rPr>
              <a:t>33ms per frame</a:t>
            </a:r>
          </a:p>
        </p:txBody>
      </p:sp>
    </p:spTree>
    <p:extLst>
      <p:ext uri="{BB962C8B-B14F-4D97-AF65-F5344CB8AC3E}">
        <p14:creationId xmlns:p14="http://schemas.microsoft.com/office/powerpoint/2010/main" val="2494183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F26D1-FE5B-B255-F82E-9930BB7B0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59405"/>
            <a:ext cx="10131425" cy="645268"/>
          </a:xfrm>
        </p:spPr>
        <p:txBody>
          <a:bodyPr/>
          <a:lstStyle/>
          <a:p>
            <a:r>
              <a:rPr lang="en-CA" dirty="0"/>
              <a:t>Putting it ALL Together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3187E6-128C-307C-9506-2122DB4D5CE9}"/>
              </a:ext>
            </a:extLst>
          </p:cNvPr>
          <p:cNvSpPr/>
          <p:nvPr/>
        </p:nvSpPr>
        <p:spPr>
          <a:xfrm>
            <a:off x="685801" y="904673"/>
            <a:ext cx="10820398" cy="9533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dirty="0">
                <a:solidFill>
                  <a:srgbClr val="FFFF00"/>
                </a:solidFill>
                <a:latin typeface="Consolas" panose="020B0609020204030204" pitchFamily="49" charset="0"/>
              </a:rPr>
              <a:t>int screenWidth;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		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To store the true screen width</a:t>
            </a:r>
            <a:endParaRPr lang="en-US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dirty="0">
                <a:solidFill>
                  <a:srgbClr val="FFFF00"/>
                </a:solidFill>
                <a:latin typeface="Consolas" panose="020B0609020204030204" pitchFamily="49" charset="0"/>
              </a:rPr>
              <a:t>int screenHeight;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		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To store the true screen height</a:t>
            </a:r>
            <a:endParaRPr lang="en-US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dirty="0">
                <a:solidFill>
                  <a:srgbClr val="FFFF00"/>
                </a:solidFill>
                <a:latin typeface="Consolas" panose="020B0609020204030204" pitchFamily="49" charset="0"/>
              </a:rPr>
              <a:t>int targetFPS = 30;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To store the desired frame rate, e.g. 30 FPS</a:t>
            </a:r>
            <a:endParaRPr lang="en-CA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A74B98-A1EF-30ED-77CD-6179BA7996EC}"/>
              </a:ext>
            </a:extLst>
          </p:cNvPr>
          <p:cNvSpPr/>
          <p:nvPr/>
        </p:nvSpPr>
        <p:spPr>
          <a:xfrm>
            <a:off x="685799" y="2067127"/>
            <a:ext cx="10820400" cy="453146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CA" sz="1800" dirty="0">
                <a:solidFill>
                  <a:schemeClr val="tx1">
                    <a:lumMod val="95000"/>
                  </a:schemeClr>
                </a:solidFill>
              </a:rPr>
              <a:t>protected override void Initialize()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_</a:t>
            </a:r>
            <a:r>
              <a:rPr lang="en-CA" sz="1800" dirty="0" err="1">
                <a:solidFill>
                  <a:srgbClr val="FFFF00"/>
                </a:solidFill>
                <a:latin typeface="Consolas" panose="020B0609020204030204" pitchFamily="49" charset="0"/>
              </a:rPr>
              <a:t>graphics.PreferredBackBufferWidth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 = 1000;</a:t>
            </a: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Set the width to 1000</a:t>
            </a:r>
            <a:endParaRPr lang="en-CA" sz="1800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_</a:t>
            </a:r>
            <a:r>
              <a:rPr lang="en-CA" sz="1800" dirty="0" err="1">
                <a:solidFill>
                  <a:srgbClr val="FFFF00"/>
                </a:solidFill>
                <a:latin typeface="Consolas" panose="020B0609020204030204" pitchFamily="49" charset="0"/>
              </a:rPr>
              <a:t>graphics.PreferredBackBufferHeight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 = 800;</a:t>
            </a: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Set the height to 800</a:t>
            </a:r>
          </a:p>
          <a:p>
            <a:pPr marL="0" indent="0">
              <a:spcAft>
                <a:spcPts val="0"/>
              </a:spcAft>
              <a:buNone/>
            </a:pPr>
            <a:endParaRPr lang="en-CA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_</a:t>
            </a:r>
            <a:r>
              <a:rPr lang="en-CA" dirty="0" err="1">
                <a:solidFill>
                  <a:srgbClr val="FFFF00"/>
                </a:solidFill>
                <a:latin typeface="Consolas" panose="020B0609020204030204" pitchFamily="49" charset="0"/>
              </a:rPr>
              <a:t>graphics.SynchronizeWithVerticalRetrace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 = false;	</a:t>
            </a: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Turn off VSync</a:t>
            </a:r>
            <a:endParaRPr lang="en-CA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    IsFixedTimeStep = true;								</a:t>
            </a: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CA" sz="16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Try to ensure equal frame time</a:t>
            </a:r>
            <a:endParaRPr lang="en-CA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    TargetElapsedTime = TimeSpan.FromMilliseconds(1000.0f / targetFPS);	</a:t>
            </a: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Set FPS</a:t>
            </a:r>
          </a:p>
          <a:p>
            <a:pPr marL="0" indent="0">
              <a:spcAft>
                <a:spcPts val="0"/>
              </a:spcAft>
              <a:buNone/>
            </a:pPr>
            <a:endParaRPr lang="en-CA" sz="1800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_</a:t>
            </a:r>
            <a:r>
              <a:rPr lang="en-CA" sz="1800" dirty="0" err="1">
                <a:solidFill>
                  <a:srgbClr val="FFFF00"/>
                </a:solidFill>
                <a:latin typeface="Consolas" panose="020B0609020204030204" pitchFamily="49" charset="0"/>
              </a:rPr>
              <a:t>graphics.ApplyChanges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();</a:t>
            </a: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				</a:t>
            </a: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Force the changes to take effect</a:t>
            </a:r>
            <a:endParaRPr lang="en-CA" sz="1800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en-CA" sz="1800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screenWidth = _</a:t>
            </a:r>
            <a:r>
              <a:rPr lang="en-CA" dirty="0" err="1">
                <a:solidFill>
                  <a:srgbClr val="FFFF00"/>
                </a:solidFill>
                <a:latin typeface="Consolas" panose="020B0609020204030204" pitchFamily="49" charset="0"/>
              </a:rPr>
              <a:t>graphics.GraphicsDevice.Viewport.Width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;		</a:t>
            </a: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store screen width</a:t>
            </a:r>
            <a:endParaRPr lang="en-CA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    screenHeight = _</a:t>
            </a:r>
            <a:r>
              <a:rPr lang="en-CA" dirty="0" err="1">
                <a:solidFill>
                  <a:srgbClr val="FFFF00"/>
                </a:solidFill>
                <a:latin typeface="Consolas" panose="020B0609020204030204" pitchFamily="49" charset="0"/>
              </a:rPr>
              <a:t>graphics.GraphicsDevice.Viewport.Height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;	</a:t>
            </a: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store screen height</a:t>
            </a:r>
            <a:endParaRPr lang="en-CA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en-CA" sz="1800" dirty="0">
              <a:solidFill>
                <a:schemeClr val="tx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    base.Initialize();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CA" sz="18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37481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48E41-CB6D-3B59-5EC6-484C7E37A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Adding Images (Sprites) to our Games: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C10DA-06F6-89D7-B3B6-06F830B20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666754"/>
            <a:ext cx="10599515" cy="4872942"/>
          </a:xfrm>
        </p:spPr>
        <p:txBody>
          <a:bodyPr anchor="t">
            <a:normAutofit/>
          </a:bodyPr>
          <a:lstStyle/>
          <a:p>
            <a:r>
              <a:rPr lang="en-CA" sz="2400" dirty="0"/>
              <a:t>Adding images takes little code, but does require running the </a:t>
            </a:r>
            <a:r>
              <a:rPr lang="en-CA" sz="2400" dirty="0">
                <a:solidFill>
                  <a:srgbClr val="FFFF00"/>
                </a:solidFill>
              </a:rPr>
              <a:t>Builder</a:t>
            </a:r>
            <a:r>
              <a:rPr lang="en-CA" sz="2400" dirty="0"/>
              <a:t> project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sz="2400" b="1" dirty="0">
                <a:solidFill>
                  <a:srgbClr val="92D050"/>
                </a:solidFill>
              </a:rPr>
              <a:t>IMAGE REQUIREMENTS</a:t>
            </a:r>
          </a:p>
          <a:p>
            <a:r>
              <a:rPr lang="en-CA" sz="2000" dirty="0"/>
              <a:t>You can use several image types, including: </a:t>
            </a:r>
            <a:r>
              <a:rPr lang="en-CA" sz="2000" dirty="0">
                <a:solidFill>
                  <a:srgbClr val="92D050"/>
                </a:solidFill>
              </a:rPr>
              <a:t>png, jpg, bmp, gif</a:t>
            </a:r>
          </a:p>
          <a:p>
            <a:pPr lvl="1"/>
            <a:r>
              <a:rPr lang="en-CA" sz="1800" b="1" dirty="0">
                <a:solidFill>
                  <a:srgbClr val="FFFF00"/>
                </a:solidFill>
              </a:rPr>
              <a:t>png is preferred</a:t>
            </a:r>
            <a:r>
              <a:rPr lang="en-CA" sz="1800" dirty="0"/>
              <a:t>, as it is small in storage size and can handle transparent pixels (jpg and bmp cannot)</a:t>
            </a:r>
          </a:p>
          <a:p>
            <a:pPr lvl="1"/>
            <a:r>
              <a:rPr lang="en-CA" sz="1800" dirty="0"/>
              <a:t>Animated gif images will only show the first frame of animation.  We will learn how to animate later.</a:t>
            </a:r>
            <a:endParaRPr lang="en-CA" dirty="0"/>
          </a:p>
          <a:p>
            <a:pPr lvl="1"/>
            <a:endParaRPr lang="en-CA" dirty="0"/>
          </a:p>
          <a:p>
            <a:r>
              <a:rPr lang="en-CA" sz="2000" dirty="0"/>
              <a:t>There is a maximum image size, it mostly depends on the graphics card.  Typically, 2000 pixels in any dimension is too big.</a:t>
            </a:r>
          </a:p>
          <a:p>
            <a:pPr lvl="1"/>
            <a:r>
              <a:rPr lang="en-CA" sz="1800" dirty="0"/>
              <a:t>Aim for the smallest, highest quality images since they will produce a smooth-running game!</a:t>
            </a:r>
          </a:p>
        </p:txBody>
      </p:sp>
    </p:spTree>
    <p:extLst>
      <p:ext uri="{BB962C8B-B14F-4D97-AF65-F5344CB8AC3E}">
        <p14:creationId xmlns:p14="http://schemas.microsoft.com/office/powerpoint/2010/main" val="604036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F2BD7-E786-36D3-7DBA-6093DC502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854597"/>
          </a:xfrm>
        </p:spPr>
        <p:txBody>
          <a:bodyPr/>
          <a:lstStyle/>
          <a:p>
            <a:r>
              <a:rPr lang="en-CA" dirty="0"/>
              <a:t>Adding Images: To The BUILDER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68BE6-0A7E-5777-3F93-BEA98BCB3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64197"/>
            <a:ext cx="10304361" cy="479429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CA" sz="2000" b="1" dirty="0">
                <a:solidFill>
                  <a:srgbClr val="92D050"/>
                </a:solidFill>
              </a:rPr>
              <a:t>Step 1: Images will be stored in the </a:t>
            </a:r>
            <a:r>
              <a:rPr lang="en-CA" sz="2000" b="1" dirty="0">
                <a:solidFill>
                  <a:srgbClr val="FFFF00"/>
                </a:solidFill>
              </a:rPr>
              <a:t>Builder</a:t>
            </a:r>
            <a:r>
              <a:rPr lang="en-CA" sz="2000" b="1" dirty="0">
                <a:solidFill>
                  <a:srgbClr val="92D050"/>
                </a:solidFill>
              </a:rPr>
              <a:t> Project </a:t>
            </a:r>
            <a:r>
              <a:rPr lang="en-CA" sz="2000" dirty="0">
                <a:solidFill>
                  <a:srgbClr val="92D050"/>
                </a:solidFill>
                <a:sym typeface="Wingdings" panose="05000000000000000000" pitchFamily="2" charset="2"/>
              </a:rPr>
              <a:t> </a:t>
            </a:r>
            <a:r>
              <a:rPr lang="en-CA" sz="2000" dirty="0">
                <a:solidFill>
                  <a:srgbClr val="00B0F0"/>
                </a:solidFill>
                <a:sym typeface="Wingdings" panose="05000000000000000000" pitchFamily="2" charset="2"/>
              </a:rPr>
              <a:t>Builder/Assets/Images folder</a:t>
            </a:r>
            <a:endParaRPr lang="en-CA" sz="2000" dirty="0">
              <a:solidFill>
                <a:srgbClr val="00B0F0"/>
              </a:solidFill>
            </a:endParaRPr>
          </a:p>
          <a:p>
            <a:r>
              <a:rPr lang="en-CA" sz="2000" dirty="0"/>
              <a:t>We will use two categories of images:</a:t>
            </a:r>
          </a:p>
          <a:p>
            <a:pPr lvl="1"/>
            <a:r>
              <a:rPr lang="en-CA" sz="1800" dirty="0">
                <a:solidFill>
                  <a:srgbClr val="FFFF00"/>
                </a:solidFill>
              </a:rPr>
              <a:t>Sprites</a:t>
            </a:r>
            <a:r>
              <a:rPr lang="en-CA" sz="1800" dirty="0"/>
              <a:t> (all game images, e.g. characters, objects, environment items, weapons, animations, etc.)</a:t>
            </a:r>
          </a:p>
          <a:p>
            <a:pPr lvl="1"/>
            <a:r>
              <a:rPr lang="en-CA" sz="1800" dirty="0">
                <a:solidFill>
                  <a:srgbClr val="FFFF00"/>
                </a:solidFill>
              </a:rPr>
              <a:t>Background</a:t>
            </a:r>
            <a:r>
              <a:rPr lang="en-CA" sz="1800" dirty="0"/>
              <a:t> images (to cover all the space behind our gameplay).  Technically, these are sprites too.</a:t>
            </a:r>
          </a:p>
          <a:p>
            <a:pPr lvl="2"/>
            <a:endParaRPr lang="en-CA" sz="1600" dirty="0"/>
          </a:p>
          <a:p>
            <a:r>
              <a:rPr lang="en-CA" sz="2000" dirty="0"/>
              <a:t>In Windows/MacOS, browse to your outer project folder, then into:</a:t>
            </a:r>
          </a:p>
          <a:p>
            <a:pPr lvl="1"/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Builder/Assets/Images</a:t>
            </a:r>
          </a:p>
          <a:p>
            <a:pPr lvl="1"/>
            <a:endParaRPr lang="en-CA" dirty="0"/>
          </a:p>
          <a:p>
            <a:r>
              <a:rPr lang="en-CA" sz="2000" dirty="0"/>
              <a:t>In the Images folder you will find two more folders, </a:t>
            </a:r>
            <a:r>
              <a:rPr lang="en-CA" sz="2000" dirty="0">
                <a:solidFill>
                  <a:srgbClr val="FFFF00"/>
                </a:solidFill>
              </a:rPr>
              <a:t>Sprites</a:t>
            </a:r>
            <a:r>
              <a:rPr lang="en-CA" sz="2000" dirty="0"/>
              <a:t> and </a:t>
            </a:r>
            <a:r>
              <a:rPr lang="en-CA" sz="2000" dirty="0">
                <a:solidFill>
                  <a:srgbClr val="FFFF00"/>
                </a:solidFill>
              </a:rPr>
              <a:t>Backgrounds</a:t>
            </a:r>
          </a:p>
          <a:p>
            <a:pPr lvl="1"/>
            <a:r>
              <a:rPr lang="en-CA" sz="1800" dirty="0"/>
              <a:t>Sort and Store all your game images in these two folders</a:t>
            </a:r>
          </a:p>
        </p:txBody>
      </p:sp>
    </p:spTree>
    <p:extLst>
      <p:ext uri="{BB962C8B-B14F-4D97-AF65-F5344CB8AC3E}">
        <p14:creationId xmlns:p14="http://schemas.microsoft.com/office/powerpoint/2010/main" val="1768510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7A1A3-E602-7824-BA41-DECAA89C0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693906"/>
          </a:xfrm>
        </p:spPr>
        <p:txBody>
          <a:bodyPr/>
          <a:lstStyle/>
          <a:p>
            <a:r>
              <a:rPr lang="en-CA" dirty="0"/>
              <a:t>Adding Images: Get the Images Ready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D5885-9CEA-E7CC-E586-01F51BE3A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03507"/>
            <a:ext cx="10627467" cy="53307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b="1" dirty="0">
                <a:solidFill>
                  <a:srgbClr val="92D050"/>
                </a:solidFill>
              </a:rPr>
              <a:t>Step 2: Find, Create and/or Edit your image (Once per image)</a:t>
            </a:r>
          </a:p>
          <a:p>
            <a:r>
              <a:rPr lang="en-CA" dirty="0"/>
              <a:t>You can find images with google searches, e.g. “Mario Background Image”, “tree sprite png”</a:t>
            </a:r>
          </a:p>
          <a:p>
            <a:r>
              <a:rPr lang="en-CA" dirty="0"/>
              <a:t>You can build your own in great tools like Photoshop, </a:t>
            </a:r>
            <a:r>
              <a:rPr lang="en-CA" dirty="0">
                <a:hlinkClick r:id="rId2"/>
              </a:rPr>
              <a:t>Photopea.com</a:t>
            </a:r>
            <a:r>
              <a:rPr lang="en-CA" dirty="0"/>
              <a:t> or the newbie friendly tool, </a:t>
            </a:r>
            <a:r>
              <a:rPr lang="en-CA" dirty="0" err="1">
                <a:hlinkClick r:id="rId3"/>
              </a:rPr>
              <a:t>Piskel</a:t>
            </a:r>
            <a:endParaRPr lang="en-CA" dirty="0"/>
          </a:p>
          <a:p>
            <a:r>
              <a:rPr lang="en-CA" dirty="0"/>
              <a:t>The perfect image has </a:t>
            </a:r>
            <a:r>
              <a:rPr lang="en-CA" dirty="0">
                <a:solidFill>
                  <a:srgbClr val="FFFF00"/>
                </a:solidFill>
              </a:rPr>
              <a:t>the object by itself</a:t>
            </a:r>
            <a:r>
              <a:rPr lang="en-CA" dirty="0"/>
              <a:t>, </a:t>
            </a:r>
            <a:r>
              <a:rPr lang="en-CA" dirty="0">
                <a:solidFill>
                  <a:srgbClr val="FFFF00"/>
                </a:solidFill>
              </a:rPr>
              <a:t>NO extra space </a:t>
            </a:r>
            <a:r>
              <a:rPr lang="en-CA" dirty="0"/>
              <a:t>around the object, and a </a:t>
            </a:r>
            <a:r>
              <a:rPr lang="en-CA" dirty="0">
                <a:solidFill>
                  <a:srgbClr val="FFFF00"/>
                </a:solidFill>
              </a:rPr>
              <a:t>transparent background</a:t>
            </a:r>
          </a:p>
          <a:p>
            <a:pPr marL="0" indent="0">
              <a:buNone/>
            </a:pPr>
            <a:endParaRPr lang="en-CA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CA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CA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CA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CA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CA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CA" dirty="0">
              <a:solidFill>
                <a:srgbClr val="FFFF00"/>
              </a:solidFill>
            </a:endParaRPr>
          </a:p>
          <a:p>
            <a:r>
              <a:rPr lang="en-CA" dirty="0"/>
              <a:t>Use online tools like </a:t>
            </a:r>
            <a:r>
              <a:rPr lang="en-CA" dirty="0">
                <a:hlinkClick r:id="rId2"/>
              </a:rPr>
              <a:t>PhotoPea</a:t>
            </a:r>
            <a:r>
              <a:rPr lang="en-CA" dirty="0"/>
              <a:t> to crop (cut out) only the part of the image you need or to ensure the edges are tight to the object. YouTube is a great learning resource to learn how to do these things.</a:t>
            </a:r>
          </a:p>
          <a:p>
            <a:r>
              <a:rPr lang="en-CA" dirty="0"/>
              <a:t>Remove backgrounds with PhotoPea, or online tools like </a:t>
            </a:r>
            <a:r>
              <a:rPr lang="en-CA" dirty="0">
                <a:hlinkClick r:id="rId4"/>
              </a:rPr>
              <a:t>removal.ai</a:t>
            </a:r>
            <a:r>
              <a:rPr lang="en-CA" dirty="0"/>
              <a:t> and </a:t>
            </a:r>
            <a:r>
              <a:rPr lang="en-CA" dirty="0">
                <a:hlinkClick r:id="rId5"/>
              </a:rPr>
              <a:t>remove.bg</a:t>
            </a:r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5CACFF-F098-5D2B-D677-1C945DF323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912264"/>
              </p:ext>
            </p:extLst>
          </p:nvPr>
        </p:nvGraphicFramePr>
        <p:xfrm>
          <a:off x="685801" y="2927845"/>
          <a:ext cx="10627468" cy="2626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6867">
                  <a:extLst>
                    <a:ext uri="{9D8B030D-6E8A-4147-A177-3AD203B41FA5}">
                      <a16:colId xmlns:a16="http://schemas.microsoft.com/office/drawing/2014/main" val="174442562"/>
                    </a:ext>
                  </a:extLst>
                </a:gridCol>
                <a:gridCol w="2656867">
                  <a:extLst>
                    <a:ext uri="{9D8B030D-6E8A-4147-A177-3AD203B41FA5}">
                      <a16:colId xmlns:a16="http://schemas.microsoft.com/office/drawing/2014/main" val="1316171066"/>
                    </a:ext>
                  </a:extLst>
                </a:gridCol>
                <a:gridCol w="2656867">
                  <a:extLst>
                    <a:ext uri="{9D8B030D-6E8A-4147-A177-3AD203B41FA5}">
                      <a16:colId xmlns:a16="http://schemas.microsoft.com/office/drawing/2014/main" val="2820755983"/>
                    </a:ext>
                  </a:extLst>
                </a:gridCol>
                <a:gridCol w="2656867">
                  <a:extLst>
                    <a:ext uri="{9D8B030D-6E8A-4147-A177-3AD203B41FA5}">
                      <a16:colId xmlns:a16="http://schemas.microsoft.com/office/drawing/2014/main" val="2145670856"/>
                    </a:ext>
                  </a:extLst>
                </a:gridCol>
              </a:tblGrid>
              <a:tr h="396954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PERFECT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Extra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Extra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Non-Transparent BG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429694"/>
                  </a:ext>
                </a:extLst>
              </a:tr>
              <a:tr h="2229694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1249105"/>
                  </a:ext>
                </a:extLst>
              </a:tr>
            </a:tbl>
          </a:graphicData>
        </a:graphic>
      </p:graphicFrame>
      <p:pic>
        <p:nvPicPr>
          <p:cNvPr id="6" name="Picture 5" descr="A pixel art of a tree">
            <a:extLst>
              <a:ext uri="{FF2B5EF4-FFF2-40B4-BE49-F238E27FC236}">
                <a16:creationId xmlns:a16="http://schemas.microsoft.com/office/drawing/2014/main" id="{E311AB66-BFA2-06BD-E255-430F25543B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429000"/>
            <a:ext cx="2461075" cy="1953234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8" name="Picture 7" descr="A pixel art of a tree">
            <a:extLst>
              <a:ext uri="{FF2B5EF4-FFF2-40B4-BE49-F238E27FC236}">
                <a16:creationId xmlns:a16="http://schemas.microsoft.com/office/drawing/2014/main" id="{D66DD39D-DC44-AE2F-905D-783812CB08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8630" y="3429000"/>
            <a:ext cx="2034701" cy="2034701"/>
          </a:xfrm>
          <a:prstGeom prst="rect">
            <a:avLst/>
          </a:prstGeom>
        </p:spPr>
      </p:pic>
      <p:pic>
        <p:nvPicPr>
          <p:cNvPr id="10" name="Picture 9" descr="A group of trees with text">
            <a:extLst>
              <a:ext uri="{FF2B5EF4-FFF2-40B4-BE49-F238E27FC236}">
                <a16:creationId xmlns:a16="http://schemas.microsoft.com/office/drawing/2014/main" id="{6DE0BAAF-7093-68D4-9EFF-E665E617A6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5225" y="3390088"/>
            <a:ext cx="2563724" cy="2034701"/>
          </a:xfrm>
          <a:prstGeom prst="rect">
            <a:avLst/>
          </a:prstGeom>
        </p:spPr>
      </p:pic>
      <p:pic>
        <p:nvPicPr>
          <p:cNvPr id="12" name="Picture 11" descr="A green plant with black background&#10;&#10;Description automatically generated">
            <a:extLst>
              <a:ext uri="{FF2B5EF4-FFF2-40B4-BE49-F238E27FC236}">
                <a16:creationId xmlns:a16="http://schemas.microsoft.com/office/drawing/2014/main" id="{D98385DF-6878-27C8-FA91-081D9D8986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5951" y="3526277"/>
            <a:ext cx="793845" cy="1697477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727855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E8660-4EAA-066E-F445-7FE108404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Adding Images: Add them to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7630F-3839-E06C-0C40-E8D9EEFDD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14050"/>
            <a:ext cx="10131425" cy="2322929"/>
          </a:xfrm>
        </p:spPr>
        <p:txBody>
          <a:bodyPr/>
          <a:lstStyle/>
          <a:p>
            <a:pPr marL="0" indent="0">
              <a:buNone/>
            </a:pPr>
            <a:r>
              <a:rPr lang="en-CA" sz="2400" b="1" dirty="0">
                <a:solidFill>
                  <a:srgbClr val="92D050"/>
                </a:solidFill>
              </a:rPr>
              <a:t>Step 3: Add Each Image to the Proper Folder (Once per image)</a:t>
            </a:r>
          </a:p>
          <a:p>
            <a:r>
              <a:rPr lang="en-CA" sz="2000" dirty="0"/>
              <a:t>If it is a background image of any kind, put it in your newly created </a:t>
            </a:r>
            <a:r>
              <a:rPr lang="en-CA" sz="2000" dirty="0">
                <a:solidFill>
                  <a:srgbClr val="FFFF00"/>
                </a:solidFill>
              </a:rPr>
              <a:t>Backgrounds</a:t>
            </a:r>
            <a:r>
              <a:rPr lang="en-CA" sz="2000" dirty="0"/>
              <a:t> folder</a:t>
            </a:r>
          </a:p>
          <a:p>
            <a:endParaRPr lang="en-CA" sz="2000" dirty="0"/>
          </a:p>
          <a:p>
            <a:r>
              <a:rPr lang="en-CA" sz="2000" dirty="0"/>
              <a:t>All other images should be added to the newly created </a:t>
            </a:r>
            <a:r>
              <a:rPr lang="en-CA" sz="2000" dirty="0">
                <a:solidFill>
                  <a:srgbClr val="FFFF00"/>
                </a:solidFill>
              </a:rPr>
              <a:t>Sprites</a:t>
            </a:r>
            <a:r>
              <a:rPr lang="en-CA" sz="2000" dirty="0"/>
              <a:t> folder</a:t>
            </a:r>
          </a:p>
        </p:txBody>
      </p:sp>
    </p:spTree>
    <p:extLst>
      <p:ext uri="{BB962C8B-B14F-4D97-AF65-F5344CB8AC3E}">
        <p14:creationId xmlns:p14="http://schemas.microsoft.com/office/powerpoint/2010/main" val="2588453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88349-413E-D4C5-44CD-0EAF5EBDC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721489"/>
          </a:xfrm>
        </p:spPr>
        <p:txBody>
          <a:bodyPr/>
          <a:lstStyle/>
          <a:p>
            <a:r>
              <a:rPr lang="en-CA" dirty="0"/>
              <a:t>Adding Images: Run the Builder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EB24F-8BE1-B11B-1261-CAC0AB00B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31089"/>
            <a:ext cx="10131425" cy="521562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CA" b="1" dirty="0">
                <a:solidFill>
                  <a:srgbClr val="92D050"/>
                </a:solidFill>
              </a:rPr>
              <a:t>Step 4: After Adding All Images (You can add more later) Run the </a:t>
            </a:r>
            <a:r>
              <a:rPr lang="en-CA" b="1" dirty="0">
                <a:solidFill>
                  <a:srgbClr val="FFFF00"/>
                </a:solidFill>
              </a:rPr>
              <a:t>Builder</a:t>
            </a:r>
            <a:r>
              <a:rPr lang="en-CA" b="1" dirty="0">
                <a:solidFill>
                  <a:srgbClr val="92D050"/>
                </a:solidFill>
              </a:rPr>
              <a:t> Project</a:t>
            </a:r>
          </a:p>
          <a:p>
            <a:r>
              <a:rPr lang="en-CA" dirty="0">
                <a:solidFill>
                  <a:srgbClr val="FFFF00"/>
                </a:solidFill>
              </a:rPr>
              <a:t>In VS Code:</a:t>
            </a:r>
          </a:p>
          <a:p>
            <a:pPr lvl="1"/>
            <a:r>
              <a:rPr lang="en-CA" dirty="0"/>
              <a:t>Click the </a:t>
            </a:r>
            <a:r>
              <a:rPr lang="en-CA" dirty="0">
                <a:solidFill>
                  <a:srgbClr val="00B0F0"/>
                </a:solidFill>
              </a:rPr>
              <a:t>Run and Debug</a:t>
            </a:r>
            <a:r>
              <a:rPr lang="en-CA" dirty="0"/>
              <a:t> icon on the left</a:t>
            </a:r>
          </a:p>
          <a:p>
            <a:pPr lvl="2"/>
            <a:r>
              <a:rPr lang="en-CA" dirty="0"/>
              <a:t>You should already have a configuration setup (if not refer to </a:t>
            </a:r>
            <a:r>
              <a:rPr lang="en-CA" dirty="0">
                <a:solidFill>
                  <a:srgbClr val="FFFF00"/>
                </a:solidFill>
              </a:rPr>
              <a:t>PASS0</a:t>
            </a:r>
            <a:r>
              <a:rPr lang="en-CA" dirty="0"/>
              <a:t> or the </a:t>
            </a:r>
            <a:r>
              <a:rPr lang="en-CA" dirty="0">
                <a:solidFill>
                  <a:srgbClr val="FFFF00"/>
                </a:solidFill>
              </a:rPr>
              <a:t>How to Create New Programs</a:t>
            </a:r>
            <a:r>
              <a:rPr lang="en-CA" dirty="0"/>
              <a:t> topic on Google Classroom to set it up</a:t>
            </a:r>
          </a:p>
          <a:p>
            <a:pPr lvl="1"/>
            <a:r>
              <a:rPr lang="en-CA" dirty="0"/>
              <a:t>Click the drop-down arrow and choose the </a:t>
            </a:r>
            <a:r>
              <a:rPr lang="en-CA" dirty="0">
                <a:solidFill>
                  <a:srgbClr val="FFFF00"/>
                </a:solidFill>
              </a:rPr>
              <a:t>Builder Configuration</a:t>
            </a:r>
            <a:r>
              <a:rPr lang="en-CA" dirty="0"/>
              <a:t> you have setup</a:t>
            </a:r>
          </a:p>
          <a:p>
            <a:pPr lvl="1"/>
            <a:r>
              <a:rPr lang="en-CA" dirty="0"/>
              <a:t>Click </a:t>
            </a:r>
            <a:r>
              <a:rPr lang="en-CA" dirty="0">
                <a:solidFill>
                  <a:srgbClr val="00B0F0"/>
                </a:solidFill>
              </a:rPr>
              <a:t>Run and Debug</a:t>
            </a:r>
          </a:p>
          <a:p>
            <a:pPr lvl="1"/>
            <a:r>
              <a:rPr lang="en-CA" dirty="0">
                <a:solidFill>
                  <a:srgbClr val="FFFF00"/>
                </a:solidFill>
              </a:rPr>
              <a:t>If an error occurs</a:t>
            </a:r>
            <a:r>
              <a:rPr lang="en-CA" dirty="0"/>
              <a:t>: work through which items failed and retry the process until it succeeds</a:t>
            </a:r>
          </a:p>
          <a:p>
            <a:pPr lvl="1"/>
            <a:endParaRPr lang="en-CA" dirty="0">
              <a:solidFill>
                <a:srgbClr val="FFFF00"/>
              </a:solidFill>
            </a:endParaRPr>
          </a:p>
          <a:p>
            <a:r>
              <a:rPr lang="en-CA" b="1" dirty="0">
                <a:solidFill>
                  <a:srgbClr val="92D050"/>
                </a:solidFill>
              </a:rPr>
              <a:t>Step 5: Repeat this process whenever adding new images to your Builder Project folders</a:t>
            </a:r>
          </a:p>
        </p:txBody>
      </p:sp>
    </p:spTree>
    <p:extLst>
      <p:ext uri="{BB962C8B-B14F-4D97-AF65-F5344CB8AC3E}">
        <p14:creationId xmlns:p14="http://schemas.microsoft.com/office/powerpoint/2010/main" val="1967693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9541C-54A9-4D06-7297-7D8E04CC3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704857"/>
          </a:xfrm>
        </p:spPr>
        <p:txBody>
          <a:bodyPr>
            <a:normAutofit/>
          </a:bodyPr>
          <a:lstStyle/>
          <a:p>
            <a:r>
              <a:rPr lang="en-CA" dirty="0"/>
              <a:t>Adding Image: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044E0-DAB9-124C-0C85-7329C9E7C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942" y="1314457"/>
            <a:ext cx="11377913" cy="4893013"/>
          </a:xfrm>
        </p:spPr>
        <p:txBody>
          <a:bodyPr>
            <a:normAutofit/>
          </a:bodyPr>
          <a:lstStyle/>
          <a:p>
            <a:r>
              <a:rPr lang="en-CA" dirty="0"/>
              <a:t>There are </a:t>
            </a:r>
            <a:r>
              <a:rPr lang="en-CA" dirty="0">
                <a:solidFill>
                  <a:srgbClr val="92D050"/>
                </a:solidFill>
              </a:rPr>
              <a:t>two new variable types </a:t>
            </a:r>
            <a:r>
              <a:rPr lang="en-CA" dirty="0"/>
              <a:t>we will need to learn to use images</a:t>
            </a:r>
          </a:p>
          <a:p>
            <a:r>
              <a:rPr lang="en-CA" dirty="0"/>
              <a:t>Each of these variables will be declared globally</a:t>
            </a:r>
          </a:p>
          <a:p>
            <a:pPr lvl="1"/>
            <a:r>
              <a:rPr lang="en-CA" dirty="0">
                <a:solidFill>
                  <a:srgbClr val="FFFF00"/>
                </a:solidFill>
              </a:rPr>
              <a:t>Texture2D</a:t>
            </a:r>
            <a:r>
              <a:rPr lang="en-CA" dirty="0"/>
              <a:t>: An object to hold a loaded image.  This is a reusable object. (like a stamp)</a:t>
            </a:r>
          </a:p>
          <a:p>
            <a:pPr lvl="2"/>
            <a:r>
              <a:rPr lang="en-CA" dirty="0"/>
              <a:t>Meaning, you could have 20 of the same tree image in your game.  But you only need one Texture2D variable</a:t>
            </a:r>
          </a:p>
          <a:p>
            <a:pPr lvl="2"/>
            <a:endParaRPr lang="en-CA" dirty="0"/>
          </a:p>
          <a:p>
            <a:pPr lvl="1"/>
            <a:r>
              <a:rPr lang="en-CA" dirty="0">
                <a:solidFill>
                  <a:srgbClr val="FFFF00"/>
                </a:solidFill>
              </a:rPr>
              <a:t>Rectangle</a:t>
            </a:r>
            <a:r>
              <a:rPr lang="en-CA" dirty="0"/>
              <a:t>: A rectangle is defined with an </a:t>
            </a:r>
            <a:r>
              <a:rPr lang="en-CA" dirty="0">
                <a:solidFill>
                  <a:srgbClr val="92D050"/>
                </a:solidFill>
              </a:rPr>
              <a:t>x, y</a:t>
            </a:r>
            <a:r>
              <a:rPr lang="en-CA" dirty="0"/>
              <a:t> position (its top left corner) and a </a:t>
            </a:r>
            <a:r>
              <a:rPr lang="en-CA" dirty="0">
                <a:solidFill>
                  <a:srgbClr val="92D050"/>
                </a:solidFill>
              </a:rPr>
              <a:t>width</a:t>
            </a:r>
            <a:r>
              <a:rPr lang="en-CA" dirty="0"/>
              <a:t> and </a:t>
            </a:r>
            <a:r>
              <a:rPr lang="en-CA" dirty="0">
                <a:solidFill>
                  <a:srgbClr val="92D050"/>
                </a:solidFill>
              </a:rPr>
              <a:t>height</a:t>
            </a:r>
            <a:endParaRPr lang="en-CA" dirty="0"/>
          </a:p>
          <a:p>
            <a:pPr lvl="2"/>
            <a:r>
              <a:rPr lang="en-CA" dirty="0">
                <a:solidFill>
                  <a:srgbClr val="FFFF00"/>
                </a:solidFill>
              </a:rPr>
              <a:t>Each image shown will require its OWN Rectangle object</a:t>
            </a:r>
            <a:r>
              <a:rPr lang="en-CA" dirty="0"/>
              <a:t>.  We commonly call this Rectangle a </a:t>
            </a:r>
            <a:r>
              <a:rPr lang="en-CA" dirty="0">
                <a:solidFill>
                  <a:srgbClr val="92D050"/>
                </a:solidFill>
              </a:rPr>
              <a:t>bounding box</a:t>
            </a:r>
            <a:r>
              <a:rPr lang="en-CA" dirty="0"/>
              <a:t>.</a:t>
            </a:r>
          </a:p>
          <a:p>
            <a:pPr lvl="2"/>
            <a:r>
              <a:rPr lang="en-CA" dirty="0"/>
              <a:t>Think of it </a:t>
            </a:r>
            <a:r>
              <a:rPr lang="en-CA" dirty="0">
                <a:solidFill>
                  <a:srgbClr val="FFFF00"/>
                </a:solidFill>
              </a:rPr>
              <a:t>like a picture frame </a:t>
            </a:r>
            <a:r>
              <a:rPr lang="en-CA" dirty="0"/>
              <a:t>that holds the image.  The image will </a:t>
            </a:r>
            <a:r>
              <a:rPr lang="en-CA" dirty="0">
                <a:solidFill>
                  <a:srgbClr val="FFFF00"/>
                </a:solidFill>
              </a:rPr>
              <a:t>FILL</a:t>
            </a:r>
            <a:r>
              <a:rPr lang="en-CA" dirty="0"/>
              <a:t> the frame.  Meaning it will </a:t>
            </a:r>
            <a:r>
              <a:rPr lang="en-CA" dirty="0">
                <a:solidFill>
                  <a:srgbClr val="92D050"/>
                </a:solidFill>
              </a:rPr>
              <a:t>stretch</a:t>
            </a:r>
            <a:r>
              <a:rPr lang="en-CA" dirty="0"/>
              <a:t> or </a:t>
            </a:r>
            <a:r>
              <a:rPr lang="en-CA" dirty="0">
                <a:solidFill>
                  <a:srgbClr val="92D050"/>
                </a:solidFill>
              </a:rPr>
              <a:t>compress</a:t>
            </a:r>
            <a:r>
              <a:rPr lang="en-CA" dirty="0"/>
              <a:t> the image to make it fit.  See the images below for examples</a:t>
            </a:r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E0A5F49-368E-BEE4-67A0-0DFD2729F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522425"/>
              </p:ext>
            </p:extLst>
          </p:nvPr>
        </p:nvGraphicFramePr>
        <p:xfrm>
          <a:off x="685802" y="4480847"/>
          <a:ext cx="10820397" cy="2279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799">
                  <a:extLst>
                    <a:ext uri="{9D8B030D-6E8A-4147-A177-3AD203B41FA5}">
                      <a16:colId xmlns:a16="http://schemas.microsoft.com/office/drawing/2014/main" val="3097916710"/>
                    </a:ext>
                  </a:extLst>
                </a:gridCol>
                <a:gridCol w="3606799">
                  <a:extLst>
                    <a:ext uri="{9D8B030D-6E8A-4147-A177-3AD203B41FA5}">
                      <a16:colId xmlns:a16="http://schemas.microsoft.com/office/drawing/2014/main" val="2463142485"/>
                    </a:ext>
                  </a:extLst>
                </a:gridCol>
                <a:gridCol w="3606799">
                  <a:extLst>
                    <a:ext uri="{9D8B030D-6E8A-4147-A177-3AD203B41FA5}">
                      <a16:colId xmlns:a16="http://schemas.microsoft.com/office/drawing/2014/main" val="912657043"/>
                    </a:ext>
                  </a:extLst>
                </a:gridCol>
              </a:tblGrid>
              <a:tr h="376463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Original Image (104x150)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Stretched Wide (200,150)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Compressed by ½ (52x75)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0534211"/>
                  </a:ext>
                </a:extLst>
              </a:tr>
              <a:tr h="1903412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446364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3E22132-A4DE-835F-EBB4-CE6501F9095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4764" y="5029200"/>
            <a:ext cx="1138619" cy="1638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1F183E-07EC-B57F-19D6-1DAFAC22E9D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2434" y="5029200"/>
            <a:ext cx="2187131" cy="1638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59F1B6-7578-109E-E117-DC488ED5030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439094" y="5029200"/>
            <a:ext cx="583951" cy="8463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4095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D0BCC-8CF6-A463-22E6-2A83B2FBD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Adding Images: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8E6F1-C204-CEC5-6967-A4BA57622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021" y="1624519"/>
            <a:ext cx="11186809" cy="4805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>
                <a:solidFill>
                  <a:srgbClr val="92D050"/>
                </a:solidFill>
              </a:rPr>
              <a:t>Step 1: Create the Texture2D to hold the image data and a Rectangle to know where and how big to draw the image</a:t>
            </a:r>
          </a:p>
          <a:p>
            <a:r>
              <a:rPr lang="en-CA" dirty="0"/>
              <a:t>We typically add the text </a:t>
            </a:r>
            <a:r>
              <a:rPr lang="en-CA" dirty="0" err="1">
                <a:solidFill>
                  <a:srgbClr val="92D050"/>
                </a:solidFill>
              </a:rPr>
              <a:t>Img</a:t>
            </a:r>
            <a:r>
              <a:rPr lang="en-CA" dirty="0"/>
              <a:t> to the end of each </a:t>
            </a:r>
            <a:r>
              <a:rPr lang="en-CA" dirty="0">
                <a:solidFill>
                  <a:srgbClr val="92D050"/>
                </a:solidFill>
              </a:rPr>
              <a:t>Texture2D</a:t>
            </a:r>
            <a:r>
              <a:rPr lang="en-CA" dirty="0"/>
              <a:t> variable name to know it’s an </a:t>
            </a:r>
            <a:r>
              <a:rPr lang="en-CA" dirty="0">
                <a:solidFill>
                  <a:srgbClr val="92D050"/>
                </a:solidFill>
              </a:rPr>
              <a:t>image</a:t>
            </a:r>
          </a:p>
          <a:p>
            <a:r>
              <a:rPr lang="en-CA" dirty="0">
                <a:solidFill>
                  <a:srgbClr val="00B0F0"/>
                </a:solidFill>
              </a:rPr>
              <a:t>For example</a:t>
            </a:r>
            <a:r>
              <a:rPr lang="en-CA" dirty="0"/>
              <a:t>, if I was setting up images for a grassy background and a tree sprite</a:t>
            </a:r>
          </a:p>
          <a:p>
            <a:pPr lvl="1"/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Texture2D grassyBGImg;</a:t>
            </a:r>
          </a:p>
          <a:p>
            <a:pPr lvl="1"/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Texture2D treeImg;</a:t>
            </a:r>
          </a:p>
          <a:p>
            <a:pPr lvl="1"/>
            <a:endParaRPr lang="en-CA" dirty="0"/>
          </a:p>
          <a:p>
            <a:r>
              <a:rPr lang="en-CA" dirty="0"/>
              <a:t>We typically add the text </a:t>
            </a:r>
            <a:r>
              <a:rPr lang="en-CA" dirty="0">
                <a:solidFill>
                  <a:srgbClr val="92D050"/>
                </a:solidFill>
              </a:rPr>
              <a:t>Rec</a:t>
            </a:r>
            <a:r>
              <a:rPr lang="en-CA" dirty="0"/>
              <a:t> to the end of each </a:t>
            </a:r>
            <a:r>
              <a:rPr lang="en-CA" dirty="0">
                <a:solidFill>
                  <a:srgbClr val="92D050"/>
                </a:solidFill>
              </a:rPr>
              <a:t>Rectangle</a:t>
            </a:r>
            <a:r>
              <a:rPr lang="en-CA" dirty="0"/>
              <a:t> variable name to know it’s a </a:t>
            </a:r>
            <a:r>
              <a:rPr lang="en-CA" dirty="0">
                <a:solidFill>
                  <a:srgbClr val="92D050"/>
                </a:solidFill>
              </a:rPr>
              <a:t>bounding box</a:t>
            </a:r>
          </a:p>
          <a:p>
            <a:r>
              <a:rPr lang="en-CA" dirty="0">
                <a:solidFill>
                  <a:srgbClr val="00B0F0"/>
                </a:solidFill>
              </a:rPr>
              <a:t>For example</a:t>
            </a:r>
            <a:r>
              <a:rPr lang="en-CA" dirty="0"/>
              <a:t>, if I was setting up bounding boxes for the grassy background and 2 trees</a:t>
            </a:r>
          </a:p>
          <a:p>
            <a:pPr lvl="1"/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Rectangle grassyBGRec;</a:t>
            </a:r>
          </a:p>
          <a:p>
            <a:pPr lvl="1"/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Rectangle tree1Rec;</a:t>
            </a:r>
          </a:p>
          <a:p>
            <a:pPr lvl="1"/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Rectangle tree2Rec;</a:t>
            </a:r>
          </a:p>
        </p:txBody>
      </p:sp>
    </p:spTree>
    <p:extLst>
      <p:ext uri="{BB962C8B-B14F-4D97-AF65-F5344CB8AC3E}">
        <p14:creationId xmlns:p14="http://schemas.microsoft.com/office/powerpoint/2010/main" val="794253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F2DD1-076C-6375-4B47-522021076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738753"/>
          </a:xfrm>
        </p:spPr>
        <p:txBody>
          <a:bodyPr/>
          <a:lstStyle/>
          <a:p>
            <a:r>
              <a:rPr lang="en-CA" dirty="0"/>
              <a:t>Adding Images: Coding – Load the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3CDFA-85EC-323C-4639-BD615BAD0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32116"/>
            <a:ext cx="10131425" cy="53159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>
                <a:solidFill>
                  <a:srgbClr val="92D050"/>
                </a:solidFill>
              </a:rPr>
              <a:t>Step 2) Load the image data</a:t>
            </a:r>
          </a:p>
          <a:p>
            <a:r>
              <a:rPr lang="en-CA" dirty="0"/>
              <a:t>In </a:t>
            </a:r>
            <a:r>
              <a:rPr lang="en-CA" dirty="0" err="1">
                <a:solidFill>
                  <a:srgbClr val="92D050"/>
                </a:solidFill>
              </a:rPr>
              <a:t>LoadContent</a:t>
            </a:r>
            <a:r>
              <a:rPr lang="en-CA" dirty="0"/>
              <a:t>, each Texture2D must be loaded, like how we loaded SpriteFonts previously</a:t>
            </a:r>
          </a:p>
          <a:p>
            <a:r>
              <a:rPr lang="en-CA" dirty="0">
                <a:solidFill>
                  <a:srgbClr val="00B0F0"/>
                </a:solidFill>
              </a:rPr>
              <a:t>For Example</a:t>
            </a:r>
            <a:r>
              <a:rPr lang="en-CA" dirty="0"/>
              <a:t>, load in GrassyBG.jpg image and the tree.png image into the Texture2Ds we just created</a:t>
            </a:r>
          </a:p>
          <a:p>
            <a:pPr lvl="1"/>
            <a:r>
              <a:rPr lang="en-US" dirty="0">
                <a:solidFill>
                  <a:srgbClr val="FFFF00"/>
                </a:solidFill>
                <a:latin typeface="Consolas" panose="020B0609020204030204" pitchFamily="49" charset="0"/>
              </a:rPr>
              <a:t>grassyBGImg = Content.Load&lt;Texture2D&gt;("Images/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Backgrounds</a:t>
            </a:r>
            <a:r>
              <a:rPr lang="en-US" dirty="0">
                <a:solidFill>
                  <a:srgbClr val="FFFF00"/>
                </a:solidFill>
                <a:latin typeface="Consolas" panose="020B0609020204030204" pitchFamily="49" charset="0"/>
              </a:rPr>
              <a:t>/GrassyBG");</a:t>
            </a:r>
          </a:p>
          <a:p>
            <a:pPr lvl="1"/>
            <a:r>
              <a:rPr lang="en-US" dirty="0">
                <a:solidFill>
                  <a:srgbClr val="FFFF00"/>
                </a:solidFill>
                <a:latin typeface="Consolas" panose="020B0609020204030204" pitchFamily="49" charset="0"/>
              </a:rPr>
              <a:t>treeImg = Content.Load&lt;Texture2D&gt;("Images/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Sprites</a:t>
            </a:r>
            <a:r>
              <a:rPr lang="en-US" dirty="0">
                <a:solidFill>
                  <a:srgbClr val="FFFF00"/>
                </a:solidFill>
                <a:latin typeface="Consolas" panose="020B0609020204030204" pitchFamily="49" charset="0"/>
              </a:rPr>
              <a:t>/tree");</a:t>
            </a:r>
          </a:p>
          <a:p>
            <a:pPr lvl="1"/>
            <a:endParaRPr lang="en-CA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r>
              <a:rPr lang="en-CA" b="1" dirty="0">
                <a:solidFill>
                  <a:srgbClr val="FFFF00"/>
                </a:solidFill>
              </a:rPr>
              <a:t>NOTICE</a:t>
            </a:r>
            <a:r>
              <a:rPr lang="en-CA" dirty="0"/>
              <a:t> how we did not need to include the extensions .jpg and .</a:t>
            </a:r>
            <a:r>
              <a:rPr lang="en-CA" dirty="0" err="1"/>
              <a:t>png</a:t>
            </a:r>
            <a:endParaRPr lang="en-CA" dirty="0"/>
          </a:p>
          <a:p>
            <a:pPr marL="0" indent="0">
              <a:buNone/>
            </a:pPr>
            <a:endParaRPr lang="en-CA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CA" b="1" dirty="0">
                <a:solidFill>
                  <a:srgbClr val="92D050"/>
                </a:solidFill>
              </a:rPr>
              <a:t>Possible Errors</a:t>
            </a:r>
          </a:p>
          <a:p>
            <a:r>
              <a:rPr lang="en-CA" dirty="0">
                <a:solidFill>
                  <a:srgbClr val="FFFF00"/>
                </a:solidFill>
              </a:rPr>
              <a:t>If you get an error when compiling that says it cannot find your file, it is one of a few things:</a:t>
            </a:r>
          </a:p>
          <a:p>
            <a:pPr lvl="1"/>
            <a:r>
              <a:rPr lang="en-CA" dirty="0"/>
              <a:t>Most likely, you spelled something wrong in your file path during load.  Look closely, it must be </a:t>
            </a:r>
            <a:r>
              <a:rPr lang="en-CA" dirty="0">
                <a:solidFill>
                  <a:srgbClr val="FFFF00"/>
                </a:solidFill>
              </a:rPr>
              <a:t>PERFECT!</a:t>
            </a:r>
          </a:p>
          <a:p>
            <a:pPr lvl="1"/>
            <a:r>
              <a:rPr lang="en-CA" dirty="0"/>
              <a:t>You forgot to RUN the Builder project</a:t>
            </a:r>
          </a:p>
        </p:txBody>
      </p:sp>
    </p:spTree>
    <p:extLst>
      <p:ext uri="{BB962C8B-B14F-4D97-AF65-F5344CB8AC3E}">
        <p14:creationId xmlns:p14="http://schemas.microsoft.com/office/powerpoint/2010/main" val="1517033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3EBD8-D8ED-3B33-3D5F-94FDFC516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693906"/>
          </a:xfrm>
        </p:spPr>
        <p:txBody>
          <a:bodyPr/>
          <a:lstStyle/>
          <a:p>
            <a:r>
              <a:rPr lang="en-CA" dirty="0"/>
              <a:t>Adding Images: Coding – Rectangle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0D718-E518-D6FC-A5BB-8EB9F7235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205" y="1225685"/>
            <a:ext cx="11128442" cy="5369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b="1" dirty="0">
                <a:solidFill>
                  <a:srgbClr val="92D050"/>
                </a:solidFill>
              </a:rPr>
              <a:t>Step 3) initialize (setup) the Rectangle to the desired position and size.</a:t>
            </a:r>
          </a:p>
          <a:p>
            <a:r>
              <a:rPr lang="en-CA" sz="2000" dirty="0"/>
              <a:t>In </a:t>
            </a:r>
            <a:r>
              <a:rPr lang="en-CA" sz="2000" dirty="0" err="1">
                <a:solidFill>
                  <a:srgbClr val="FFFF00"/>
                </a:solidFill>
              </a:rPr>
              <a:t>LoadContent</a:t>
            </a:r>
            <a:r>
              <a:rPr lang="en-CA" sz="2000" dirty="0"/>
              <a:t>, each rectangle for every image to be drawn must be initialized (setup) by defining it with a position and size in the order </a:t>
            </a:r>
            <a:r>
              <a:rPr lang="en-CA" sz="2000" dirty="0">
                <a:solidFill>
                  <a:srgbClr val="92D050"/>
                </a:solidFill>
              </a:rPr>
              <a:t>(x, y, width, height) </a:t>
            </a:r>
            <a:r>
              <a:rPr lang="en-CA" sz="2000" dirty="0">
                <a:sym typeface="Wingdings" panose="05000000000000000000" pitchFamily="2" charset="2"/>
              </a:rPr>
              <a:t> All values, must be </a:t>
            </a:r>
            <a:r>
              <a:rPr lang="en-CA" sz="2000" b="1" dirty="0">
                <a:sym typeface="Wingdings" panose="05000000000000000000" pitchFamily="2" charset="2"/>
              </a:rPr>
              <a:t>integers</a:t>
            </a:r>
            <a:endParaRPr lang="en-CA" sz="2000" b="1" dirty="0"/>
          </a:p>
          <a:p>
            <a:endParaRPr lang="en-CA" sz="2000" dirty="0">
              <a:solidFill>
                <a:srgbClr val="92D050"/>
              </a:solidFill>
            </a:endParaRPr>
          </a:p>
          <a:p>
            <a:r>
              <a:rPr lang="en-CA" sz="2000" dirty="0">
                <a:solidFill>
                  <a:srgbClr val="00B0F0"/>
                </a:solidFill>
              </a:rPr>
              <a:t>For Example</a:t>
            </a:r>
            <a:r>
              <a:rPr lang="en-CA" sz="2000" dirty="0"/>
              <a:t>, let’s start with our Grassy Background Image</a:t>
            </a:r>
          </a:p>
          <a:p>
            <a:r>
              <a:rPr lang="en-CA" sz="2000" dirty="0"/>
              <a:t>The background’s </a:t>
            </a:r>
            <a:r>
              <a:rPr lang="en-CA" sz="2000" dirty="0">
                <a:solidFill>
                  <a:srgbClr val="92D050"/>
                </a:solidFill>
              </a:rPr>
              <a:t>position</a:t>
            </a:r>
            <a:r>
              <a:rPr lang="en-CA" sz="2000" dirty="0"/>
              <a:t> will be the top left of the screen (0,0)</a:t>
            </a:r>
          </a:p>
          <a:p>
            <a:r>
              <a:rPr lang="en-CA" sz="2000" dirty="0"/>
              <a:t>Its </a:t>
            </a:r>
            <a:r>
              <a:rPr lang="en-CA" sz="2000" dirty="0">
                <a:solidFill>
                  <a:srgbClr val="92D050"/>
                </a:solidFill>
              </a:rPr>
              <a:t>size</a:t>
            </a:r>
            <a:r>
              <a:rPr lang="en-CA" sz="2000" dirty="0"/>
              <a:t> needs to be the whole screen, so use our </a:t>
            </a:r>
            <a:r>
              <a:rPr lang="en-CA" sz="2000" dirty="0">
                <a:solidFill>
                  <a:srgbClr val="92D050"/>
                </a:solidFill>
              </a:rPr>
              <a:t>screenWidth</a:t>
            </a:r>
            <a:r>
              <a:rPr lang="en-CA" sz="2000" dirty="0"/>
              <a:t> and </a:t>
            </a:r>
            <a:r>
              <a:rPr lang="en-CA" sz="2000" dirty="0">
                <a:solidFill>
                  <a:srgbClr val="92D050"/>
                </a:solidFill>
              </a:rPr>
              <a:t>screenHeight</a:t>
            </a:r>
            <a:r>
              <a:rPr lang="en-CA" sz="2000" dirty="0"/>
              <a:t> variables we created</a:t>
            </a:r>
            <a:endParaRPr lang="en-CA" dirty="0"/>
          </a:p>
          <a:p>
            <a:pPr lvl="1"/>
            <a:r>
              <a:rPr lang="en-US" sz="1800" dirty="0">
                <a:solidFill>
                  <a:srgbClr val="FFFF00"/>
                </a:solidFill>
                <a:latin typeface="Consolas" panose="020B0609020204030204" pitchFamily="49" charset="0"/>
              </a:rPr>
              <a:t>grassyBGRec = new Rectangle(0, 0, screenWidth, screenHeight);</a:t>
            </a:r>
            <a:endParaRPr lang="en-CA" sz="18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82330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D30A4-EE03-5382-AE62-83A03332A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864" y="354956"/>
            <a:ext cx="10131425" cy="723089"/>
          </a:xfrm>
        </p:spPr>
        <p:txBody>
          <a:bodyPr/>
          <a:lstStyle/>
          <a:p>
            <a:r>
              <a:rPr lang="en-CA" dirty="0"/>
              <a:t>Adding Images: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52A-20D2-1516-9455-BC480E7AA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55" y="1078045"/>
            <a:ext cx="11322996" cy="563404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CA" b="1" dirty="0">
                <a:solidFill>
                  <a:srgbClr val="92D050"/>
                </a:solidFill>
              </a:rPr>
              <a:t>Now, let’s initialize the Rectangles for our sprites, the two trees</a:t>
            </a:r>
          </a:p>
          <a:p>
            <a:r>
              <a:rPr lang="en-CA" dirty="0"/>
              <a:t>The tree </a:t>
            </a:r>
            <a:r>
              <a:rPr lang="en-CA" dirty="0">
                <a:solidFill>
                  <a:srgbClr val="92D050"/>
                </a:solidFill>
              </a:rPr>
              <a:t>positions</a:t>
            </a:r>
            <a:r>
              <a:rPr lang="en-CA" dirty="0"/>
              <a:t> can be anywhere we want, play with them until you like their position</a:t>
            </a:r>
          </a:p>
          <a:p>
            <a:pPr lvl="1"/>
            <a:r>
              <a:rPr lang="en-CA" dirty="0"/>
              <a:t>Let’s </a:t>
            </a:r>
            <a:r>
              <a:rPr lang="en-CA" dirty="0">
                <a:solidFill>
                  <a:srgbClr val="FFFF00"/>
                </a:solidFill>
              </a:rPr>
              <a:t>choose</a:t>
            </a:r>
            <a:r>
              <a:rPr lang="en-CA" dirty="0"/>
              <a:t> </a:t>
            </a:r>
            <a:r>
              <a:rPr lang="en-CA" dirty="0">
                <a:solidFill>
                  <a:srgbClr val="92D050"/>
                </a:solidFill>
              </a:rPr>
              <a:t>(50,500) </a:t>
            </a:r>
            <a:r>
              <a:rPr lang="en-CA" dirty="0"/>
              <a:t>and </a:t>
            </a:r>
            <a:r>
              <a:rPr lang="en-CA" dirty="0">
                <a:solidFill>
                  <a:srgbClr val="92D050"/>
                </a:solidFill>
              </a:rPr>
              <a:t>(700,350) </a:t>
            </a:r>
            <a:r>
              <a:rPr lang="en-CA" dirty="0"/>
              <a:t>for our two trees (I chose these, so it looks like they  are spaced out on the ground)</a:t>
            </a:r>
          </a:p>
          <a:p>
            <a:pPr lvl="1"/>
            <a:endParaRPr lang="en-CA" dirty="0"/>
          </a:p>
          <a:p>
            <a:r>
              <a:rPr lang="en-CA" dirty="0"/>
              <a:t>When setting the size of regular sprites, we have </a:t>
            </a:r>
            <a:r>
              <a:rPr lang="en-CA" dirty="0">
                <a:solidFill>
                  <a:srgbClr val="FFFF00"/>
                </a:solidFill>
              </a:rPr>
              <a:t>3</a:t>
            </a:r>
            <a:r>
              <a:rPr lang="en-CA" dirty="0"/>
              <a:t> </a:t>
            </a:r>
            <a:r>
              <a:rPr lang="en-CA" dirty="0">
                <a:solidFill>
                  <a:srgbClr val="FFFF00"/>
                </a:solidFill>
              </a:rPr>
              <a:t>choices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1) We can just </a:t>
            </a:r>
            <a:r>
              <a:rPr lang="en-CA" dirty="0">
                <a:solidFill>
                  <a:srgbClr val="FFFF00"/>
                </a:solidFill>
              </a:rPr>
              <a:t>choose</a:t>
            </a:r>
            <a:r>
              <a:rPr lang="en-CA" dirty="0"/>
              <a:t> numbers, e.g. 100,200 would be 100 wide and 200 high</a:t>
            </a:r>
          </a:p>
          <a:p>
            <a:pPr lvl="1"/>
            <a:r>
              <a:rPr lang="en-CA" dirty="0"/>
              <a:t>2) We can use the image’s real size by retrieving it from its </a:t>
            </a:r>
            <a:r>
              <a:rPr lang="en-CA" dirty="0">
                <a:solidFill>
                  <a:srgbClr val="92D050"/>
                </a:solidFill>
              </a:rPr>
              <a:t>Texture2D</a:t>
            </a:r>
            <a:r>
              <a:rPr lang="en-CA" dirty="0"/>
              <a:t>, e.g. 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treeImg.Width</a:t>
            </a:r>
            <a:r>
              <a:rPr lang="en-CA" dirty="0"/>
              <a:t> and 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treeImg.Height</a:t>
            </a:r>
          </a:p>
          <a:p>
            <a:pPr lvl="1"/>
            <a:r>
              <a:rPr lang="en-CA" dirty="0"/>
              <a:t>3) We can scale the image by multiplying the </a:t>
            </a:r>
            <a:r>
              <a:rPr lang="en-CA" dirty="0">
                <a:solidFill>
                  <a:srgbClr val="92D050"/>
                </a:solidFill>
              </a:rPr>
              <a:t>Texture2D</a:t>
            </a:r>
            <a:r>
              <a:rPr lang="en-CA" dirty="0"/>
              <a:t> data by a scaling value, like </a:t>
            </a:r>
            <a:r>
              <a:rPr lang="en-CA" dirty="0">
                <a:solidFill>
                  <a:srgbClr val="92D050"/>
                </a:solidFill>
                <a:latin typeface="Consolas" panose="020B0609020204030204" pitchFamily="49" charset="0"/>
              </a:rPr>
              <a:t>0.8f</a:t>
            </a:r>
            <a:r>
              <a:rPr lang="en-CA" dirty="0"/>
              <a:t>.  </a:t>
            </a:r>
            <a:r>
              <a:rPr lang="en-CA" dirty="0">
                <a:solidFill>
                  <a:srgbClr val="FFFF00"/>
                </a:solidFill>
              </a:rPr>
              <a:t>(the f means float)</a:t>
            </a:r>
          </a:p>
          <a:p>
            <a:pPr lvl="2"/>
            <a:r>
              <a:rPr lang="en-CA" dirty="0"/>
              <a:t>However, this will produce a </a:t>
            </a:r>
            <a:r>
              <a:rPr lang="en-CA" dirty="0">
                <a:solidFill>
                  <a:srgbClr val="92D050"/>
                </a:solidFill>
              </a:rPr>
              <a:t>float</a:t>
            </a:r>
            <a:r>
              <a:rPr lang="en-CA" dirty="0"/>
              <a:t>, and Rectangles can only use </a:t>
            </a:r>
            <a:r>
              <a:rPr lang="en-CA" dirty="0">
                <a:solidFill>
                  <a:srgbClr val="92D050"/>
                </a:solidFill>
              </a:rPr>
              <a:t>ints</a:t>
            </a:r>
            <a:r>
              <a:rPr lang="en-CA" dirty="0"/>
              <a:t>.  So, we will need to </a:t>
            </a:r>
            <a:r>
              <a:rPr lang="en-CA" dirty="0">
                <a:solidFill>
                  <a:srgbClr val="FFFF00"/>
                </a:solidFill>
              </a:rPr>
              <a:t>cast</a:t>
            </a:r>
            <a:r>
              <a:rPr lang="en-CA" dirty="0"/>
              <a:t> the data to an </a:t>
            </a:r>
            <a:r>
              <a:rPr lang="en-CA" dirty="0">
                <a:solidFill>
                  <a:srgbClr val="92D050"/>
                </a:solidFill>
              </a:rPr>
              <a:t>int</a:t>
            </a:r>
            <a:r>
              <a:rPr lang="en-CA" dirty="0"/>
              <a:t>, 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(int)(treeImg.Width * 0.5f)</a:t>
            </a:r>
          </a:p>
          <a:p>
            <a:pPr lvl="2"/>
            <a:r>
              <a:rPr lang="en-CA" dirty="0"/>
              <a:t>It’s usually a good idea to use the same scaling value for both the width and height so they scale at the same rate</a:t>
            </a:r>
          </a:p>
          <a:p>
            <a:pPr lvl="1"/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tree1Rec = new Rectangle(50,500,treeImg.Width, treeImg.Height);</a:t>
            </a:r>
          </a:p>
          <a:p>
            <a:pPr lvl="1"/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tree2Rec = new Rectangle(700,350, (int)(treeImg.Width * 1.5f), (int)(treeImg.Height * 1.5f));</a:t>
            </a:r>
          </a:p>
        </p:txBody>
      </p:sp>
    </p:spTree>
    <p:extLst>
      <p:ext uri="{BB962C8B-B14F-4D97-AF65-F5344CB8AC3E}">
        <p14:creationId xmlns:p14="http://schemas.microsoft.com/office/powerpoint/2010/main" val="979085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2C8FF-83D1-91A1-8FEE-8DF49795E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752271"/>
          </a:xfrm>
        </p:spPr>
        <p:txBody>
          <a:bodyPr>
            <a:normAutofit/>
          </a:bodyPr>
          <a:lstStyle/>
          <a:p>
            <a:r>
              <a:rPr lang="en-CA" dirty="0"/>
              <a:t>Adding Images: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3108E-474F-CC91-CFC3-2FCBA3FFD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84051"/>
            <a:ext cx="10449731" cy="5359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>
                <a:solidFill>
                  <a:srgbClr val="92D050"/>
                </a:solidFill>
              </a:rPr>
              <a:t>Step 4) Draw the Image as part of the </a:t>
            </a:r>
            <a:r>
              <a:rPr lang="en-CA" b="1" dirty="0" err="1">
                <a:solidFill>
                  <a:srgbClr val="92D050"/>
                </a:solidFill>
              </a:rPr>
              <a:t>spriteBatch</a:t>
            </a:r>
            <a:endParaRPr lang="en-CA" b="1" dirty="0">
              <a:solidFill>
                <a:srgbClr val="92D050"/>
              </a:solidFill>
            </a:endParaRPr>
          </a:p>
          <a:p>
            <a:r>
              <a:rPr lang="en-CA" dirty="0"/>
              <a:t>In the </a:t>
            </a:r>
            <a:r>
              <a:rPr lang="en-CA" dirty="0">
                <a:solidFill>
                  <a:srgbClr val="FFFF00"/>
                </a:solidFill>
              </a:rPr>
              <a:t>Draw</a:t>
            </a:r>
            <a:r>
              <a:rPr lang="en-CA" dirty="0"/>
              <a:t> method, start by beginning and ending your </a:t>
            </a:r>
            <a:r>
              <a:rPr lang="en-CA" dirty="0">
                <a:solidFill>
                  <a:srgbClr val="92D050"/>
                </a:solidFill>
              </a:rPr>
              <a:t>_</a:t>
            </a:r>
            <a:r>
              <a:rPr lang="en-CA" dirty="0" err="1">
                <a:solidFill>
                  <a:srgbClr val="92D050"/>
                </a:solidFill>
              </a:rPr>
              <a:t>spriteBatch</a:t>
            </a:r>
            <a:endParaRPr lang="en-CA" dirty="0">
              <a:solidFill>
                <a:srgbClr val="92D050"/>
              </a:solidFill>
            </a:endParaRPr>
          </a:p>
          <a:p>
            <a:pPr lvl="1"/>
            <a:r>
              <a:rPr lang="en-CA" dirty="0"/>
              <a:t>_</a:t>
            </a:r>
            <a:r>
              <a:rPr lang="en-CA" dirty="0" err="1"/>
              <a:t>spriteBatch.Begin</a:t>
            </a:r>
            <a:r>
              <a:rPr lang="en-CA" dirty="0"/>
              <a:t>();</a:t>
            </a:r>
          </a:p>
          <a:p>
            <a:pPr lvl="1"/>
            <a:r>
              <a:rPr lang="en-CA" dirty="0"/>
              <a:t>_</a:t>
            </a:r>
            <a:r>
              <a:rPr lang="en-CA" dirty="0" err="1"/>
              <a:t>spriteBatch.End</a:t>
            </a:r>
            <a:r>
              <a:rPr lang="en-CA" dirty="0"/>
              <a:t>();</a:t>
            </a:r>
          </a:p>
          <a:p>
            <a:pPr lvl="2"/>
            <a:r>
              <a:rPr lang="en-CA" dirty="0">
                <a:solidFill>
                  <a:srgbClr val="FFFF00"/>
                </a:solidFill>
              </a:rPr>
              <a:t>NOTE:</a:t>
            </a:r>
            <a:r>
              <a:rPr lang="en-CA" dirty="0"/>
              <a:t> Only one set of Begin() and End() is needed in the Draw method.  All drawing of all kinds is within them</a:t>
            </a:r>
          </a:p>
          <a:p>
            <a:r>
              <a:rPr lang="en-CA" dirty="0"/>
              <a:t>Between them, for each image, we must call the </a:t>
            </a:r>
            <a:r>
              <a:rPr lang="en-CA" dirty="0">
                <a:solidFill>
                  <a:srgbClr val="92D050"/>
                </a:solidFill>
              </a:rPr>
              <a:t>_</a:t>
            </a:r>
            <a:r>
              <a:rPr lang="en-CA" dirty="0" err="1">
                <a:solidFill>
                  <a:srgbClr val="92D050"/>
                </a:solidFill>
              </a:rPr>
              <a:t>spriteBatch.Draw</a:t>
            </a:r>
            <a:r>
              <a:rPr lang="en-CA" dirty="0">
                <a:solidFill>
                  <a:srgbClr val="92D050"/>
                </a:solidFill>
              </a:rPr>
              <a:t>() </a:t>
            </a:r>
            <a:r>
              <a:rPr lang="en-CA" dirty="0"/>
              <a:t>method, which requires </a:t>
            </a:r>
            <a:r>
              <a:rPr lang="en-CA" dirty="0">
                <a:solidFill>
                  <a:srgbClr val="FFFF00"/>
                </a:solidFill>
              </a:rPr>
              <a:t>3</a:t>
            </a:r>
            <a:r>
              <a:rPr lang="en-CA" dirty="0"/>
              <a:t> parameters</a:t>
            </a:r>
          </a:p>
          <a:p>
            <a:pPr lvl="1"/>
            <a:r>
              <a:rPr lang="en-CA" dirty="0"/>
              <a:t>The </a:t>
            </a:r>
            <a:r>
              <a:rPr lang="en-CA" dirty="0">
                <a:solidFill>
                  <a:srgbClr val="92D050"/>
                </a:solidFill>
              </a:rPr>
              <a:t>Texture2D</a:t>
            </a:r>
            <a:r>
              <a:rPr lang="en-CA" dirty="0"/>
              <a:t> variable (image) being drawn</a:t>
            </a:r>
          </a:p>
          <a:p>
            <a:pPr lvl="1"/>
            <a:r>
              <a:rPr lang="en-CA" dirty="0"/>
              <a:t>The </a:t>
            </a:r>
            <a:r>
              <a:rPr lang="en-CA" dirty="0">
                <a:solidFill>
                  <a:srgbClr val="92D050"/>
                </a:solidFill>
              </a:rPr>
              <a:t>bounding box Rectangle </a:t>
            </a:r>
            <a:r>
              <a:rPr lang="en-CA" dirty="0"/>
              <a:t>to know where and how big to draw the image</a:t>
            </a:r>
          </a:p>
          <a:p>
            <a:pPr lvl="1"/>
            <a:r>
              <a:rPr lang="en-CA" dirty="0"/>
              <a:t>A </a:t>
            </a:r>
            <a:r>
              <a:rPr lang="en-CA" dirty="0">
                <a:solidFill>
                  <a:srgbClr val="92D050"/>
                </a:solidFill>
              </a:rPr>
              <a:t>Color</a:t>
            </a:r>
            <a:r>
              <a:rPr lang="en-CA" dirty="0"/>
              <a:t>, which acts as a light filter over the image.  White light (Color.White) will give you the original image</a:t>
            </a:r>
          </a:p>
          <a:p>
            <a:pPr lvl="2"/>
            <a:r>
              <a:rPr lang="en-CA" dirty="0"/>
              <a:t>Remember, multiplying a colour by a </a:t>
            </a:r>
            <a:r>
              <a:rPr lang="en-CA" dirty="0">
                <a:solidFill>
                  <a:srgbClr val="92D050"/>
                </a:solidFill>
              </a:rPr>
              <a:t>float</a:t>
            </a:r>
            <a:r>
              <a:rPr lang="en-CA" dirty="0"/>
              <a:t> between 0 and 1 will add </a:t>
            </a:r>
            <a:r>
              <a:rPr lang="en-CA" dirty="0">
                <a:solidFill>
                  <a:srgbClr val="92D050"/>
                </a:solidFill>
              </a:rPr>
              <a:t>transparency</a:t>
            </a:r>
            <a:r>
              <a:rPr lang="en-CA" dirty="0"/>
              <a:t>, 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Color.White * 0.7f </a:t>
            </a:r>
            <a:r>
              <a:rPr lang="en-CA" dirty="0"/>
              <a:t>will make it 70% solid (opaque)</a:t>
            </a:r>
          </a:p>
          <a:p>
            <a:pPr lvl="1"/>
            <a:r>
              <a:rPr lang="en-CA" dirty="0"/>
              <a:t>Remember, images are drawn in order.  First image drawn will be at the back layer, and so on.</a:t>
            </a:r>
          </a:p>
          <a:p>
            <a:pPr lvl="2"/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_</a:t>
            </a:r>
            <a:r>
              <a:rPr lang="en-CA" dirty="0" err="1">
                <a:solidFill>
                  <a:srgbClr val="FFFF00"/>
                </a:solidFill>
                <a:latin typeface="Consolas" panose="020B0609020204030204" pitchFamily="49" charset="0"/>
              </a:rPr>
              <a:t>spriteBatch.Draw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(</a:t>
            </a:r>
            <a:r>
              <a:rPr lang="en-CA" dirty="0" err="1">
                <a:solidFill>
                  <a:srgbClr val="FFFF00"/>
                </a:solidFill>
                <a:latin typeface="Consolas" panose="020B0609020204030204" pitchFamily="49" charset="0"/>
              </a:rPr>
              <a:t>grassyBGImg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, grassyBGRec, Color.White); </a:t>
            </a:r>
            <a:r>
              <a:rPr lang="en-CA" dirty="0">
                <a:latin typeface="Consolas" panose="020B0609020204030204" pitchFamily="49" charset="0"/>
                <a:sym typeface="Wingdings" panose="05000000000000000000" pitchFamily="2" charset="2"/>
              </a:rPr>
              <a:t> Try </a:t>
            </a:r>
            <a:r>
              <a:rPr lang="en-CA" b="1" dirty="0">
                <a:solidFill>
                  <a:srgbClr val="92D05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Color.Red</a:t>
            </a:r>
            <a:r>
              <a:rPr lang="en-CA" dirty="0">
                <a:latin typeface="Consolas" panose="020B0609020204030204" pitchFamily="49" charset="0"/>
                <a:sym typeface="Wingdings" panose="05000000000000000000" pitchFamily="2" charset="2"/>
              </a:rPr>
              <a:t>, what happens?</a:t>
            </a:r>
            <a:endParaRPr lang="en-CA" dirty="0">
              <a:latin typeface="Consolas" panose="020B0609020204030204" pitchFamily="49" charset="0"/>
            </a:endParaRPr>
          </a:p>
          <a:p>
            <a:pPr lvl="2"/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_</a:t>
            </a:r>
            <a:r>
              <a:rPr lang="en-CA" dirty="0" err="1">
                <a:solidFill>
                  <a:srgbClr val="FFFF00"/>
                </a:solidFill>
                <a:latin typeface="Consolas" panose="020B0609020204030204" pitchFamily="49" charset="0"/>
              </a:rPr>
              <a:t>spriteBatch.Draw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(</a:t>
            </a:r>
            <a:r>
              <a:rPr lang="en-CA" dirty="0" err="1">
                <a:solidFill>
                  <a:srgbClr val="FFFF00"/>
                </a:solidFill>
                <a:latin typeface="Consolas" panose="020B0609020204030204" pitchFamily="49" charset="0"/>
              </a:rPr>
              <a:t>treeImg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, tree1Rec, Color.White);</a:t>
            </a:r>
          </a:p>
          <a:p>
            <a:pPr lvl="2"/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_</a:t>
            </a:r>
            <a:r>
              <a:rPr lang="en-CA" dirty="0" err="1">
                <a:solidFill>
                  <a:srgbClr val="FFFF00"/>
                </a:solidFill>
                <a:latin typeface="Consolas" panose="020B0609020204030204" pitchFamily="49" charset="0"/>
              </a:rPr>
              <a:t>spriteBatch.Draw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(</a:t>
            </a:r>
            <a:r>
              <a:rPr lang="en-CA" dirty="0" err="1">
                <a:solidFill>
                  <a:srgbClr val="FFFF00"/>
                </a:solidFill>
                <a:latin typeface="Consolas" panose="020B0609020204030204" pitchFamily="49" charset="0"/>
              </a:rPr>
              <a:t>treeImg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, tree2Rec, Color.White); </a:t>
            </a:r>
            <a:r>
              <a:rPr lang="en-CA" dirty="0"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CA" sz="1200" dirty="0">
                <a:latin typeface="Consolas" panose="020B0609020204030204" pitchFamily="49" charset="0"/>
                <a:sym typeface="Wingdings" panose="05000000000000000000" pitchFamily="2" charset="2"/>
              </a:rPr>
              <a:t>Shares </a:t>
            </a:r>
            <a:r>
              <a:rPr lang="en-CA" sz="1200" dirty="0">
                <a:solidFill>
                  <a:srgbClr val="92D05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treeImg</a:t>
            </a:r>
            <a:r>
              <a:rPr lang="en-CA" sz="1200" dirty="0">
                <a:latin typeface="Consolas" panose="020B0609020204030204" pitchFamily="49" charset="0"/>
                <a:sym typeface="Wingdings" panose="05000000000000000000" pitchFamily="2" charset="2"/>
              </a:rPr>
              <a:t>, but has its own </a:t>
            </a:r>
            <a:r>
              <a:rPr lang="en-CA" sz="1200" dirty="0">
                <a:solidFill>
                  <a:srgbClr val="92D05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Rectangle</a:t>
            </a:r>
            <a:endParaRPr lang="en-CA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3673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449</TotalTime>
  <Words>2454</Words>
  <Application>Microsoft Office PowerPoint</Application>
  <PresentationFormat>Widescreen</PresentationFormat>
  <Paragraphs>240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Consolas</vt:lpstr>
      <vt:lpstr>Wingdings</vt:lpstr>
      <vt:lpstr>Celestial</vt:lpstr>
      <vt:lpstr>MonoGame Graphics</vt:lpstr>
      <vt:lpstr>Customizing graphical options</vt:lpstr>
      <vt:lpstr>Making the Mouse Pointer Visible</vt:lpstr>
      <vt:lpstr>Changing Game Resolution (Window Size)</vt:lpstr>
      <vt:lpstr>Handling the Resolution Problem</vt:lpstr>
      <vt:lpstr>Changing the Game’s Framerate (FPS)</vt:lpstr>
      <vt:lpstr>Putting it ALL Together</vt:lpstr>
      <vt:lpstr>Adding Images (Sprites) to our Games: Notes</vt:lpstr>
      <vt:lpstr>Adding Images: To The BUILDER Project</vt:lpstr>
      <vt:lpstr>Adding Images: Get the Images Ready</vt:lpstr>
      <vt:lpstr>Adding Images: Add them to the Project</vt:lpstr>
      <vt:lpstr>Adding Images: Run the Builder Project</vt:lpstr>
      <vt:lpstr>Adding Image: Coding</vt:lpstr>
      <vt:lpstr>Adding Images: Coding</vt:lpstr>
      <vt:lpstr>Adding Images: Coding – Load the Images</vt:lpstr>
      <vt:lpstr>Adding Images: Coding – Rectangle Setup</vt:lpstr>
      <vt:lpstr>Adding Images: Coding</vt:lpstr>
      <vt:lpstr>Adding Images: Coding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MonoGame Graphics</dc:title>
  <dc:creator>Trevor Lane</dc:creator>
  <cp:lastModifiedBy>Trevor Lane</cp:lastModifiedBy>
  <cp:revision>12</cp:revision>
  <dcterms:created xsi:type="dcterms:W3CDTF">2023-10-05T22:26:57Z</dcterms:created>
  <dcterms:modified xsi:type="dcterms:W3CDTF">2026-10-05T02:07:25Z</dcterms:modified>
</cp:coreProperties>
</file>