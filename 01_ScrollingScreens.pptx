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5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79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995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4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293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62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015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227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303809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301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3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100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91440" rIns="4572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207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91440" rIns="4572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190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" y="6400800"/>
            <a:ext cx="914398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CD8220C-920D-49EA-AB8D-57A043AE7FB3}" type="datetimeFigureOut">
              <a:rPr lang="en-CA" smtClean="0"/>
              <a:t>2021-11-25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A7F6A8-CD94-4316-8ED4-FB330F997A58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504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Translation…</a:t>
            </a:r>
            <a:r>
              <a:rPr lang="en-CA" dirty="0" err="1"/>
              <a:t>kinda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Scrolling Screens</a:t>
            </a:r>
          </a:p>
        </p:txBody>
      </p:sp>
      <p:pic>
        <p:nvPicPr>
          <p:cNvPr id="5" name="Picture 4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E629F027-8F61-4CDC-8F17-511CDE8E3E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27121"/>
            <a:ext cx="91440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6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90309"/>
          </a:xfrm>
        </p:spPr>
        <p:txBody>
          <a:bodyPr>
            <a:normAutofit/>
          </a:bodyPr>
          <a:lstStyle/>
          <a:p>
            <a:r>
              <a:rPr lang="en-CA" dirty="0"/>
              <a:t>A scrolling screen is a mechanism used by game programmers and animators for decades, and more recently, web developers as well.</a:t>
            </a:r>
          </a:p>
          <a:p>
            <a:r>
              <a:rPr lang="en-CA" dirty="0"/>
              <a:t>We have to flip our thinking. We are used to translating the player through the game world.  A scrolling screen does the opposite.</a:t>
            </a:r>
          </a:p>
          <a:p>
            <a:endParaRPr lang="en-CA" dirty="0"/>
          </a:p>
          <a:p>
            <a:r>
              <a:rPr lang="en-CA" dirty="0"/>
              <a:t>By having the player remain in one spot (stationary) on the screen and moving the background in a specified direction behind the player it gives the illusion the player is moving.</a:t>
            </a:r>
          </a:p>
          <a:p>
            <a:endParaRPr lang="en-CA" dirty="0"/>
          </a:p>
          <a:p>
            <a:r>
              <a:rPr lang="en-CA" dirty="0"/>
              <a:t>This is used in most platforming games like Super Mario Bros. but also in many modern mobile games like Jetpack Joyride or Flappy Bird.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123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It is simple in concept, but can be used to produce a variety of effects</a:t>
            </a:r>
          </a:p>
          <a:p>
            <a:r>
              <a:rPr lang="en-CA" dirty="0"/>
              <a:t>You need a background image that matches up on their ends, so the end of one is the beginning of the next as well.</a:t>
            </a:r>
          </a:p>
          <a:p>
            <a:r>
              <a:rPr lang="en-CA" dirty="0"/>
              <a:t>This is so when they are lined up side by side you do not see a seam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32" y="3558746"/>
            <a:ext cx="2895010" cy="25331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32" y="3558746"/>
            <a:ext cx="2895010" cy="25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9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22222E-6 L 0.5217 -0.00069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7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17 -0.00092 L 0.31545 -2.22222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1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Once you have found your background image, you need to load it into two separate </a:t>
            </a:r>
            <a:r>
              <a:rPr lang="en-CA" b="1" dirty="0">
                <a:solidFill>
                  <a:srgbClr val="FFFF00"/>
                </a:solidFill>
              </a:rPr>
              <a:t>Texture2D</a:t>
            </a:r>
            <a:r>
              <a:rPr lang="en-CA" dirty="0">
                <a:solidFill>
                  <a:srgbClr val="FFFF00"/>
                </a:solidFill>
              </a:rPr>
              <a:t> </a:t>
            </a:r>
            <a:r>
              <a:rPr lang="en-CA" dirty="0"/>
              <a:t>variables, as well as setup 2 destination rectangles and 2 Vector2 variables to store their true positions.</a:t>
            </a:r>
          </a:p>
          <a:p>
            <a:r>
              <a:rPr lang="en-CA" dirty="0"/>
              <a:t>One will be located on the screen as normal, the other starting at the edge of the screen.</a:t>
            </a:r>
          </a:p>
          <a:p>
            <a:pPr lvl="1"/>
            <a:r>
              <a:rPr lang="en-CA" dirty="0"/>
              <a:t>So if you were creating a screen scrolling to the left, it would be located to the right with an x value of </a:t>
            </a:r>
            <a:r>
              <a:rPr lang="en-CA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screenWidth</a:t>
            </a:r>
            <a:r>
              <a:rPr lang="en-CA" b="1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CA" dirty="0">
                <a:solidFill>
                  <a:schemeClr val="tx1"/>
                </a:solidFill>
                <a:latin typeface="Consolas" panose="020B0609020204030204" pitchFamily="49" charset="0"/>
              </a:rPr>
              <a:t>(assuming you set it up)</a:t>
            </a:r>
            <a:endParaRPr lang="en-CA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lvl="1"/>
            <a:endParaRPr lang="en-CA" dirty="0"/>
          </a:p>
          <a:p>
            <a:r>
              <a:rPr lang="en-CA" dirty="0"/>
              <a:t>Now, in Update() it is just a matter of moving both images every update by a desired “speed” the same way we translate any object.  You will need to define </a:t>
            </a:r>
            <a:r>
              <a:rPr lang="en-CA" dirty="0" err="1">
                <a:solidFill>
                  <a:srgbClr val="00B0F0"/>
                </a:solidFill>
              </a:rPr>
              <a:t>speedMax</a:t>
            </a:r>
            <a:r>
              <a:rPr lang="en-CA" dirty="0"/>
              <a:t> and </a:t>
            </a:r>
            <a:r>
              <a:rPr lang="en-CA" dirty="0">
                <a:solidFill>
                  <a:srgbClr val="00B0F0"/>
                </a:solidFill>
              </a:rPr>
              <a:t>speed</a:t>
            </a:r>
            <a:r>
              <a:rPr lang="en-CA" dirty="0"/>
              <a:t> variables to track speed per second and speed per update.</a:t>
            </a:r>
          </a:p>
        </p:txBody>
      </p:sp>
    </p:spTree>
    <p:extLst>
      <p:ext uri="{BB962C8B-B14F-4D97-AF65-F5344CB8AC3E}">
        <p14:creationId xmlns:p14="http://schemas.microsoft.com/office/powerpoint/2010/main" val="72993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CE4E-2F36-4976-B5BA-3B139DDC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CEE2E-C176-4195-9AA5-77463B612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Follow the same translation steps as always, </a:t>
            </a:r>
            <a:r>
              <a:rPr lang="en-CA" dirty="0">
                <a:solidFill>
                  <a:srgbClr val="FFFF00"/>
                </a:solidFill>
              </a:rPr>
              <a:t>with one addition</a:t>
            </a:r>
            <a:r>
              <a:rPr lang="en-CA" dirty="0"/>
              <a:t>:</a:t>
            </a:r>
          </a:p>
          <a:p>
            <a:r>
              <a:rPr lang="en-CA" dirty="0"/>
              <a:t>1) Calculate the speed per update:</a:t>
            </a:r>
          </a:p>
          <a:p>
            <a:pPr lvl="1"/>
            <a:r>
              <a:rPr lang="en-CA" sz="1600" dirty="0">
                <a:latin typeface="Consolas" panose="020B0609020204030204" pitchFamily="49" charset="0"/>
              </a:rPr>
              <a:t>speed = </a:t>
            </a:r>
            <a:r>
              <a:rPr lang="en-CA" sz="1600" dirty="0" err="1">
                <a:latin typeface="Consolas" panose="020B0609020204030204" pitchFamily="49" charset="0"/>
              </a:rPr>
              <a:t>dir</a:t>
            </a:r>
            <a:r>
              <a:rPr lang="en-CA" sz="1600" dirty="0">
                <a:latin typeface="Consolas" panose="020B0609020204030204" pitchFamily="49" charset="0"/>
              </a:rPr>
              <a:t> * </a:t>
            </a:r>
            <a:r>
              <a:rPr lang="en-CA" sz="1600" dirty="0" err="1">
                <a:latin typeface="Consolas" panose="020B0609020204030204" pitchFamily="49" charset="0"/>
              </a:rPr>
              <a:t>speedMax</a:t>
            </a:r>
            <a:r>
              <a:rPr lang="en-CA" sz="1600" dirty="0">
                <a:latin typeface="Consolas" panose="020B0609020204030204" pitchFamily="49" charset="0"/>
              </a:rPr>
              <a:t> * </a:t>
            </a:r>
            <a:r>
              <a:rPr lang="en-CA" sz="1600" dirty="0" err="1">
                <a:latin typeface="Consolas" panose="020B0609020204030204" pitchFamily="49" charset="0"/>
              </a:rPr>
              <a:t>gameTime.ElapsedGameTime.TotalSeconds</a:t>
            </a:r>
            <a:r>
              <a:rPr lang="en-CA" sz="1600" dirty="0"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CA" dirty="0" err="1"/>
              <a:t>dir</a:t>
            </a:r>
            <a:r>
              <a:rPr lang="en-CA" dirty="0"/>
              <a:t> will be -1 when the player is moving right and 1 when they move left</a:t>
            </a:r>
          </a:p>
          <a:p>
            <a:r>
              <a:rPr lang="en-CA" dirty="0"/>
              <a:t>2) Add the speed to BOTH background true positions</a:t>
            </a:r>
          </a:p>
          <a:p>
            <a:r>
              <a:rPr lang="en-CA" dirty="0">
                <a:solidFill>
                  <a:srgbClr val="FFFF00"/>
                </a:solidFill>
              </a:rPr>
              <a:t>3) Test both backgrounds to see if they have fully left the screen in either direction (&lt;= -</a:t>
            </a:r>
            <a:r>
              <a:rPr lang="en-CA" dirty="0" err="1">
                <a:solidFill>
                  <a:srgbClr val="FFFF00"/>
                </a:solidFill>
              </a:rPr>
              <a:t>screenWidth</a:t>
            </a:r>
            <a:r>
              <a:rPr lang="en-CA" dirty="0">
                <a:solidFill>
                  <a:srgbClr val="FFFF00"/>
                </a:solidFill>
              </a:rPr>
              <a:t> or &gt;= </a:t>
            </a:r>
            <a:r>
              <a:rPr lang="en-CA" dirty="0" err="1">
                <a:solidFill>
                  <a:srgbClr val="FFFF00"/>
                </a:solidFill>
              </a:rPr>
              <a:t>screenWidth</a:t>
            </a:r>
            <a:r>
              <a:rPr lang="en-CA" dirty="0">
                <a:solidFill>
                  <a:srgbClr val="FFFF00"/>
                </a:solidFill>
              </a:rPr>
              <a:t>)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If so, add or subtract 2 * </a:t>
            </a:r>
            <a:r>
              <a:rPr lang="en-CA" dirty="0" err="1">
                <a:solidFill>
                  <a:srgbClr val="FFFF00"/>
                </a:solidFill>
              </a:rPr>
              <a:t>screenWidth</a:t>
            </a:r>
            <a:r>
              <a:rPr lang="en-CA" dirty="0">
                <a:solidFill>
                  <a:srgbClr val="FFFF00"/>
                </a:solidFill>
              </a:rPr>
              <a:t> to shift them to the opposite side</a:t>
            </a:r>
          </a:p>
          <a:p>
            <a:r>
              <a:rPr lang="en-CA" dirty="0"/>
              <a:t>4) Set both background destination rectangle’s position to the true position variables (casted to </a:t>
            </a:r>
            <a:r>
              <a:rPr lang="en-CA" dirty="0" err="1"/>
              <a:t>ints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086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864560"/>
          </a:xfrm>
        </p:spPr>
        <p:txBody>
          <a:bodyPr/>
          <a:lstStyle/>
          <a:p>
            <a:r>
              <a:rPr lang="en-CA" dirty="0"/>
              <a:t>The Conveyor Belt (Step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952" y="1836857"/>
            <a:ext cx="7808096" cy="2343258"/>
          </a:xfrm>
        </p:spPr>
        <p:txBody>
          <a:bodyPr>
            <a:normAutofit/>
          </a:bodyPr>
          <a:lstStyle/>
          <a:p>
            <a:r>
              <a:rPr lang="en-CA" sz="1600" dirty="0"/>
              <a:t>Now we will set up a revolving conveyor belt of the two images.</a:t>
            </a:r>
          </a:p>
          <a:p>
            <a:r>
              <a:rPr lang="en-CA" sz="1600" dirty="0"/>
              <a:t>As they both move to the side, eventually one will be totally off screen with an x value of </a:t>
            </a:r>
            <a:r>
              <a:rPr lang="en-CA" sz="1600" dirty="0">
                <a:solidFill>
                  <a:srgbClr val="00B0F0"/>
                </a:solidFill>
              </a:rPr>
              <a:t>&lt;= -</a:t>
            </a:r>
            <a:r>
              <a:rPr lang="en-CA" sz="1600" dirty="0" err="1">
                <a:solidFill>
                  <a:srgbClr val="00B0F0"/>
                </a:solidFill>
              </a:rPr>
              <a:t>screenWidth</a:t>
            </a:r>
            <a:r>
              <a:rPr lang="en-CA" sz="1600" dirty="0">
                <a:solidFill>
                  <a:srgbClr val="00B0F0"/>
                </a:solidFill>
              </a:rPr>
              <a:t> </a:t>
            </a:r>
            <a:r>
              <a:rPr lang="en-CA" sz="1600" dirty="0"/>
              <a:t>or </a:t>
            </a:r>
            <a:r>
              <a:rPr lang="en-CA" sz="1600" dirty="0">
                <a:solidFill>
                  <a:srgbClr val="00B0F0"/>
                </a:solidFill>
              </a:rPr>
              <a:t>&gt;= </a:t>
            </a:r>
            <a:r>
              <a:rPr lang="en-CA" sz="1600" dirty="0" err="1">
                <a:solidFill>
                  <a:srgbClr val="00B0F0"/>
                </a:solidFill>
              </a:rPr>
              <a:t>screenWidth</a:t>
            </a:r>
            <a:endParaRPr lang="en-CA" sz="1600" dirty="0">
              <a:solidFill>
                <a:srgbClr val="00B0F0"/>
              </a:solidFill>
            </a:endParaRPr>
          </a:p>
          <a:p>
            <a:r>
              <a:rPr lang="en-CA" sz="1600" dirty="0"/>
              <a:t>When this occurs move it to the opposite side of the screen, by </a:t>
            </a:r>
            <a:r>
              <a:rPr lang="en-CA" sz="1600" dirty="0">
                <a:solidFill>
                  <a:srgbClr val="00B0F0"/>
                </a:solidFill>
              </a:rPr>
              <a:t>adding or subtracting 2 </a:t>
            </a:r>
            <a:r>
              <a:rPr lang="en-CA" sz="1600" dirty="0" err="1">
                <a:solidFill>
                  <a:srgbClr val="00B0F0"/>
                </a:solidFill>
              </a:rPr>
              <a:t>screenWidths</a:t>
            </a:r>
            <a:r>
              <a:rPr lang="en-CA" sz="1600" dirty="0"/>
              <a:t> to it.</a:t>
            </a:r>
          </a:p>
          <a:p>
            <a:r>
              <a:rPr lang="en-CA" sz="1600" dirty="0"/>
              <a:t>Do this same check for both images and they will alternate, creating the conveyor belt.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//Compare true positions for being fully offscreen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CA" sz="21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6F92221-69E7-4072-8F5F-D04CE26F6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66568"/>
              </p:ext>
            </p:extLst>
          </p:nvPr>
        </p:nvGraphicFramePr>
        <p:xfrm>
          <a:off x="667952" y="4084683"/>
          <a:ext cx="8147958" cy="2353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3979">
                  <a:extLst>
                    <a:ext uri="{9D8B030D-6E8A-4147-A177-3AD203B41FA5}">
                      <a16:colId xmlns:a16="http://schemas.microsoft.com/office/drawing/2014/main" val="2713742842"/>
                    </a:ext>
                  </a:extLst>
                </a:gridCol>
                <a:gridCol w="4073979">
                  <a:extLst>
                    <a:ext uri="{9D8B030D-6E8A-4147-A177-3AD203B41FA5}">
                      <a16:colId xmlns:a16="http://schemas.microsoft.com/office/drawing/2014/main" val="2213510749"/>
                    </a:ext>
                  </a:extLst>
                </a:gridCol>
              </a:tblGrid>
              <a:tr h="2162629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if (bg1Pos.X &lt;= -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{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   bg1Pos.X += 2 * 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;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}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else if (bg2Pos.X &lt;= -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{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   bg2Pos.X += 2 * 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;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}</a:t>
                      </a:r>
                    </a:p>
                    <a:p>
                      <a:endParaRPr lang="en-CA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if (bg1Pos.X &gt;= 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{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   bg1Pos.X -= 2 * 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;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}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else if (bg2Pos.X &gt;= 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{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   bg2Pos.X -= 2 * </a:t>
                      </a:r>
                      <a:r>
                        <a:rPr lang="en-CA" sz="1400" b="0" dirty="0" err="1">
                          <a:solidFill>
                            <a:srgbClr val="FFFF00"/>
                          </a:solidFill>
                        </a:rPr>
                        <a:t>screenWidth</a:t>
                      </a: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;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dirty="0">
                          <a:solidFill>
                            <a:srgbClr val="FFFF00"/>
                          </a:solidFill>
                        </a:rPr>
                        <a:t>}</a:t>
                      </a:r>
                    </a:p>
                    <a:p>
                      <a:endParaRPr lang="en-CA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2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else can you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Using this effect you can create a variety of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By adding multiple layers of background moving at different speeds you can create an illusion of varying depths. This is called parallax.</a:t>
            </a:r>
          </a:p>
          <a:p>
            <a:pPr marL="749808" lvl="1" indent="-457200"/>
            <a:r>
              <a:rPr lang="en-CA" dirty="0"/>
              <a:t>Have your farthest items at the back moving the slowest</a:t>
            </a:r>
          </a:p>
          <a:p>
            <a:pPr marL="749808" lvl="1" indent="-457200"/>
            <a:r>
              <a:rPr lang="en-CA" dirty="0"/>
              <a:t>Gradually speed up as you come closer to the front</a:t>
            </a:r>
          </a:p>
          <a:p>
            <a:pPr marL="292608" lvl="1" indent="0">
              <a:buNone/>
            </a:pPr>
            <a:endParaRPr lang="en-CA" dirty="0"/>
          </a:p>
          <a:p>
            <a:pPr marL="292608" lvl="1" indent="0">
              <a:buNone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By using blurred images farther back you can create a depth of field, forcing the players eyes on the items in focus.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C683AC-A8AB-40C3-8B7D-8808D81EF60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406" y="3857414"/>
            <a:ext cx="1929468" cy="128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rallax scrolling using UE4 materials – Parallelcube">
            <a:extLst>
              <a:ext uri="{FF2B5EF4-FFF2-40B4-BE49-F238E27FC236}">
                <a16:creationId xmlns:a16="http://schemas.microsoft.com/office/drawing/2014/main" id="{A7C6048F-42E5-4CA9-8DA6-7A86A3DEA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102" y="3857414"/>
            <a:ext cx="3482599" cy="128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6166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548</TotalTime>
  <Words>698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Consolas</vt:lpstr>
      <vt:lpstr>Retrospect</vt:lpstr>
      <vt:lpstr>Translation…kinda</vt:lpstr>
      <vt:lpstr>What is it</vt:lpstr>
      <vt:lpstr>How it works</vt:lpstr>
      <vt:lpstr>How it works</vt:lpstr>
      <vt:lpstr>How it works</vt:lpstr>
      <vt:lpstr>The Conveyor Belt (Step 3)</vt:lpstr>
      <vt:lpstr>What else can you 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Loop</dc:title>
  <dc:creator>Trevor Lane</dc:creator>
  <cp:lastModifiedBy>Trevor Lane</cp:lastModifiedBy>
  <cp:revision>60</cp:revision>
  <dcterms:created xsi:type="dcterms:W3CDTF">2016-08-28T00:13:14Z</dcterms:created>
  <dcterms:modified xsi:type="dcterms:W3CDTF">2021-11-26T05:05:27Z</dcterms:modified>
</cp:coreProperties>
</file>