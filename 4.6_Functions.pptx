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3"/>
  </p:notesMasterIdLst>
  <p:handoutMasterIdLst>
    <p:handoutMasterId r:id="rId14"/>
  </p:handoutMasterIdLst>
  <p:sldIdLst>
    <p:sldId id="257" r:id="rId5"/>
    <p:sldId id="258" r:id="rId6"/>
    <p:sldId id="263" r:id="rId7"/>
    <p:sldId id="264" r:id="rId8"/>
    <p:sldId id="265" r:id="rId9"/>
    <p:sldId id="267" r:id="rId10"/>
    <p:sldId id="268" r:id="rId11"/>
    <p:sldId id="269" r:id="rId12"/>
  </p:sldIdLst>
  <p:sldSz cx="12188825" cy="6858000"/>
  <p:notesSz cx="6858000" cy="9144000"/>
  <p:defaultTextStyle>
    <a:defPPr>
      <a:defRPr lang="en-US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5" pos="383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94404"/>
    <a:srgbClr val="D60093"/>
    <a:srgbClr val="BC0808"/>
    <a:srgbClr val="FFFFFF"/>
    <a:srgbClr val="5F6F0F"/>
    <a:srgbClr val="718412"/>
    <a:srgbClr val="65741A"/>
    <a:srgbClr val="70811D"/>
    <a:srgbClr val="7B8D1F"/>
    <a:srgbClr val="8397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6" autoAdjust="0"/>
    <p:restoredTop sz="94660"/>
  </p:normalViewPr>
  <p:slideViewPr>
    <p:cSldViewPr>
      <p:cViewPr varScale="1">
        <p:scale>
          <a:sx n="123" d="100"/>
          <a:sy n="123" d="100"/>
        </p:scale>
        <p:origin x="108" y="378"/>
      </p:cViewPr>
      <p:guideLst>
        <p:guide orient="horz" pos="2160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63" d="100"/>
          <a:sy n="63" d="100"/>
        </p:scale>
        <p:origin x="2838" y="10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5B4EDC-59C0-49C7-8ADA-5A781B329E02}" type="datetimeFigureOut">
              <a:rPr lang="en-US"/>
              <a:t>3/31/2022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429053-DC2A-4342-ADD4-2FD729D91E2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320457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0-22T02:03:55.129"/>
    </inkml:context>
    <inkml:brush xml:id="br0">
      <inkml:brushProperty name="width" value="0.2" units="cm"/>
      <inkml:brushProperty name="height" value="0.2" units="cm"/>
      <inkml:brushProperty name="color" value="#EDFF05"/>
      <inkml:brushProperty name="ignorePressure" value="1"/>
    </inkml:brush>
  </inkml:definitions>
  <inkml:trace contextRef="#ctx0" brushRef="#br0">2181 58,'-3'0,"0"1,0 0,1-1,-1 1,0 0,0 0,1 1,-1-1,1 0,-1 1,1-1,0 1,-4 3,-25 25,-2 5,-76 76,93-97,0-2,-1 0,0 0,-1-1,-38 17,-32 12,55-24,0-1,-1-1,-1-1,-61 15,17-8,57-14,0 0,0-1,0-1,-40 4,-26 2,64-6,0-1,-25 1,13-4,9 0,0 1,-42 6,53-5,0-1,-1 0,1-1,0-1,-1 0,1 0,-23-5,4-1,0-1,-42-15,57 15,0-1,0 0,1 0,-33-24,-63-55,60 43,12 1,6 5,26 28,1 0,0-1,2 1,-1-1,2-1,0 1,0-1,2 0,-6-21,11 33,0 0,0 0,0 0,-1 0,1-1,0 1,-1 0,1 0,-1 0,0 0,1 0,-1 0,0 0,0 0,0 0,0 0,0 0,0 0,-1 0,1 1,0 0,0 0,1 0,-1 1,0-1,0 0,1 0,-1 1,0-1,1 0,-1 1,1-1,-1 1,0-1,1 1,-1-1,1 1,-1-1,1 1,0-1,-1 1,1-1,0 1,-1 0,-20 47,-12 20,25-54,1 0,0 0,2 0,-7 27,-37 49,79-146,-20 16,3 1,34-68,-33 64,1-3,-14 44,0-1,0 1,1-1,-1 1,1 0,0-1,0 1,0 0,0 0,1 0,-1 0,6-3,-6 4,1 0,0 0,0 1,0-1,-1 1,1-1,0 1,0 0,0 0,0 0,0 0,0 0,0 0,0 1,-1-1,6 2,49 16,-40-12,23 5,-1-1,1-2,1-1,83 6,-111-12,-8 0,0 0,0-1,0 0,0 1,0-1,0-1,-1 1,1 0,0-1,0 0,7-2,-7-1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0-22T02:04:00.451"/>
    </inkml:context>
    <inkml:brush xml:id="br0">
      <inkml:brushProperty name="width" value="0.2" units="cm"/>
      <inkml:brushProperty name="height" value="0.2" units="cm"/>
      <inkml:brushProperty name="color" value="#EDFF05"/>
      <inkml:brushProperty name="ignorePressure" value="1"/>
    </inkml:brush>
  </inkml:definitions>
  <inkml:trace contextRef="#ctx0" brushRef="#br0">1841 0,'-1'4,"0"0,-1 0,1 0,-1 0,0-1,0 1,0-1,-1 1,-2 2,-6 10,-36 65,-93 121,119-176,-22 29,-65 62,85-96,-1-2,0-1,-2-1,0-1,-35 15,-145 51,175-71,-9 2,0-3,-1-2,-1-1,1-2,-1-2,0-1,-76-8,107 4,1 1,-1-2,1 1,0-1,0-1,0 0,0 0,1-1,-1 0,1-1,-14-11,0-3,2-1,-34-44,55 64,-40-46,24 30,0-1,1 0,2-1,0-1,0-1,2 1,-13-34,21 43,-4-8,1-1,1 1,1-1,-2-23,7 42,-1 0,0 0,0 0,0 0,0 0,0 0,0 0,0 0,0 0,0 0,0 0,-1 0,1 0,0 0,-1 0,1 0,-1 0,1 0,-1 0,1 0,-1 1,0-1,1 0,-1 0,0 1,1-1,-3-1,2 3,0-1,-1 1,1-1,0 1,0 0,0 0,0-1,-1 1,1 0,0 0,1 0,-1 0,0 0,0 0,0 1,-1 1,-30 57,-18 45,-32 76,81-180,1 0,-1 0,0 0,1 0,0 0,-1 0,1 0,-1 0,1 0,0 0,0 0,0 0,0 0,0 0,0 0,0 0,0 1,0-1,0 0,0 0,1 0,-1 0,0 0,1 0,-1 0,1 0,-1 0,1 0,1 1,-1-2,0 0,0 0,0-1,0 1,0 0,0-1,0 1,0-1,0 1,0-1,0 1,0-1,-1 0,1 1,0-1,0 0,-1 0,1 0,0 0,-1 1,1-1,-1 0,1 0,-1 0,0 0,1 0,-1 0,0 0,0 0,1-2,29-111,5-13,8-24,-31 101,-12 49,0 0,1 0,-1 0,0 1,1-1,-1 0,1 0,-1 0,1 1,-1-1,1 0,-1 1,1-1,-1 1,1-1,0 0,0 1,-1 0,1-1,0 1,0-1,-1 1,1 0,0-1,0 1,0 0,1 0,28 4,25 22,-31-13,0-1,1-1,1-1,0-1,0-1,1-1,0-2,0-1,0-1,0-1,33-2,-38-4,-5-2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0-10-22T02:05:44.978"/>
    </inkml:context>
    <inkml:brush xml:id="br0">
      <inkml:brushProperty name="width" value="0.2" units="cm"/>
      <inkml:brushProperty name="height" value="0.2" units="cm"/>
      <inkml:brushProperty name="color" value="#EDFF05"/>
      <inkml:brushProperty name="ignorePressure" value="1"/>
    </inkml:brush>
  </inkml:definitions>
  <inkml:trace contextRef="#ctx0" brushRef="#br0">13 7198,'-1'1,"0"-1,1 1,-1-1,0 1,0 0,1-1,-1 1,0 0,1 0,-1-1,0 1,1 0,0 0,-1 0,1 0,-1 0,1 0,0 0,-1 0,1 0,0 0,0-1,0 1,0 0,0 0,0 0,0 0,0 0,1 0,-1 0,0 0,1 1,6 42,-6-39,10 49,2-1,36 90,30 32,-62-136,1-1,2-1,1 0,2-2,2 0,52 56,-56-73,1 0,1-2,0-1,1-1,51 22,-65-31,38 17,2-2,0-2,76 17,-85-26,-18-3,0-2,0 0,23 0,-10-1,45 8,-47-6,55 3,10-6,172-6,-189-8,-54 6,47-2,-37 5,47-10,-23 3,54-12,211-71,-273 76,177-72,-106 38,-61 21,-2-2,-1-3,101-78,-95 65,19-24,-38 29,41-44,-45 41,78-93,-44 48,-8 13,224-269,-263 300,-3-1,-1-2,28-76,12-25,7 2,50-98,-57 122,85-223,-102 207,102-319,42-212,-88 291,-70 243,19-151,-49 252,7-41,89-407,-63 358,74-165,91-243,-189 493,126-411,-99 300,12-38,-10 63,35-167,-67 239,40-231,-44 240,3 0,28-74,-28 88,-11 33,0-1,1 1,-1 0,0-1,1 1,-1 0,0-1,0 1,1-1,-1 1,0-1,0 1,0 0,0-1,0 1,0-1,0 1,0-1,0 1,0-1,0 1,0-1,0 1,0-1,0 1,0 0,0-1,0 1,-1-1,1 1,0-1,0 1,-1 0,1-1,0 1,-1 0,1-1,0 1,-1 0,1-1,-1 1,-20 10,-21 28,1 9,-39 57,-28 33,-125 130,325-363,-42 36,202-224,-220 254,73-50,-76 59,-27 20,0-1,-1 1,1 0,0 0,0-1,0 1,0 1,0-1,0 0,0 0,0 1,0-1,0 1,1 0,-1-1,0 1,0 0,0 0,1 1,-1-1,0 0,0 1,0-1,0 1,0 0,0 0,0 0,0 0,0 0,0 0,0 0,0 0,-1 1,1-1,-1 1,1 0,-1-1,1 1,-1 0,0 0,0 0,0 0,1 2,6 12,-1 1,0-1,-1 2,4 23,-3-16,12 43,1 6,3 0,50 105,-73-178,1-1,0 1,-1 0,1-1,-1 1,1 0,-1-1,0 1,1 0,-1 0,0-1,1 1,-1 0,0 0,0 0,0-1,1 1,-1 0,0 0,0 0,0 0,-1-1,1 1,0 0,0 0,0 0,-1-1,1 1,0 0,-1 0,1-1,0 1,-1 0,1 0,-1-1,1 1,-1-1,0 1,1 0,-1-1,0 1,1-1,-2 1,-10 2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D8D46A-B586-417D-BFBD-8C8FE0AAF762}" type="datetimeFigureOut">
              <a:rPr lang="en-US"/>
              <a:t>3/31/2022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BA5BD7-F043-4D1B-AA17-CD412FC534DE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67057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diagonals"/>
          <p:cNvGrpSpPr/>
          <p:nvPr/>
        </p:nvGrpSpPr>
        <p:grpSpPr>
          <a:xfrm>
            <a:off x="7516443" y="4145281"/>
            <a:ext cx="4686117" cy="2731407"/>
            <a:chOff x="5638800" y="3108960"/>
            <a:chExt cx="3515503" cy="2048555"/>
          </a:xfrm>
        </p:grpSpPr>
        <p:cxnSp>
          <p:nvCxnSpPr>
            <p:cNvPr id="14" name="Straight Connector 13"/>
            <p:cNvCxnSpPr/>
            <p:nvPr/>
          </p:nvCxnSpPr>
          <p:spPr>
            <a:xfrm flipV="1">
              <a:off x="5638800" y="3108960"/>
              <a:ext cx="3515503" cy="2037116"/>
            </a:xfrm>
            <a:prstGeom prst="line">
              <a:avLst/>
            </a:pr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 flipV="1">
              <a:off x="6004643" y="3333750"/>
              <a:ext cx="3149660" cy="1823765"/>
            </a:xfrm>
            <a:prstGeom prst="line">
              <a:avLst/>
            </a:pr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 flipV="1">
              <a:off x="6388342" y="3549891"/>
              <a:ext cx="2765961" cy="1600149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12" name="bottom lines"/>
          <p:cNvGrpSpPr/>
          <p:nvPr/>
        </p:nvGrpSpPr>
        <p:grpSpPr>
          <a:xfrm>
            <a:off x="-8916" y="6057149"/>
            <a:ext cx="5498726" cy="820207"/>
            <a:chOff x="-6689" y="4553748"/>
            <a:chExt cx="4125119" cy="615155"/>
          </a:xfrm>
        </p:grpSpPr>
        <p:sp>
          <p:nvSpPr>
            <p:cNvPr id="9" name="Freeform 8"/>
            <p:cNvSpPr/>
            <p:nvPr/>
          </p:nvSpPr>
          <p:spPr>
            <a:xfrm rot="16200000">
              <a:off x="1754302" y="2802395"/>
              <a:ext cx="612775" cy="411548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4115481 h 4115481"/>
                <a:gd name="connsiteX1" fmla="*/ 612775 w 612775"/>
                <a:gd name="connsiteY1" fmla="*/ 3180443 h 4115481"/>
                <a:gd name="connsiteX2" fmla="*/ 612775 w 612775"/>
                <a:gd name="connsiteY2" fmla="*/ 0 h 4115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2775" h="4115481">
                  <a:moveTo>
                    <a:pt x="0" y="4115481"/>
                  </a:moveTo>
                  <a:lnTo>
                    <a:pt x="612775" y="3180443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  <p:sp>
          <p:nvSpPr>
            <p:cNvPr id="10" name="Freeform 9"/>
            <p:cNvSpPr/>
            <p:nvPr/>
          </p:nvSpPr>
          <p:spPr>
            <a:xfrm rot="16200000">
              <a:off x="1604659" y="3152814"/>
              <a:ext cx="410751" cy="3621427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202024 w 612775"/>
                <a:gd name="connsiteY1" fmla="*/ 3607676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10751 w 410751"/>
                <a:gd name="connsiteY2" fmla="*/ 0 h 3607676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09575 w 410751"/>
                <a:gd name="connsiteY2" fmla="*/ 185820 h 3607676"/>
                <a:gd name="connsiteX3" fmla="*/ 410751 w 410751"/>
                <a:gd name="connsiteY3" fmla="*/ 0 h 3607676"/>
                <a:gd name="connsiteX0" fmla="*/ 0 w 410751"/>
                <a:gd name="connsiteY0" fmla="*/ 3421856 h 3421856"/>
                <a:gd name="connsiteX1" fmla="*/ 410751 w 410751"/>
                <a:gd name="connsiteY1" fmla="*/ 2798680 h 3421856"/>
                <a:gd name="connsiteX2" fmla="*/ 409575 w 410751"/>
                <a:gd name="connsiteY2" fmla="*/ 0 h 3421856"/>
                <a:gd name="connsiteX0" fmla="*/ 0 w 410751"/>
                <a:gd name="connsiteY0" fmla="*/ 3614170 h 3614170"/>
                <a:gd name="connsiteX1" fmla="*/ 410751 w 410751"/>
                <a:gd name="connsiteY1" fmla="*/ 2990994 h 3614170"/>
                <a:gd name="connsiteX2" fmla="*/ 405947 w 410751"/>
                <a:gd name="connsiteY2" fmla="*/ 0 h 3614170"/>
                <a:gd name="connsiteX0" fmla="*/ 0 w 410751"/>
                <a:gd name="connsiteY0" fmla="*/ 3621427 h 3621427"/>
                <a:gd name="connsiteX1" fmla="*/ 410751 w 410751"/>
                <a:gd name="connsiteY1" fmla="*/ 2998251 h 3621427"/>
                <a:gd name="connsiteX2" fmla="*/ 405947 w 410751"/>
                <a:gd name="connsiteY2" fmla="*/ 0 h 3621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0751" h="3621427">
                  <a:moveTo>
                    <a:pt x="0" y="3621427"/>
                  </a:moveTo>
                  <a:lnTo>
                    <a:pt x="410751" y="2998251"/>
                  </a:lnTo>
                  <a:cubicBezTo>
                    <a:pt x="410359" y="2065358"/>
                    <a:pt x="406339" y="932893"/>
                    <a:pt x="405947" y="0"/>
                  </a:cubicBezTo>
                </a:path>
              </a:pathLst>
            </a:cu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  <p:sp>
          <p:nvSpPr>
            <p:cNvPr id="11" name="Freeform 10"/>
            <p:cNvSpPr/>
            <p:nvPr/>
          </p:nvSpPr>
          <p:spPr>
            <a:xfrm rot="16200000">
              <a:off x="1462308" y="3453376"/>
              <a:ext cx="241768" cy="317976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373856 w 612775"/>
                <a:gd name="connsiteY1" fmla="*/ 3344891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919 w 238919"/>
                <a:gd name="connsiteY2" fmla="*/ 0 h 3344891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125 w 238919"/>
                <a:gd name="connsiteY2" fmla="*/ 368330 h 3344891"/>
                <a:gd name="connsiteX3" fmla="*/ 238919 w 238919"/>
                <a:gd name="connsiteY3" fmla="*/ 0 h 3344891"/>
                <a:gd name="connsiteX0" fmla="*/ 0 w 238919"/>
                <a:gd name="connsiteY0" fmla="*/ 2976561 h 2976561"/>
                <a:gd name="connsiteX1" fmla="*/ 238919 w 238919"/>
                <a:gd name="connsiteY1" fmla="*/ 2616170 h 2976561"/>
                <a:gd name="connsiteX2" fmla="*/ 238125 w 238919"/>
                <a:gd name="connsiteY2" fmla="*/ 0 h 2976561"/>
                <a:gd name="connsiteX0" fmla="*/ 0 w 241768"/>
                <a:gd name="connsiteY0" fmla="*/ 3179761 h 3179761"/>
                <a:gd name="connsiteX1" fmla="*/ 238919 w 241768"/>
                <a:gd name="connsiteY1" fmla="*/ 2819370 h 3179761"/>
                <a:gd name="connsiteX2" fmla="*/ 241754 w 241768"/>
                <a:gd name="connsiteY2" fmla="*/ 0 h 3179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41768" h="3179761">
                  <a:moveTo>
                    <a:pt x="0" y="3179761"/>
                  </a:moveTo>
                  <a:lnTo>
                    <a:pt x="238919" y="2819370"/>
                  </a:lnTo>
                  <a:cubicBezTo>
                    <a:pt x="238654" y="1947313"/>
                    <a:pt x="242019" y="872057"/>
                    <a:pt x="241754" y="0"/>
                  </a:cubicBezTo>
                </a:path>
              </a:pathLst>
            </a:cu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5176" y="584200"/>
            <a:ext cx="8735325" cy="2000251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5176" y="2616200"/>
            <a:ext cx="8735325" cy="17526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800" cap="all" spc="200" baseline="0">
                <a:solidFill>
                  <a:schemeClr val="accent1"/>
                </a:solidFill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2" name="Date Placeholder 2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3/31/2022</a:t>
            </a:fld>
            <a:endParaRPr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24" name="Slide Number Placeholder 2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474885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3/31/2022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067690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diagonals"/>
          <p:cNvGrpSpPr/>
          <p:nvPr/>
        </p:nvGrpSpPr>
        <p:grpSpPr>
          <a:xfrm>
            <a:off x="7516443" y="4145281"/>
            <a:ext cx="4686117" cy="2731407"/>
            <a:chOff x="5638800" y="3108960"/>
            <a:chExt cx="3515503" cy="2048555"/>
          </a:xfrm>
        </p:grpSpPr>
        <p:cxnSp>
          <p:nvCxnSpPr>
            <p:cNvPr id="12" name="Straight Connector 11"/>
            <p:cNvCxnSpPr/>
            <p:nvPr/>
          </p:nvCxnSpPr>
          <p:spPr>
            <a:xfrm flipV="1">
              <a:off x="5638800" y="3108960"/>
              <a:ext cx="3515503" cy="2037116"/>
            </a:xfrm>
            <a:prstGeom prst="line">
              <a:avLst/>
            </a:pr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 flipV="1">
              <a:off x="6004643" y="3333750"/>
              <a:ext cx="3149660" cy="1823765"/>
            </a:xfrm>
            <a:prstGeom prst="line">
              <a:avLst/>
            </a:pr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flipV="1">
              <a:off x="6388342" y="3549891"/>
              <a:ext cx="2765961" cy="1600149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177" y="2209801"/>
            <a:ext cx="8938472" cy="2764335"/>
          </a:xfrm>
        </p:spPr>
        <p:txBody>
          <a:bodyPr anchor="b">
            <a:normAutofit/>
          </a:bodyPr>
          <a:lstStyle>
            <a:lvl1pPr algn="l">
              <a:defRPr sz="5400" b="0" cap="none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5176" y="4951266"/>
            <a:ext cx="7069519" cy="1220933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buNone/>
              <a:defRPr sz="280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8987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48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797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746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696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645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594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3/31/2022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16330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18883" y="1706880"/>
            <a:ext cx="5078677" cy="446532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0707" y="1706880"/>
            <a:ext cx="5078677" cy="446532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3/31/2022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57647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8883" y="1701800"/>
            <a:ext cx="5082740" cy="91440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800" b="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18883" y="2717800"/>
            <a:ext cx="5078677" cy="3454400"/>
          </a:xfrm>
        </p:spPr>
        <p:txBody>
          <a:bodyPr>
            <a:no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96644" y="1701800"/>
            <a:ext cx="5082740" cy="91440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800" b="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00707" y="2717800"/>
            <a:ext cx="5078677" cy="3454400"/>
          </a:xfrm>
        </p:spPr>
        <p:txBody>
          <a:bodyPr>
            <a:no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 baseline="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3/31/2022</a:t>
            </a:fld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95381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3/31/2022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15229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3/31/2022</a:t>
            </a:fld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72478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8882" y="1701800"/>
            <a:ext cx="4062942" cy="2438400"/>
          </a:xfrm>
        </p:spPr>
        <p:txBody>
          <a:bodyPr anchor="b">
            <a:normAutofit/>
          </a:bodyPr>
          <a:lstStyle>
            <a:lvl1pPr algn="l">
              <a:defRPr sz="2800" b="0" cap="all" spc="20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8882" y="4241800"/>
            <a:ext cx="4062942" cy="19304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4971" y="584200"/>
            <a:ext cx="6094413" cy="55880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3/31/2022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181393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8882" y="1701800"/>
            <a:ext cx="4062942" cy="2438400"/>
          </a:xfrm>
        </p:spPr>
        <p:txBody>
          <a:bodyPr anchor="b">
            <a:normAutofit/>
          </a:bodyPr>
          <a:lstStyle>
            <a:lvl1pPr algn="l">
              <a:defRPr sz="2800" b="0" cap="all" spc="20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8882" y="4241800"/>
            <a:ext cx="4062942" cy="19304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5484971" y="584200"/>
            <a:ext cx="6094413" cy="5588000"/>
          </a:xfrm>
          <a:ln w="12700">
            <a:solidFill>
              <a:schemeClr val="bg1">
                <a:lumMod val="75000"/>
                <a:lumOff val="25000"/>
              </a:schemeClr>
            </a:solidFill>
            <a:miter lim="800000"/>
          </a:ln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609493" indent="0">
              <a:buNone/>
              <a:defRPr sz="3700"/>
            </a:lvl2pPr>
            <a:lvl3pPr marL="1218987" indent="0">
              <a:buNone/>
              <a:defRPr sz="3200"/>
            </a:lvl3pPr>
            <a:lvl4pPr marL="1828480" indent="0">
              <a:buNone/>
              <a:defRPr sz="2700"/>
            </a:lvl4pPr>
            <a:lvl5pPr marL="2437973" indent="0">
              <a:buNone/>
              <a:defRPr sz="2700"/>
            </a:lvl5pPr>
            <a:lvl6pPr marL="3047467" indent="0">
              <a:buNone/>
              <a:defRPr sz="2700"/>
            </a:lvl6pPr>
            <a:lvl7pPr marL="3656960" indent="0">
              <a:buNone/>
              <a:defRPr sz="2700"/>
            </a:lvl7pPr>
            <a:lvl8pPr marL="4266453" indent="0">
              <a:buNone/>
              <a:defRPr sz="2700"/>
            </a:lvl8pPr>
            <a:lvl9pPr marL="4875947" indent="0">
              <a:buNone/>
              <a:defRPr sz="27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3/31/2022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23431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3/31/2022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96675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584200"/>
            <a:ext cx="2742486" cy="5588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18882" y="584200"/>
            <a:ext cx="7414869" cy="5588000"/>
          </a:xfrm>
        </p:spPr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3/31/2022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95886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2">
                <a:tint val="100000"/>
                <a:shade val="0"/>
                <a:satMod val="100000"/>
              </a:schemeClr>
            </a:gs>
            <a:gs pos="85000">
              <a:schemeClr val="bg2">
                <a:tint val="100000"/>
                <a:shade val="30000"/>
                <a:satMod val="100000"/>
              </a:schemeClr>
            </a:gs>
            <a:gs pos="100000">
              <a:schemeClr val="bg2">
                <a:shade val="60000"/>
                <a:satMod val="100000"/>
              </a:schemeClr>
            </a:gs>
          </a:gsLst>
          <a:lin ang="36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left lines"/>
          <p:cNvGrpSpPr/>
          <p:nvPr/>
        </p:nvGrpSpPr>
        <p:grpSpPr>
          <a:xfrm>
            <a:off x="-15870" y="-3174"/>
            <a:ext cx="819993" cy="5229225"/>
            <a:chOff x="-11906" y="-2381"/>
            <a:chExt cx="615155" cy="3921919"/>
          </a:xfrm>
        </p:grpSpPr>
        <p:sp>
          <p:nvSpPr>
            <p:cNvPr id="10" name="Freeform 9"/>
            <p:cNvSpPr/>
            <p:nvPr/>
          </p:nvSpPr>
          <p:spPr>
            <a:xfrm>
              <a:off x="-9526" y="0"/>
              <a:ext cx="612775" cy="3919538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2775" h="3919538">
                  <a:moveTo>
                    <a:pt x="0" y="3919538"/>
                  </a:moveTo>
                  <a:lnTo>
                    <a:pt x="612775" y="2984500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Freeform 10"/>
            <p:cNvSpPr/>
            <p:nvPr/>
          </p:nvSpPr>
          <p:spPr>
            <a:xfrm>
              <a:off x="-11906" y="0"/>
              <a:ext cx="410751" cy="3421856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202024 w 612775"/>
                <a:gd name="connsiteY1" fmla="*/ 3607676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10751 w 410751"/>
                <a:gd name="connsiteY2" fmla="*/ 0 h 3607676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09575 w 410751"/>
                <a:gd name="connsiteY2" fmla="*/ 185820 h 3607676"/>
                <a:gd name="connsiteX3" fmla="*/ 410751 w 410751"/>
                <a:gd name="connsiteY3" fmla="*/ 0 h 3607676"/>
                <a:gd name="connsiteX0" fmla="*/ 0 w 410751"/>
                <a:gd name="connsiteY0" fmla="*/ 3421856 h 3421856"/>
                <a:gd name="connsiteX1" fmla="*/ 410751 w 410751"/>
                <a:gd name="connsiteY1" fmla="*/ 2798680 h 3421856"/>
                <a:gd name="connsiteX2" fmla="*/ 409575 w 410751"/>
                <a:gd name="connsiteY2" fmla="*/ 0 h 3421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0751" h="3421856">
                  <a:moveTo>
                    <a:pt x="0" y="3421856"/>
                  </a:moveTo>
                  <a:lnTo>
                    <a:pt x="410751" y="2798680"/>
                  </a:lnTo>
                  <a:lnTo>
                    <a:pt x="409575" y="0"/>
                  </a:lnTo>
                </a:path>
              </a:pathLst>
            </a:cu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Freeform 13"/>
            <p:cNvSpPr/>
            <p:nvPr/>
          </p:nvSpPr>
          <p:spPr>
            <a:xfrm>
              <a:off x="-7144" y="-2381"/>
              <a:ext cx="238919" cy="297656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373856 w 612775"/>
                <a:gd name="connsiteY1" fmla="*/ 3344891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919 w 238919"/>
                <a:gd name="connsiteY2" fmla="*/ 0 h 3344891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125 w 238919"/>
                <a:gd name="connsiteY2" fmla="*/ 368330 h 3344891"/>
                <a:gd name="connsiteX3" fmla="*/ 238919 w 238919"/>
                <a:gd name="connsiteY3" fmla="*/ 0 h 3344891"/>
                <a:gd name="connsiteX0" fmla="*/ 0 w 238919"/>
                <a:gd name="connsiteY0" fmla="*/ 2976561 h 2976561"/>
                <a:gd name="connsiteX1" fmla="*/ 238919 w 238919"/>
                <a:gd name="connsiteY1" fmla="*/ 2616170 h 2976561"/>
                <a:gd name="connsiteX2" fmla="*/ 238125 w 238919"/>
                <a:gd name="connsiteY2" fmla="*/ 0 h 2976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38919" h="2976561">
                  <a:moveTo>
                    <a:pt x="0" y="2976561"/>
                  </a:moveTo>
                  <a:lnTo>
                    <a:pt x="238919" y="2616170"/>
                  </a:lnTo>
                  <a:cubicBezTo>
                    <a:pt x="238654" y="1744113"/>
                    <a:pt x="238390" y="872057"/>
                    <a:pt x="238125" y="0"/>
                  </a:cubicBezTo>
                </a:path>
              </a:pathLst>
            </a:cu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18883" y="274637"/>
            <a:ext cx="10360501" cy="1223963"/>
          </a:xfrm>
          <a:prstGeom prst="rect">
            <a:avLst/>
          </a:prstGeom>
        </p:spPr>
        <p:txBody>
          <a:bodyPr vert="horz" lIns="121899" tIns="60949" rIns="121899" bIns="60949" rtlCol="0" anchor="b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8883" y="1701797"/>
            <a:ext cx="10360501" cy="4462272"/>
          </a:xfrm>
          <a:prstGeom prst="rect">
            <a:avLst/>
          </a:prstGeom>
        </p:spPr>
        <p:txBody>
          <a:bodyPr vert="horz" lIns="121899" tIns="60949" rIns="121899" bIns="60949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18882" y="6356352"/>
            <a:ext cx="2234618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DFD029-FB74-4578-B929-F66AA97659CA}" type="datetimeFigureOut">
              <a:rPr lang="en-US"/>
              <a:pPr/>
              <a:t>3/31/2022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53501" y="6356352"/>
            <a:ext cx="5281824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63649" y="6356352"/>
            <a:ext cx="1015735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14DD1E-5D91-48A3-AD6D-45FBA980D106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9527588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1218987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47" indent="-304747" algn="l" defTabSz="1218987" rtl="0" eaLnBrk="1" latinLnBrk="0" hangingPunct="1">
        <a:lnSpc>
          <a:spcPct val="90000"/>
        </a:lnSpc>
        <a:spcBef>
          <a:spcPts val="1600"/>
        </a:spcBef>
        <a:buClr>
          <a:schemeClr val="accent1"/>
        </a:buClr>
        <a:buSzPct val="100000"/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4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218987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73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48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133227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243797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74272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.xml"/><Relationship Id="rId5" Type="http://schemas.openxmlformats.org/officeDocument/2006/relationships/image" Target="../media/image2.png"/><Relationship Id="rId4" Type="http://schemas.openxmlformats.org/officeDocument/2006/relationships/customXml" Target="../ink/ink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Subprograms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Part 4: Functions</a:t>
            </a:r>
          </a:p>
          <a:p>
            <a:endParaRPr lang="en-US" dirty="0"/>
          </a:p>
          <a:p>
            <a:r>
              <a:rPr lang="en-US" dirty="0">
                <a:solidFill>
                  <a:srgbClr val="FFFF00"/>
                </a:solidFill>
              </a:rPr>
              <a:t>NOTE</a:t>
            </a:r>
            <a:r>
              <a:rPr lang="en-US" dirty="0"/>
              <a:t>: </a:t>
            </a:r>
            <a:r>
              <a:rPr lang="en-US" sz="2200" dirty="0"/>
              <a:t>This Slide Show is meant to be viewed in presentation mode.  Download and open it normally, not in Google Classroom Preview Mode</a:t>
            </a:r>
          </a:p>
        </p:txBody>
      </p:sp>
    </p:spTree>
    <p:extLst>
      <p:ext uri="{BB962C8B-B14F-4D97-AF65-F5344CB8AC3E}">
        <p14:creationId xmlns:p14="http://schemas.microsoft.com/office/powerpoint/2010/main" val="1332291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4B528D-6EB2-48A7-B06B-3E090FB53F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F5FAD4-0926-4CD5-980A-16454199A0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Learn about functions:</a:t>
            </a:r>
          </a:p>
          <a:p>
            <a:pPr lvl="1"/>
            <a:r>
              <a:rPr lang="en-US" dirty="0"/>
              <a:t>What they are</a:t>
            </a:r>
          </a:p>
          <a:p>
            <a:pPr lvl="1"/>
            <a:r>
              <a:rPr lang="en-US" dirty="0"/>
              <a:t>How to define them</a:t>
            </a:r>
          </a:p>
          <a:p>
            <a:pPr lvl="1"/>
            <a:r>
              <a:rPr lang="en-US" dirty="0"/>
              <a:t>How to use them</a:t>
            </a:r>
          </a:p>
        </p:txBody>
      </p:sp>
    </p:spTree>
    <p:extLst>
      <p:ext uri="{BB962C8B-B14F-4D97-AF65-F5344CB8AC3E}">
        <p14:creationId xmlns:p14="http://schemas.microsoft.com/office/powerpoint/2010/main" val="40611333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F12274-4DB1-4B14-8E70-15F55584CF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Two Kinds of Subprograms/Methods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9B0916-0EA7-4F2D-8EF0-9F1494AEBC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There are two types of methods we will make use of:</a:t>
            </a:r>
          </a:p>
          <a:p>
            <a:pPr marL="835086" lvl="1" indent="-457200">
              <a:buFont typeface="+mj-lt"/>
              <a:buAutoNum type="arabicPeriod"/>
            </a:pPr>
            <a:r>
              <a:rPr lang="en-CA" dirty="0"/>
              <a:t>A Procedure (Previous lesson)</a:t>
            </a:r>
          </a:p>
          <a:p>
            <a:pPr marL="835086" lvl="1" indent="-457200">
              <a:buFont typeface="+mj-lt"/>
              <a:buAutoNum type="arabicPeriod"/>
            </a:pPr>
            <a:r>
              <a:rPr lang="en-CA" dirty="0"/>
              <a:t>A Function (This lesson)</a:t>
            </a:r>
          </a:p>
          <a:p>
            <a:pPr lvl="1"/>
            <a:endParaRPr lang="en-CA" dirty="0"/>
          </a:p>
          <a:p>
            <a:r>
              <a:rPr lang="en-CA" dirty="0"/>
              <a:t>For each of these we will clearly show:</a:t>
            </a:r>
          </a:p>
          <a:p>
            <a:pPr lvl="1"/>
            <a:r>
              <a:rPr lang="en-CA" dirty="0"/>
              <a:t>How to define</a:t>
            </a:r>
          </a:p>
          <a:p>
            <a:pPr lvl="1"/>
            <a:r>
              <a:rPr lang="en-CA" dirty="0"/>
              <a:t>Where to define</a:t>
            </a:r>
          </a:p>
          <a:p>
            <a:pPr lvl="1"/>
            <a:r>
              <a:rPr lang="en-CA" dirty="0"/>
              <a:t>How to call (use) it within our programs</a:t>
            </a:r>
          </a:p>
        </p:txBody>
      </p:sp>
    </p:spTree>
    <p:extLst>
      <p:ext uri="{BB962C8B-B14F-4D97-AF65-F5344CB8AC3E}">
        <p14:creationId xmlns:p14="http://schemas.microsoft.com/office/powerpoint/2010/main" val="31888153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3F0E58-5FB1-4531-A99F-4CD1EEBD62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8883" y="274637"/>
            <a:ext cx="10360501" cy="634083"/>
          </a:xfrm>
        </p:spPr>
        <p:txBody>
          <a:bodyPr/>
          <a:lstStyle/>
          <a:p>
            <a:r>
              <a:rPr lang="en-CA" dirty="0"/>
              <a:t>Function - Defining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250C5D-5ADA-43E6-9BB9-012A7C8A57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8883" y="1052736"/>
            <a:ext cx="10360501" cy="5530627"/>
          </a:xfrm>
        </p:spPr>
        <p:txBody>
          <a:bodyPr>
            <a:normAutofit fontScale="92500" lnSpcReduction="20000"/>
          </a:bodyPr>
          <a:lstStyle/>
          <a:p>
            <a:r>
              <a:rPr lang="en-CA" dirty="0"/>
              <a:t>A </a:t>
            </a:r>
            <a:r>
              <a:rPr lang="en-CA" dirty="0">
                <a:solidFill>
                  <a:srgbClr val="92D050"/>
                </a:solidFill>
              </a:rPr>
              <a:t>function</a:t>
            </a:r>
            <a:r>
              <a:rPr lang="en-CA" dirty="0"/>
              <a:t> is a mini-program within a program that performs a </a:t>
            </a:r>
            <a:r>
              <a:rPr lang="en-CA" dirty="0">
                <a:solidFill>
                  <a:srgbClr val="FFFF00"/>
                </a:solidFill>
              </a:rPr>
              <a:t>single task</a:t>
            </a:r>
            <a:r>
              <a:rPr lang="en-CA" dirty="0"/>
              <a:t> </a:t>
            </a:r>
            <a:r>
              <a:rPr lang="en-CA" dirty="0">
                <a:solidFill>
                  <a:srgbClr val="FF0000"/>
                </a:solidFill>
              </a:rPr>
              <a:t>AND</a:t>
            </a:r>
            <a:r>
              <a:rPr lang="en-CA" dirty="0"/>
              <a:t> </a:t>
            </a:r>
            <a:r>
              <a:rPr lang="en-CA" dirty="0">
                <a:solidFill>
                  <a:srgbClr val="FFFF00"/>
                </a:solidFill>
              </a:rPr>
              <a:t>returns a result</a:t>
            </a:r>
            <a:r>
              <a:rPr lang="en-CA" dirty="0"/>
              <a:t> to the programmer</a:t>
            </a:r>
          </a:p>
          <a:p>
            <a:pPr lvl="1"/>
            <a:r>
              <a:rPr lang="en-CA" dirty="0"/>
              <a:t>E.g. </a:t>
            </a:r>
            <a:r>
              <a:rPr lang="en-CA" dirty="0">
                <a:solidFill>
                  <a:srgbClr val="00B0F0"/>
                </a:solidFill>
              </a:rPr>
              <a:t>Pow, Sqrt, </a:t>
            </a:r>
            <a:r>
              <a:rPr lang="en-CA" dirty="0" err="1">
                <a:solidFill>
                  <a:srgbClr val="00B0F0"/>
                </a:solidFill>
              </a:rPr>
              <a:t>ReadLine</a:t>
            </a:r>
            <a:endParaRPr lang="en-CA" dirty="0">
              <a:solidFill>
                <a:srgbClr val="00B0F0"/>
              </a:solidFill>
            </a:endParaRPr>
          </a:p>
          <a:p>
            <a:pPr marL="0" indent="0">
              <a:buNone/>
            </a:pPr>
            <a:endParaRPr lang="en-CA" dirty="0">
              <a:solidFill>
                <a:srgbClr val="00B0F0"/>
              </a:solidFill>
            </a:endParaRP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lang="en-CA" dirty="0">
                <a:solidFill>
                  <a:srgbClr val="00B0F0"/>
                </a:solidFill>
              </a:rPr>
              <a:t>Defining a Function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dirty="0">
                <a:solidFill>
                  <a:srgbClr val="FF0000"/>
                </a:solidFill>
              </a:rPr>
              <a:t>GENERAL SYNTAX </a:t>
            </a:r>
            <a:r>
              <a:rPr lang="en-CA" sz="2200" dirty="0">
                <a:solidFill>
                  <a:srgbClr val="FF0000"/>
                </a:solidFill>
              </a:rPr>
              <a:t>(</a:t>
            </a:r>
            <a:r>
              <a:rPr lang="en-CA" sz="2200" dirty="0">
                <a:solidFill>
                  <a:srgbClr val="FFFF00"/>
                </a:solidFill>
              </a:rPr>
              <a:t>Yellow is customizable</a:t>
            </a:r>
            <a:r>
              <a:rPr lang="en-CA" sz="2200" dirty="0">
                <a:solidFill>
                  <a:srgbClr val="FF0000"/>
                </a:solidFill>
              </a:rPr>
              <a:t>, </a:t>
            </a:r>
            <a:r>
              <a:rPr lang="en-CA" sz="2200" dirty="0">
                <a:solidFill>
                  <a:srgbClr val="00B0F0"/>
                </a:solidFill>
              </a:rPr>
              <a:t>Blue is different from procedures</a:t>
            </a:r>
            <a:r>
              <a:rPr lang="en-CA" sz="2200" dirty="0">
                <a:solidFill>
                  <a:srgbClr val="FF0000"/>
                </a:solidFill>
              </a:rPr>
              <a:t>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1800" dirty="0">
                <a:latin typeface="Consolas" panose="020B0609020204030204" pitchFamily="49" charset="0"/>
              </a:rPr>
              <a:t>private static </a:t>
            </a:r>
            <a:r>
              <a:rPr lang="en-CA" sz="1800" dirty="0" err="1">
                <a:solidFill>
                  <a:srgbClr val="00B0F0"/>
                </a:solidFill>
                <a:latin typeface="Consolas" panose="020B0609020204030204" pitchFamily="49" charset="0"/>
              </a:rPr>
              <a:t>returnType</a:t>
            </a:r>
            <a:r>
              <a:rPr lang="en-CA" sz="1800" dirty="0">
                <a:latin typeface="Consolas" panose="020B0609020204030204" pitchFamily="49" charset="0"/>
              </a:rPr>
              <a:t> </a:t>
            </a:r>
            <a:r>
              <a:rPr lang="en-CA" sz="1800" dirty="0">
                <a:solidFill>
                  <a:srgbClr val="FFFF00"/>
                </a:solidFill>
                <a:latin typeface="Consolas" panose="020B0609020204030204" pitchFamily="49" charset="0"/>
              </a:rPr>
              <a:t>Identifier</a:t>
            </a:r>
            <a:r>
              <a:rPr lang="en-CA" sz="1800" dirty="0">
                <a:latin typeface="Consolas" panose="020B0609020204030204" pitchFamily="49" charset="0"/>
              </a:rPr>
              <a:t>(</a:t>
            </a:r>
            <a:r>
              <a:rPr lang="en-CA" sz="1800" dirty="0">
                <a:solidFill>
                  <a:srgbClr val="FFFF00"/>
                </a:solidFill>
                <a:latin typeface="Consolas" panose="020B0609020204030204" pitchFamily="49" charset="0"/>
              </a:rPr>
              <a:t>type identifier1, type identifier2, …</a:t>
            </a:r>
            <a:r>
              <a:rPr lang="en-CA" sz="1800" dirty="0">
                <a:latin typeface="Consolas" panose="020B0609020204030204" pitchFamily="49" charset="0"/>
              </a:rPr>
              <a:t>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1800" dirty="0">
                <a:latin typeface="Consolas" panose="020B0609020204030204" pitchFamily="49" charset="0"/>
              </a:rPr>
              <a:t>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1800" dirty="0">
                <a:latin typeface="Consolas" panose="020B0609020204030204" pitchFamily="49" charset="0"/>
              </a:rPr>
              <a:t>  //</a:t>
            </a:r>
            <a:r>
              <a:rPr lang="en-CA" sz="1800" b="1" dirty="0">
                <a:solidFill>
                  <a:srgbClr val="FFFF00"/>
                </a:solidFill>
                <a:latin typeface="Consolas" panose="020B0609020204030204" pitchFamily="49" charset="0"/>
              </a:rPr>
              <a:t>code</a:t>
            </a:r>
            <a:r>
              <a:rPr lang="en-CA" sz="1800" dirty="0">
                <a:latin typeface="Consolas" panose="020B0609020204030204" pitchFamily="49" charset="0"/>
              </a:rPr>
              <a:t> that is executed fully, whenever the method is called by name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CA" sz="1800" dirty="0"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1800" dirty="0">
                <a:solidFill>
                  <a:srgbClr val="00B0F0"/>
                </a:solidFill>
                <a:latin typeface="Consolas" panose="020B0609020204030204" pitchFamily="49" charset="0"/>
              </a:rPr>
              <a:t>  return value that matches the same type as </a:t>
            </a:r>
            <a:r>
              <a:rPr lang="en-CA" sz="1800" dirty="0" err="1">
                <a:solidFill>
                  <a:srgbClr val="00B0F0"/>
                </a:solidFill>
                <a:latin typeface="Consolas" panose="020B0609020204030204" pitchFamily="49" charset="0"/>
              </a:rPr>
              <a:t>returnType</a:t>
            </a:r>
            <a:endParaRPr lang="en-CA" sz="1800" dirty="0">
              <a:solidFill>
                <a:srgbClr val="00B0F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1800" dirty="0">
                <a:latin typeface="Consolas" panose="020B0609020204030204" pitchFamily="49" charset="0"/>
              </a:rPr>
              <a:t>}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CA" sz="1800" dirty="0"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dirty="0">
                <a:solidFill>
                  <a:srgbClr val="FF0000"/>
                </a:solidFill>
              </a:rPr>
              <a:t>EXAMPLE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1800" dirty="0">
                <a:latin typeface="Consolas" panose="020B0609020204030204" pitchFamily="49" charset="0"/>
              </a:rPr>
              <a:t>private static </a:t>
            </a:r>
            <a:r>
              <a:rPr lang="en-CA" sz="1800" dirty="0">
                <a:solidFill>
                  <a:srgbClr val="00B0F0"/>
                </a:solidFill>
                <a:latin typeface="Consolas" panose="020B0609020204030204" pitchFamily="49" charset="0"/>
              </a:rPr>
              <a:t>double</a:t>
            </a:r>
            <a:r>
              <a:rPr lang="en-CA" sz="1800" dirty="0">
                <a:latin typeface="Consolas" panose="020B0609020204030204" pitchFamily="49" charset="0"/>
              </a:rPr>
              <a:t> </a:t>
            </a:r>
            <a:r>
              <a:rPr lang="en-CA" sz="1800" dirty="0">
                <a:solidFill>
                  <a:srgbClr val="FFFF00"/>
                </a:solidFill>
                <a:latin typeface="Consolas" panose="020B0609020204030204" pitchFamily="49" charset="0"/>
              </a:rPr>
              <a:t>CalcWallArea</a:t>
            </a:r>
            <a:r>
              <a:rPr lang="en-CA" sz="1800" dirty="0">
                <a:latin typeface="Consolas" panose="020B0609020204030204" pitchFamily="49" charset="0"/>
              </a:rPr>
              <a:t>(</a:t>
            </a:r>
            <a:r>
              <a:rPr lang="en-CA" sz="1800" dirty="0">
                <a:solidFill>
                  <a:srgbClr val="FFFF00"/>
                </a:solidFill>
                <a:latin typeface="Consolas" panose="020B0609020204030204" pitchFamily="49" charset="0"/>
              </a:rPr>
              <a:t>double length, double width</a:t>
            </a:r>
            <a:r>
              <a:rPr lang="en-CA" sz="1800" dirty="0">
                <a:latin typeface="Consolas" panose="020B0609020204030204" pitchFamily="49" charset="0"/>
              </a:rPr>
              <a:t>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1800" dirty="0">
                <a:latin typeface="Consolas" panose="020B0609020204030204" pitchFamily="49" charset="0"/>
              </a:rPr>
              <a:t>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1800" dirty="0">
                <a:latin typeface="Consolas" panose="020B0609020204030204" pitchFamily="49" charset="0"/>
              </a:rPr>
              <a:t>  </a:t>
            </a:r>
            <a:r>
              <a:rPr lang="en-CA" sz="1800" dirty="0">
                <a:solidFill>
                  <a:srgbClr val="FFFF00"/>
                </a:solidFill>
                <a:latin typeface="Consolas" panose="020B0609020204030204" pitchFamily="49" charset="0"/>
              </a:rPr>
              <a:t>double area;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1800" dirty="0">
                <a:latin typeface="Consolas" panose="020B0609020204030204" pitchFamily="49" charset="0"/>
              </a:rPr>
              <a:t>  </a:t>
            </a:r>
            <a:r>
              <a:rPr lang="en-CA" sz="1800" dirty="0">
                <a:solidFill>
                  <a:srgbClr val="FFFF00"/>
                </a:solidFill>
                <a:latin typeface="Consolas" panose="020B0609020204030204" pitchFamily="49" charset="0"/>
              </a:rPr>
              <a:t>area = length * width;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CA" sz="1800" dirty="0"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1800" dirty="0">
                <a:latin typeface="Consolas" panose="020B0609020204030204" pitchFamily="49" charset="0"/>
              </a:rPr>
              <a:t>  </a:t>
            </a:r>
            <a:r>
              <a:rPr lang="en-CA" sz="1800" dirty="0">
                <a:solidFill>
                  <a:srgbClr val="00B0F0"/>
                </a:solidFill>
                <a:latin typeface="Consolas" panose="020B0609020204030204" pitchFamily="49" charset="0"/>
              </a:rPr>
              <a:t>return area;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1800" dirty="0"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0353018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32ABEC-B479-4DFB-A707-024FB7B41F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8883" y="1268760"/>
            <a:ext cx="10360501" cy="4895309"/>
          </a:xfrm>
        </p:spPr>
        <p:txBody>
          <a:bodyPr/>
          <a:lstStyle/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endParaRPr lang="en-CA" dirty="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2000" dirty="0">
                <a:latin typeface="Consolas" panose="020B0609020204030204" pitchFamily="49" charset="0"/>
              </a:rPr>
              <a:t>private static double </a:t>
            </a:r>
            <a:r>
              <a:rPr lang="en-CA" sz="2000" dirty="0">
                <a:solidFill>
                  <a:srgbClr val="FFFF00"/>
                </a:solidFill>
                <a:latin typeface="Consolas" panose="020B0609020204030204" pitchFamily="49" charset="0"/>
              </a:rPr>
              <a:t>CalcWallArea</a:t>
            </a:r>
            <a:r>
              <a:rPr lang="en-CA" sz="2000" dirty="0">
                <a:latin typeface="Consolas" panose="020B0609020204030204" pitchFamily="49" charset="0"/>
              </a:rPr>
              <a:t>(</a:t>
            </a:r>
            <a:r>
              <a:rPr lang="en-CA" sz="2000" dirty="0">
                <a:solidFill>
                  <a:srgbClr val="FFFF00"/>
                </a:solidFill>
                <a:latin typeface="Consolas" panose="020B0609020204030204" pitchFamily="49" charset="0"/>
              </a:rPr>
              <a:t>double length, double width</a:t>
            </a:r>
            <a:r>
              <a:rPr lang="en-CA" sz="2000" dirty="0">
                <a:latin typeface="Consolas" panose="020B0609020204030204" pitchFamily="49" charset="0"/>
              </a:rPr>
              <a:t>)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2000" dirty="0">
                <a:latin typeface="Consolas" panose="020B0609020204030204" pitchFamily="49" charset="0"/>
              </a:rPr>
              <a:t>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2000" dirty="0">
                <a:latin typeface="Consolas" panose="020B0609020204030204" pitchFamily="49" charset="0"/>
              </a:rPr>
              <a:t>  </a:t>
            </a:r>
            <a:r>
              <a:rPr lang="en-CA" sz="2000" dirty="0">
                <a:solidFill>
                  <a:srgbClr val="FFFF00"/>
                </a:solidFill>
                <a:latin typeface="Consolas" panose="020B0609020204030204" pitchFamily="49" charset="0"/>
              </a:rPr>
              <a:t>double area;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2000" dirty="0">
                <a:solidFill>
                  <a:srgbClr val="FFFF00"/>
                </a:solidFill>
                <a:latin typeface="Consolas" panose="020B0609020204030204" pitchFamily="49" charset="0"/>
              </a:rPr>
              <a:t>  area = length * width;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CA" sz="2000" dirty="0">
              <a:solidFill>
                <a:srgbClr val="FFFF00"/>
              </a:solidFill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2000" dirty="0">
                <a:solidFill>
                  <a:srgbClr val="00B0F0"/>
                </a:solidFill>
                <a:latin typeface="Consolas" panose="020B0609020204030204" pitchFamily="49" charset="0"/>
              </a:rPr>
              <a:t>  return area;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2000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7BE6AB-4882-4F02-AE2D-AFAB6989DD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8883" y="274637"/>
            <a:ext cx="10360501" cy="706091"/>
          </a:xfrm>
        </p:spPr>
        <p:txBody>
          <a:bodyPr/>
          <a:lstStyle/>
          <a:p>
            <a:r>
              <a:rPr lang="en-CA" dirty="0"/>
              <a:t>Breakdown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8A2ABA-EA82-4952-A372-2B43F6F37983}"/>
              </a:ext>
            </a:extLst>
          </p:cNvPr>
          <p:cNvSpPr txBox="1"/>
          <p:nvPr/>
        </p:nvSpPr>
        <p:spPr>
          <a:xfrm>
            <a:off x="146507" y="1414817"/>
            <a:ext cx="5366084" cy="276999"/>
          </a:xfrm>
          <a:prstGeom prst="rect">
            <a:avLst/>
          </a:prstGeom>
          <a:solidFill>
            <a:srgbClr val="00206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CA" sz="1200" dirty="0"/>
              <a:t>Required just like global variables because it is defined outside of the Main method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67F4DF8-7E37-453F-8BF4-C21A06D0E18E}"/>
              </a:ext>
            </a:extLst>
          </p:cNvPr>
          <p:cNvSpPr txBox="1"/>
          <p:nvPr/>
        </p:nvSpPr>
        <p:spPr>
          <a:xfrm>
            <a:off x="2678564" y="1851549"/>
            <a:ext cx="5315173" cy="276999"/>
          </a:xfrm>
          <a:prstGeom prst="rect">
            <a:avLst/>
          </a:prstGeom>
          <a:solidFill>
            <a:srgbClr val="00206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CA" sz="1200" dirty="0"/>
              <a:t>Tells the C# compiler this is a function that will return a double to the programmer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8FEFB57-2FCF-42D8-8E0F-8E873CD5E5BF}"/>
              </a:ext>
            </a:extLst>
          </p:cNvPr>
          <p:cNvSpPr txBox="1"/>
          <p:nvPr/>
        </p:nvSpPr>
        <p:spPr>
          <a:xfrm>
            <a:off x="1066386" y="4472699"/>
            <a:ext cx="4811317" cy="646331"/>
          </a:xfrm>
          <a:prstGeom prst="rect">
            <a:avLst/>
          </a:prstGeom>
          <a:solidFill>
            <a:srgbClr val="00206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CA" sz="1200" dirty="0"/>
              <a:t>The name of our method.  Naming follows the same rules as variables</a:t>
            </a:r>
          </a:p>
          <a:p>
            <a:r>
              <a:rPr lang="en-CA" sz="1200" dirty="0"/>
              <a:t>except we use </a:t>
            </a:r>
            <a:r>
              <a:rPr lang="en-CA" sz="1200" b="1" dirty="0" err="1">
                <a:solidFill>
                  <a:srgbClr val="FFFF00"/>
                </a:solidFill>
              </a:rPr>
              <a:t>MixedCase</a:t>
            </a:r>
            <a:r>
              <a:rPr lang="en-CA" sz="1200" dirty="0"/>
              <a:t> to differentiate between variables and methods</a:t>
            </a:r>
          </a:p>
          <a:p>
            <a:r>
              <a:rPr lang="en-CA" sz="1200" dirty="0"/>
              <a:t>quickly.  This means </a:t>
            </a:r>
            <a:r>
              <a:rPr lang="en-CA" sz="1200" b="1" dirty="0">
                <a:solidFill>
                  <a:srgbClr val="FFFF00"/>
                </a:solidFill>
              </a:rPr>
              <a:t>EACH</a:t>
            </a:r>
            <a:r>
              <a:rPr lang="en-CA" sz="1200" dirty="0"/>
              <a:t> word starts with a capital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0D09FBA-689B-4593-828A-E003980FF105}"/>
              </a:ext>
            </a:extLst>
          </p:cNvPr>
          <p:cNvCxnSpPr>
            <a:cxnSpLocks/>
          </p:cNvCxnSpPr>
          <p:nvPr/>
        </p:nvCxnSpPr>
        <p:spPr>
          <a:xfrm>
            <a:off x="2622765" y="1691816"/>
            <a:ext cx="0" cy="69348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92D2EDB-7986-4F95-9019-0550E6F4CE6C}"/>
              </a:ext>
            </a:extLst>
          </p:cNvPr>
          <p:cNvCxnSpPr>
            <a:cxnSpLocks/>
            <a:stCxn id="5" idx="2"/>
          </p:cNvCxnSpPr>
          <p:nvPr/>
        </p:nvCxnSpPr>
        <p:spPr>
          <a:xfrm flipH="1">
            <a:off x="3944847" y="2128548"/>
            <a:ext cx="1391304" cy="25675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D0B31499-8483-49C3-BE35-9CCAE828ED0C}"/>
              </a:ext>
            </a:extLst>
          </p:cNvPr>
          <p:cNvSpPr txBox="1"/>
          <p:nvPr/>
        </p:nvSpPr>
        <p:spPr>
          <a:xfrm>
            <a:off x="8710950" y="3077206"/>
            <a:ext cx="2582713" cy="461665"/>
          </a:xfrm>
          <a:prstGeom prst="rect">
            <a:avLst/>
          </a:prstGeom>
          <a:solidFill>
            <a:srgbClr val="00206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CA" sz="1200" dirty="0"/>
              <a:t>The code to be executed </a:t>
            </a:r>
            <a:r>
              <a:rPr lang="en-CA" sz="1200" b="1" dirty="0">
                <a:solidFill>
                  <a:srgbClr val="FFFF00"/>
                </a:solidFill>
              </a:rPr>
              <a:t>EACH</a:t>
            </a:r>
            <a:r>
              <a:rPr lang="en-CA" sz="1200" b="1" dirty="0"/>
              <a:t> </a:t>
            </a:r>
          </a:p>
          <a:p>
            <a:r>
              <a:rPr lang="en-CA" sz="1200" dirty="0"/>
              <a:t>time </a:t>
            </a:r>
            <a:r>
              <a:rPr lang="en-CA" sz="1200" dirty="0">
                <a:solidFill>
                  <a:srgbClr val="92D050"/>
                </a:solidFill>
              </a:rPr>
              <a:t>CalcWallArea</a:t>
            </a:r>
            <a:r>
              <a:rPr lang="en-CA" sz="1200" dirty="0"/>
              <a:t> is called by name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A928887-7EF5-4CEC-ABA9-DBB9A95B09EC}"/>
              </a:ext>
            </a:extLst>
          </p:cNvPr>
          <p:cNvCxnSpPr>
            <a:cxnSpLocks/>
            <a:stCxn id="6" idx="0"/>
          </p:cNvCxnSpPr>
          <p:nvPr/>
        </p:nvCxnSpPr>
        <p:spPr>
          <a:xfrm flipV="1">
            <a:off x="3472045" y="2581519"/>
            <a:ext cx="1254215" cy="189118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C4DDC99-A5EE-46E3-ADCC-3BB917D56D78}"/>
              </a:ext>
            </a:extLst>
          </p:cNvPr>
          <p:cNvCxnSpPr/>
          <p:nvPr/>
        </p:nvCxnSpPr>
        <p:spPr>
          <a:xfrm flipH="1" flipV="1">
            <a:off x="7199010" y="2630931"/>
            <a:ext cx="947501" cy="238224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52666A8-6EC5-4E0D-A0DD-74B15BBF93AF}"/>
              </a:ext>
            </a:extLst>
          </p:cNvPr>
          <p:cNvCxnSpPr/>
          <p:nvPr/>
        </p:nvCxnSpPr>
        <p:spPr>
          <a:xfrm flipV="1">
            <a:off x="8128452" y="2630931"/>
            <a:ext cx="372285" cy="238224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F7AB054-8FF3-4917-A3DB-CA4E3FCEE22A}"/>
              </a:ext>
            </a:extLst>
          </p:cNvPr>
          <p:cNvCxnSpPr>
            <a:cxnSpLocks/>
            <a:stCxn id="12" idx="1"/>
          </p:cNvCxnSpPr>
          <p:nvPr/>
        </p:nvCxnSpPr>
        <p:spPr>
          <a:xfrm flipH="1">
            <a:off x="5230316" y="3308039"/>
            <a:ext cx="3480634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BA621FED-858F-4DB0-B444-4FDB23B268E0}"/>
              </a:ext>
            </a:extLst>
          </p:cNvPr>
          <p:cNvSpPr txBox="1"/>
          <p:nvPr/>
        </p:nvSpPr>
        <p:spPr>
          <a:xfrm>
            <a:off x="5230316" y="5013176"/>
            <a:ext cx="4112985" cy="830997"/>
          </a:xfrm>
          <a:prstGeom prst="rect">
            <a:avLst/>
          </a:prstGeom>
          <a:solidFill>
            <a:srgbClr val="00206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CA" sz="1200" dirty="0"/>
              <a:t>This is where parameters are </a:t>
            </a:r>
            <a:r>
              <a:rPr lang="en-CA" sz="1200" dirty="0">
                <a:solidFill>
                  <a:srgbClr val="FFFF00"/>
                </a:solidFill>
              </a:rPr>
              <a:t>defined</a:t>
            </a:r>
            <a:r>
              <a:rPr lang="en-CA" sz="1200" dirty="0"/>
              <a:t>, just like regular variables</a:t>
            </a:r>
          </a:p>
          <a:p>
            <a:endParaRPr lang="en-CA" sz="1200" b="1" dirty="0"/>
          </a:p>
          <a:p>
            <a:r>
              <a:rPr lang="en-CA" sz="1200" b="1" dirty="0">
                <a:solidFill>
                  <a:srgbClr val="FFFF00"/>
                </a:solidFill>
              </a:rPr>
              <a:t>REMEMBER</a:t>
            </a:r>
            <a:r>
              <a:rPr lang="en-CA" sz="1200" dirty="0"/>
              <a:t>: Not all subprograms will need them, but the (  )</a:t>
            </a:r>
          </a:p>
          <a:p>
            <a:r>
              <a:rPr lang="en-CA" sz="1200" dirty="0"/>
              <a:t>are </a:t>
            </a:r>
            <a:r>
              <a:rPr lang="en-CA" sz="1200" b="1" dirty="0"/>
              <a:t>ALWAYS</a:t>
            </a:r>
            <a:r>
              <a:rPr lang="en-CA" sz="1200" dirty="0"/>
              <a:t> necessary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AC0B972-D1FD-4786-8D12-4167CA8C306D}"/>
              </a:ext>
            </a:extLst>
          </p:cNvPr>
          <p:cNvSpPr txBox="1"/>
          <p:nvPr/>
        </p:nvSpPr>
        <p:spPr>
          <a:xfrm>
            <a:off x="311433" y="6040390"/>
            <a:ext cx="7537513" cy="461665"/>
          </a:xfrm>
          <a:prstGeom prst="rect">
            <a:avLst/>
          </a:prstGeom>
          <a:solidFill>
            <a:srgbClr val="FFFF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CA" sz="1200" dirty="0">
                <a:solidFill>
                  <a:schemeClr val="bg1"/>
                </a:solidFill>
              </a:rPr>
              <a:t>Notice </a:t>
            </a:r>
            <a:r>
              <a:rPr lang="en-CA" sz="1200" b="1" dirty="0">
                <a:solidFill>
                  <a:srgbClr val="0070C0"/>
                </a:solidFill>
              </a:rPr>
              <a:t>area</a:t>
            </a:r>
            <a:r>
              <a:rPr lang="en-CA" sz="1200" dirty="0">
                <a:solidFill>
                  <a:schemeClr val="bg1"/>
                </a:solidFill>
              </a:rPr>
              <a:t> is a local variable defined inside </a:t>
            </a:r>
            <a:r>
              <a:rPr lang="en-CA" sz="1200" b="1" dirty="0">
                <a:solidFill>
                  <a:srgbClr val="394404"/>
                </a:solidFill>
              </a:rPr>
              <a:t>CalcWallArea</a:t>
            </a:r>
            <a:r>
              <a:rPr lang="en-CA" sz="1200" dirty="0">
                <a:solidFill>
                  <a:schemeClr val="bg1"/>
                </a:solidFill>
              </a:rPr>
              <a:t>.  </a:t>
            </a:r>
            <a:r>
              <a:rPr lang="en-CA" sz="1200" b="1" dirty="0">
                <a:solidFill>
                  <a:schemeClr val="bg1"/>
                </a:solidFill>
              </a:rPr>
              <a:t>It is not a parameter</a:t>
            </a:r>
            <a:r>
              <a:rPr lang="en-CA" sz="1200" dirty="0">
                <a:solidFill>
                  <a:schemeClr val="bg1"/>
                </a:solidFill>
              </a:rPr>
              <a:t> because it is </a:t>
            </a:r>
            <a:r>
              <a:rPr lang="en-CA" sz="1200" b="1" dirty="0">
                <a:solidFill>
                  <a:srgbClr val="FF0000"/>
                </a:solidFill>
              </a:rPr>
              <a:t>NOT</a:t>
            </a:r>
            <a:r>
              <a:rPr lang="en-CA" sz="1200" dirty="0">
                <a:solidFill>
                  <a:schemeClr val="bg1"/>
                </a:solidFill>
              </a:rPr>
              <a:t> needed data</a:t>
            </a:r>
          </a:p>
          <a:p>
            <a:r>
              <a:rPr lang="en-CA" sz="1200" dirty="0">
                <a:solidFill>
                  <a:schemeClr val="bg1"/>
                </a:solidFill>
              </a:rPr>
              <a:t>for the task. </a:t>
            </a:r>
            <a:r>
              <a:rPr lang="en-CA" sz="1200" b="1" dirty="0">
                <a:solidFill>
                  <a:srgbClr val="0070C0"/>
                </a:solidFill>
              </a:rPr>
              <a:t>area</a:t>
            </a:r>
            <a:r>
              <a:rPr lang="en-CA" sz="1200" dirty="0">
                <a:solidFill>
                  <a:schemeClr val="bg1"/>
                </a:solidFill>
              </a:rPr>
              <a:t> is what is being calculated.  </a:t>
            </a:r>
            <a:r>
              <a:rPr lang="en-CA" sz="1200" b="1" dirty="0">
                <a:solidFill>
                  <a:srgbClr val="0070C0"/>
                </a:solidFill>
              </a:rPr>
              <a:t>area</a:t>
            </a:r>
            <a:r>
              <a:rPr lang="en-CA" sz="1200" b="1" dirty="0">
                <a:solidFill>
                  <a:schemeClr val="bg1"/>
                </a:solidFill>
              </a:rPr>
              <a:t>,</a:t>
            </a:r>
            <a:r>
              <a:rPr lang="en-CA" sz="1200" dirty="0">
                <a:solidFill>
                  <a:schemeClr val="bg1"/>
                </a:solidFill>
              </a:rPr>
              <a:t> like </a:t>
            </a:r>
            <a:r>
              <a:rPr lang="en-CA" sz="1200" b="1" dirty="0">
                <a:solidFill>
                  <a:srgbClr val="0070C0"/>
                </a:solidFill>
              </a:rPr>
              <a:t>length</a:t>
            </a:r>
            <a:r>
              <a:rPr lang="en-CA" sz="1200" dirty="0">
                <a:solidFill>
                  <a:schemeClr val="bg1"/>
                </a:solidFill>
              </a:rPr>
              <a:t> and </a:t>
            </a:r>
            <a:r>
              <a:rPr lang="en-CA" sz="1200" b="1" dirty="0">
                <a:solidFill>
                  <a:srgbClr val="0070C0"/>
                </a:solidFill>
              </a:rPr>
              <a:t>width</a:t>
            </a:r>
            <a:r>
              <a:rPr lang="en-CA" sz="1200" dirty="0">
                <a:solidFill>
                  <a:schemeClr val="bg1"/>
                </a:solidFill>
              </a:rPr>
              <a:t> will be </a:t>
            </a:r>
            <a:r>
              <a:rPr lang="en-CA" sz="1200" b="1" dirty="0">
                <a:solidFill>
                  <a:srgbClr val="FF0000"/>
                </a:solidFill>
              </a:rPr>
              <a:t>deleted</a:t>
            </a:r>
            <a:r>
              <a:rPr lang="en-CA" sz="1200" dirty="0">
                <a:solidFill>
                  <a:schemeClr val="bg1"/>
                </a:solidFill>
              </a:rPr>
              <a:t> when the function completes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D1E70C63-1414-4596-B7CA-E73DCBAC3843}"/>
              </a:ext>
            </a:extLst>
          </p:cNvPr>
          <p:cNvCxnSpPr>
            <a:cxnSpLocks/>
          </p:cNvCxnSpPr>
          <p:nvPr/>
        </p:nvCxnSpPr>
        <p:spPr>
          <a:xfrm flipV="1">
            <a:off x="568411" y="3212976"/>
            <a:ext cx="989497" cy="282741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602564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"/>
                            </p:stCondLst>
                            <p:childTnLst>
                              <p:par>
                                <p:cTn id="5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12" grpId="0" animBg="1"/>
      <p:bldP spid="7" grpId="0" animBg="1"/>
      <p:bldP spid="2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1E0111-579F-4016-9CF3-CC2ADB7548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8883" y="274637"/>
            <a:ext cx="10360501" cy="778099"/>
          </a:xfrm>
        </p:spPr>
        <p:txBody>
          <a:bodyPr/>
          <a:lstStyle/>
          <a:p>
            <a:r>
              <a:rPr lang="en-CA" dirty="0"/>
              <a:t>Time to Stamp!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AD5B5C-5312-4343-9CC5-C2B748BEDB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8883" y="1268760"/>
            <a:ext cx="10360501" cy="5314603"/>
          </a:xfrm>
        </p:spPr>
        <p:txBody>
          <a:bodyPr>
            <a:normAutofit/>
          </a:bodyPr>
          <a:lstStyle/>
          <a:p>
            <a:r>
              <a:rPr lang="en-CA" dirty="0"/>
              <a:t>Using a function is the same as a procedure, except for one MAJOR difference</a:t>
            </a:r>
          </a:p>
          <a:p>
            <a:pPr lvl="1"/>
            <a:r>
              <a:rPr lang="en-CA" dirty="0"/>
              <a:t>It is our job, as programmers, to </a:t>
            </a:r>
            <a:r>
              <a:rPr lang="en-CA" b="1" dirty="0">
                <a:solidFill>
                  <a:srgbClr val="FFFF00"/>
                </a:solidFill>
              </a:rPr>
              <a:t>store the result </a:t>
            </a:r>
            <a:r>
              <a:rPr lang="en-CA" dirty="0"/>
              <a:t>value of the function </a:t>
            </a:r>
            <a:r>
              <a:rPr lang="en-CA" b="1" dirty="0">
                <a:solidFill>
                  <a:srgbClr val="FFFF00"/>
                </a:solidFill>
              </a:rPr>
              <a:t>in a variable</a:t>
            </a:r>
            <a:r>
              <a:rPr lang="en-CA" dirty="0"/>
              <a:t> matching the return type of the function, for later use (output, calculations, etc.)</a:t>
            </a:r>
          </a:p>
          <a:p>
            <a:endParaRPr lang="en-CA" dirty="0"/>
          </a:p>
          <a:p>
            <a:r>
              <a:rPr lang="en-CA" dirty="0"/>
              <a:t>The next two slides will demonstrate this in two ways</a:t>
            </a:r>
          </a:p>
          <a:p>
            <a:pPr marL="835086" lvl="1" indent="-457200">
              <a:buFont typeface="+mj-lt"/>
              <a:buAutoNum type="arabicPeriod"/>
            </a:pPr>
            <a:r>
              <a:rPr lang="en-CA" dirty="0"/>
              <a:t>Using </a:t>
            </a:r>
            <a:r>
              <a:rPr lang="en-CA" dirty="0">
                <a:solidFill>
                  <a:srgbClr val="FFFF00"/>
                </a:solidFill>
              </a:rPr>
              <a:t>literal data </a:t>
            </a:r>
            <a:r>
              <a:rPr lang="en-CA" dirty="0"/>
              <a:t>(actual values) for the parameters</a:t>
            </a:r>
          </a:p>
          <a:p>
            <a:pPr marL="835086" lvl="1" indent="-457200">
              <a:buFont typeface="+mj-lt"/>
              <a:buAutoNum type="arabicPeriod"/>
            </a:pPr>
            <a:r>
              <a:rPr lang="en-CA" dirty="0"/>
              <a:t>Using </a:t>
            </a:r>
            <a:r>
              <a:rPr lang="en-CA" dirty="0">
                <a:solidFill>
                  <a:srgbClr val="FFFF00"/>
                </a:solidFill>
              </a:rPr>
              <a:t>variables</a:t>
            </a:r>
            <a:r>
              <a:rPr lang="en-CA" dirty="0"/>
              <a:t>, filled with user data, for the parameters</a:t>
            </a:r>
          </a:p>
        </p:txBody>
      </p:sp>
    </p:spTree>
    <p:extLst>
      <p:ext uri="{BB962C8B-B14F-4D97-AF65-F5344CB8AC3E}">
        <p14:creationId xmlns:p14="http://schemas.microsoft.com/office/powerpoint/2010/main" val="13563032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D7461A-7EEC-44F5-8D5A-C732A8DB66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8883" y="274637"/>
            <a:ext cx="10360501" cy="850107"/>
          </a:xfrm>
        </p:spPr>
        <p:txBody>
          <a:bodyPr/>
          <a:lstStyle/>
          <a:p>
            <a:r>
              <a:rPr lang="en-CA" dirty="0"/>
              <a:t>Example 1: Literal values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45B932-C193-4390-9C28-82E60F8A57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8883" y="1268760"/>
            <a:ext cx="9484041" cy="4895309"/>
          </a:xfrm>
        </p:spPr>
        <p:txBody>
          <a:bodyPr>
            <a:normAutofit fontScale="92500" lnSpcReduction="10000"/>
          </a:bodyPr>
          <a:lstStyle/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2000" dirty="0">
                <a:latin typeface="Consolas" panose="020B0609020204030204" pitchFamily="49" charset="0"/>
              </a:rPr>
              <a:t>class MainClass</a:t>
            </a:r>
            <a:br>
              <a:rPr lang="en-CA" sz="2000" dirty="0">
                <a:latin typeface="Consolas" panose="020B0609020204030204" pitchFamily="49" charset="0"/>
              </a:rPr>
            </a:br>
            <a:r>
              <a:rPr lang="en-CA" sz="2000" dirty="0">
                <a:latin typeface="Consolas" panose="020B0609020204030204" pitchFamily="49" charset="0"/>
              </a:rPr>
              <a:t>{</a:t>
            </a:r>
            <a:br>
              <a:rPr lang="en-CA" sz="2000" dirty="0">
                <a:latin typeface="Consolas" panose="020B0609020204030204" pitchFamily="49" charset="0"/>
              </a:rPr>
            </a:br>
            <a:r>
              <a:rPr lang="en-CA" sz="2000" dirty="0">
                <a:latin typeface="Consolas" panose="020B0609020204030204" pitchFamily="49" charset="0"/>
              </a:rPr>
              <a:t>  public static void Main(string[] </a:t>
            </a:r>
            <a:r>
              <a:rPr lang="en-CA" sz="2000" dirty="0" err="1">
                <a:latin typeface="Consolas" panose="020B0609020204030204" pitchFamily="49" charset="0"/>
              </a:rPr>
              <a:t>args</a:t>
            </a:r>
            <a:r>
              <a:rPr lang="en-CA" sz="2000" dirty="0">
                <a:latin typeface="Consolas" panose="020B0609020204030204" pitchFamily="49" charset="0"/>
              </a:rPr>
              <a:t>)</a:t>
            </a:r>
            <a:br>
              <a:rPr lang="en-CA" sz="2000" dirty="0">
                <a:latin typeface="Consolas" panose="020B0609020204030204" pitchFamily="49" charset="0"/>
              </a:rPr>
            </a:br>
            <a:r>
              <a:rPr lang="en-CA" sz="2000" dirty="0">
                <a:latin typeface="Consolas" panose="020B0609020204030204" pitchFamily="49" charset="0"/>
              </a:rPr>
              <a:t>  {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2000" dirty="0">
                <a:latin typeface="Consolas" panose="020B0609020204030204" pitchFamily="49" charset="0"/>
              </a:rPr>
              <a:t>    </a:t>
            </a:r>
            <a:r>
              <a:rPr lang="en-CA" sz="2000" dirty="0">
                <a:solidFill>
                  <a:srgbClr val="00B0F0"/>
                </a:solidFill>
                <a:latin typeface="Consolas" panose="020B0609020204030204" pitchFamily="49" charset="0"/>
              </a:rPr>
              <a:t>double wallArea = 0;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2000" dirty="0">
                <a:solidFill>
                  <a:srgbClr val="00B0F0"/>
                </a:solidFill>
                <a:latin typeface="Consolas" panose="020B0609020204030204" pitchFamily="49" charset="0"/>
              </a:rPr>
              <a:t>    wallArea = CalcWallArea(2.5, 2);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CA" sz="2000" dirty="0"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2000" dirty="0">
                <a:latin typeface="Consolas" panose="020B0609020204030204" pitchFamily="49" charset="0"/>
              </a:rPr>
              <a:t>    Console.WriteLine(“Wall Area: ” + wallArea);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2000" dirty="0">
                <a:latin typeface="Consolas" panose="020B0609020204030204" pitchFamily="49" charset="0"/>
              </a:rPr>
              <a:t>  }</a:t>
            </a:r>
            <a:br>
              <a:rPr lang="en-CA" sz="2000" dirty="0">
                <a:latin typeface="Consolas" panose="020B0609020204030204" pitchFamily="49" charset="0"/>
              </a:rPr>
            </a:br>
            <a:endParaRPr lang="en-CA" sz="2000" dirty="0"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2000" dirty="0">
                <a:latin typeface="Consolas" panose="020B0609020204030204" pitchFamily="49" charset="0"/>
              </a:rPr>
              <a:t>  private static double CalcWallArea(double length, double width)</a:t>
            </a:r>
            <a:br>
              <a:rPr lang="en-CA" sz="2000" dirty="0">
                <a:latin typeface="Consolas" panose="020B0609020204030204" pitchFamily="49" charset="0"/>
              </a:rPr>
            </a:br>
            <a:r>
              <a:rPr lang="en-CA" sz="2000" dirty="0">
                <a:latin typeface="Consolas" panose="020B0609020204030204" pitchFamily="49" charset="0"/>
              </a:rPr>
              <a:t>  {</a:t>
            </a:r>
            <a:br>
              <a:rPr lang="en-CA" sz="2000" dirty="0">
                <a:latin typeface="Consolas" panose="020B0609020204030204" pitchFamily="49" charset="0"/>
              </a:rPr>
            </a:br>
            <a:r>
              <a:rPr lang="en-CA" sz="2000" dirty="0">
                <a:latin typeface="Consolas" panose="020B0609020204030204" pitchFamily="49" charset="0"/>
              </a:rPr>
              <a:t>    double area;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2000" dirty="0">
                <a:latin typeface="Consolas" panose="020B0609020204030204" pitchFamily="49" charset="0"/>
              </a:rPr>
              <a:t>    area = length * width;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CA" sz="2000" dirty="0">
              <a:latin typeface="Consolas" panose="020B0609020204030204" pitchFamily="49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CA" sz="2000" dirty="0">
                <a:latin typeface="Consolas" panose="020B0609020204030204" pitchFamily="49" charset="0"/>
              </a:rPr>
              <a:t>    </a:t>
            </a:r>
            <a:r>
              <a:rPr lang="en-CA" sz="2000" dirty="0">
                <a:solidFill>
                  <a:srgbClr val="00B0F0"/>
                </a:solidFill>
                <a:latin typeface="Consolas" panose="020B0609020204030204" pitchFamily="49" charset="0"/>
              </a:rPr>
              <a:t>return area;</a:t>
            </a:r>
            <a:br>
              <a:rPr lang="en-CA" sz="2000" dirty="0">
                <a:latin typeface="Consolas" panose="020B0609020204030204" pitchFamily="49" charset="0"/>
              </a:rPr>
            </a:br>
            <a:r>
              <a:rPr lang="en-CA" sz="2000" dirty="0">
                <a:latin typeface="Consolas" panose="020B0609020204030204" pitchFamily="49" charset="0"/>
              </a:rPr>
              <a:t>  }</a:t>
            </a:r>
            <a:br>
              <a:rPr lang="en-CA" sz="2000" dirty="0">
                <a:latin typeface="Consolas" panose="020B0609020204030204" pitchFamily="49" charset="0"/>
              </a:rPr>
            </a:br>
            <a:r>
              <a:rPr lang="en-CA" sz="2000" dirty="0">
                <a:latin typeface="Consolas" panose="020B0609020204030204" pitchFamily="49" charset="0"/>
              </a:rPr>
              <a:t>}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15D116A0-179F-4C33-8A40-3AA1B7B35D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8307249"/>
              </p:ext>
            </p:extLst>
          </p:nvPr>
        </p:nvGraphicFramePr>
        <p:xfrm>
          <a:off x="11062964" y="699690"/>
          <a:ext cx="822582" cy="365760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822582">
                  <a:extLst>
                    <a:ext uri="{9D8B030D-6E8A-4147-A177-3AD203B41FA5}">
                      <a16:colId xmlns:a16="http://schemas.microsoft.com/office/drawing/2014/main" val="33625510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CA" dirty="0"/>
                        <a:t>RAM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60916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CA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70480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CA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62364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CA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54513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CA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24741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CA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58826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CA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90033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CA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9266599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41CD7631-7E0C-4E91-BB6E-13F59D7C8C9E}"/>
              </a:ext>
            </a:extLst>
          </p:cNvPr>
          <p:cNvSpPr txBox="1"/>
          <p:nvPr/>
        </p:nvSpPr>
        <p:spPr>
          <a:xfrm>
            <a:off x="8407860" y="5031883"/>
            <a:ext cx="2142009" cy="138499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CA" sz="1400" dirty="0">
                <a:latin typeface="Consolas" panose="020B0609020204030204" pitchFamily="49" charset="0"/>
              </a:rPr>
              <a:t>Wall Area: 5</a:t>
            </a:r>
          </a:p>
          <a:p>
            <a:endParaRPr lang="en-CA" sz="1400" dirty="0">
              <a:latin typeface="Consolas" panose="020B0609020204030204" pitchFamily="49" charset="0"/>
            </a:endParaRPr>
          </a:p>
          <a:p>
            <a:endParaRPr lang="en-CA" sz="1400" dirty="0">
              <a:latin typeface="Consolas" panose="020B0609020204030204" pitchFamily="49" charset="0"/>
            </a:endParaRPr>
          </a:p>
          <a:p>
            <a:endParaRPr lang="en-CA" sz="1400" dirty="0">
              <a:latin typeface="Consolas" panose="020B0609020204030204" pitchFamily="49" charset="0"/>
            </a:endParaRPr>
          </a:p>
          <a:p>
            <a:endParaRPr lang="en-CA" sz="1400" dirty="0">
              <a:latin typeface="Consolas" panose="020B0609020204030204" pitchFamily="49" charset="0"/>
            </a:endParaRPr>
          </a:p>
          <a:p>
            <a:endParaRPr lang="en-CA" sz="1400" dirty="0">
              <a:latin typeface="Consolas" panose="020B0609020204030204" pitchFamily="49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EBFFB7D-F396-48FC-9DA2-FBB6CE9B64DD}"/>
              </a:ext>
            </a:extLst>
          </p:cNvPr>
          <p:cNvSpPr txBox="1"/>
          <p:nvPr/>
        </p:nvSpPr>
        <p:spPr>
          <a:xfrm>
            <a:off x="8807045" y="4523374"/>
            <a:ext cx="13436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800" dirty="0"/>
              <a:t>Console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41479770-B428-4567-88C5-BBA8425F525A}"/>
                  </a:ext>
                </a:extLst>
              </p14:cNvPr>
              <p14:cNvContentPartPr/>
              <p14:nvPr/>
            </p14:nvContentPartPr>
            <p14:xfrm>
              <a:off x="3128640" y="2902245"/>
              <a:ext cx="785520" cy="197970"/>
            </p14:xfrm>
          </p:contentPart>
        </mc:Choice>
        <mc:Fallback xmlns=""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41479770-B428-4567-88C5-BBA8425F525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092640" y="2866610"/>
                <a:ext cx="857160" cy="26959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845C208E-9AFA-4AA8-9237-CA471D8DD856}"/>
                  </a:ext>
                </a:extLst>
              </p14:cNvPr>
              <p14:cNvContentPartPr/>
              <p14:nvPr/>
            </p14:nvContentPartPr>
            <p14:xfrm>
              <a:off x="2366160" y="2857230"/>
              <a:ext cx="663120" cy="288000"/>
            </p14:xfrm>
          </p:contentPart>
        </mc:Choice>
        <mc:Fallback xmlns=""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845C208E-9AFA-4AA8-9237-CA471D8DD85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330520" y="2821230"/>
                <a:ext cx="734760" cy="35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E490E10A-1A8C-494B-8F3C-4801D949D063}"/>
                  </a:ext>
                </a:extLst>
              </p14:cNvPr>
              <p14:cNvContentPartPr/>
              <p14:nvPr/>
            </p14:nvContentPartPr>
            <p14:xfrm>
              <a:off x="2262120" y="2885310"/>
              <a:ext cx="2367720" cy="2982960"/>
            </p14:xfrm>
          </p:contentPart>
        </mc:Choice>
        <mc:Fallback xmlns=""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E490E10A-1A8C-494B-8F3C-4801D949D063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226480" y="2849670"/>
                <a:ext cx="2439360" cy="3054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286205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D5441B-1325-483C-9B09-434B9EF7DD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5078" y="116632"/>
            <a:ext cx="10360501" cy="706091"/>
          </a:xfrm>
        </p:spPr>
        <p:txBody>
          <a:bodyPr/>
          <a:lstStyle/>
          <a:p>
            <a:r>
              <a:rPr lang="en-CA" dirty="0"/>
              <a:t>Example 2: Variables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1A3228-EABD-4418-8F24-793DB9B934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5820" y="852017"/>
            <a:ext cx="7704856" cy="5753645"/>
          </a:xfrm>
        </p:spPr>
        <p:txBody>
          <a:bodyPr>
            <a:normAutofit fontScale="85000" lnSpcReduction="20000"/>
          </a:bodyPr>
          <a:lstStyle/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CA" sz="1600" dirty="0">
                <a:latin typeface="Consolas" panose="020B0609020204030204" pitchFamily="49" charset="0"/>
              </a:rPr>
              <a:t>class MainClass</a:t>
            </a:r>
            <a:br>
              <a:rPr lang="en-CA" sz="1600" dirty="0">
                <a:latin typeface="Consolas" panose="020B0609020204030204" pitchFamily="49" charset="0"/>
              </a:rPr>
            </a:br>
            <a:r>
              <a:rPr lang="en-CA" sz="1600" dirty="0">
                <a:latin typeface="Consolas" panose="020B0609020204030204" pitchFamily="49" charset="0"/>
              </a:rPr>
              <a:t>{</a:t>
            </a:r>
            <a:br>
              <a:rPr lang="en-CA" sz="1600" dirty="0">
                <a:latin typeface="Consolas" panose="020B0609020204030204" pitchFamily="49" charset="0"/>
              </a:rPr>
            </a:br>
            <a:r>
              <a:rPr lang="en-CA" sz="1600" dirty="0">
                <a:latin typeface="Consolas" panose="020B0609020204030204" pitchFamily="49" charset="0"/>
              </a:rPr>
              <a:t>  public static void Main(string[] </a:t>
            </a:r>
            <a:r>
              <a:rPr lang="en-CA" sz="1600" dirty="0" err="1">
                <a:latin typeface="Consolas" panose="020B0609020204030204" pitchFamily="49" charset="0"/>
              </a:rPr>
              <a:t>args</a:t>
            </a:r>
            <a:r>
              <a:rPr lang="en-CA" sz="1600" dirty="0">
                <a:latin typeface="Consolas" panose="020B0609020204030204" pitchFamily="49" charset="0"/>
              </a:rPr>
              <a:t>)</a:t>
            </a:r>
            <a:br>
              <a:rPr lang="en-CA" sz="1600" dirty="0">
                <a:latin typeface="Consolas" panose="020B0609020204030204" pitchFamily="49" charset="0"/>
              </a:rPr>
            </a:br>
            <a:r>
              <a:rPr lang="en-CA" sz="1600" dirty="0">
                <a:latin typeface="Consolas" panose="020B0609020204030204" pitchFamily="49" charset="0"/>
              </a:rPr>
              <a:t>  {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CA" sz="1600" dirty="0">
                <a:latin typeface="Consolas" panose="020B0609020204030204" pitchFamily="49" charset="0"/>
              </a:rPr>
              <a:t>    double wallLength = 0;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CA" sz="1600" dirty="0">
                <a:latin typeface="Consolas" panose="020B0609020204030204" pitchFamily="49" charset="0"/>
              </a:rPr>
              <a:t>    double wallWidth = 0;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CA" sz="1600" dirty="0">
                <a:latin typeface="Consolas" panose="020B0609020204030204" pitchFamily="49" charset="0"/>
              </a:rPr>
              <a:t>    </a:t>
            </a:r>
            <a:r>
              <a:rPr lang="en-CA" sz="1600" dirty="0">
                <a:solidFill>
                  <a:srgbClr val="00B0F0"/>
                </a:solidFill>
                <a:latin typeface="Consolas" panose="020B0609020204030204" pitchFamily="49" charset="0"/>
              </a:rPr>
              <a:t>double </a:t>
            </a:r>
            <a:r>
              <a:rPr lang="en-CA" sz="1600" dirty="0" err="1">
                <a:solidFill>
                  <a:srgbClr val="00B0F0"/>
                </a:solidFill>
                <a:latin typeface="Consolas" panose="020B0609020204030204" pitchFamily="49" charset="0"/>
              </a:rPr>
              <a:t>wallArea</a:t>
            </a:r>
            <a:r>
              <a:rPr lang="en-CA" sz="1600" dirty="0">
                <a:solidFill>
                  <a:srgbClr val="00B0F0"/>
                </a:solidFill>
                <a:latin typeface="Consolas" panose="020B0609020204030204" pitchFamily="49" charset="0"/>
              </a:rPr>
              <a:t> = 0;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en-CA" sz="1600" dirty="0"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CA" sz="1600" dirty="0">
                <a:latin typeface="Consolas" panose="020B0609020204030204" pitchFamily="49" charset="0"/>
              </a:rPr>
              <a:t>    Console.Write(“Enter Wall Length: ”);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CA" sz="1600" dirty="0">
                <a:latin typeface="Consolas" panose="020B0609020204030204" pitchFamily="49" charset="0"/>
              </a:rPr>
              <a:t>    wallLength = Convert.ToDouble(Console.ReadLine());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CA" sz="1600" dirty="0">
                <a:latin typeface="Consolas" panose="020B0609020204030204" pitchFamily="49" charset="0"/>
              </a:rPr>
              <a:t>    Console.Write(“Enter Wall Width: ”); 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CA" sz="1600" dirty="0">
                <a:latin typeface="Consolas" panose="020B0609020204030204" pitchFamily="49" charset="0"/>
              </a:rPr>
              <a:t>    wallWidth = Convert. ToDouble(Console.ReadLine());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en-CA" sz="1600" dirty="0"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CA" sz="1600" dirty="0">
                <a:solidFill>
                  <a:srgbClr val="00B0F0"/>
                </a:solidFill>
                <a:latin typeface="Consolas" panose="020B0609020204030204" pitchFamily="49" charset="0"/>
              </a:rPr>
              <a:t>    </a:t>
            </a:r>
            <a:r>
              <a:rPr lang="en-CA" sz="1600" dirty="0" err="1">
                <a:solidFill>
                  <a:srgbClr val="00B0F0"/>
                </a:solidFill>
                <a:latin typeface="Consolas" panose="020B0609020204030204" pitchFamily="49" charset="0"/>
              </a:rPr>
              <a:t>wallArea</a:t>
            </a:r>
            <a:r>
              <a:rPr lang="en-CA" sz="1600" dirty="0">
                <a:solidFill>
                  <a:srgbClr val="00B0F0"/>
                </a:solidFill>
                <a:latin typeface="Consolas" panose="020B0609020204030204" pitchFamily="49" charset="0"/>
              </a:rPr>
              <a:t> = CalcWallArea(wallLength, wallWidth);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en-CA" sz="1600" dirty="0"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CA" sz="1600" dirty="0">
                <a:latin typeface="Consolas" panose="020B0609020204030204" pitchFamily="49" charset="0"/>
              </a:rPr>
              <a:t>    Console.WriteLine(“Wall Area: ” + wallArea);  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CA" sz="1600" dirty="0">
                <a:latin typeface="Consolas" panose="020B0609020204030204" pitchFamily="49" charset="0"/>
              </a:rPr>
              <a:t>  }</a:t>
            </a:r>
            <a:br>
              <a:rPr lang="en-CA" sz="1600" dirty="0">
                <a:latin typeface="Consolas" panose="020B0609020204030204" pitchFamily="49" charset="0"/>
              </a:rPr>
            </a:br>
            <a:endParaRPr lang="en-CA" sz="1600" dirty="0"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en-CA" sz="1600" dirty="0"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CA" sz="1600" dirty="0">
                <a:latin typeface="Consolas" panose="020B0609020204030204" pitchFamily="49" charset="0"/>
              </a:rPr>
              <a:t>  private static </a:t>
            </a:r>
            <a:r>
              <a:rPr lang="en-CA" sz="1600" dirty="0">
                <a:solidFill>
                  <a:srgbClr val="00B0F0"/>
                </a:solidFill>
                <a:latin typeface="Consolas" panose="020B0609020204030204" pitchFamily="49" charset="0"/>
              </a:rPr>
              <a:t>double</a:t>
            </a:r>
            <a:r>
              <a:rPr lang="en-CA" sz="1600" dirty="0">
                <a:latin typeface="Consolas" panose="020B0609020204030204" pitchFamily="49" charset="0"/>
              </a:rPr>
              <a:t> CalcWallArea(double length, double width)</a:t>
            </a:r>
            <a:br>
              <a:rPr lang="en-CA" sz="1600" dirty="0">
                <a:latin typeface="Consolas" panose="020B0609020204030204" pitchFamily="49" charset="0"/>
              </a:rPr>
            </a:br>
            <a:r>
              <a:rPr lang="en-CA" sz="1600" dirty="0">
                <a:latin typeface="Consolas" panose="020B0609020204030204" pitchFamily="49" charset="0"/>
              </a:rPr>
              <a:t>  {</a:t>
            </a:r>
            <a:br>
              <a:rPr lang="en-CA" sz="1600" dirty="0">
                <a:latin typeface="Consolas" panose="020B0609020204030204" pitchFamily="49" charset="0"/>
              </a:rPr>
            </a:br>
            <a:r>
              <a:rPr lang="en-CA" sz="1600" dirty="0">
                <a:latin typeface="Consolas" panose="020B0609020204030204" pitchFamily="49" charset="0"/>
              </a:rPr>
              <a:t>    double area;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CA" sz="1600" dirty="0">
                <a:latin typeface="Consolas" panose="020B0609020204030204" pitchFamily="49" charset="0"/>
              </a:rPr>
              <a:t>    area = length * width;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endParaRPr lang="en-CA" sz="1600" dirty="0">
              <a:latin typeface="Consolas" panose="020B0609020204030204" pitchFamily="49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CA" sz="1600" dirty="0">
                <a:latin typeface="Consolas" panose="020B0609020204030204" pitchFamily="49" charset="0"/>
              </a:rPr>
              <a:t>    </a:t>
            </a:r>
            <a:r>
              <a:rPr lang="en-CA" sz="1600" dirty="0">
                <a:solidFill>
                  <a:srgbClr val="00B0F0"/>
                </a:solidFill>
                <a:latin typeface="Consolas" panose="020B0609020204030204" pitchFamily="49" charset="0"/>
              </a:rPr>
              <a:t>return area;</a:t>
            </a:r>
            <a:br>
              <a:rPr lang="en-CA" sz="1600" dirty="0">
                <a:latin typeface="Consolas" panose="020B0609020204030204" pitchFamily="49" charset="0"/>
              </a:rPr>
            </a:br>
            <a:r>
              <a:rPr lang="en-CA" sz="1600" dirty="0">
                <a:latin typeface="Consolas" panose="020B0609020204030204" pitchFamily="49" charset="0"/>
              </a:rPr>
              <a:t>  }</a:t>
            </a:r>
            <a:br>
              <a:rPr lang="en-CA" sz="1600" dirty="0">
                <a:latin typeface="Consolas" panose="020B0609020204030204" pitchFamily="49" charset="0"/>
              </a:rPr>
            </a:br>
            <a:r>
              <a:rPr lang="en-CA" sz="1600" dirty="0">
                <a:latin typeface="Consolas" panose="020B0609020204030204" pitchFamily="49" charset="0"/>
              </a:rPr>
              <a:t>}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CEA3B5D6-9A59-435F-B840-7541D5485D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2090046"/>
              </p:ext>
            </p:extLst>
          </p:nvPr>
        </p:nvGraphicFramePr>
        <p:xfrm>
          <a:off x="11062964" y="699690"/>
          <a:ext cx="822582" cy="365760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822582">
                  <a:extLst>
                    <a:ext uri="{9D8B030D-6E8A-4147-A177-3AD203B41FA5}">
                      <a16:colId xmlns:a16="http://schemas.microsoft.com/office/drawing/2014/main" val="33625510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CA" dirty="0"/>
                        <a:t>RAM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360916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CA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70480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CA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662364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CA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54513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CA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24741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CA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58826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CA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90033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CA" dirty="0"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92665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114149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Tech 16x9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>
    <a:spDef>
      <a:spPr/>
      <a:bodyPr rtlCol="0" anchor="ctr"/>
      <a:lstStyle>
        <a:defPPr algn="ctr">
          <a:defRPr sz="280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2800"/>
        </a:defPPr>
      </a:lstStyle>
    </a:txDef>
  </a:objectDefaults>
  <a:extraClrSchemeLst/>
  <a:extLst>
    <a:ext uri="{05A4C25C-085E-4340-85A3-A5531E510DB2}">
      <thm15:themeFamily xmlns:thm15="http://schemas.microsoft.com/office/thememl/2012/main" name="TF02787990.potx" id="{BDB9CD5E-36EC-45F3-B87D-6D062B8A3823}" vid="{51682E2F-7C85-4D6F-AD40-072EFC83910D}"/>
    </a:ext>
  </a:extLst>
</a:theme>
</file>

<file path=ppt/theme/theme2.xml><?xml version="1.0" encoding="utf-8"?>
<a:theme xmlns:a="http://schemas.openxmlformats.org/drawingml/2006/main" name="Office Them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6EDDDB5EE6D98C44930B742096920B300400F5B6D36B3EF94B4E9A635CDF2A18F5B8" ma:contentTypeVersion="72" ma:contentTypeDescription="Create a new document." ma:contentTypeScope="" ma:versionID="a23e56308344d904b51738559c3d67c9">
  <xsd:schema xmlns:xsd="http://www.w3.org/2001/XMLSchema" xmlns:xs="http://www.w3.org/2001/XMLSchema" xmlns:p="http://schemas.microsoft.com/office/2006/metadata/properties" xmlns:ns2="4873beb7-5857-4685-be1f-d57550cc96cc" targetNamespace="http://schemas.microsoft.com/office/2006/metadata/properties" ma:root="true" ma:fieldsID="cd0908cc4600e77bf5da051303e00c8d" ns2:_="">
    <xsd:import namespace="4873beb7-5857-4685-be1f-d57550cc96cc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73beb7-5857-4685-be1f-d57550cc96cc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8:00:00Z" ma:format="DateTime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1df42cc3-2301-4f11-a52a-6ead923c29ed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2FBD1B11-2ACE-4FDC-B5A3-635D4ADF6F1B}" ma:internalName="CSXSubmissionMarket" ma:readOnly="false" ma:showField="MarketName" ma:web="4873beb7-5857-4685-be1f-d57550cc96cc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7fc0d542-15c6-4882-a8e3-13bca44403fb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9E343742-310B-4684-A24C-1D137CB4B230}" ma:internalName="InProjectListLookup" ma:readOnly="true" ma:showField="InProjectLis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1490b8a4-2706-41ec-b5e3-73176dccf34e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9E343742-310B-4684-A24C-1D137CB4B230}" ma:internalName="LastCompleteVersionLookup" ma:readOnly="true" ma:showField="LastComplete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9E343742-310B-4684-A24C-1D137CB4B230}" ma:internalName="LastPreviewErrorLookup" ma:readOnly="true" ma:showField="LastPreview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9E343742-310B-4684-A24C-1D137CB4B230}" ma:internalName="LastPreviewResultLookup" ma:readOnly="true" ma:showField="LastPreview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9E343742-310B-4684-A24C-1D137CB4B230}" ma:internalName="LastPreviewAttemptDateLookup" ma:readOnly="true" ma:showField="LastPreview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9E343742-310B-4684-A24C-1D137CB4B230}" ma:internalName="LastPreviewedByLookup" ma:readOnly="true" ma:showField="LastPreview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9E343742-310B-4684-A24C-1D137CB4B230}" ma:internalName="LastPreviewTimeLookup" ma:readOnly="true" ma:showField="LastPreview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9E343742-310B-4684-A24C-1D137CB4B230}" ma:internalName="LastPreviewVersionLookup" ma:readOnly="true" ma:showField="LastPreview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9E343742-310B-4684-A24C-1D137CB4B230}" ma:internalName="LastPublishErrorLookup" ma:readOnly="true" ma:showField="LastPublish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9E343742-310B-4684-A24C-1D137CB4B230}" ma:internalName="LastPublishResultLookup" ma:readOnly="true" ma:showField="LastPublish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9E343742-310B-4684-A24C-1D137CB4B230}" ma:internalName="LastPublishAttemptDateLookup" ma:readOnly="true" ma:showField="LastPublish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9E343742-310B-4684-A24C-1D137CB4B230}" ma:internalName="LastPublishedByLookup" ma:readOnly="true" ma:showField="LastPublish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9E343742-310B-4684-A24C-1D137CB4B230}" ma:internalName="LastPublishTimeLookup" ma:readOnly="true" ma:showField="LastPublish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9E343742-310B-4684-A24C-1D137CB4B230}" ma:internalName="LastPublishVersionLookup" ma:readOnly="true" ma:showField="LastPublish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7DD1DCEC-E449-43D3-891F-7DC62F62AD21}" ma:internalName="LocLastLocAttemptVersionLookup" ma:readOnly="false" ma:showField="LastLocAttemptVersion" ma:web="4873beb7-5857-4685-be1f-d57550cc96cc">
      <xsd:simpleType>
        <xsd:restriction base="dms:Lookup"/>
      </xsd:simpleType>
    </xsd:element>
    <xsd:element name="LocLastLocAttemptVersionTypeLookup" ma:index="72" nillable="true" ma:displayName="Loc Last Loc Attempt Version Type" ma:default="" ma:list="{7DD1DCEC-E449-43D3-891F-7DC62F62AD21}" ma:internalName="LocLastLocAttemptVersionTypeLookup" ma:readOnly="true" ma:showField="LastLocAttemptVersionType" ma:web="4873beb7-5857-4685-be1f-d57550cc96cc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7DD1DCEC-E449-43D3-891F-7DC62F62AD21}" ma:internalName="LocNewPublishedVersionLookup" ma:readOnly="true" ma:showField="NewPublishedVersion" ma:web="4873beb7-5857-4685-be1f-d57550cc96cc">
      <xsd:simpleType>
        <xsd:restriction base="dms:Lookup"/>
      </xsd:simpleType>
    </xsd:element>
    <xsd:element name="LocOverallHandbackStatusLookup" ma:index="76" nillable="true" ma:displayName="Loc Overall Handback Status" ma:default="" ma:list="{7DD1DCEC-E449-43D3-891F-7DC62F62AD21}" ma:internalName="LocOverallHandbackStatusLookup" ma:readOnly="true" ma:showField="OverallHandbackStatus" ma:web="4873beb7-5857-4685-be1f-d57550cc96cc">
      <xsd:simpleType>
        <xsd:restriction base="dms:Lookup"/>
      </xsd:simpleType>
    </xsd:element>
    <xsd:element name="LocOverallLocStatusLookup" ma:index="77" nillable="true" ma:displayName="Loc Overall Localize Status" ma:default="" ma:list="{7DD1DCEC-E449-43D3-891F-7DC62F62AD21}" ma:internalName="LocOverallLocStatusLookup" ma:readOnly="true" ma:showField="OverallLocStatus" ma:web="4873beb7-5857-4685-be1f-d57550cc96cc">
      <xsd:simpleType>
        <xsd:restriction base="dms:Lookup"/>
      </xsd:simpleType>
    </xsd:element>
    <xsd:element name="LocOverallPreviewStatusLookup" ma:index="78" nillable="true" ma:displayName="Loc Overall Preview Status" ma:default="" ma:list="{7DD1DCEC-E449-43D3-891F-7DC62F62AD21}" ma:internalName="LocOverallPreviewStatusLookup" ma:readOnly="true" ma:showField="OverallPreviewStatus" ma:web="4873beb7-5857-4685-be1f-d57550cc96cc">
      <xsd:simpleType>
        <xsd:restriction base="dms:Lookup"/>
      </xsd:simpleType>
    </xsd:element>
    <xsd:element name="LocOverallPublishStatusLookup" ma:index="79" nillable="true" ma:displayName="Loc Overall Publish Status" ma:default="" ma:list="{7DD1DCEC-E449-43D3-891F-7DC62F62AD21}" ma:internalName="LocOverallPublishStatusLookup" ma:readOnly="true" ma:showField="OverallPublishStatus" ma:web="4873beb7-5857-4685-be1f-d57550cc96cc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7DD1DCEC-E449-43D3-891F-7DC62F62AD21}" ma:internalName="LocProcessedForHandoffsLookup" ma:readOnly="true" ma:showField="ProcessedForHandoffs" ma:web="4873beb7-5857-4685-be1f-d57550cc96cc">
      <xsd:simpleType>
        <xsd:restriction base="dms:Lookup"/>
      </xsd:simpleType>
    </xsd:element>
    <xsd:element name="LocProcessedForMarketsLookup" ma:index="82" nillable="true" ma:displayName="Loc Processed For Markets" ma:default="" ma:list="{7DD1DCEC-E449-43D3-891F-7DC62F62AD21}" ma:internalName="LocProcessedForMarketsLookup" ma:readOnly="true" ma:showField="ProcessedForMarkets" ma:web="4873beb7-5857-4685-be1f-d57550cc96cc">
      <xsd:simpleType>
        <xsd:restriction base="dms:Lookup"/>
      </xsd:simpleType>
    </xsd:element>
    <xsd:element name="LocPublishedDependentAssetsLookup" ma:index="83" nillable="true" ma:displayName="Loc Published Dependent Assets" ma:default="" ma:list="{7DD1DCEC-E449-43D3-891F-7DC62F62AD21}" ma:internalName="LocPublishedDependentAssetsLookup" ma:readOnly="true" ma:showField="PublishedDependentAssets" ma:web="4873beb7-5857-4685-be1f-d57550cc96cc">
      <xsd:simpleType>
        <xsd:restriction base="dms:Lookup"/>
      </xsd:simpleType>
    </xsd:element>
    <xsd:element name="LocPublishedLinkedAssetsLookup" ma:index="84" nillable="true" ma:displayName="Loc Published Linked Assets" ma:default="" ma:list="{7DD1DCEC-E449-43D3-891F-7DC62F62AD21}" ma:internalName="LocPublishedLinkedAssetsLookup" ma:readOnly="true" ma:showField="PublishedLinkedAssets" ma:web="4873beb7-5857-4685-be1f-d57550cc96cc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00f02cb3-2c7c-424a-9c61-10e9b6878429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2FBD1B11-2ACE-4FDC-B5A3-635D4ADF6F1B}" ma:internalName="Markets" ma:readOnly="false" ma:showField="MarketNa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9E343742-310B-4684-A24C-1D137CB4B230}" ma:internalName="NumOfRatingsLookup" ma:readOnly="true" ma:showField="NumOfRating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9E343742-310B-4684-A24C-1D137CB4B230}" ma:internalName="PublishStatusLookup" ma:readOnly="false" ma:showField="PublishStatu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93aef74d-6c78-4815-8310-51477dceeccc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530f955b-6704-4601-bd83-f81d87f1e440}" ma:internalName="TaxCatchAll" ma:showField="CatchAllData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530f955b-6704-4601-bd83-f81d87f1e440}" ma:internalName="TaxCatchAllLabel" ma:readOnly="true" ma:showField="CatchAllDataLabel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ocPublishedLinkedAssetsLookup xmlns="4873beb7-5857-4685-be1f-d57550cc96cc" xsi:nil="true"/>
    <ApprovalStatus xmlns="4873beb7-5857-4685-be1f-d57550cc96cc">InProgress</ApprovalStatus>
    <MarketSpecific xmlns="4873beb7-5857-4685-be1f-d57550cc96cc">false</MarketSpecific>
    <LocComments xmlns="4873beb7-5857-4685-be1f-d57550cc96cc" xsi:nil="true"/>
    <LocLastLocAttemptVersionTypeLookup xmlns="4873beb7-5857-4685-be1f-d57550cc96cc" xsi:nil="true"/>
    <DirectSourceMarket xmlns="4873beb7-5857-4685-be1f-d57550cc96cc" xsi:nil="true"/>
    <ThumbnailAssetId xmlns="4873beb7-5857-4685-be1f-d57550cc96cc" xsi:nil="true"/>
    <PrimaryImageGen xmlns="4873beb7-5857-4685-be1f-d57550cc96cc">false</PrimaryImageGen>
    <LocNewPublishedVersionLookup xmlns="4873beb7-5857-4685-be1f-d57550cc96cc" xsi:nil="true"/>
    <LegacyData xmlns="4873beb7-5857-4685-be1f-d57550cc96cc" xsi:nil="true"/>
    <LocRecommendedHandoff xmlns="4873beb7-5857-4685-be1f-d57550cc96cc" xsi:nil="true"/>
    <BusinessGroup xmlns="4873beb7-5857-4685-be1f-d57550cc96cc" xsi:nil="true"/>
    <BlockPublish xmlns="4873beb7-5857-4685-be1f-d57550cc96cc">false</BlockPublish>
    <TPFriendlyName xmlns="4873beb7-5857-4685-be1f-d57550cc96cc" xsi:nil="true"/>
    <LocOverallPublishStatusLookup xmlns="4873beb7-5857-4685-be1f-d57550cc96cc" xsi:nil="true"/>
    <NumericId xmlns="4873beb7-5857-4685-be1f-d57550cc96cc" xsi:nil="true"/>
    <APEditor xmlns="4873beb7-5857-4685-be1f-d57550cc96cc">
      <UserInfo>
        <DisplayName/>
        <AccountId xsi:nil="true"/>
        <AccountType/>
      </UserInfo>
    </APEditor>
    <SourceTitle xmlns="4873beb7-5857-4685-be1f-d57550cc96cc" xsi:nil="true"/>
    <OpenTemplate xmlns="4873beb7-5857-4685-be1f-d57550cc96cc">true</OpenTemplate>
    <LocOverallLocStatusLookup xmlns="4873beb7-5857-4685-be1f-d57550cc96cc" xsi:nil="true"/>
    <UALocComments xmlns="4873beb7-5857-4685-be1f-d57550cc96cc" xsi:nil="true"/>
    <ParentAssetId xmlns="4873beb7-5857-4685-be1f-d57550cc96cc" xsi:nil="true"/>
    <IntlLangReviewDate xmlns="4873beb7-5857-4685-be1f-d57550cc96cc" xsi:nil="true"/>
    <FeatureTagsTaxHTField0 xmlns="4873beb7-5857-4685-be1f-d57550cc96cc">
      <Terms xmlns="http://schemas.microsoft.com/office/infopath/2007/PartnerControls"/>
    </FeatureTagsTaxHTField0>
    <PublishStatusLookup xmlns="4873beb7-5857-4685-be1f-d57550cc96cc">
      <Value>1345093</Value>
    </PublishStatusLookup>
    <Providers xmlns="4873beb7-5857-4685-be1f-d57550cc96cc" xsi:nil="true"/>
    <MachineTranslated xmlns="4873beb7-5857-4685-be1f-d57550cc96cc">false</MachineTranslated>
    <OriginalSourceMarket xmlns="4873beb7-5857-4685-be1f-d57550cc96cc" xsi:nil="true"/>
    <APDescription xmlns="4873beb7-5857-4685-be1f-d57550cc96cc">This simple template design works for technology and  businesses, but it's versatile enough to use in other contexts.  It features multiple slide layouts designed for widescreen (16x9 resolution) and includes a sample SmartArt list and chart that are easily editable.</APDescription>
    <ClipArtFilename xmlns="4873beb7-5857-4685-be1f-d57550cc96cc" xsi:nil="true"/>
    <ContentItem xmlns="4873beb7-5857-4685-be1f-d57550cc96cc" xsi:nil="true"/>
    <TPInstallLocation xmlns="4873beb7-5857-4685-be1f-d57550cc96cc" xsi:nil="true"/>
    <PublishTargets xmlns="4873beb7-5857-4685-be1f-d57550cc96cc">OfficeOnlineVNext</PublishTargets>
    <TimesCloned xmlns="4873beb7-5857-4685-be1f-d57550cc96cc" xsi:nil="true"/>
    <AssetStart xmlns="4873beb7-5857-4685-be1f-d57550cc96cc">2011-11-26T00:30:00+00:00</AssetStart>
    <Provider xmlns="4873beb7-5857-4685-be1f-d57550cc96cc" xsi:nil="true"/>
    <AcquiredFrom xmlns="4873beb7-5857-4685-be1f-d57550cc96cc">Internal MS</AcquiredFrom>
    <FriendlyTitle xmlns="4873beb7-5857-4685-be1f-d57550cc96cc" xsi:nil="true"/>
    <LastHandOff xmlns="4873beb7-5857-4685-be1f-d57550cc96cc" xsi:nil="true"/>
    <TPClientViewer xmlns="4873beb7-5857-4685-be1f-d57550cc96cc" xsi:nil="true"/>
    <TemplateStatus xmlns="4873beb7-5857-4685-be1f-d57550cc96cc">Complete</TemplateStatus>
    <Downloads xmlns="4873beb7-5857-4685-be1f-d57550cc96cc">0</Downloads>
    <OOCacheId xmlns="4873beb7-5857-4685-be1f-d57550cc96cc" xsi:nil="true"/>
    <IsDeleted xmlns="4873beb7-5857-4685-be1f-d57550cc96cc">false</IsDeleted>
    <LocPublishedDependentAssetsLookup xmlns="4873beb7-5857-4685-be1f-d57550cc96cc" xsi:nil="true"/>
    <TPExecutable xmlns="4873beb7-5857-4685-be1f-d57550cc96cc" xsi:nil="true"/>
    <EditorialTags xmlns="4873beb7-5857-4685-be1f-d57550cc96cc" xsi:nil="true"/>
    <SubmitterId xmlns="4873beb7-5857-4685-be1f-d57550cc96cc" xsi:nil="true"/>
    <ApprovalLog xmlns="4873beb7-5857-4685-be1f-d57550cc96cc" xsi:nil="true"/>
    <AssetType xmlns="4873beb7-5857-4685-be1f-d57550cc96cc">TP</AssetType>
    <BugNumber xmlns="4873beb7-5857-4685-be1f-d57550cc96cc" xsi:nil="true"/>
    <CSXSubmissionDate xmlns="4873beb7-5857-4685-be1f-d57550cc96cc" xsi:nil="true"/>
    <CSXUpdate xmlns="4873beb7-5857-4685-be1f-d57550cc96cc">false</CSXUpdate>
    <Milestone xmlns="4873beb7-5857-4685-be1f-d57550cc96cc" xsi:nil="true"/>
    <RecommendationsModifier xmlns="4873beb7-5857-4685-be1f-d57550cc96cc" xsi:nil="true"/>
    <OriginAsset xmlns="4873beb7-5857-4685-be1f-d57550cc96cc" xsi:nil="true"/>
    <TPComponent xmlns="4873beb7-5857-4685-be1f-d57550cc96cc" xsi:nil="true"/>
    <AssetId xmlns="4873beb7-5857-4685-be1f-d57550cc96cc">TP102787989</AssetId>
    <IntlLocPriority xmlns="4873beb7-5857-4685-be1f-d57550cc96cc" xsi:nil="true"/>
    <PolicheckWords xmlns="4873beb7-5857-4685-be1f-d57550cc96cc" xsi:nil="true"/>
    <TPLaunchHelpLink xmlns="4873beb7-5857-4685-be1f-d57550cc96cc" xsi:nil="true"/>
    <TPApplication xmlns="4873beb7-5857-4685-be1f-d57550cc96cc" xsi:nil="true"/>
    <CrawlForDependencies xmlns="4873beb7-5857-4685-be1f-d57550cc96cc">false</CrawlForDependencies>
    <HandoffToMSDN xmlns="4873beb7-5857-4685-be1f-d57550cc96cc" xsi:nil="true"/>
    <PlannedPubDate xmlns="4873beb7-5857-4685-be1f-d57550cc96cc" xsi:nil="true"/>
    <IntlLangReviewer xmlns="4873beb7-5857-4685-be1f-d57550cc96cc" xsi:nil="true"/>
    <TrustLevel xmlns="4873beb7-5857-4685-be1f-d57550cc96cc">1 Microsoft Managed Content</TrustLevel>
    <LocLastLocAttemptVersionLookup xmlns="4873beb7-5857-4685-be1f-d57550cc96cc">694266</LocLastLocAttemptVersionLookup>
    <LocProcessedForHandoffsLookup xmlns="4873beb7-5857-4685-be1f-d57550cc96cc" xsi:nil="true"/>
    <IsSearchable xmlns="4873beb7-5857-4685-be1f-d57550cc96cc">true</IsSearchable>
    <TemplateTemplateType xmlns="4873beb7-5857-4685-be1f-d57550cc96cc">PowerPoint Presentation Template</TemplateTemplateType>
    <CampaignTagsTaxHTField0 xmlns="4873beb7-5857-4685-be1f-d57550cc96cc">
      <Terms xmlns="http://schemas.microsoft.com/office/infopath/2007/PartnerControls"/>
    </CampaignTagsTaxHTField0>
    <TPNamespace xmlns="4873beb7-5857-4685-be1f-d57550cc96cc" xsi:nil="true"/>
    <LocOverallPreviewStatusLookup xmlns="4873beb7-5857-4685-be1f-d57550cc96cc" xsi:nil="true"/>
    <TaxCatchAll xmlns="4873beb7-5857-4685-be1f-d57550cc96cc"/>
    <Markets xmlns="4873beb7-5857-4685-be1f-d57550cc96cc"/>
    <UAProjectedTotalWords xmlns="4873beb7-5857-4685-be1f-d57550cc96cc" xsi:nil="true"/>
    <IntlLangReview xmlns="4873beb7-5857-4685-be1f-d57550cc96cc" xsi:nil="true"/>
    <OutputCachingOn xmlns="4873beb7-5857-4685-be1f-d57550cc96cc">false</OutputCachingOn>
    <AverageRating xmlns="4873beb7-5857-4685-be1f-d57550cc96cc" xsi:nil="true"/>
    <APAuthor xmlns="4873beb7-5857-4685-be1f-d57550cc96cc">
      <UserInfo>
        <DisplayName>REDMOND\kristaa</DisplayName>
        <AccountId>136</AccountId>
        <AccountType/>
      </UserInfo>
    </APAuthor>
    <LocManualTestRequired xmlns="4873beb7-5857-4685-be1f-d57550cc96cc">false</LocManualTestRequired>
    <TPCommandLine xmlns="4873beb7-5857-4685-be1f-d57550cc96cc" xsi:nil="true"/>
    <TPAppVersion xmlns="4873beb7-5857-4685-be1f-d57550cc96cc" xsi:nil="true"/>
    <EditorialStatus xmlns="4873beb7-5857-4685-be1f-d57550cc96cc">Complete</EditorialStatus>
    <LastModifiedDateTime xmlns="4873beb7-5857-4685-be1f-d57550cc96cc" xsi:nil="true"/>
    <ScenarioTagsTaxHTField0 xmlns="4873beb7-5857-4685-be1f-d57550cc96cc">
      <Terms xmlns="http://schemas.microsoft.com/office/infopath/2007/PartnerControls"/>
    </ScenarioTagsTaxHTField0>
    <LocProcessedForMarketsLookup xmlns="4873beb7-5857-4685-be1f-d57550cc96cc" xsi:nil="true"/>
    <TPLaunchHelpLinkType xmlns="4873beb7-5857-4685-be1f-d57550cc96cc">Template</TPLaunchHelpLinkType>
    <OriginalRelease xmlns="4873beb7-5857-4685-be1f-d57550cc96cc">15</OriginalRelease>
    <LocalizationTagsTaxHTField0 xmlns="4873beb7-5857-4685-be1f-d57550cc96cc">
      <Terms xmlns="http://schemas.microsoft.com/office/infopath/2007/PartnerControls"/>
    </LocalizationTagsTaxHTField0>
    <UACurrentWords xmlns="4873beb7-5857-4685-be1f-d57550cc96cc" xsi:nil="true"/>
    <ArtSampleDocs xmlns="4873beb7-5857-4685-be1f-d57550cc96cc" xsi:nil="true"/>
    <UALocRecommendation xmlns="4873beb7-5857-4685-be1f-d57550cc96cc">Localize</UALocRecommendation>
    <Manager xmlns="4873beb7-5857-4685-be1f-d57550cc96cc" xsi:nil="true"/>
    <LocOverallHandbackStatusLookup xmlns="4873beb7-5857-4685-be1f-d57550cc96cc" xsi:nil="true"/>
    <ShowIn xmlns="4873beb7-5857-4685-be1f-d57550cc96cc">Show everywhere</ShowIn>
    <UANotes xmlns="4873beb7-5857-4685-be1f-d57550cc96cc" xsi:nil="true"/>
    <InternalTagsTaxHTField0 xmlns="4873beb7-5857-4685-be1f-d57550cc96cc">
      <Terms xmlns="http://schemas.microsoft.com/office/infopath/2007/PartnerControls"/>
    </InternalTagsTaxHTField0>
    <CSXHash xmlns="4873beb7-5857-4685-be1f-d57550cc96cc" xsi:nil="true"/>
    <VoteCount xmlns="4873beb7-5857-4685-be1f-d57550cc96cc" xsi:nil="true"/>
    <AssetExpire xmlns="4873beb7-5857-4685-be1f-d57550cc96cc">2029-05-12T07:00:00+00:00</AssetExpire>
    <DSATActionTaken xmlns="4873beb7-5857-4685-be1f-d57550cc96cc" xsi:nil="true"/>
    <CSXSubmissionMarket xmlns="4873beb7-5857-4685-be1f-d57550cc96cc" xsi:nil="true"/>
    <LocMarketGroupTiers2 xmlns="4873beb7-5857-4685-be1f-d57550cc96cc" xsi:nil="true"/>
  </documentManagement>
</p:properties>
</file>

<file path=customXml/itemProps1.xml><?xml version="1.0" encoding="utf-8"?>
<ds:datastoreItem xmlns:ds="http://schemas.openxmlformats.org/officeDocument/2006/customXml" ds:itemID="{3836F65B-1B07-41EE-A0E8-BC6EF385522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09BF4D4-EF60-4196-BFC3-9462D607978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73beb7-5857-4685-be1f-d57550cc96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60C67BEE-D13F-4BD2-98A5-34D8A0977F68}">
  <ds:schemaRefs>
    <ds:schemaRef ds:uri="4873beb7-5857-4685-be1f-d57550cc96cc"/>
    <ds:schemaRef ds:uri="http://schemas.openxmlformats.org/package/2006/metadata/core-properties"/>
    <ds:schemaRef ds:uri="http://purl.org/dc/terms/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Triple circuit lines presentation (widescreen)</Template>
  <TotalTime>1563</TotalTime>
  <Words>720</Words>
  <Application>Microsoft Office PowerPoint</Application>
  <PresentationFormat>Custom</PresentationFormat>
  <Paragraphs>107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Consolas</vt:lpstr>
      <vt:lpstr>Tech 16x9</vt:lpstr>
      <vt:lpstr>Subprograms</vt:lpstr>
      <vt:lpstr>Objectives</vt:lpstr>
      <vt:lpstr>Two Kinds of Subprograms/Methods</vt:lpstr>
      <vt:lpstr>Function - Defining</vt:lpstr>
      <vt:lpstr>Breakdown</vt:lpstr>
      <vt:lpstr>Time to Stamp!</vt:lpstr>
      <vt:lpstr>Example 1: Literal values</vt:lpstr>
      <vt:lpstr>Example 2: Variables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Variables: Day 1</dc:title>
  <dc:creator>Trevor Lane</dc:creator>
  <cp:lastModifiedBy>Trevor Lane</cp:lastModifiedBy>
  <cp:revision>95</cp:revision>
  <dcterms:created xsi:type="dcterms:W3CDTF">2020-09-21T00:53:05Z</dcterms:created>
  <dcterms:modified xsi:type="dcterms:W3CDTF">2022-03-31T12:22:42Z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0x0101006EDDDB5EE6D98C44930B742096920B300400F5B6D36B3EF94B4E9A635CDF2A18F5B8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CampaignTags">
    <vt:lpwstr/>
  </property>
  <property fmtid="{D5CDD505-2E9C-101B-9397-08002B2CF9AE}" pid="7" name="ScenarioTags">
    <vt:lpwstr/>
  </property>
</Properties>
</file>