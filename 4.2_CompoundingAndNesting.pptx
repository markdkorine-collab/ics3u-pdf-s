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7" r:id="rId5"/>
    <p:sldId id="258" r:id="rId6"/>
    <p:sldId id="263" r:id="rId7"/>
    <p:sldId id="264" r:id="rId8"/>
    <p:sldId id="261" r:id="rId9"/>
    <p:sldId id="262" r:id="rId1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0808"/>
    <a:srgbClr val="FFFFFF"/>
    <a:srgbClr val="394404"/>
    <a:srgbClr val="5F6F0F"/>
    <a:srgbClr val="718412"/>
    <a:srgbClr val="65741A"/>
    <a:srgbClr val="70811D"/>
    <a:srgbClr val="7B8D1F"/>
    <a:srgbClr val="839721"/>
    <a:srgbClr val="95A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23" d="100"/>
          <a:sy n="123" d="100"/>
        </p:scale>
        <p:origin x="108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10/22/2026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Selection: Day 2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Make a thorough choice…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76EA-ABB6-40B7-BF7C-CEF4DDB1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life throws more than one variable at you…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D4647-2621-4131-AA52-E4C094B6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5" y="1700808"/>
            <a:ext cx="10597540" cy="4462272"/>
          </a:xfrm>
        </p:spPr>
        <p:txBody>
          <a:bodyPr>
            <a:normAutofit/>
          </a:bodyPr>
          <a:lstStyle/>
          <a:p>
            <a:r>
              <a:rPr lang="en-US" dirty="0"/>
              <a:t> Sometimes our choices are based on more than one variable</a:t>
            </a:r>
          </a:p>
          <a:p>
            <a:pPr lvl="1"/>
            <a:r>
              <a:rPr lang="en-US" dirty="0"/>
              <a:t>For example: You may only go to the beach if it is both summer and not raining</a:t>
            </a:r>
          </a:p>
          <a:p>
            <a:pPr lvl="1"/>
            <a:r>
              <a:rPr lang="en-US" dirty="0"/>
              <a:t>Or in a program, we may only want to calculate the area of a rectangle if both its length and width are positive numbers</a:t>
            </a:r>
          </a:p>
          <a:p>
            <a:pPr lvl="1"/>
            <a:endParaRPr lang="en-US" dirty="0"/>
          </a:p>
          <a:p>
            <a:r>
              <a:rPr lang="en-US" dirty="0"/>
              <a:t>We can satisfy this need of double criteria in two ways: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Nesting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Compounding</a:t>
            </a:r>
          </a:p>
        </p:txBody>
      </p:sp>
    </p:spTree>
    <p:extLst>
      <p:ext uri="{BB962C8B-B14F-4D97-AF65-F5344CB8AC3E}">
        <p14:creationId xmlns:p14="http://schemas.microsoft.com/office/powerpoint/2010/main" val="27354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6B12F-CE42-44D9-9494-12B42E34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Nesting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3E80-C0B6-416A-BE79-D708D6A24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828" y="980728"/>
            <a:ext cx="11233248" cy="5472608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Nesting gets its name from Russian nesting dolls</a:t>
            </a:r>
          </a:p>
          <a:p>
            <a:r>
              <a:rPr lang="en-CA" dirty="0"/>
              <a:t>Nesting is simply when you have a control structure inside another control structure</a:t>
            </a:r>
          </a:p>
          <a:p>
            <a:pPr lvl="1"/>
            <a:r>
              <a:rPr lang="en-CA" dirty="0"/>
              <a:t>E.g. an if statement inside another if statement.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FF0000"/>
                </a:solidFill>
              </a:rPr>
              <a:t>Example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if (length &gt;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  if (width &gt;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      area = length * width;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600" dirty="0">
                <a:solidFill>
                  <a:srgbClr val="FFFF00"/>
                </a:solidFill>
              </a:rPr>
              <a:t>NOTES: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600" dirty="0"/>
              <a:t>You can optionally have an else statement on one, both or none of these if statements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dirty="0"/>
              <a:t>The inner if statement is only ever tested if the outer if statement is true first</a:t>
            </a:r>
            <a:endParaRPr lang="en-CA" sz="2600" dirty="0"/>
          </a:p>
        </p:txBody>
      </p:sp>
      <p:pic>
        <p:nvPicPr>
          <p:cNvPr id="1026" name="Picture 2" descr="Russian Doll GIFs | Tenor">
            <a:extLst>
              <a:ext uri="{FF2B5EF4-FFF2-40B4-BE49-F238E27FC236}">
                <a16:creationId xmlns:a16="http://schemas.microsoft.com/office/drawing/2014/main" id="{FBFFD367-557A-4D8A-9FFF-D883D029992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180" y="2564905"/>
            <a:ext cx="5204793" cy="292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18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0D1A-34E5-4123-B34B-526B091A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Compound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945DA-6E30-4F63-8AF4-B31D2508F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</a:t>
            </a:r>
            <a:r>
              <a:rPr lang="en-CA" dirty="0">
                <a:solidFill>
                  <a:srgbClr val="00B0F0"/>
                </a:solidFill>
              </a:rPr>
              <a:t>compound</a:t>
            </a:r>
            <a:r>
              <a:rPr lang="en-CA" dirty="0"/>
              <a:t> is something that is formed from bonding two or more items together</a:t>
            </a:r>
          </a:p>
          <a:p>
            <a:r>
              <a:rPr lang="en-CA" dirty="0"/>
              <a:t>We want to create a compound if statement, basically to say </a:t>
            </a:r>
            <a:r>
              <a:rPr lang="en-CA" dirty="0">
                <a:solidFill>
                  <a:srgbClr val="92D050"/>
                </a:solidFill>
              </a:rPr>
              <a:t>“</a:t>
            </a:r>
            <a:r>
              <a:rPr lang="en-CA" dirty="0">
                <a:solidFill>
                  <a:srgbClr val="00B0F0"/>
                </a:solidFill>
              </a:rPr>
              <a:t>if</a:t>
            </a:r>
            <a:r>
              <a:rPr lang="en-CA" dirty="0">
                <a:solidFill>
                  <a:srgbClr val="92D050"/>
                </a:solidFill>
              </a:rPr>
              <a:t> this is true </a:t>
            </a:r>
            <a:r>
              <a:rPr lang="en-CA" dirty="0">
                <a:solidFill>
                  <a:srgbClr val="FFFF00"/>
                </a:solidFill>
              </a:rPr>
              <a:t>AND</a:t>
            </a:r>
            <a:r>
              <a:rPr lang="en-CA" dirty="0">
                <a:solidFill>
                  <a:srgbClr val="92D050"/>
                </a:solidFill>
              </a:rPr>
              <a:t> </a:t>
            </a:r>
            <a:r>
              <a:rPr lang="en-CA" dirty="0">
                <a:solidFill>
                  <a:srgbClr val="00B0F0"/>
                </a:solidFill>
              </a:rPr>
              <a:t>if</a:t>
            </a:r>
            <a:r>
              <a:rPr lang="en-CA" dirty="0">
                <a:solidFill>
                  <a:srgbClr val="92D050"/>
                </a:solidFill>
              </a:rPr>
              <a:t> that is true, </a:t>
            </a:r>
            <a:r>
              <a:rPr lang="en-CA" dirty="0">
                <a:solidFill>
                  <a:srgbClr val="FFFF00"/>
                </a:solidFill>
              </a:rPr>
              <a:t>then</a:t>
            </a:r>
            <a:r>
              <a:rPr lang="en-CA" dirty="0">
                <a:solidFill>
                  <a:srgbClr val="92D050"/>
                </a:solidFill>
              </a:rPr>
              <a:t> do </a:t>
            </a:r>
            <a:r>
              <a:rPr lang="en-CA" dirty="0" smtClean="0">
                <a:solidFill>
                  <a:srgbClr val="92D050"/>
                </a:solidFill>
              </a:rPr>
              <a:t>the following </a:t>
            </a:r>
            <a:r>
              <a:rPr lang="en-CA" dirty="0">
                <a:solidFill>
                  <a:srgbClr val="92D050"/>
                </a:solidFill>
              </a:rPr>
              <a:t>action”</a:t>
            </a:r>
          </a:p>
          <a:p>
            <a:endParaRPr lang="en-CA" dirty="0">
              <a:solidFill>
                <a:srgbClr val="92D050"/>
              </a:solidFill>
            </a:endParaRPr>
          </a:p>
          <a:p>
            <a:r>
              <a:rPr lang="en-CA" dirty="0"/>
              <a:t>This is like combining </a:t>
            </a:r>
            <a:r>
              <a:rPr lang="en-CA" dirty="0">
                <a:solidFill>
                  <a:srgbClr val="FFFF00"/>
                </a:solidFill>
              </a:rPr>
              <a:t>two separate, but </a:t>
            </a:r>
            <a:r>
              <a:rPr lang="en-CA" b="1" dirty="0">
                <a:solidFill>
                  <a:srgbClr val="FFFF00"/>
                </a:solidFill>
              </a:rPr>
              <a:t>complete</a:t>
            </a:r>
            <a:r>
              <a:rPr lang="en-CA" dirty="0">
                <a:solidFill>
                  <a:srgbClr val="FFFF00"/>
                </a:solidFill>
              </a:rPr>
              <a:t> </a:t>
            </a:r>
            <a:r>
              <a:rPr lang="en-CA" dirty="0"/>
              <a:t>comparison tests together into one statement</a:t>
            </a:r>
          </a:p>
          <a:p>
            <a:r>
              <a:rPr lang="en-CA" dirty="0"/>
              <a:t>We do this using </a:t>
            </a:r>
            <a:r>
              <a:rPr lang="en-CA" dirty="0">
                <a:solidFill>
                  <a:srgbClr val="00B0F0"/>
                </a:solidFill>
              </a:rPr>
              <a:t>boolean</a:t>
            </a:r>
            <a:r>
              <a:rPr lang="en-CA" dirty="0"/>
              <a:t> operators</a:t>
            </a:r>
          </a:p>
        </p:txBody>
      </p:sp>
    </p:spTree>
    <p:extLst>
      <p:ext uri="{BB962C8B-B14F-4D97-AF65-F5344CB8AC3E}">
        <p14:creationId xmlns:p14="http://schemas.microsoft.com/office/powerpoint/2010/main" val="309574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DC26-06BD-4FD7-9080-55B778A2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Boolean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ABB99-CB2C-4A72-9E74-6B7E11E4A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23341"/>
            <a:ext cx="10360501" cy="5660022"/>
          </a:xfrm>
        </p:spPr>
        <p:txBody>
          <a:bodyPr/>
          <a:lstStyle/>
          <a:p>
            <a:r>
              <a:rPr lang="en-CA" sz="2400" dirty="0"/>
              <a:t>There are three boolean operators in most programming languages</a:t>
            </a:r>
          </a:p>
          <a:p>
            <a:pPr lvl="1"/>
            <a:r>
              <a:rPr lang="en-CA" sz="2000" b="1" dirty="0">
                <a:solidFill>
                  <a:srgbClr val="FFC000"/>
                </a:solidFill>
              </a:rPr>
              <a:t>AND</a:t>
            </a:r>
            <a:r>
              <a:rPr lang="en-CA" sz="2000" dirty="0"/>
              <a:t>	(C# command is &amp;&amp;) </a:t>
            </a:r>
            <a:r>
              <a:rPr lang="en-CA" sz="2000" dirty="0">
                <a:solidFill>
                  <a:srgbClr val="FF0000"/>
                </a:solidFill>
                <a:sym typeface="Wingdings" panose="05000000000000000000" pitchFamily="2" charset="2"/>
              </a:rPr>
              <a:t> true if </a:t>
            </a:r>
            <a:r>
              <a:rPr lang="en-CA" sz="2000" dirty="0">
                <a:solidFill>
                  <a:srgbClr val="00B0F0"/>
                </a:solidFill>
                <a:sym typeface="Wingdings" panose="05000000000000000000" pitchFamily="2" charset="2"/>
              </a:rPr>
              <a:t>ALL</a:t>
            </a:r>
            <a:r>
              <a:rPr lang="en-CA" sz="2000" dirty="0">
                <a:solidFill>
                  <a:srgbClr val="FF0000"/>
                </a:solidFill>
                <a:sym typeface="Wingdings" panose="05000000000000000000" pitchFamily="2" charset="2"/>
              </a:rPr>
              <a:t> tests evaluate to </a:t>
            </a:r>
            <a:r>
              <a:rPr lang="en-CA" sz="2000" dirty="0">
                <a:solidFill>
                  <a:srgbClr val="FFFF00"/>
                </a:solidFill>
                <a:sym typeface="Wingdings" panose="05000000000000000000" pitchFamily="2" charset="2"/>
              </a:rPr>
              <a:t>true</a:t>
            </a:r>
          </a:p>
          <a:p>
            <a:pPr lvl="1"/>
            <a:r>
              <a:rPr lang="en-CA" sz="2000" b="1" dirty="0">
                <a:solidFill>
                  <a:srgbClr val="FFC000"/>
                </a:solidFill>
                <a:sym typeface="Wingdings" panose="05000000000000000000" pitchFamily="2" charset="2"/>
              </a:rPr>
              <a:t>OR</a:t>
            </a:r>
            <a:r>
              <a:rPr lang="en-CA" sz="2000" dirty="0">
                <a:sym typeface="Wingdings" panose="05000000000000000000" pitchFamily="2" charset="2"/>
              </a:rPr>
              <a:t>	(C# command is ||) </a:t>
            </a:r>
            <a:r>
              <a:rPr lang="en-CA" sz="2000" dirty="0">
                <a:solidFill>
                  <a:srgbClr val="FF0000"/>
                </a:solidFill>
                <a:sym typeface="Wingdings" panose="05000000000000000000" pitchFamily="2" charset="2"/>
              </a:rPr>
              <a:t> true if </a:t>
            </a:r>
            <a:r>
              <a:rPr lang="en-CA" sz="2000" dirty="0">
                <a:solidFill>
                  <a:srgbClr val="00B0F0"/>
                </a:solidFill>
                <a:sym typeface="Wingdings" panose="05000000000000000000" pitchFamily="2" charset="2"/>
              </a:rPr>
              <a:t>AT LEAST ONE </a:t>
            </a:r>
            <a:r>
              <a:rPr lang="en-CA" sz="2000" dirty="0">
                <a:solidFill>
                  <a:srgbClr val="FF0000"/>
                </a:solidFill>
                <a:sym typeface="Wingdings" panose="05000000000000000000" pitchFamily="2" charset="2"/>
              </a:rPr>
              <a:t>test evaluates to </a:t>
            </a:r>
            <a:r>
              <a:rPr lang="en-CA" sz="2000" dirty="0">
                <a:solidFill>
                  <a:srgbClr val="FFFF00"/>
                </a:solidFill>
                <a:sym typeface="Wingdings" panose="05000000000000000000" pitchFamily="2" charset="2"/>
              </a:rPr>
              <a:t>true</a:t>
            </a:r>
          </a:p>
          <a:p>
            <a:pPr lvl="1"/>
            <a:r>
              <a:rPr lang="en-CA" sz="2000" b="1" dirty="0">
                <a:solidFill>
                  <a:srgbClr val="FFC000"/>
                </a:solidFill>
                <a:sym typeface="Wingdings" panose="05000000000000000000" pitchFamily="2" charset="2"/>
              </a:rPr>
              <a:t>NOT</a:t>
            </a:r>
            <a:r>
              <a:rPr lang="en-CA" sz="2000" dirty="0">
                <a:sym typeface="Wingdings" panose="05000000000000000000" pitchFamily="2" charset="2"/>
              </a:rPr>
              <a:t>	(C# command is !) </a:t>
            </a:r>
            <a:r>
              <a:rPr lang="en-CA" sz="2000" dirty="0">
                <a:solidFill>
                  <a:srgbClr val="FF0000"/>
                </a:solidFill>
                <a:sym typeface="Wingdings" panose="05000000000000000000" pitchFamily="2" charset="2"/>
              </a:rPr>
              <a:t> true if the </a:t>
            </a:r>
            <a:r>
              <a:rPr lang="en-CA" sz="2000" dirty="0">
                <a:solidFill>
                  <a:srgbClr val="00B0F0"/>
                </a:solidFill>
                <a:sym typeface="Wingdings" panose="05000000000000000000" pitchFamily="2" charset="2"/>
              </a:rPr>
              <a:t>ENTIRE TEST </a:t>
            </a:r>
            <a:r>
              <a:rPr lang="en-CA" sz="2000" dirty="0">
                <a:solidFill>
                  <a:srgbClr val="FF0000"/>
                </a:solidFill>
                <a:sym typeface="Wingdings" panose="05000000000000000000" pitchFamily="2" charset="2"/>
              </a:rPr>
              <a:t>evaluates to </a:t>
            </a:r>
            <a:r>
              <a:rPr lang="en-CA" sz="2000" dirty="0">
                <a:solidFill>
                  <a:srgbClr val="FFFF00"/>
                </a:solidFill>
                <a:sym typeface="Wingdings" panose="05000000000000000000" pitchFamily="2" charset="2"/>
              </a:rPr>
              <a:t>false</a:t>
            </a:r>
          </a:p>
          <a:p>
            <a:pPr lvl="1"/>
            <a:endParaRPr lang="en-CA" sz="10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400" dirty="0">
                <a:solidFill>
                  <a:srgbClr val="00B0F0"/>
                </a:solidFill>
                <a:sym typeface="Wingdings" panose="05000000000000000000" pitchFamily="2" charset="2"/>
              </a:rPr>
              <a:t>Assume x = 6 and y = 3 for the below chart: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400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400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400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400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400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400" dirty="0">
                <a:solidFill>
                  <a:srgbClr val="FFFF00"/>
                </a:solidFill>
                <a:sym typeface="Wingdings" panose="05000000000000000000" pitchFamily="2" charset="2"/>
              </a:rPr>
              <a:t>EXAMPLE FROM NESTING SLIDE, REWRITTEN USING A COMPOUND IF STATEMENT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  <a:sym typeface="Wingdings" panose="05000000000000000000" pitchFamily="2" charset="2"/>
              </a:rPr>
              <a:t>if (length &gt; 0 &amp;&amp; width &gt;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  <a:sym typeface="Wingdings" panose="05000000000000000000" pitchFamily="2" charset="2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  <a:sym typeface="Wingdings" panose="05000000000000000000" pitchFamily="2" charset="2"/>
              </a:rPr>
              <a:t>    area = length * width;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  <a:sym typeface="Wingdings" panose="05000000000000000000" pitchFamily="2" charset="2"/>
              </a:rPr>
              <a:t>}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821859-0EA0-4275-AA27-1A772F462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339440"/>
              </p:ext>
            </p:extLst>
          </p:nvPr>
        </p:nvGraphicFramePr>
        <p:xfrm>
          <a:off x="1388395" y="3040360"/>
          <a:ext cx="1002147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62">
                  <a:extLst>
                    <a:ext uri="{9D8B030D-6E8A-4147-A177-3AD203B41FA5}">
                      <a16:colId xmlns:a16="http://schemas.microsoft.com/office/drawing/2014/main" val="1046749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Evaluates To…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(x &lt; 10 &amp;&amp; y</a:t>
                      </a:r>
                      <a:r>
                        <a:rPr lang="en-CA" baseline="0" dirty="0">
                          <a:latin typeface="Consolas" panose="020B0609020204030204" pitchFamily="49" charset="0"/>
                        </a:rPr>
                        <a:t> &gt; 1)</a:t>
                      </a:r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(x == 5 || y ==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!(x == 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92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5F0E-A518-4406-A48D-BAE24186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Test your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62883-0F4E-4D21-B734-07A5EBB1E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6"/>
            <a:ext cx="10360501" cy="5111333"/>
          </a:xfrm>
        </p:spPr>
        <p:txBody>
          <a:bodyPr/>
          <a:lstStyle/>
          <a:p>
            <a:r>
              <a:rPr lang="en-CA" dirty="0"/>
              <a:t>Without coding this, tell me what the value of result is?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bool result;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bool a = true;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bool b = true;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bool c = false;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result = !(((a &amp;&amp; c) || (b &amp;&amp; !c)) &amp;&amp; (!(a &amp;&amp; b &amp;&amp; c) &amp;&amp; b));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Tip</a:t>
            </a:r>
            <a:r>
              <a:rPr lang="en-CA" sz="1800" dirty="0">
                <a:latin typeface="Consolas" panose="020B0609020204030204" pitchFamily="49" charset="0"/>
              </a:rPr>
              <a:t>: Evaluate inner brackets first and work your way outside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Result: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1800" dirty="0">
                <a:latin typeface="Consolas" panose="020B060902020403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7203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947</TotalTime>
  <Words>465</Words>
  <Application>Microsoft Office PowerPoint</Application>
  <PresentationFormat>Custom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Wingdings</vt:lpstr>
      <vt:lpstr>Tech 16x9</vt:lpstr>
      <vt:lpstr>Selection: Day 2</vt:lpstr>
      <vt:lpstr>When life throws more than one variable at you…</vt:lpstr>
      <vt:lpstr>Nesting</vt:lpstr>
      <vt:lpstr>Compound if statement</vt:lpstr>
      <vt:lpstr>Boolean Operators</vt:lpstr>
      <vt:lpstr>Test your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67</cp:revision>
  <dcterms:created xsi:type="dcterms:W3CDTF">2020-09-21T00:53:05Z</dcterms:created>
  <dcterms:modified xsi:type="dcterms:W3CDTF">2026-10-22T17:30:59Z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