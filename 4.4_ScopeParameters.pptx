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0808"/>
    <a:srgbClr val="FFFFFF"/>
    <a:srgbClr val="394404"/>
    <a:srgbClr val="5F6F0F"/>
    <a:srgbClr val="718412"/>
    <a:srgbClr val="65741A"/>
    <a:srgbClr val="70811D"/>
    <a:srgbClr val="7B8D1F"/>
    <a:srgbClr val="839721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86" d="100"/>
          <a:sy n="86" d="100"/>
        </p:scale>
        <p:origin x="562" y="5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3/29/2022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3/29/2022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3/29/2022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3/29/2022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Subprograms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Scope Review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Revisit the idea of variable scope and accessibility</a:t>
            </a:r>
          </a:p>
        </p:txBody>
      </p:sp>
    </p:spTree>
    <p:extLst>
      <p:ext uri="{BB962C8B-B14F-4D97-AF65-F5344CB8AC3E}">
        <p14:creationId xmlns:p14="http://schemas.microsoft.com/office/powerpoint/2010/main" val="385949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-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Scope refers to two properties of a variable: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How long </a:t>
            </a:r>
            <a:r>
              <a:rPr lang="en-US" dirty="0"/>
              <a:t>it is in memory (RAM) [and part of the C# dictionary]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Where</a:t>
            </a:r>
            <a:r>
              <a:rPr lang="en-US" dirty="0"/>
              <a:t> in the program the variable is usable (accessible)</a:t>
            </a:r>
          </a:p>
        </p:txBody>
      </p:sp>
    </p:spTree>
    <p:extLst>
      <p:ext uri="{BB962C8B-B14F-4D97-AF65-F5344CB8AC3E}">
        <p14:creationId xmlns:p14="http://schemas.microsoft.com/office/powerpoint/2010/main" val="239283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US" dirty="0"/>
              <a:t>There are 2 Levels of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196752"/>
            <a:ext cx="10360501" cy="54726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Global</a:t>
            </a:r>
            <a:r>
              <a:rPr lang="en-US" dirty="0"/>
              <a:t> – </a:t>
            </a:r>
            <a:r>
              <a:rPr lang="en-US" dirty="0">
                <a:solidFill>
                  <a:srgbClr val="92D050"/>
                </a:solidFill>
              </a:rPr>
              <a:t>variable is defined outside of the Main method and just below the class line</a:t>
            </a:r>
          </a:p>
          <a:p>
            <a:pPr lvl="1"/>
            <a:r>
              <a:rPr lang="en-US" dirty="0"/>
              <a:t>These variables are in memory for the entire life of the program and usable anywhere</a:t>
            </a:r>
          </a:p>
          <a:p>
            <a:pPr lvl="1"/>
            <a:r>
              <a:rPr lang="en-US" dirty="0"/>
              <a:t>When defining these variables we </a:t>
            </a:r>
            <a:r>
              <a:rPr lang="en-US" dirty="0">
                <a:solidFill>
                  <a:srgbClr val="FFFF00"/>
                </a:solidFill>
              </a:rPr>
              <a:t>must</a:t>
            </a:r>
            <a:r>
              <a:rPr lang="en-US" dirty="0"/>
              <a:t> use the keyword static</a:t>
            </a:r>
          </a:p>
          <a:p>
            <a:pPr lvl="2"/>
            <a:r>
              <a:rPr lang="en-US" dirty="0"/>
              <a:t>E.g. </a:t>
            </a:r>
            <a:r>
              <a:rPr lang="en-US" dirty="0">
                <a:latin typeface="Consolas" panose="020B0609020204030204" pitchFamily="49" charset="0"/>
              </a:rPr>
              <a:t>static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userAge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00B0F0"/>
                </a:solidFill>
              </a:rPr>
              <a:t>Local</a:t>
            </a:r>
            <a:r>
              <a:rPr lang="en-US" dirty="0"/>
              <a:t> – </a:t>
            </a:r>
            <a:r>
              <a:rPr lang="en-US" dirty="0">
                <a:solidFill>
                  <a:srgbClr val="92D050"/>
                </a:solidFill>
              </a:rPr>
              <a:t>variable is defined inside (and at the top of) a method, such as Main</a:t>
            </a:r>
          </a:p>
          <a:p>
            <a:pPr lvl="1"/>
            <a:r>
              <a:rPr lang="en-US" dirty="0"/>
              <a:t>These variables are in memory until the closing curly bracket } is reached by the logic, </a:t>
            </a:r>
            <a:r>
              <a:rPr lang="en-US" dirty="0">
                <a:solidFill>
                  <a:srgbClr val="FFFF00"/>
                </a:solidFill>
              </a:rPr>
              <a:t>at which point it is deleted</a:t>
            </a:r>
            <a:r>
              <a:rPr lang="en-US" dirty="0"/>
              <a:t>.  Freeing memory for other data</a:t>
            </a:r>
          </a:p>
          <a:p>
            <a:pPr lvl="1"/>
            <a:r>
              <a:rPr lang="en-US" dirty="0"/>
              <a:t>These variables are </a:t>
            </a:r>
            <a:r>
              <a:rPr lang="en-US" dirty="0">
                <a:solidFill>
                  <a:srgbClr val="FFFF00"/>
                </a:solidFill>
              </a:rPr>
              <a:t>ONLY</a:t>
            </a:r>
            <a:r>
              <a:rPr lang="en-US" dirty="0"/>
              <a:t> usable inside the set of curly braces they were defined in {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0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vs. Local – When to use which?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6525" y="3933056"/>
            <a:ext cx="10945216" cy="2880320"/>
          </a:xfrm>
        </p:spPr>
        <p:txBody>
          <a:bodyPr>
            <a:normAutofit/>
          </a:bodyPr>
          <a:lstStyle/>
          <a:p>
            <a:r>
              <a:rPr lang="en-CA" dirty="0"/>
              <a:t>So what’s the answer already?</a:t>
            </a:r>
          </a:p>
          <a:p>
            <a:pPr lvl="1"/>
            <a:r>
              <a:rPr lang="en-CA" b="1" dirty="0">
                <a:solidFill>
                  <a:srgbClr val="FFFF00"/>
                </a:solidFill>
              </a:rPr>
              <a:t>Ideally, everything is a local variable</a:t>
            </a:r>
            <a:r>
              <a:rPr lang="en-CA" dirty="0"/>
              <a:t>, but there are some things that benefit greatly from being global.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For example, when making a game like Mario, some data may need to be accessible in many </a:t>
            </a:r>
            <a:r>
              <a:rPr lang="en-CA" dirty="0">
                <a:solidFill>
                  <a:srgbClr val="FFFF00"/>
                </a:solidFill>
              </a:rPr>
              <a:t>methods</a:t>
            </a:r>
            <a:r>
              <a:rPr lang="en-CA" dirty="0"/>
              <a:t> (code blocks) in the program, e.g. score, which is used for display, high scores, updated whenever a collection/kill/at end of level.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9381747"/>
              </p:ext>
            </p:extLst>
          </p:nvPr>
        </p:nvGraphicFramePr>
        <p:xfrm>
          <a:off x="981844" y="1701800"/>
          <a:ext cx="1094521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55424443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57245309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743943337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5685135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Global Variables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 Variables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443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48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aseline="0" dirty="0"/>
                        <a:t>+ You can use the variable anywhere in the program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It consumes </a:t>
                      </a:r>
                      <a:r>
                        <a:rPr lang="en-US" sz="1600" baseline="0" dirty="0"/>
                        <a:t>memory for the entire life of the program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600" baseline="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Creates coupling of data, making our code less reusable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/>
                        <a:t>+ The used memory is deleted and freed up at the end of the method (code block)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You can ONLY use the variable inside the method it was defined</a:t>
                      </a:r>
                      <a:r>
                        <a:rPr lang="en-US" sz="1600" baseline="0" dirty="0"/>
                        <a:t> in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929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D17A76-31E3-47BA-AC7F-283388CC1C10}"/>
              </a:ext>
            </a:extLst>
          </p:cNvPr>
          <p:cNvSpPr txBox="1"/>
          <p:nvPr/>
        </p:nvSpPr>
        <p:spPr>
          <a:xfrm>
            <a:off x="8470676" y="356463"/>
            <a:ext cx="3528392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1800" dirty="0"/>
              <a:t>The term </a:t>
            </a:r>
            <a:r>
              <a:rPr lang="en-CA" sz="1800" dirty="0">
                <a:solidFill>
                  <a:srgbClr val="FFFF00"/>
                </a:solidFill>
              </a:rPr>
              <a:t>method</a:t>
            </a:r>
            <a:r>
              <a:rPr lang="en-CA" sz="1800" dirty="0"/>
              <a:t> refers to a named block of code that has its own logic surrounded by { }. </a:t>
            </a:r>
            <a:br>
              <a:rPr lang="en-CA" sz="1800" dirty="0"/>
            </a:br>
            <a:r>
              <a:rPr lang="en-CA" sz="1800" dirty="0">
                <a:solidFill>
                  <a:srgbClr val="92D050"/>
                </a:solidFill>
              </a:rPr>
              <a:t>E.g. the Main method</a:t>
            </a:r>
          </a:p>
        </p:txBody>
      </p:sp>
    </p:spTree>
    <p:extLst>
      <p:ext uri="{BB962C8B-B14F-4D97-AF65-F5344CB8AC3E}">
        <p14:creationId xmlns:p14="http://schemas.microsoft.com/office/powerpoint/2010/main" val="81140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29F0-3B9D-42BC-97A4-112C58E8C7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Subprograms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D1EE0-978C-49BE-8602-728204621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Part 2: Parameters</a:t>
            </a:r>
          </a:p>
        </p:txBody>
      </p:sp>
    </p:spTree>
    <p:extLst>
      <p:ext uri="{BB962C8B-B14F-4D97-AF65-F5344CB8AC3E}">
        <p14:creationId xmlns:p14="http://schemas.microsoft.com/office/powerpoint/2010/main" val="182539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BF51-CAC6-4523-9B69-21F479BEB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709D-CC02-47A8-BAFA-436045D4A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understand the what, how and why of passing data into a method</a:t>
            </a:r>
          </a:p>
        </p:txBody>
      </p:sp>
    </p:spTree>
    <p:extLst>
      <p:ext uri="{BB962C8B-B14F-4D97-AF65-F5344CB8AC3E}">
        <p14:creationId xmlns:p14="http://schemas.microsoft.com/office/powerpoint/2010/main" val="308611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D669-5E74-4BB5-B65A-3EBA1B78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What is a Parameter? -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805D9-C8F7-4BBA-83CF-123CBA31B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2"/>
            <a:ext cx="10564161" cy="5184576"/>
          </a:xfrm>
        </p:spPr>
        <p:txBody>
          <a:bodyPr>
            <a:normAutofit/>
          </a:bodyPr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92D050"/>
                </a:solidFill>
              </a:rPr>
              <a:t>parameter</a:t>
            </a:r>
            <a:r>
              <a:rPr lang="en-CA" dirty="0"/>
              <a:t> is the storage variable for the data given to a method inside the round brackets () when we call it:</a:t>
            </a:r>
          </a:p>
          <a:p>
            <a:pPr lvl="1"/>
            <a:r>
              <a:rPr lang="en-CA" dirty="0"/>
              <a:t>For example: </a:t>
            </a:r>
            <a:r>
              <a:rPr lang="en-CA" dirty="0" err="1">
                <a:latin typeface="Consolas" panose="020B0609020204030204" pitchFamily="49" charset="0"/>
              </a:rPr>
              <a:t>Math.Pow</a:t>
            </a:r>
            <a:r>
              <a:rPr lang="en-CA" dirty="0">
                <a:latin typeface="Consolas" panose="020B0609020204030204" pitchFamily="49" charset="0"/>
              </a:rPr>
              <a:t>(2,3);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Here, 2 and 3 are values that will be stored in temporary variables, we call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parameters</a:t>
            </a:r>
          </a:p>
          <a:p>
            <a:pPr lvl="2"/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olidFill>
                  <a:srgbClr val="00B0F0"/>
                </a:solidFill>
                <a:sym typeface="Wingdings" panose="05000000000000000000" pitchFamily="2" charset="2"/>
              </a:rPr>
              <a:t>A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parameter</a:t>
            </a:r>
            <a:r>
              <a:rPr lang="en-CA" dirty="0">
                <a:solidFill>
                  <a:srgbClr val="00B0F0"/>
                </a:solidFill>
                <a:sym typeface="Wingdings" panose="05000000000000000000" pitchFamily="2" charset="2"/>
              </a:rPr>
              <a:t> is a local,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temporary</a:t>
            </a:r>
            <a:r>
              <a:rPr lang="en-CA" dirty="0">
                <a:solidFill>
                  <a:srgbClr val="00B0F0"/>
                </a:solidFill>
                <a:sym typeface="Wingdings" panose="05000000000000000000" pitchFamily="2" charset="2"/>
              </a:rPr>
              <a:t> variable that stores a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COPY</a:t>
            </a:r>
            <a:r>
              <a:rPr lang="en-CA" dirty="0">
                <a:solidFill>
                  <a:srgbClr val="00B0F0"/>
                </a:solidFill>
                <a:sym typeface="Wingdings" panose="05000000000000000000" pitchFamily="2" charset="2"/>
              </a:rPr>
              <a:t> of the data given to it when its method is called to be executed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E.g. </a:t>
            </a:r>
            <a:r>
              <a:rPr lang="en-CA" dirty="0" err="1">
                <a:latin typeface="Consolas" panose="020B0609020204030204" pitchFamily="49" charset="0"/>
                <a:sym typeface="Wingdings" panose="05000000000000000000" pitchFamily="2" charset="2"/>
              </a:rPr>
              <a:t>Console.WriteLine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(string </a:t>
            </a:r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message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);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WriteLine is a method that has one parameter, of type string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We could give it a literal value – </a:t>
            </a:r>
            <a:r>
              <a:rPr lang="en-CA" dirty="0" err="1">
                <a:latin typeface="Consolas" panose="020B0609020204030204" pitchFamily="49" charset="0"/>
                <a:sym typeface="Wingdings" panose="05000000000000000000" pitchFamily="2" charset="2"/>
              </a:rPr>
              <a:t>Console.WriteLine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(“Hello World!”);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Or we could pass it another variable – </a:t>
            </a:r>
            <a:r>
              <a:rPr lang="en-CA" dirty="0" err="1">
                <a:latin typeface="Consolas" panose="020B0609020204030204" pitchFamily="49" charset="0"/>
                <a:sym typeface="Wingdings" panose="05000000000000000000" pitchFamily="2" charset="2"/>
              </a:rPr>
              <a:t>Console.WriteLine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lang="en-CA" dirty="0" err="1">
                <a:latin typeface="Consolas" panose="020B0609020204030204" pitchFamily="49" charset="0"/>
                <a:sym typeface="Wingdings" panose="05000000000000000000" pitchFamily="2" charset="2"/>
              </a:rPr>
              <a:t>userName</a:t>
            </a: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);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In both cases, a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COPY</a:t>
            </a:r>
            <a:r>
              <a:rPr lang="en-CA" dirty="0">
                <a:sym typeface="Wingdings" panose="05000000000000000000" pitchFamily="2" charset="2"/>
              </a:rPr>
              <a:t> of the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value</a:t>
            </a:r>
            <a:r>
              <a:rPr lang="en-CA" dirty="0">
                <a:sym typeface="Wingdings" panose="05000000000000000000" pitchFamily="2" charset="2"/>
              </a:rPr>
              <a:t> is stored in WriteLine’s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message</a:t>
            </a:r>
            <a:r>
              <a:rPr lang="en-CA" dirty="0">
                <a:sym typeface="Wingdings" panose="05000000000000000000" pitchFamily="2" charset="2"/>
              </a:rPr>
              <a:t> variable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63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AD32-9762-400D-A01C-0DDD51AA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Go 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68B8-6F94-4E6A-9EEA-90448D78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parameter is a piece of data required by the method for it to do its job</a:t>
            </a:r>
          </a:p>
          <a:p>
            <a:r>
              <a:rPr lang="en-CA" dirty="0"/>
              <a:t>WriteLine and Pow would not be able to do their task without the data passed in</a:t>
            </a:r>
          </a:p>
          <a:p>
            <a:endParaRPr lang="en-CA" dirty="0"/>
          </a:p>
          <a:p>
            <a:r>
              <a:rPr lang="en-CA" dirty="0">
                <a:solidFill>
                  <a:srgbClr val="00B0F0"/>
                </a:solidFill>
              </a:rPr>
              <a:t>Do all methods need parameters?</a:t>
            </a:r>
          </a:p>
          <a:p>
            <a:pPr lvl="1"/>
            <a:r>
              <a:rPr lang="en-CA" dirty="0"/>
              <a:t>No, </a:t>
            </a:r>
            <a:r>
              <a:rPr lang="en-CA" i="1" dirty="0"/>
              <a:t>many</a:t>
            </a:r>
            <a:r>
              <a:rPr lang="en-CA" dirty="0"/>
              <a:t> do not</a:t>
            </a:r>
          </a:p>
          <a:p>
            <a:pPr lvl="1"/>
            <a:r>
              <a:rPr lang="en-CA" dirty="0"/>
              <a:t>E.g. 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Console.ReadLine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() </a:t>
            </a:r>
            <a:r>
              <a:rPr lang="en-CA" dirty="0">
                <a:sym typeface="Wingdings" panose="05000000000000000000" pitchFamily="2" charset="2"/>
              </a:rPr>
              <a:t> Notice, we still need to write the brackets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212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2B2D-448B-4AE5-8683-A76A9E86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What if?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D802B-CA78-461D-9AF9-476E81B7C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472608"/>
          </a:xfrm>
        </p:spPr>
        <p:txBody>
          <a:bodyPr>
            <a:normAutofit fontScale="92500"/>
          </a:bodyPr>
          <a:lstStyle/>
          <a:p>
            <a:r>
              <a:rPr lang="en-CA" dirty="0">
                <a:solidFill>
                  <a:srgbClr val="00B0F0"/>
                </a:solidFill>
              </a:rPr>
              <a:t>What if you call a method but do </a:t>
            </a:r>
            <a:r>
              <a:rPr lang="en-CA" dirty="0">
                <a:solidFill>
                  <a:srgbClr val="FFFF00"/>
                </a:solidFill>
              </a:rPr>
              <a:t>NOT</a:t>
            </a:r>
            <a:r>
              <a:rPr lang="en-CA" dirty="0">
                <a:solidFill>
                  <a:srgbClr val="00B0F0"/>
                </a:solidFill>
              </a:rPr>
              <a:t> give it the needed data?</a:t>
            </a:r>
          </a:p>
          <a:p>
            <a:pPr lvl="1"/>
            <a:r>
              <a:rPr lang="en-CA" dirty="0"/>
              <a:t>The program will not compile, it will be a syntax error or it will crash while running.  </a:t>
            </a:r>
          </a:p>
          <a:p>
            <a:pPr lvl="1"/>
            <a:r>
              <a:rPr lang="en-CA" dirty="0"/>
              <a:t>It is like your teacher saying “do your homework” but not telling you what questions to do.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00B0F0"/>
                </a:solidFill>
              </a:rPr>
              <a:t>What if the data is given, but in the </a:t>
            </a:r>
            <a:r>
              <a:rPr lang="en-CA" dirty="0">
                <a:solidFill>
                  <a:srgbClr val="FFFF00"/>
                </a:solidFill>
              </a:rPr>
              <a:t>wrong order </a:t>
            </a:r>
            <a:r>
              <a:rPr lang="en-CA" dirty="0">
                <a:solidFill>
                  <a:srgbClr val="00B0F0"/>
                </a:solidFill>
              </a:rPr>
              <a:t>or the </a:t>
            </a:r>
            <a:r>
              <a:rPr lang="en-CA" dirty="0">
                <a:solidFill>
                  <a:srgbClr val="FFFF00"/>
                </a:solidFill>
              </a:rPr>
              <a:t>wrong type</a:t>
            </a:r>
            <a:r>
              <a:rPr lang="en-CA" dirty="0">
                <a:solidFill>
                  <a:srgbClr val="00B0F0"/>
                </a:solidFill>
              </a:rPr>
              <a:t>?</a:t>
            </a:r>
          </a:p>
          <a:p>
            <a:pPr lvl="1"/>
            <a:r>
              <a:rPr lang="en-CA" dirty="0"/>
              <a:t>This depends, if the swapped values are the same type, you may just end up with bad results</a:t>
            </a:r>
          </a:p>
          <a:p>
            <a:pPr lvl="2"/>
            <a:r>
              <a:rPr lang="en-CA" dirty="0"/>
              <a:t>E.g. </a:t>
            </a:r>
            <a:r>
              <a:rPr lang="en-CA" dirty="0" err="1">
                <a:solidFill>
                  <a:srgbClr val="92D050"/>
                </a:solidFill>
              </a:rPr>
              <a:t>Math.Pow</a:t>
            </a:r>
            <a:r>
              <a:rPr lang="en-CA" dirty="0">
                <a:solidFill>
                  <a:srgbClr val="92D050"/>
                </a:solidFill>
              </a:rPr>
              <a:t>(2,3) gives 8, but </a:t>
            </a:r>
            <a:r>
              <a:rPr lang="en-CA" dirty="0" err="1">
                <a:solidFill>
                  <a:srgbClr val="92D050"/>
                </a:solidFill>
              </a:rPr>
              <a:t>Math.Pow</a:t>
            </a:r>
            <a:r>
              <a:rPr lang="en-CA" dirty="0">
                <a:solidFill>
                  <a:srgbClr val="92D050"/>
                </a:solidFill>
              </a:rPr>
              <a:t>(3,2) gives 9</a:t>
            </a:r>
          </a:p>
          <a:p>
            <a:pPr lvl="1"/>
            <a:r>
              <a:rPr lang="en-CA" dirty="0"/>
              <a:t>However, if the swapped values were of different types, like a string and an int, the program will most likely not compile because you are trying to stick a square peg in a round hole.</a:t>
            </a:r>
          </a:p>
          <a:p>
            <a:pPr lvl="1"/>
            <a:r>
              <a:rPr lang="en-CA" dirty="0"/>
              <a:t>There are some exceptions to this rule, like passing in an int to a double parameter is perfectly fine.</a:t>
            </a:r>
          </a:p>
        </p:txBody>
      </p:sp>
    </p:spTree>
    <p:extLst>
      <p:ext uri="{BB962C8B-B14F-4D97-AF65-F5344CB8AC3E}">
        <p14:creationId xmlns:p14="http://schemas.microsoft.com/office/powerpoint/2010/main" val="4786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0020-EB10-43D0-8DEB-0B8F478E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Parameter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8BDB-D2F1-4C16-B281-9D4C010E0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a method requests data for a parameter it is like a contract between the programmer and the method</a:t>
            </a:r>
          </a:p>
          <a:p>
            <a:endParaRPr lang="en-CA" dirty="0"/>
          </a:p>
          <a:p>
            <a:r>
              <a:rPr lang="en-CA" dirty="0"/>
              <a:t>The method promises to do its task perfectly, but </a:t>
            </a:r>
            <a:r>
              <a:rPr lang="en-CA" b="1" dirty="0">
                <a:solidFill>
                  <a:srgbClr val="FFFF00"/>
                </a:solidFill>
              </a:rPr>
              <a:t>ONLY</a:t>
            </a:r>
            <a:r>
              <a:rPr lang="en-CA" dirty="0"/>
              <a:t> if the programmer gives all the data in the expected order</a:t>
            </a:r>
          </a:p>
          <a:p>
            <a:endParaRPr lang="en-CA" dirty="0"/>
          </a:p>
          <a:p>
            <a:r>
              <a:rPr lang="en-CA" b="1" dirty="0">
                <a:solidFill>
                  <a:srgbClr val="92D050"/>
                </a:solidFill>
              </a:rPr>
              <a:t>REMEMBER</a:t>
            </a:r>
            <a:r>
              <a:rPr lang="en-CA" dirty="0"/>
              <a:t>: The data given to the parameter when the method is called is a </a:t>
            </a:r>
            <a:r>
              <a:rPr lang="en-CA" b="1" dirty="0">
                <a:solidFill>
                  <a:srgbClr val="FFFF00"/>
                </a:solidFill>
              </a:rPr>
              <a:t>COPY</a:t>
            </a:r>
            <a:r>
              <a:rPr lang="en-CA" dirty="0"/>
              <a:t> of the original data, so if the method changes the parameter’s value, the original data remains </a:t>
            </a:r>
            <a:r>
              <a:rPr lang="en-CA" b="1" dirty="0">
                <a:solidFill>
                  <a:srgbClr val="FFFF00"/>
                </a:solidFill>
              </a:rPr>
              <a:t>UNCHANGED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925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1040</TotalTime>
  <Words>857</Words>
  <Application>Microsoft Office PowerPoint</Application>
  <PresentationFormat>Custom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Tech 16x9</vt:lpstr>
      <vt:lpstr>Subprograms</vt:lpstr>
      <vt:lpstr>Objective</vt:lpstr>
      <vt:lpstr>Scope - Review</vt:lpstr>
      <vt:lpstr>There are 2 Levels of Scope</vt:lpstr>
      <vt:lpstr>Global vs. Local – When to use which?</vt:lpstr>
      <vt:lpstr>Subprograms</vt:lpstr>
      <vt:lpstr>Objective</vt:lpstr>
      <vt:lpstr>What is a Parameter? - Review</vt:lpstr>
      <vt:lpstr>Go on…</vt:lpstr>
      <vt:lpstr>What if?</vt:lpstr>
      <vt:lpstr>Parameter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Trevor Lane</cp:lastModifiedBy>
  <cp:revision>73</cp:revision>
  <dcterms:created xsi:type="dcterms:W3CDTF">2020-09-21T00:53:05Z</dcterms:created>
  <dcterms:modified xsi:type="dcterms:W3CDTF">2022-03-29T12:36:02Z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