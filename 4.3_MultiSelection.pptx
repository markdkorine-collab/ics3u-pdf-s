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57" r:id="rId5"/>
    <p:sldId id="258" r:id="rId6"/>
    <p:sldId id="259" r:id="rId7"/>
    <p:sldId id="260" r:id="rId8"/>
    <p:sldId id="261" r:id="rId9"/>
    <p:sldId id="263" r:id="rId10"/>
    <p:sldId id="269" r:id="rId11"/>
    <p:sldId id="264" r:id="rId12"/>
    <p:sldId id="266" r:id="rId13"/>
    <p:sldId id="268" r:id="rId14"/>
    <p:sldId id="267" r:id="rId15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0808"/>
    <a:srgbClr val="FFFFFF"/>
    <a:srgbClr val="394404"/>
    <a:srgbClr val="5F6F0F"/>
    <a:srgbClr val="718412"/>
    <a:srgbClr val="65741A"/>
    <a:srgbClr val="70811D"/>
    <a:srgbClr val="7B8D1F"/>
    <a:srgbClr val="839721"/>
    <a:srgbClr val="95AB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>
      <p:cViewPr varScale="1">
        <p:scale>
          <a:sx n="102" d="100"/>
          <a:sy n="102" d="100"/>
        </p:scale>
        <p:origin x="400" y="28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10/16/2025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10/16/2025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10/16/2025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10/16/2025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10/16/2025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10/16/2025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10/16/2025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10/16/2025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10/16/2025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10/16/2025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10/16/2025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10/16/2025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10/16/2025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10/16/2025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Selection: Day 3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Let’s Make One of Many Choices…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E76EA-ABB6-40B7-BF7C-CEF4DDB1F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Reality is not black and white, but shades of grey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D4647-2621-4131-AA52-E4C094B69C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845" y="1700808"/>
            <a:ext cx="10597540" cy="4462272"/>
          </a:xfrm>
        </p:spPr>
        <p:txBody>
          <a:bodyPr>
            <a:normAutofit/>
          </a:bodyPr>
          <a:lstStyle/>
          <a:p>
            <a:r>
              <a:rPr lang="en-US" dirty="0"/>
              <a:t>We are often faced with many more than two choices.</a:t>
            </a:r>
            <a:endParaRPr lang="en-US" dirty="0">
              <a:solidFill>
                <a:srgbClr val="00B0F0"/>
              </a:solidFill>
            </a:endParaRPr>
          </a:p>
          <a:p>
            <a:r>
              <a:rPr lang="en-US" dirty="0"/>
              <a:t>As such, we need a way to emulate this in our programs</a:t>
            </a:r>
          </a:p>
          <a:p>
            <a:pPr lvl="1"/>
            <a:r>
              <a:rPr lang="en-US" dirty="0"/>
              <a:t>For example, if you were making Super Mario Bros. at any given time the user could choose to move left, right, jump, duck, climb and throw a fireball</a:t>
            </a:r>
          </a:p>
          <a:p>
            <a:pPr lvl="1"/>
            <a:endParaRPr lang="en-US" dirty="0"/>
          </a:p>
          <a:p>
            <a:r>
              <a:rPr lang="en-US" dirty="0"/>
              <a:t>We will achieve this using </a:t>
            </a:r>
            <a:r>
              <a:rPr lang="en-US" dirty="0">
                <a:solidFill>
                  <a:srgbClr val="00B0F0"/>
                </a:solidFill>
              </a:rPr>
              <a:t>if-else if </a:t>
            </a:r>
            <a:r>
              <a:rPr lang="en-US" dirty="0"/>
              <a:t>statements and </a:t>
            </a:r>
            <a:r>
              <a:rPr lang="en-US" dirty="0">
                <a:solidFill>
                  <a:srgbClr val="00B0F0"/>
                </a:solidFill>
              </a:rPr>
              <a:t>switch</a:t>
            </a:r>
            <a:r>
              <a:rPr lang="en-US" dirty="0"/>
              <a:t> statements</a:t>
            </a:r>
          </a:p>
        </p:txBody>
      </p:sp>
    </p:spTree>
    <p:extLst>
      <p:ext uri="{BB962C8B-B14F-4D97-AF65-F5344CB8AC3E}">
        <p14:creationId xmlns:p14="http://schemas.microsoft.com/office/powerpoint/2010/main" val="2735484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728A-344A-4086-93B7-E49CCB902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Multi-Selection – Option 1: if-else if Statements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AB119-0942-49CB-8086-A024468A71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22256" y="1052736"/>
            <a:ext cx="5082740" cy="706091"/>
          </a:xfrm>
        </p:spPr>
        <p:txBody>
          <a:bodyPr/>
          <a:lstStyle/>
          <a:p>
            <a:r>
              <a:rPr lang="en-CA" dirty="0">
                <a:solidFill>
                  <a:srgbClr val="FF0000"/>
                </a:solidFill>
              </a:rPr>
              <a:t>General Syntax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FB7FBC-4E8A-4680-A89D-1E07D73209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1844" y="1830835"/>
            <a:ext cx="6120680" cy="4752528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if (</a:t>
            </a:r>
            <a:r>
              <a:rPr lang="en-CA" sz="1600" dirty="0">
                <a:solidFill>
                  <a:srgbClr val="00B0F0"/>
                </a:solidFill>
                <a:latin typeface="Consolas" panose="020B0609020204030204" pitchFamily="49" charset="0"/>
              </a:rPr>
              <a:t>condition 1</a:t>
            </a:r>
            <a:r>
              <a:rPr lang="en-CA" sz="16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//block of code to execute if </a:t>
            </a:r>
            <a:r>
              <a:rPr lang="en-CA" sz="1600" dirty="0">
                <a:solidFill>
                  <a:srgbClr val="00B0F0"/>
                </a:solidFill>
                <a:latin typeface="Consolas" panose="020B0609020204030204" pitchFamily="49" charset="0"/>
              </a:rPr>
              <a:t>condition 1</a:t>
            </a:r>
            <a:r>
              <a:rPr lang="en-CA" sz="1600" dirty="0">
                <a:latin typeface="Consolas" panose="020B0609020204030204" pitchFamily="49" charset="0"/>
              </a:rPr>
              <a:t> is 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else if (</a:t>
            </a:r>
            <a:r>
              <a:rPr lang="en-CA" sz="1600" dirty="0">
                <a:solidFill>
                  <a:srgbClr val="00B0F0"/>
                </a:solidFill>
                <a:latin typeface="Consolas" panose="020B0609020204030204" pitchFamily="49" charset="0"/>
              </a:rPr>
              <a:t>condition 2</a:t>
            </a:r>
            <a:r>
              <a:rPr lang="en-CA" sz="16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//block of code to execute if </a:t>
            </a:r>
            <a:r>
              <a:rPr lang="en-CA" sz="1600" dirty="0">
                <a:solidFill>
                  <a:srgbClr val="FFFF00"/>
                </a:solidFill>
                <a:latin typeface="Consolas" panose="020B0609020204030204" pitchFamily="49" charset="0"/>
              </a:rPr>
              <a:t>ALL</a:t>
            </a:r>
            <a:r>
              <a:rPr lang="en-CA" sz="1600" dirty="0">
                <a:latin typeface="Consolas" panose="020B0609020204030204" pitchFamily="49" charset="0"/>
              </a:rPr>
              <a:t> above conditions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//are false </a:t>
            </a:r>
            <a:r>
              <a:rPr lang="en-CA" sz="1600" dirty="0">
                <a:solidFill>
                  <a:srgbClr val="FFFF00"/>
                </a:solidFill>
                <a:latin typeface="Consolas" panose="020B0609020204030204" pitchFamily="49" charset="0"/>
              </a:rPr>
              <a:t>AND</a:t>
            </a:r>
            <a:r>
              <a:rPr lang="en-CA" sz="1600" dirty="0">
                <a:latin typeface="Consolas" panose="020B0609020204030204" pitchFamily="49" charset="0"/>
              </a:rPr>
              <a:t> </a:t>
            </a:r>
            <a:r>
              <a:rPr lang="en-CA" sz="1600" dirty="0">
                <a:solidFill>
                  <a:srgbClr val="00B0F0"/>
                </a:solidFill>
                <a:latin typeface="Consolas" panose="020B0609020204030204" pitchFamily="49" charset="0"/>
              </a:rPr>
              <a:t>condition 2</a:t>
            </a:r>
            <a:r>
              <a:rPr lang="en-CA" sz="1600" dirty="0">
                <a:latin typeface="Consolas" panose="020B0609020204030204" pitchFamily="49" charset="0"/>
              </a:rPr>
              <a:t> is 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else if (</a:t>
            </a:r>
            <a:r>
              <a:rPr lang="en-CA" sz="1600" dirty="0">
                <a:solidFill>
                  <a:srgbClr val="00B0F0"/>
                </a:solidFill>
                <a:latin typeface="Consolas" panose="020B0609020204030204" pitchFamily="49" charset="0"/>
              </a:rPr>
              <a:t>condition 3</a:t>
            </a:r>
            <a:r>
              <a:rPr lang="en-CA" sz="16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//block of code to execute if </a:t>
            </a:r>
            <a:r>
              <a:rPr lang="en-CA" sz="1600" dirty="0">
                <a:solidFill>
                  <a:srgbClr val="FFFF00"/>
                </a:solidFill>
                <a:latin typeface="Consolas" panose="020B0609020204030204" pitchFamily="49" charset="0"/>
              </a:rPr>
              <a:t>ALL</a:t>
            </a:r>
            <a:r>
              <a:rPr lang="en-CA" sz="1600" dirty="0">
                <a:latin typeface="Consolas" panose="020B0609020204030204" pitchFamily="49" charset="0"/>
              </a:rPr>
              <a:t> above conditions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//are false </a:t>
            </a:r>
            <a:r>
              <a:rPr lang="en-CA" sz="1600" dirty="0">
                <a:solidFill>
                  <a:srgbClr val="FFFF00"/>
                </a:solidFill>
                <a:latin typeface="Consolas" panose="020B0609020204030204" pitchFamily="49" charset="0"/>
              </a:rPr>
              <a:t>AND</a:t>
            </a:r>
            <a:r>
              <a:rPr lang="en-CA" sz="1600" dirty="0">
                <a:latin typeface="Consolas" panose="020B0609020204030204" pitchFamily="49" charset="0"/>
              </a:rPr>
              <a:t> </a:t>
            </a:r>
            <a:r>
              <a:rPr lang="en-CA" sz="1600" dirty="0">
                <a:solidFill>
                  <a:srgbClr val="00B0F0"/>
                </a:solidFill>
                <a:latin typeface="Consolas" panose="020B0609020204030204" pitchFamily="49" charset="0"/>
              </a:rPr>
              <a:t>condition 3</a:t>
            </a:r>
            <a:r>
              <a:rPr lang="en-CA" sz="1600" dirty="0">
                <a:latin typeface="Consolas" panose="020B0609020204030204" pitchFamily="49" charset="0"/>
              </a:rPr>
              <a:t> is true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else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//block of code to execute if </a:t>
            </a:r>
            <a:r>
              <a:rPr lang="en-CA" sz="1600" dirty="0">
                <a:solidFill>
                  <a:srgbClr val="FFFF00"/>
                </a:solidFill>
                <a:latin typeface="Consolas" panose="020B0609020204030204" pitchFamily="49" charset="0"/>
              </a:rPr>
              <a:t>ALL</a:t>
            </a:r>
            <a:r>
              <a:rPr lang="en-CA" sz="1600" dirty="0">
                <a:latin typeface="Consolas" panose="020B0609020204030204" pitchFamily="49" charset="0"/>
              </a:rPr>
              <a:t> above conditions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//are false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DCAC83-808A-47E5-9C43-60A6921336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174531" y="1052736"/>
            <a:ext cx="4408225" cy="706091"/>
          </a:xfrm>
        </p:spPr>
        <p:txBody>
          <a:bodyPr/>
          <a:lstStyle/>
          <a:p>
            <a:r>
              <a:rPr lang="en-CA" dirty="0">
                <a:solidFill>
                  <a:srgbClr val="FF0000"/>
                </a:solidFill>
              </a:rPr>
              <a:t>Example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16515D-A2E9-41F2-A3F9-1BAE9F4B6A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174532" y="1830835"/>
            <a:ext cx="4408225" cy="4752528"/>
          </a:xfr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int hour = 5;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string greeting = “Hi”;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if (hour &lt; 10)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  greeting = “Good morning”;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else if (hour &lt; 20)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  greeting = “Good day”;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else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  greeting = “Good evening”;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Console.WriteLine(greeting);</a:t>
            </a:r>
          </a:p>
        </p:txBody>
      </p:sp>
    </p:spTree>
    <p:extLst>
      <p:ext uri="{BB962C8B-B14F-4D97-AF65-F5344CB8AC3E}">
        <p14:creationId xmlns:p14="http://schemas.microsoft.com/office/powerpoint/2010/main" val="3762091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97681-2357-4347-A45E-1CE46D5E9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850107"/>
          </a:xfrm>
        </p:spPr>
        <p:txBody>
          <a:bodyPr/>
          <a:lstStyle/>
          <a:p>
            <a:r>
              <a:rPr lang="en-CA" dirty="0"/>
              <a:t>Notes on if-else if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2B60F-B355-4E64-B2E9-EDDAE4352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340768"/>
            <a:ext cx="10360501" cy="4823301"/>
          </a:xfrm>
        </p:spPr>
        <p:txBody>
          <a:bodyPr/>
          <a:lstStyle/>
          <a:p>
            <a:r>
              <a:rPr lang="en-US" dirty="0"/>
              <a:t>Only the first test condition to evaluate to true will be executed, all others will be skipped even if true (see the next slide for example)</a:t>
            </a:r>
          </a:p>
          <a:p>
            <a:r>
              <a:rPr lang="en-US" dirty="0"/>
              <a:t>Order of test conditions matters since only the first true test will be entered.  This can sometimes be avoided by using compound test conditions to create ranges of allowable values</a:t>
            </a:r>
          </a:p>
          <a:p>
            <a:endParaRPr lang="en-US" dirty="0"/>
          </a:p>
          <a:p>
            <a:r>
              <a:rPr lang="en-US" dirty="0"/>
              <a:t>Each if-else if statement has only one if</a:t>
            </a:r>
          </a:p>
          <a:p>
            <a:r>
              <a:rPr lang="en-US" dirty="0"/>
              <a:t>The else condition is optional and can be removed at your own risk</a:t>
            </a:r>
          </a:p>
          <a:p>
            <a:r>
              <a:rPr lang="en-US" dirty="0"/>
              <a:t>The number of else-if’s can be from 0 to infinite</a:t>
            </a:r>
          </a:p>
        </p:txBody>
      </p:sp>
    </p:spTree>
    <p:extLst>
      <p:ext uri="{BB962C8B-B14F-4D97-AF65-F5344CB8AC3E}">
        <p14:creationId xmlns:p14="http://schemas.microsoft.com/office/powerpoint/2010/main" val="1606054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505C3-A9DF-44A9-833B-67E42BCFC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What If?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09682-8985-40A8-8944-C525F18FA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052736"/>
            <a:ext cx="10360501" cy="5616624"/>
          </a:xfrm>
        </p:spPr>
        <p:txBody>
          <a:bodyPr>
            <a:normAutofit fontScale="62500" lnSpcReduction="20000"/>
          </a:bodyPr>
          <a:lstStyle/>
          <a:p>
            <a:r>
              <a:rPr lang="en-CA" sz="5100" dirty="0"/>
              <a:t>What would be the output of the following code?</a:t>
            </a:r>
          </a:p>
          <a:p>
            <a:endParaRPr lang="en-CA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900" dirty="0">
                <a:latin typeface="Consolas" panose="020B0609020204030204" pitchFamily="49" charset="0"/>
              </a:rPr>
              <a:t>int hour = 5;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900" dirty="0">
                <a:latin typeface="Consolas" panose="020B0609020204030204" pitchFamily="49" charset="0"/>
              </a:rPr>
              <a:t>string greeting = “Hi”;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CA" sz="29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900" dirty="0">
                <a:latin typeface="Consolas" panose="020B0609020204030204" pitchFamily="49" charset="0"/>
              </a:rPr>
              <a:t>if (hour &lt; 20)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9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900" dirty="0">
                <a:latin typeface="Consolas" panose="020B0609020204030204" pitchFamily="49" charset="0"/>
              </a:rPr>
              <a:t>   greeting = “Good day”;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9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900" dirty="0">
                <a:latin typeface="Consolas" panose="020B0609020204030204" pitchFamily="49" charset="0"/>
              </a:rPr>
              <a:t>else if (hour &lt; 10)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9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900" dirty="0">
                <a:latin typeface="Consolas" panose="020B0609020204030204" pitchFamily="49" charset="0"/>
              </a:rPr>
              <a:t>   greeting = “Good morning”;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9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900" dirty="0">
                <a:latin typeface="Consolas" panose="020B0609020204030204" pitchFamily="49" charset="0"/>
              </a:rPr>
              <a:t>else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9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900" dirty="0">
                <a:latin typeface="Consolas" panose="020B0609020204030204" pitchFamily="49" charset="0"/>
              </a:rPr>
              <a:t>   greeting = “Good evening”;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9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CA" sz="2900" dirty="0">
              <a:latin typeface="Consolas" panose="020B0609020204030204" pitchFamily="49" charset="0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900" dirty="0">
                <a:latin typeface="Consolas" panose="020B0609020204030204" pitchFamily="49" charset="0"/>
              </a:rPr>
              <a:t>Console.WriteLine(greeting);</a:t>
            </a:r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43BDE7-5D3A-412D-A2D5-89EE3267F430}"/>
              </a:ext>
            </a:extLst>
          </p:cNvPr>
          <p:cNvSpPr txBox="1"/>
          <p:nvPr/>
        </p:nvSpPr>
        <p:spPr>
          <a:xfrm>
            <a:off x="7750596" y="3383994"/>
            <a:ext cx="157581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CA" sz="2800" dirty="0"/>
              <a:t>Output</a:t>
            </a:r>
          </a:p>
          <a:p>
            <a:pPr algn="ctr"/>
            <a:r>
              <a:rPr lang="en-CA" sz="2800" dirty="0">
                <a:solidFill>
                  <a:srgbClr val="FF0000"/>
                </a:solidFill>
              </a:rPr>
              <a:t>Good day</a:t>
            </a:r>
          </a:p>
        </p:txBody>
      </p:sp>
    </p:spTree>
    <p:extLst>
      <p:ext uri="{BB962C8B-B14F-4D97-AF65-F5344CB8AC3E}">
        <p14:creationId xmlns:p14="http://schemas.microsoft.com/office/powerpoint/2010/main" val="1341478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9E7CA-4CF7-4EEA-9BE5-F822102C7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8"/>
            <a:ext cx="10360501" cy="994122"/>
          </a:xfrm>
        </p:spPr>
        <p:txBody>
          <a:bodyPr>
            <a:normAutofit/>
          </a:bodyPr>
          <a:lstStyle/>
          <a:p>
            <a:r>
              <a:rPr lang="en-CA" dirty="0"/>
              <a:t>Review: What is the value of </a:t>
            </a:r>
            <a:r>
              <a:rPr lang="en-CA" dirty="0">
                <a:solidFill>
                  <a:srgbClr val="00B0F0"/>
                </a:solidFill>
              </a:rPr>
              <a:t>number</a:t>
            </a:r>
            <a:br>
              <a:rPr lang="en-CA" dirty="0"/>
            </a:br>
            <a:r>
              <a:rPr lang="en-CA" sz="2000" dirty="0">
                <a:solidFill>
                  <a:srgbClr val="FFFF00"/>
                </a:solidFill>
              </a:rPr>
              <a:t>Test 1: int number = 2</a:t>
            </a:r>
            <a:endParaRPr lang="en-CA" sz="2000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FA58C-C19A-4C4F-9DE8-8BBE764F39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8883" y="1498601"/>
            <a:ext cx="5078677" cy="5084762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solidFill>
                  <a:srgbClr val="92D050"/>
                </a:solidFill>
                <a:latin typeface="Consolas" panose="020B0609020204030204" pitchFamily="49" charset="0"/>
              </a:rPr>
              <a:t>//Process number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if (number &lt;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</a:t>
            </a:r>
            <a:r>
              <a:rPr lang="en-CA" sz="1600" dirty="0">
                <a:solidFill>
                  <a:srgbClr val="92D050"/>
                </a:solidFill>
                <a:latin typeface="Consolas" panose="020B0609020204030204" pitchFamily="49" charset="0"/>
              </a:rPr>
              <a:t>//Convert number to a positive value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number = number * -1;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else if (number &gt;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</a:t>
            </a:r>
            <a:r>
              <a:rPr lang="en-CA" sz="1600" dirty="0">
                <a:solidFill>
                  <a:srgbClr val="92D050"/>
                </a:solidFill>
                <a:latin typeface="Consolas" panose="020B0609020204030204" pitchFamily="49" charset="0"/>
              </a:rPr>
              <a:t>//Double number’s value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number = number * 2;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BB93D-6C8A-4D1F-8AAE-4AEEF3380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00707" y="1498600"/>
            <a:ext cx="5078677" cy="5084762"/>
          </a:xfr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solidFill>
                  <a:srgbClr val="92D050"/>
                </a:solidFill>
                <a:latin typeface="Consolas" panose="020B0609020204030204" pitchFamily="49" charset="0"/>
              </a:rPr>
              <a:t>//Process number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if (number &lt;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</a:t>
            </a:r>
            <a:r>
              <a:rPr lang="en-CA" sz="1600" dirty="0">
                <a:solidFill>
                  <a:srgbClr val="92D050"/>
                </a:solidFill>
                <a:latin typeface="Consolas" panose="020B0609020204030204" pitchFamily="49" charset="0"/>
              </a:rPr>
              <a:t>//Convert number to a positive value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number = number * -1;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if (number &gt; 0)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</a:t>
            </a:r>
            <a:r>
              <a:rPr lang="en-CA" sz="1600" dirty="0">
                <a:solidFill>
                  <a:srgbClr val="92D050"/>
                </a:solidFill>
                <a:latin typeface="Consolas" panose="020B0609020204030204" pitchFamily="49" charset="0"/>
              </a:rPr>
              <a:t>//Double number’s value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number = number * 2;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600" dirty="0">
              <a:latin typeface="Consolas" panose="020B060902020403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D442D5-CDC0-4B05-AFB4-730AD28300F6}"/>
              </a:ext>
            </a:extLst>
          </p:cNvPr>
          <p:cNvSpPr txBox="1"/>
          <p:nvPr/>
        </p:nvSpPr>
        <p:spPr>
          <a:xfrm>
            <a:off x="6886500" y="4853283"/>
            <a:ext cx="948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dirty="0">
                <a:solidFill>
                  <a:srgbClr val="FFFF00"/>
                </a:solidFill>
              </a:rPr>
              <a:t>Test1: 4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0CB3E820-BCE9-4BE9-AB17-A4912A9879AB}"/>
              </a:ext>
            </a:extLst>
          </p:cNvPr>
          <p:cNvCxnSpPr/>
          <p:nvPr/>
        </p:nvCxnSpPr>
        <p:spPr>
          <a:xfrm>
            <a:off x="9190756" y="2685993"/>
            <a:ext cx="93610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4" name="Elbow Connector 25">
            <a:extLst>
              <a:ext uri="{FF2B5EF4-FFF2-40B4-BE49-F238E27FC236}">
                <a16:creationId xmlns:a16="http://schemas.microsoft.com/office/drawing/2014/main" id="{A476954D-EAB9-42DA-AFC5-B861CA3B165A}"/>
              </a:ext>
            </a:extLst>
          </p:cNvPr>
          <p:cNvCxnSpPr>
            <a:cxnSpLocks/>
          </p:cNvCxnSpPr>
          <p:nvPr/>
        </p:nvCxnSpPr>
        <p:spPr>
          <a:xfrm rot="5400000">
            <a:off x="9024567" y="2758756"/>
            <a:ext cx="1175057" cy="1029530"/>
          </a:xfrm>
          <a:prstGeom prst="bentConnector3">
            <a:avLst>
              <a:gd name="adj1" fmla="val 9944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2" name="Elbow Connector 21">
            <a:extLst>
              <a:ext uri="{FF2B5EF4-FFF2-40B4-BE49-F238E27FC236}">
                <a16:creationId xmlns:a16="http://schemas.microsoft.com/office/drawing/2014/main" id="{5C2B9C95-8FA6-443F-9082-4B77D82C306A}"/>
              </a:ext>
            </a:extLst>
          </p:cNvPr>
          <p:cNvCxnSpPr/>
          <p:nvPr/>
        </p:nvCxnSpPr>
        <p:spPr>
          <a:xfrm rot="10800000" flipV="1">
            <a:off x="7750595" y="3930098"/>
            <a:ext cx="1346735" cy="738519"/>
          </a:xfrm>
          <a:prstGeom prst="bentConnector3">
            <a:avLst>
              <a:gd name="adj1" fmla="val -8722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A7B1DA4-6DF2-4052-9280-1FF9654A63A2}"/>
              </a:ext>
            </a:extLst>
          </p:cNvPr>
          <p:cNvSpPr txBox="1"/>
          <p:nvPr/>
        </p:nvSpPr>
        <p:spPr>
          <a:xfrm>
            <a:off x="6886500" y="4485502"/>
            <a:ext cx="948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dirty="0">
                <a:solidFill>
                  <a:srgbClr val="FF0000"/>
                </a:solidFill>
              </a:rPr>
              <a:t>Test2: 4</a:t>
            </a:r>
          </a:p>
        </p:txBody>
      </p:sp>
      <p:cxnSp>
        <p:nvCxnSpPr>
          <p:cNvPr id="5" name="Elbow Connector 25">
            <a:extLst>
              <a:ext uri="{FF2B5EF4-FFF2-40B4-BE49-F238E27FC236}">
                <a16:creationId xmlns:a16="http://schemas.microsoft.com/office/drawing/2014/main" id="{903FB544-F168-4A77-A243-2B82C93A6655}"/>
              </a:ext>
            </a:extLst>
          </p:cNvPr>
          <p:cNvCxnSpPr/>
          <p:nvPr/>
        </p:nvCxnSpPr>
        <p:spPr>
          <a:xfrm rot="10800000" flipV="1">
            <a:off x="7750596" y="3933056"/>
            <a:ext cx="1346734" cy="1104892"/>
          </a:xfrm>
          <a:prstGeom prst="bentConnector3">
            <a:avLst>
              <a:gd name="adj1" fmla="val -22179"/>
            </a:avLst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7EFD9D04-3866-426C-9E70-0F2479905E79}"/>
              </a:ext>
            </a:extLst>
          </p:cNvPr>
          <p:cNvSpPr txBox="1"/>
          <p:nvPr/>
        </p:nvSpPr>
        <p:spPr>
          <a:xfrm>
            <a:off x="1147593" y="4295310"/>
            <a:ext cx="905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>
                <a:solidFill>
                  <a:srgbClr val="FFFF00"/>
                </a:solidFill>
              </a:rPr>
              <a:t>Test1: 4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2B53954-50C1-4819-B6B3-9EBA6647C06F}"/>
              </a:ext>
            </a:extLst>
          </p:cNvPr>
          <p:cNvSpPr txBox="1"/>
          <p:nvPr/>
        </p:nvSpPr>
        <p:spPr>
          <a:xfrm>
            <a:off x="1147593" y="4696770"/>
            <a:ext cx="905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800" dirty="0">
                <a:solidFill>
                  <a:srgbClr val="FF0000"/>
                </a:solidFill>
              </a:rPr>
              <a:t>Test2: 2</a:t>
            </a:r>
          </a:p>
        </p:txBody>
      </p:sp>
      <p:cxnSp>
        <p:nvCxnSpPr>
          <p:cNvPr id="47" name="Elbow Connector 9">
            <a:extLst>
              <a:ext uri="{FF2B5EF4-FFF2-40B4-BE49-F238E27FC236}">
                <a16:creationId xmlns:a16="http://schemas.microsoft.com/office/drawing/2014/main" id="{EEDC9B8B-DA83-4648-A7CE-8361D90A6A95}"/>
              </a:ext>
            </a:extLst>
          </p:cNvPr>
          <p:cNvCxnSpPr>
            <a:endCxn id="45" idx="1"/>
          </p:cNvCxnSpPr>
          <p:nvPr/>
        </p:nvCxnSpPr>
        <p:spPr>
          <a:xfrm rot="5400000">
            <a:off x="1026916" y="4038017"/>
            <a:ext cx="562637" cy="321281"/>
          </a:xfrm>
          <a:prstGeom prst="bentConnector4">
            <a:avLst>
              <a:gd name="adj1" fmla="val -3655"/>
              <a:gd name="adj2" fmla="val 156330"/>
            </a:avLst>
          </a:prstGeom>
          <a:ln>
            <a:solidFill>
              <a:srgbClr val="FFFF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48" name="Elbow Connector 15">
            <a:extLst>
              <a:ext uri="{FF2B5EF4-FFF2-40B4-BE49-F238E27FC236}">
                <a16:creationId xmlns:a16="http://schemas.microsoft.com/office/drawing/2014/main" id="{22360E16-3B8E-4BEE-B501-BCCE67A49BEF}"/>
              </a:ext>
            </a:extLst>
          </p:cNvPr>
          <p:cNvCxnSpPr>
            <a:cxnSpLocks/>
            <a:endCxn id="46" idx="1"/>
          </p:cNvCxnSpPr>
          <p:nvPr/>
        </p:nvCxnSpPr>
        <p:spPr>
          <a:xfrm rot="5400000">
            <a:off x="210512" y="3623073"/>
            <a:ext cx="2195444" cy="321282"/>
          </a:xfrm>
          <a:prstGeom prst="bentConnector4">
            <a:avLst>
              <a:gd name="adj1" fmla="val 673"/>
              <a:gd name="adj2" fmla="val 18894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664C1D68-338A-5F22-1049-3D25DD2E79FA}"/>
              </a:ext>
            </a:extLst>
          </p:cNvPr>
          <p:cNvSpPr txBox="1"/>
          <p:nvPr/>
        </p:nvSpPr>
        <p:spPr>
          <a:xfrm>
            <a:off x="1237604" y="1152528"/>
            <a:ext cx="25290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dirty="0">
                <a:solidFill>
                  <a:srgbClr val="FF0000"/>
                </a:solidFill>
              </a:rPr>
              <a:t>Test 2: int number = -2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1075894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44" grpId="0"/>
      <p:bldP spid="45" grpId="0"/>
      <p:bldP spid="46" grpId="0"/>
      <p:bldP spid="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6A8D0-3BDF-B722-4AF0-C9C82E0E3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r>
              <a:rPr lang="en-CA" dirty="0"/>
              <a:t>Spacing &amp; Documentation Notes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D7F81-1E95-043E-09E5-553FDB6F91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7828" y="908720"/>
            <a:ext cx="11161240" cy="5674643"/>
          </a:xfrm>
        </p:spPr>
        <p:txBody>
          <a:bodyPr>
            <a:normAutofit fontScale="92500" lnSpcReduction="10000"/>
          </a:bodyPr>
          <a:lstStyle/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CA" sz="1050" b="0" i="0" u="none" strike="noStrike" kern="1200" cap="none" spc="0" normalizeH="0" baseline="0" noProof="0" dirty="0">
                <a:ln>
                  <a:noFill/>
                </a:ln>
                <a:solidFill>
                  <a:srgbClr val="92D05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//Create object used for random generation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CA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static Random </a:t>
            </a:r>
            <a:r>
              <a:rPr kumimoji="0" lang="en-CA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rng</a:t>
            </a:r>
            <a:r>
              <a:rPr kumimoji="0" lang="en-CA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new Random();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endParaRPr kumimoji="0" lang="en-CA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private static void Main(string[] </a:t>
            </a:r>
            <a:r>
              <a:rPr lang="en-CA" sz="1050" dirty="0" err="1">
                <a:solidFill>
                  <a:prstClr val="white"/>
                </a:solidFill>
                <a:latin typeface="Consolas" panose="020B0609020204030204" pitchFamily="49" charset="0"/>
              </a:rPr>
              <a:t>args</a:t>
            </a: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)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CA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CA" sz="1050" dirty="0">
                <a:solidFill>
                  <a:srgbClr val="92D050"/>
                </a:solidFill>
                <a:latin typeface="Consolas" panose="020B0609020204030204" pitchFamily="49" charset="0"/>
              </a:rPr>
              <a:t>    //Generate and store random prism dimensions</a:t>
            </a:r>
            <a:endParaRPr kumimoji="0" lang="en-CA" sz="105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    </a:t>
            </a:r>
            <a:r>
              <a:rPr kumimoji="0" lang="en-CA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int </a:t>
            </a:r>
            <a:r>
              <a:rPr kumimoji="0" lang="en-CA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prismLength</a:t>
            </a:r>
            <a:r>
              <a:rPr kumimoji="0" lang="en-CA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CA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rng.Next</a:t>
            </a:r>
            <a:r>
              <a:rPr kumimoji="0" lang="en-CA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(1,11);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    int </a:t>
            </a:r>
            <a:r>
              <a:rPr lang="en-CA" sz="1050" dirty="0" err="1">
                <a:solidFill>
                  <a:prstClr val="white"/>
                </a:solidFill>
                <a:latin typeface="Consolas" panose="020B0609020204030204" pitchFamily="49" charset="0"/>
              </a:rPr>
              <a:t>prismWidth</a:t>
            </a:r>
            <a:r>
              <a:rPr kumimoji="0" lang="en-CA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CA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rng.Next</a:t>
            </a:r>
            <a:r>
              <a:rPr kumimoji="0" lang="en-CA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(1,11)</a:t>
            </a: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CA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int </a:t>
            </a:r>
            <a:r>
              <a:rPr kumimoji="0" lang="en-CA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prismHeight</a:t>
            </a:r>
            <a:r>
              <a:rPr kumimoji="0" lang="en-CA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= </a:t>
            </a:r>
            <a:r>
              <a:rPr kumimoji="0" lang="en-CA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rng.Next</a:t>
            </a:r>
            <a:r>
              <a:rPr kumimoji="0" lang="en-CA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(1,11);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endParaRPr lang="en-CA" sz="105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CA" sz="1050" dirty="0">
                <a:solidFill>
                  <a:srgbClr val="92D050"/>
                </a:solidFill>
                <a:latin typeface="Consolas" panose="020B0609020204030204" pitchFamily="49" charset="0"/>
              </a:rPr>
              <a:t>    //Store the calculated result of Volume, Area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CA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int result;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endParaRPr kumimoji="0" lang="en-CA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CA" sz="1050" dirty="0">
                <a:solidFill>
                  <a:srgbClr val="92D050"/>
                </a:solidFill>
                <a:latin typeface="Consolas" panose="020B0609020204030204" pitchFamily="49" charset="0"/>
              </a:rPr>
              <a:t>    //Store the user entered menu option</a:t>
            </a:r>
            <a:endParaRPr kumimoji="0" lang="en-CA" sz="105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CA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string choice;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endParaRPr lang="en-CA" sz="1050" dirty="0">
              <a:solidFill>
                <a:prstClr val="white"/>
              </a:solidFill>
              <a:latin typeface="Consolas" panose="020B0609020204030204" pitchFamily="49" charset="0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CA" sz="1050" dirty="0">
                <a:solidFill>
                  <a:srgbClr val="92D050"/>
                </a:solidFill>
                <a:latin typeface="Consolas" panose="020B0609020204030204" pitchFamily="49" charset="0"/>
              </a:rPr>
              <a:t>    //Retrieve the calculation choice from the user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CA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</a:t>
            </a:r>
            <a:r>
              <a:rPr kumimoji="0" lang="en-CA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Console.WriteLine</a:t>
            </a:r>
            <a:r>
              <a:rPr kumimoji="0" lang="en-CA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(“a) Calculate Rectangular Prism Volume Area\</a:t>
            </a:r>
            <a:r>
              <a:rPr kumimoji="0" lang="en-CA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nb</a:t>
            </a:r>
            <a:r>
              <a:rPr kumimoji="0" lang="en-CA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Calculate Rectangular Prism Area”);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    choice = </a:t>
            </a:r>
            <a:r>
              <a:rPr lang="en-CA" sz="1050" dirty="0" err="1">
                <a:solidFill>
                  <a:prstClr val="white"/>
                </a:solidFill>
                <a:latin typeface="Consolas" panose="020B0609020204030204" pitchFamily="49" charset="0"/>
              </a:rPr>
              <a:t>Console.ReadLine</a:t>
            </a: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();</a:t>
            </a:r>
            <a:endParaRPr kumimoji="0" lang="en-CA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endParaRPr kumimoji="0" lang="en-CA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CA" sz="1050" dirty="0">
                <a:solidFill>
                  <a:srgbClr val="92D050"/>
                </a:solidFill>
                <a:latin typeface="Consolas" panose="020B0609020204030204" pitchFamily="49" charset="0"/>
              </a:rPr>
              <a:t>    //Perform the chosen calculation on the rectangular prism, if possible</a:t>
            </a:r>
            <a:endParaRPr kumimoji="0" lang="en-CA" sz="105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    if (</a:t>
            </a:r>
            <a:r>
              <a:rPr lang="en-CA" sz="1050" dirty="0" err="1">
                <a:solidFill>
                  <a:prstClr val="white"/>
                </a:solidFill>
                <a:latin typeface="Consolas" panose="020B0609020204030204" pitchFamily="49" charset="0"/>
              </a:rPr>
              <a:t>choice.Equals</a:t>
            </a: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(“a”))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CA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{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CA" sz="1050" dirty="0">
                <a:solidFill>
                  <a:srgbClr val="92D050"/>
                </a:solidFill>
                <a:latin typeface="Consolas" panose="020B0609020204030204" pitchFamily="49" charset="0"/>
              </a:rPr>
              <a:t>        //Calculate and display the resulting rectangular prism volume</a:t>
            </a:r>
            <a:endParaRPr kumimoji="0" lang="en-CA" sz="1050" b="0" i="0" u="none" strike="noStrike" kern="1200" cap="none" spc="0" normalizeH="0" baseline="0" noProof="0" dirty="0">
              <a:ln>
                <a:noFill/>
              </a:ln>
              <a:solidFill>
                <a:srgbClr val="92D05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        result = </a:t>
            </a:r>
            <a:r>
              <a:rPr lang="en-CA" sz="1050" dirty="0" err="1">
                <a:solidFill>
                  <a:prstClr val="white"/>
                </a:solidFill>
                <a:latin typeface="Consolas" panose="020B0609020204030204" pitchFamily="49" charset="0"/>
              </a:rPr>
              <a:t>prismLength</a:t>
            </a: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 * </a:t>
            </a:r>
            <a:r>
              <a:rPr lang="en-CA" sz="1050" dirty="0" err="1">
                <a:solidFill>
                  <a:prstClr val="white"/>
                </a:solidFill>
                <a:latin typeface="Consolas" panose="020B0609020204030204" pitchFamily="49" charset="0"/>
              </a:rPr>
              <a:t>prismWidth</a:t>
            </a: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 * </a:t>
            </a:r>
            <a:r>
              <a:rPr lang="en-CA" sz="1050" dirty="0" err="1">
                <a:solidFill>
                  <a:prstClr val="white"/>
                </a:solidFill>
                <a:latin typeface="Consolas" panose="020B0609020204030204" pitchFamily="49" charset="0"/>
              </a:rPr>
              <a:t>prismHeight</a:t>
            </a: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;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        </a:t>
            </a:r>
            <a:r>
              <a:rPr lang="en-CA" sz="1050" dirty="0" err="1">
                <a:solidFill>
                  <a:prstClr val="white"/>
                </a:solidFill>
                <a:latin typeface="Consolas" panose="020B0609020204030204" pitchFamily="49" charset="0"/>
              </a:rPr>
              <a:t>Console.WriteLine</a:t>
            </a: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(“Rectangular Prism Volume: ” + result);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CA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}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    else if (</a:t>
            </a:r>
            <a:r>
              <a:rPr lang="en-CA" sz="1050" dirty="0" err="1">
                <a:solidFill>
                  <a:prstClr val="white"/>
                </a:solidFill>
                <a:latin typeface="Consolas" panose="020B0609020204030204" pitchFamily="49" charset="0"/>
              </a:rPr>
              <a:t>choice.Equals</a:t>
            </a: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(“b”)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CA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{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        </a:t>
            </a:r>
            <a:r>
              <a:rPr lang="en-CA" sz="1050" dirty="0">
                <a:solidFill>
                  <a:srgbClr val="92D050"/>
                </a:solidFill>
                <a:latin typeface="Consolas" panose="020B0609020204030204" pitchFamily="49" charset="0"/>
              </a:rPr>
              <a:t>//Calculate and display the resulting rectangular prism surface area</a:t>
            </a:r>
            <a:endParaRPr kumimoji="0" lang="en-CA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        result = (2 * </a:t>
            </a:r>
            <a:r>
              <a:rPr lang="en-CA" sz="1050" dirty="0" err="1">
                <a:solidFill>
                  <a:prstClr val="white"/>
                </a:solidFill>
                <a:latin typeface="Consolas" panose="020B0609020204030204" pitchFamily="49" charset="0"/>
              </a:rPr>
              <a:t>prismLength</a:t>
            </a: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 * </a:t>
            </a:r>
            <a:r>
              <a:rPr lang="en-CA" sz="1050" dirty="0" err="1">
                <a:solidFill>
                  <a:prstClr val="white"/>
                </a:solidFill>
                <a:latin typeface="Consolas" panose="020B0609020204030204" pitchFamily="49" charset="0"/>
              </a:rPr>
              <a:t>prismWidth</a:t>
            </a: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) + (2 * </a:t>
            </a:r>
            <a:r>
              <a:rPr lang="en-CA" sz="1050" dirty="0" err="1">
                <a:solidFill>
                  <a:prstClr val="white"/>
                </a:solidFill>
                <a:latin typeface="Consolas" panose="020B0609020204030204" pitchFamily="49" charset="0"/>
              </a:rPr>
              <a:t>prismLength</a:t>
            </a: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 * </a:t>
            </a:r>
            <a:r>
              <a:rPr lang="en-CA" sz="1050" dirty="0" err="1">
                <a:solidFill>
                  <a:prstClr val="white"/>
                </a:solidFill>
                <a:latin typeface="Consolas" panose="020B0609020204030204" pitchFamily="49" charset="0"/>
              </a:rPr>
              <a:t>prismHeight</a:t>
            </a: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) + (2 * </a:t>
            </a:r>
            <a:r>
              <a:rPr lang="en-CA" sz="1050" dirty="0" err="1">
                <a:solidFill>
                  <a:prstClr val="white"/>
                </a:solidFill>
                <a:latin typeface="Consolas" panose="020B0609020204030204" pitchFamily="49" charset="0"/>
              </a:rPr>
              <a:t>primsWidth</a:t>
            </a: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 * </a:t>
            </a:r>
            <a:r>
              <a:rPr lang="en-CA" sz="1050" dirty="0" err="1">
                <a:solidFill>
                  <a:prstClr val="white"/>
                </a:solidFill>
                <a:latin typeface="Consolas" panose="020B0609020204030204" pitchFamily="49" charset="0"/>
              </a:rPr>
              <a:t>prismHeight</a:t>
            </a: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);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        </a:t>
            </a:r>
            <a:r>
              <a:rPr lang="en-CA" sz="1050" dirty="0" err="1">
                <a:solidFill>
                  <a:prstClr val="white"/>
                </a:solidFill>
                <a:latin typeface="Consolas" panose="020B0609020204030204" pitchFamily="49" charset="0"/>
              </a:rPr>
              <a:t>Console.WriteLine</a:t>
            </a: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(“Rectangular Prism Area: ” + result);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    }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    else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    {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CA" sz="1050" dirty="0">
                <a:solidFill>
                  <a:srgbClr val="92D050"/>
                </a:solidFill>
                <a:latin typeface="Consolas" panose="020B0609020204030204" pitchFamily="49" charset="0"/>
              </a:rPr>
              <a:t>        //Inform the user of bad menu input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CA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       </a:t>
            </a:r>
            <a:r>
              <a:rPr kumimoji="0" lang="en-CA" sz="105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Console.WriteLine</a:t>
            </a:r>
            <a:r>
              <a:rPr kumimoji="0" lang="en-CA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(“Invalid menu option”);</a:t>
            </a: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en-CA" sz="1050" dirty="0">
                <a:solidFill>
                  <a:prstClr val="white"/>
                </a:solidFill>
                <a:latin typeface="Consolas" panose="020B0609020204030204" pitchFamily="49" charset="0"/>
              </a:rPr>
              <a:t>    }</a:t>
            </a:r>
            <a:endParaRPr kumimoji="0" lang="en-CA" sz="105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12189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SzPct val="100000"/>
              <a:buFont typeface="Arial" pitchFamily="34" charset="0"/>
              <a:buNone/>
              <a:tabLst/>
              <a:defRPr/>
            </a:pPr>
            <a:r>
              <a:rPr kumimoji="0" lang="en-CA" sz="105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A53557FC-6DE1-6133-93ED-92777DBD1A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771534"/>
              </p:ext>
            </p:extLst>
          </p:nvPr>
        </p:nvGraphicFramePr>
        <p:xfrm>
          <a:off x="4438228" y="893251"/>
          <a:ext cx="7632848" cy="22923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6424">
                  <a:extLst>
                    <a:ext uri="{9D8B030D-6E8A-4147-A177-3AD203B41FA5}">
                      <a16:colId xmlns:a16="http://schemas.microsoft.com/office/drawing/2014/main" val="2190102384"/>
                    </a:ext>
                  </a:extLst>
                </a:gridCol>
                <a:gridCol w="3816424">
                  <a:extLst>
                    <a:ext uri="{9D8B030D-6E8A-4147-A177-3AD203B41FA5}">
                      <a16:colId xmlns:a16="http://schemas.microsoft.com/office/drawing/2014/main" val="595654926"/>
                    </a:ext>
                  </a:extLst>
                </a:gridCol>
              </a:tblGrid>
              <a:tr h="412529">
                <a:tc gridSpan="2">
                  <a:txBody>
                    <a:bodyPr/>
                    <a:lstStyle/>
                    <a:p>
                      <a:pPr algn="ctr"/>
                      <a:r>
                        <a:rPr lang="en-CA" dirty="0">
                          <a:solidFill>
                            <a:srgbClr val="FFFF00"/>
                          </a:solidFill>
                        </a:rPr>
                        <a:t>SPACING &amp; DOCUMENTATION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706192"/>
                  </a:ext>
                </a:extLst>
              </a:tr>
              <a:tr h="183518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sz="1600" dirty="0"/>
                        <a:t>Code inside any if, else if or else block should be broken up into logical code blocks like regular code</a:t>
                      </a:r>
                    </a:p>
                    <a:p>
                      <a:endParaRPr lang="en-CA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sz="1600" dirty="0"/>
                        <a:t>The overall if statement gets a comment describing the purpose/goal of the whole if structure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sz="1600" dirty="0"/>
                        <a:t>else if and else blocks do </a:t>
                      </a:r>
                      <a:r>
                        <a:rPr lang="en-CA" sz="1600" dirty="0">
                          <a:solidFill>
                            <a:srgbClr val="FFFF00"/>
                          </a:solidFill>
                        </a:rPr>
                        <a:t>NOT</a:t>
                      </a:r>
                      <a:r>
                        <a:rPr lang="en-CA" sz="1600" dirty="0"/>
                        <a:t> need to be documented themselves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CA" sz="1600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CA" sz="1600" dirty="0"/>
                        <a:t>But, the code blocks inside each option</a:t>
                      </a:r>
                      <a:br>
                        <a:rPr lang="en-CA" sz="1600" dirty="0"/>
                      </a:br>
                      <a:r>
                        <a:rPr lang="en-CA" sz="1600" dirty="0"/>
                        <a:t>should be documented as normal (1 comment per code block)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016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188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26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27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28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32" end="3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">
                                            <p:txEl>
                                              <p:pRg st="33" end="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">
                                            <p:txEl>
                                              <p:pRg st="34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37" end="3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8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">
                                            <p:txEl>
                                              <p:pRg st="38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25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">
                                            <p:txEl>
                                              <p:pRg st="30" end="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">
                                            <p:txEl>
                                              <p:pRg st="31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">
                                            <p:txEl>
                                              <p:pRg st="36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3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3">
                                            <p:txEl>
                                              <p:pRg st="29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">
                                            <p:txEl>
                                              <p:pRg st="35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215F5-54EC-4FB6-B68C-FF20F4465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Multi-Selection – Option 2: switch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10175-B1A4-4878-B35F-A4E7AA465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9040" y="1700808"/>
            <a:ext cx="10780185" cy="4824536"/>
          </a:xfrm>
        </p:spPr>
        <p:txBody>
          <a:bodyPr/>
          <a:lstStyle/>
          <a:p>
            <a:r>
              <a:rPr lang="en-CA" dirty="0"/>
              <a:t>A </a:t>
            </a:r>
            <a:r>
              <a:rPr lang="en-CA" dirty="0">
                <a:solidFill>
                  <a:srgbClr val="00B0F0"/>
                </a:solidFill>
              </a:rPr>
              <a:t>switch</a:t>
            </a:r>
            <a:r>
              <a:rPr lang="en-CA" dirty="0"/>
              <a:t> statement performs the same basic operation that an if-else if statement does.  However, it has some benefits and drawbacks when compared to the if-else if statement</a:t>
            </a:r>
          </a:p>
          <a:p>
            <a:pPr lvl="1"/>
            <a:r>
              <a:rPr lang="en-CA" dirty="0"/>
              <a:t>Rather than checking EVERY option from top to bottom in order like an if-else if statement, </a:t>
            </a:r>
            <a:r>
              <a:rPr lang="en-CA" dirty="0">
                <a:solidFill>
                  <a:srgbClr val="00B0F0"/>
                </a:solidFill>
              </a:rPr>
              <a:t>a switch statement just skips directly to the proper option</a:t>
            </a:r>
            <a:r>
              <a:rPr lang="en-CA" dirty="0"/>
              <a:t>, if it exists</a:t>
            </a:r>
          </a:p>
          <a:p>
            <a:pPr lvl="2"/>
            <a:r>
              <a:rPr lang="en-CA" sz="1800" dirty="0">
                <a:solidFill>
                  <a:srgbClr val="FF0000"/>
                </a:solidFill>
              </a:rPr>
              <a:t>Similar to how hard drive accesses data sequentially (if-else if) versus RAM using direct access (switch)</a:t>
            </a:r>
          </a:p>
          <a:p>
            <a:pPr lvl="2"/>
            <a:endParaRPr lang="en-CA" dirty="0"/>
          </a:p>
          <a:p>
            <a:pPr lvl="1"/>
            <a:r>
              <a:rPr lang="en-CA" dirty="0"/>
              <a:t>To achieve this super speed, switch statements are limited in what and how they can compare data</a:t>
            </a:r>
          </a:p>
          <a:p>
            <a:pPr lvl="2"/>
            <a:r>
              <a:rPr lang="en-CA" dirty="0">
                <a:solidFill>
                  <a:srgbClr val="FFFF00"/>
                </a:solidFill>
              </a:rPr>
              <a:t>You can only check equality (==).  No &lt; or &gt; comparisons.  This implies, no ranges of data</a:t>
            </a:r>
          </a:p>
          <a:p>
            <a:pPr lvl="2"/>
            <a:r>
              <a:rPr lang="en-CA" dirty="0">
                <a:solidFill>
                  <a:srgbClr val="FFFF00"/>
                </a:solidFill>
              </a:rPr>
              <a:t>You can only compare </a:t>
            </a:r>
            <a:r>
              <a:rPr lang="en-CA" dirty="0" err="1">
                <a:solidFill>
                  <a:srgbClr val="FFFF00"/>
                </a:solidFill>
              </a:rPr>
              <a:t>ints</a:t>
            </a:r>
            <a:r>
              <a:rPr lang="en-CA" dirty="0">
                <a:solidFill>
                  <a:srgbClr val="FFFF00"/>
                </a:solidFill>
              </a:rPr>
              <a:t>, bytes and strings</a:t>
            </a:r>
          </a:p>
        </p:txBody>
      </p:sp>
    </p:spTree>
    <p:extLst>
      <p:ext uri="{BB962C8B-B14F-4D97-AF65-F5344CB8AC3E}">
        <p14:creationId xmlns:p14="http://schemas.microsoft.com/office/powerpoint/2010/main" val="4063977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E16A3-DE92-41CF-AD58-6943E4410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r>
              <a:rPr lang="en-CA" dirty="0"/>
              <a:t>switch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5491F-A77D-4353-AA0A-021AEF0348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02114" y="908720"/>
            <a:ext cx="6156394" cy="4248472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srgbClr val="FF0000"/>
                </a:solidFill>
              </a:rPr>
              <a:t>GENERAL SYNTAX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switch(variable)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  case value1: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    //code to execute when </a:t>
            </a:r>
            <a:r>
              <a:rPr lang="en-CA" sz="1500" dirty="0">
                <a:solidFill>
                  <a:srgbClr val="00B0F0"/>
                </a:solidFill>
                <a:latin typeface="Consolas" panose="020B0609020204030204" pitchFamily="49" charset="0"/>
              </a:rPr>
              <a:t>variable == value1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    break;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  case value2: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    //code to execute when </a:t>
            </a:r>
            <a:r>
              <a:rPr lang="en-CA" sz="1500" dirty="0">
                <a:solidFill>
                  <a:srgbClr val="00B0F0"/>
                </a:solidFill>
                <a:latin typeface="Consolas" panose="020B0609020204030204" pitchFamily="49" charset="0"/>
              </a:rPr>
              <a:t>variable == value2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    break;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  case value3: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    //code to execute when </a:t>
            </a:r>
            <a:r>
              <a:rPr lang="en-CA" sz="1500" dirty="0">
                <a:solidFill>
                  <a:srgbClr val="00B0F0"/>
                </a:solidFill>
                <a:latin typeface="Consolas" panose="020B0609020204030204" pitchFamily="49" charset="0"/>
              </a:rPr>
              <a:t>variable == value3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    break;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  default: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    //code to execute when </a:t>
            </a:r>
            <a:r>
              <a:rPr lang="en-CA" sz="1500" dirty="0">
                <a:solidFill>
                  <a:srgbClr val="FF0000"/>
                </a:solidFill>
                <a:latin typeface="Consolas" panose="020B0609020204030204" pitchFamily="49" charset="0"/>
              </a:rPr>
              <a:t>variable != any tested values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    break;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0C28EC-95B4-427D-8CE3-793D0EB1F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86500" y="915012"/>
            <a:ext cx="5078677" cy="4248472"/>
          </a:xfr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srgbClr val="FF0000"/>
                </a:solidFill>
              </a:rPr>
              <a:t>EXAMPLE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string menuOption = </a:t>
            </a:r>
            <a:r>
              <a:rPr lang="en-CA" sz="1500" dirty="0" err="1">
                <a:latin typeface="Consolas" panose="020B0609020204030204" pitchFamily="49" charset="0"/>
              </a:rPr>
              <a:t>Console.ReadLine</a:t>
            </a:r>
            <a:r>
              <a:rPr lang="en-CA" sz="15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switch(menuOption)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  case “x”: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    </a:t>
            </a:r>
            <a:r>
              <a:rPr lang="en-CA" sz="1500" dirty="0" err="1">
                <a:latin typeface="Consolas" panose="020B0609020204030204" pitchFamily="49" charset="0"/>
              </a:rPr>
              <a:t>Console.WriteLine</a:t>
            </a:r>
            <a:r>
              <a:rPr lang="en-CA" sz="1500" dirty="0">
                <a:latin typeface="Consolas" panose="020B0609020204030204" pitchFamily="49" charset="0"/>
              </a:rPr>
              <a:t>(“Exiting Game”);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    break;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  case “c”: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    </a:t>
            </a:r>
            <a:r>
              <a:rPr lang="en-CA" sz="1500" dirty="0" err="1">
                <a:latin typeface="Consolas" panose="020B0609020204030204" pitchFamily="49" charset="0"/>
              </a:rPr>
              <a:t>Console.WriteLine</a:t>
            </a:r>
            <a:r>
              <a:rPr lang="en-CA" sz="1500" dirty="0">
                <a:latin typeface="Consolas" panose="020B0609020204030204" pitchFamily="49" charset="0"/>
              </a:rPr>
              <a:t>(“Continue Playing”);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    break;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  case “f”: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    </a:t>
            </a:r>
            <a:r>
              <a:rPr lang="en-CA" sz="1500" dirty="0" err="1">
                <a:latin typeface="Consolas" panose="020B0609020204030204" pitchFamily="49" charset="0"/>
              </a:rPr>
              <a:t>Console.WriteLine</a:t>
            </a:r>
            <a:r>
              <a:rPr lang="en-CA" sz="1500" dirty="0">
                <a:latin typeface="Consolas" panose="020B0609020204030204" pitchFamily="49" charset="0"/>
              </a:rPr>
              <a:t>(“Forfeiting Game”);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    break;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  default: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    </a:t>
            </a:r>
            <a:r>
              <a:rPr lang="en-CA" sz="1500" dirty="0" err="1">
                <a:latin typeface="Consolas" panose="020B0609020204030204" pitchFamily="49" charset="0"/>
              </a:rPr>
              <a:t>Console.WriteLine</a:t>
            </a:r>
            <a:r>
              <a:rPr lang="en-CA" sz="1500" dirty="0">
                <a:latin typeface="Consolas" panose="020B0609020204030204" pitchFamily="49" charset="0"/>
              </a:rPr>
              <a:t>(“Invalid Menu Option”);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    break;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5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E07209-FB78-4104-9A10-96C120C4800D}"/>
              </a:ext>
            </a:extLst>
          </p:cNvPr>
          <p:cNvSpPr txBox="1"/>
          <p:nvPr/>
        </p:nvSpPr>
        <p:spPr>
          <a:xfrm>
            <a:off x="802114" y="4821779"/>
            <a:ext cx="1028191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000" dirty="0">
                <a:solidFill>
                  <a:srgbClr val="FF0000"/>
                </a:solidFill>
              </a:rPr>
              <a:t>NOTES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/>
              <a:t>The </a:t>
            </a:r>
            <a:r>
              <a:rPr lang="en-CA" sz="2000" dirty="0">
                <a:solidFill>
                  <a:srgbClr val="00B0F0"/>
                </a:solidFill>
              </a:rPr>
              <a:t>break</a:t>
            </a:r>
            <a:r>
              <a:rPr lang="en-CA" sz="2000" dirty="0"/>
              <a:t> statement will exit the switch statement when executed</a:t>
            </a:r>
          </a:p>
          <a:p>
            <a:pPr marL="1066693" lvl="1" indent="-457200">
              <a:buFont typeface="Arial" panose="020B0604020202020204" pitchFamily="34" charset="0"/>
              <a:buChar char="•"/>
            </a:pPr>
            <a:r>
              <a:rPr lang="en-CA" sz="2000" dirty="0"/>
              <a:t>This simulates the idea of only entering one of the test conditions</a:t>
            </a:r>
            <a:br>
              <a:rPr lang="en-CA" sz="2000" dirty="0"/>
            </a:br>
            <a:r>
              <a:rPr lang="en-CA" sz="2000" dirty="0"/>
              <a:t>in an if-else if statement and skipping the rest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/>
              <a:t>A </a:t>
            </a:r>
            <a:r>
              <a:rPr lang="en-CA" sz="2000" dirty="0">
                <a:solidFill>
                  <a:srgbClr val="00B0F0"/>
                </a:solidFill>
              </a:rPr>
              <a:t>break</a:t>
            </a:r>
            <a:r>
              <a:rPr lang="en-CA" sz="2000" dirty="0"/>
              <a:t> statement in each case is </a:t>
            </a:r>
            <a:r>
              <a:rPr lang="en-CA" sz="2000" dirty="0">
                <a:solidFill>
                  <a:srgbClr val="FFFF00"/>
                </a:solidFill>
              </a:rPr>
              <a:t>REQUIRED</a:t>
            </a:r>
            <a:r>
              <a:rPr lang="en-CA" sz="2000" dirty="0"/>
              <a:t> in C#.  However, not in other languages like Java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sz="2000" dirty="0"/>
              <a:t>A </a:t>
            </a:r>
            <a:r>
              <a:rPr lang="en-CA" sz="2000" dirty="0">
                <a:solidFill>
                  <a:srgbClr val="00B0F0"/>
                </a:solidFill>
              </a:rPr>
              <a:t>default case </a:t>
            </a:r>
            <a:r>
              <a:rPr lang="en-CA" sz="2000" dirty="0">
                <a:solidFill>
                  <a:srgbClr val="FFFF00"/>
                </a:solidFill>
              </a:rPr>
              <a:t>is optional </a:t>
            </a:r>
            <a:r>
              <a:rPr lang="en-CA" sz="2000" dirty="0"/>
              <a:t>and acts just like an else statement in an if-else if statement</a:t>
            </a:r>
          </a:p>
        </p:txBody>
      </p:sp>
    </p:spTree>
    <p:extLst>
      <p:ext uri="{BB962C8B-B14F-4D97-AF65-F5344CB8AC3E}">
        <p14:creationId xmlns:p14="http://schemas.microsoft.com/office/powerpoint/2010/main" val="644316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EBDAB-B4E7-431F-A9E9-ACE40D765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90505" y="182174"/>
            <a:ext cx="7290054" cy="720016"/>
          </a:xfrm>
        </p:spPr>
        <p:txBody>
          <a:bodyPr/>
          <a:lstStyle/>
          <a:p>
            <a:r>
              <a:rPr lang="en-CA" dirty="0"/>
              <a:t>Proper Switch Statement Spacing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B56CC-94C4-4D3E-82E5-023D1E5DD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13892" y="808748"/>
            <a:ext cx="4824536" cy="586707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int playerX = 10;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int playerY = 20;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int speed = 5;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string posDisplay = “(” + playerX + “,” + playerY + “)”;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string menuOption;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Console.WriteLine(“You are currently located at ” + posDisplay);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Console.Write(“Enter Movement Choice (w = up, s = down, a = left, d = right): 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menuOption = Console.ReadLine();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switch (menuOption)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  case “w”: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    playerY = playerY – speed;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    Console.WriteLine(“\nYou moved up!”);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    break;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 case “s”: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    playerY = playerY + speed;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    Console.WriteLine(“\nYou moved down!”);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    break;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 case “a”: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    playerX = playerX – speed;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    Console.WriteLine(“\nYou moved left!”);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    break;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 case “d”: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    playerX = playerX + speed;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    Console.WriteLine(“\nYou moved right!”);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    break;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  default: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    Console.WriteLine(“\nThat was an invalid direction”);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    break;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posDisplay = “(” + playerX + “,” + playerY + “)”;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800" dirty="0">
                <a:latin typeface="Consolas" panose="020B0609020204030204" pitchFamily="49" charset="0"/>
              </a:rPr>
              <a:t>Console.WriteLine(“You are now located at ” + posDisplay);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4E49BC-DF32-4367-89A6-69B077F5A883}"/>
              </a:ext>
            </a:extLst>
          </p:cNvPr>
          <p:cNvSpPr txBox="1"/>
          <p:nvPr/>
        </p:nvSpPr>
        <p:spPr>
          <a:xfrm>
            <a:off x="6389262" y="808749"/>
            <a:ext cx="5393782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>
                <a:solidFill>
                  <a:srgbClr val="FFFF00"/>
                </a:solidFill>
              </a:rPr>
              <a:t>SPACING 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Each case is a code block and therefore</a:t>
            </a:r>
            <a:br>
              <a:rPr lang="en-CA" sz="2000" dirty="0"/>
            </a:br>
            <a:r>
              <a:rPr lang="en-CA" sz="2000" dirty="0"/>
              <a:t>should have a space between its break</a:t>
            </a:r>
            <a:br>
              <a:rPr lang="en-CA" sz="2000" dirty="0"/>
            </a:br>
            <a:r>
              <a:rPr lang="en-CA" sz="2000" dirty="0"/>
              <a:t>and the next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Code inside each case should be broken</a:t>
            </a:r>
            <a:br>
              <a:rPr lang="en-CA" sz="2000" dirty="0"/>
            </a:br>
            <a:r>
              <a:rPr lang="en-CA" sz="2000" dirty="0"/>
              <a:t>into code blocks</a:t>
            </a:r>
            <a:endParaRPr lang="en-CA" dirty="0"/>
          </a:p>
          <a:p>
            <a:endParaRPr lang="en-CA" dirty="0"/>
          </a:p>
          <a:p>
            <a:r>
              <a:rPr lang="en-CA" sz="2000" dirty="0">
                <a:solidFill>
                  <a:srgbClr val="FFFF00"/>
                </a:solidFill>
              </a:rPr>
              <a:t>DOCUMENTATION NOTES: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The overall switch statement gets a</a:t>
            </a:r>
            <a:br>
              <a:rPr lang="en-CA" sz="2000" dirty="0"/>
            </a:br>
            <a:r>
              <a:rPr lang="en-CA" sz="2000" dirty="0"/>
              <a:t>comment describing the purpose/goal</a:t>
            </a:r>
            <a:br>
              <a:rPr lang="en-CA" sz="2000" dirty="0"/>
            </a:br>
            <a:r>
              <a:rPr lang="en-CA" sz="2000" dirty="0"/>
              <a:t>of the whole switch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Case blocks do NOT need to be</a:t>
            </a:r>
            <a:br>
              <a:rPr lang="en-CA" sz="2000" dirty="0"/>
            </a:br>
            <a:r>
              <a:rPr lang="en-CA" sz="2000" dirty="0"/>
              <a:t>documented themselves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2000" dirty="0"/>
              <a:t>But, the code blocks inside a case block</a:t>
            </a:r>
            <a:br>
              <a:rPr lang="en-CA" sz="2000" dirty="0"/>
            </a:br>
            <a:r>
              <a:rPr lang="en-CA" sz="2000" dirty="0"/>
              <a:t>should be documented as normal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4507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52982-D06F-4CC6-A0AD-F02FF5109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When to use a </a:t>
            </a:r>
            <a:r>
              <a:rPr lang="en-CA" dirty="0">
                <a:solidFill>
                  <a:srgbClr val="00B0F0"/>
                </a:solidFill>
              </a:rPr>
              <a:t>switch</a:t>
            </a:r>
            <a:r>
              <a:rPr lang="en-CA" dirty="0"/>
              <a:t> over an </a:t>
            </a:r>
            <a:r>
              <a:rPr lang="en-CA" dirty="0">
                <a:solidFill>
                  <a:srgbClr val="00B0F0"/>
                </a:solidFill>
              </a:rPr>
              <a:t>if-else if </a:t>
            </a:r>
            <a:r>
              <a:rPr lang="en-CA" dirty="0"/>
              <a:t>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86DE40-9391-4738-A808-9B227958C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Because of the properties of a switch statement you should use it:</a:t>
            </a:r>
          </a:p>
          <a:p>
            <a:pPr marL="835086" lvl="1" indent="-457200">
              <a:buFont typeface="+mj-lt"/>
              <a:buAutoNum type="arabicPeriod"/>
            </a:pPr>
            <a:r>
              <a:rPr lang="en-CA" dirty="0"/>
              <a:t>When you are not dealing with ranges of data</a:t>
            </a:r>
          </a:p>
          <a:p>
            <a:pPr marL="835086" lvl="1" indent="-457200">
              <a:buFont typeface="+mj-lt"/>
              <a:buAutoNum type="arabicPeriod"/>
            </a:pPr>
            <a:endParaRPr lang="en-CA" dirty="0"/>
          </a:p>
          <a:p>
            <a:pPr marL="835086" lvl="1" indent="-457200">
              <a:buFont typeface="+mj-lt"/>
              <a:buAutoNum type="arabicPeriod"/>
            </a:pPr>
            <a:r>
              <a:rPr lang="en-CA" dirty="0"/>
              <a:t>When you have a lot of options, or an expandable set of options</a:t>
            </a:r>
          </a:p>
          <a:p>
            <a:pPr marL="835086" lvl="1" indent="-457200">
              <a:buFont typeface="+mj-lt"/>
              <a:buAutoNum type="arabicPeriod"/>
            </a:pPr>
            <a:endParaRPr lang="en-CA" dirty="0"/>
          </a:p>
          <a:p>
            <a:pPr marL="835086" lvl="1" indent="-457200">
              <a:buFont typeface="+mj-lt"/>
              <a:buAutoNum type="arabicPeriod"/>
            </a:pPr>
            <a:r>
              <a:rPr lang="en-CA" dirty="0"/>
              <a:t>When speed is a necessity</a:t>
            </a:r>
          </a:p>
          <a:p>
            <a:pPr marL="835086" lvl="1" indent="-457200">
              <a:buFont typeface="+mj-lt"/>
              <a:buAutoNum type="arabicPeriod"/>
            </a:pPr>
            <a:endParaRPr lang="en-CA" dirty="0"/>
          </a:p>
          <a:p>
            <a:pPr marL="835086" lvl="1" indent="-457200">
              <a:buFont typeface="+mj-lt"/>
              <a:buAutoNum type="arabicPeriod"/>
            </a:pPr>
            <a:r>
              <a:rPr lang="en-CA" dirty="0"/>
              <a:t>When it will clean up your code for readability purposes</a:t>
            </a:r>
          </a:p>
        </p:txBody>
      </p:sp>
    </p:spTree>
    <p:extLst>
      <p:ext uri="{BB962C8B-B14F-4D97-AF65-F5344CB8AC3E}">
        <p14:creationId xmlns:p14="http://schemas.microsoft.com/office/powerpoint/2010/main" val="36236765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1263</TotalTime>
  <Words>1622</Words>
  <Application>Microsoft Office PowerPoint</Application>
  <PresentationFormat>Custom</PresentationFormat>
  <Paragraphs>265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Tech 16x9</vt:lpstr>
      <vt:lpstr>Selection: Day 3</vt:lpstr>
      <vt:lpstr>Reality is not black and white, but shades of grey</vt:lpstr>
      <vt:lpstr>Multi-Selection – Option 1: if-else if Statements</vt:lpstr>
      <vt:lpstr>Notes on if-else if Statements</vt:lpstr>
      <vt:lpstr>What If?</vt:lpstr>
      <vt:lpstr>Review: What is the value of number Test 1: int number = 2</vt:lpstr>
      <vt:lpstr>Spacing &amp; Documentation Notes</vt:lpstr>
      <vt:lpstr>Multi-Selection – Option 2: switch Statements</vt:lpstr>
      <vt:lpstr>switch Statements</vt:lpstr>
      <vt:lpstr>Proper Switch Statement Spacing</vt:lpstr>
      <vt:lpstr>When to use a switch over an if-else if statement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Variables: Day 1</dc:title>
  <dc:creator>Trevor Lane</dc:creator>
  <cp:lastModifiedBy>Lane, Trevor</cp:lastModifiedBy>
  <cp:revision>83</cp:revision>
  <dcterms:created xsi:type="dcterms:W3CDTF">2020-09-21T00:53:05Z</dcterms:created>
  <dcterms:modified xsi:type="dcterms:W3CDTF">2025-10-16T13:04:00Z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