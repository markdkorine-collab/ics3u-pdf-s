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 varScale="1">
        <p:scale>
          <a:sx n="117" d="100"/>
          <a:sy n="117" d="100"/>
        </p:scale>
        <p:origin x="1986" y="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9/25/2022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9/25/2022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 Conversion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Method 1: Convert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A21-87D0-4B34-A9F7-101D5960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Data Type Conversion?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F2470-DCA6-4D67-8168-09FB787A7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492153" cy="4462272"/>
          </a:xfrm>
        </p:spPr>
        <p:txBody>
          <a:bodyPr>
            <a:normAutofit lnSpcReduction="10000"/>
          </a:bodyPr>
          <a:lstStyle/>
          <a:p>
            <a:r>
              <a:rPr lang="en-CA" dirty="0"/>
              <a:t>Data Type conversion is when we have a variable or piece of data that is of one type and want to transform it, or treat it, as another type in order to work with that data in a new way</a:t>
            </a:r>
          </a:p>
          <a:p>
            <a:endParaRPr lang="en-CA" dirty="0"/>
          </a:p>
          <a:p>
            <a:r>
              <a:rPr lang="en-CA" dirty="0"/>
              <a:t>There are two types of conversion, </a:t>
            </a:r>
            <a:r>
              <a:rPr lang="en-CA" b="1" dirty="0">
                <a:solidFill>
                  <a:srgbClr val="FFFF00"/>
                </a:solidFill>
              </a:rPr>
              <a:t>implicit</a:t>
            </a:r>
            <a:r>
              <a:rPr lang="en-CA" dirty="0"/>
              <a:t> and </a:t>
            </a:r>
            <a:r>
              <a:rPr lang="en-CA" b="1" dirty="0">
                <a:solidFill>
                  <a:srgbClr val="FFFF00"/>
                </a:solidFill>
              </a:rPr>
              <a:t>explicit</a:t>
            </a:r>
            <a:r>
              <a:rPr lang="en-CA" dirty="0"/>
              <a:t> conversion.  We are learning </a:t>
            </a:r>
            <a:r>
              <a:rPr lang="en-CA" b="1" dirty="0">
                <a:solidFill>
                  <a:srgbClr val="FFFF00"/>
                </a:solidFill>
              </a:rPr>
              <a:t>explicit</a:t>
            </a:r>
            <a:r>
              <a:rPr lang="en-CA" dirty="0"/>
              <a:t> conversion.</a:t>
            </a:r>
          </a:p>
          <a:p>
            <a:endParaRPr lang="en-CA" dirty="0"/>
          </a:p>
          <a:p>
            <a:r>
              <a:rPr lang="en-CA" dirty="0"/>
              <a:t>Example</a:t>
            </a:r>
          </a:p>
          <a:p>
            <a:pPr lvl="1"/>
            <a:r>
              <a:rPr lang="en-CA" dirty="0"/>
              <a:t>If we have a double variable that stores someone’s grade on their test, maybe an 82.2%, but for simplicity, we prefer just to show the whole number</a:t>
            </a:r>
          </a:p>
        </p:txBody>
      </p:sp>
    </p:spTree>
    <p:extLst>
      <p:ext uri="{BB962C8B-B14F-4D97-AF65-F5344CB8AC3E}">
        <p14:creationId xmlns:p14="http://schemas.microsoft.com/office/powerpoint/2010/main" val="168817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E1E9-B1FE-437D-983F-E4225957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About the Square Peg?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A999C-EECB-400B-BBCB-62B20525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We have discussed that we cannot fit a square peg in a round hole.</a:t>
            </a:r>
          </a:p>
          <a:p>
            <a:endParaRPr lang="en-CA" dirty="0"/>
          </a:p>
          <a:p>
            <a:r>
              <a:rPr lang="en-CA" dirty="0"/>
              <a:t>So how can we possibly convert one type of data into another?</a:t>
            </a:r>
          </a:p>
          <a:p>
            <a:endParaRPr lang="en-CA" dirty="0"/>
          </a:p>
          <a:p>
            <a:r>
              <a:rPr lang="en-CA" dirty="0"/>
              <a:t>There are three methods to convert one Data Type to another:</a:t>
            </a:r>
          </a:p>
          <a:p>
            <a:pPr marL="819096" lvl="1" indent="-514350">
              <a:buFont typeface="+mj-lt"/>
              <a:buAutoNum type="arabicParenR"/>
            </a:pPr>
            <a:r>
              <a:rPr lang="en-CA" dirty="0"/>
              <a:t>Convert  </a:t>
            </a:r>
            <a:r>
              <a:rPr lang="en-CA"/>
              <a:t>(This </a:t>
            </a:r>
            <a:r>
              <a:rPr lang="en-CA" dirty="0"/>
              <a:t>lesson)</a:t>
            </a:r>
          </a:p>
          <a:p>
            <a:pPr marL="819096" lvl="1" indent="-514350">
              <a:buFont typeface="+mj-lt"/>
              <a:buAutoNum type="arabicParenR"/>
            </a:pPr>
            <a:r>
              <a:rPr lang="en-CA" dirty="0"/>
              <a:t>Cast</a:t>
            </a:r>
          </a:p>
          <a:p>
            <a:pPr marL="819096" lvl="1" indent="-514350">
              <a:buFont typeface="+mj-lt"/>
              <a:buAutoNum type="arabicParenR"/>
            </a:pPr>
            <a:r>
              <a:rPr lang="en-CA" dirty="0" err="1"/>
              <a:t>TryParse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776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A706-E5BC-49F8-A43A-BD6C9B49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Before we Convert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D249-7791-4418-9B1D-1AA3D413D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We must realize that converting a value is actually creating a </a:t>
            </a:r>
            <a:r>
              <a:rPr lang="en-CA" b="1" dirty="0">
                <a:solidFill>
                  <a:srgbClr val="FFFF00"/>
                </a:solidFill>
              </a:rPr>
              <a:t>brand new piece of data</a:t>
            </a:r>
            <a:r>
              <a:rPr lang="en-CA" dirty="0"/>
              <a:t>.  The original variable is actually unaffected.</a:t>
            </a:r>
          </a:p>
          <a:p>
            <a:endParaRPr lang="en-CA" dirty="0"/>
          </a:p>
          <a:p>
            <a:r>
              <a:rPr lang="en-CA" dirty="0"/>
              <a:t>It </a:t>
            </a:r>
            <a:r>
              <a:rPr lang="en-CA" b="1" dirty="0">
                <a:solidFill>
                  <a:srgbClr val="FFFF00"/>
                </a:solidFill>
              </a:rPr>
              <a:t>does</a:t>
            </a:r>
            <a:r>
              <a:rPr lang="en-CA" dirty="0"/>
              <a:t> </a:t>
            </a:r>
            <a:r>
              <a:rPr lang="en-CA" b="1" dirty="0">
                <a:solidFill>
                  <a:srgbClr val="FFFF00"/>
                </a:solidFill>
              </a:rPr>
              <a:t>not</a:t>
            </a:r>
            <a:r>
              <a:rPr lang="en-CA" dirty="0"/>
              <a:t> </a:t>
            </a:r>
            <a:r>
              <a:rPr lang="en-CA" b="1" dirty="0">
                <a:solidFill>
                  <a:srgbClr val="FFFF00"/>
                </a:solidFill>
              </a:rPr>
              <a:t>change</a:t>
            </a:r>
            <a:r>
              <a:rPr lang="en-CA" dirty="0"/>
              <a:t> the original data at all, and it is still stored safely.</a:t>
            </a:r>
          </a:p>
          <a:p>
            <a:endParaRPr lang="en-CA" dirty="0"/>
          </a:p>
          <a:p>
            <a:r>
              <a:rPr lang="en-CA" dirty="0"/>
              <a:t>It is the programmer’s responsibility to use or store the new data:</a:t>
            </a:r>
          </a:p>
          <a:p>
            <a:pPr lvl="1"/>
            <a:r>
              <a:rPr lang="en-CA" b="1" dirty="0">
                <a:solidFill>
                  <a:srgbClr val="FFFF00"/>
                </a:solidFill>
              </a:rPr>
              <a:t>Use it immediately</a:t>
            </a:r>
            <a:r>
              <a:rPr lang="en-CA" dirty="0"/>
              <a:t> and on the spot </a:t>
            </a:r>
            <a:r>
              <a:rPr lang="en-CA" b="1" dirty="0">
                <a:solidFill>
                  <a:srgbClr val="00B0F0"/>
                </a:solidFill>
              </a:rPr>
              <a:t>OR</a:t>
            </a:r>
          </a:p>
          <a:p>
            <a:pPr lvl="1"/>
            <a:r>
              <a:rPr lang="en-CA" b="1" dirty="0">
                <a:solidFill>
                  <a:srgbClr val="FFFF00"/>
                </a:solidFill>
              </a:rPr>
              <a:t>Create a new variable to hold the new converted value</a:t>
            </a:r>
            <a:r>
              <a:rPr lang="en-CA" dirty="0">
                <a:solidFill>
                  <a:srgbClr val="FFFF00"/>
                </a:solidFill>
              </a:rPr>
              <a:t> </a:t>
            </a:r>
            <a:r>
              <a:rPr lang="en-CA" dirty="0"/>
              <a:t>that is the type you are attempting to convert to</a:t>
            </a:r>
          </a:p>
        </p:txBody>
      </p:sp>
    </p:spTree>
    <p:extLst>
      <p:ext uri="{BB962C8B-B14F-4D97-AF65-F5344CB8AC3E}">
        <p14:creationId xmlns:p14="http://schemas.microsoft.com/office/powerpoint/2010/main" val="404556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B8F6-253E-48DD-9920-C21AA6A2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Convert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1795-9555-42D9-A580-6114EC6AF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This method is the most intuitive and simplest to use.</a:t>
            </a:r>
          </a:p>
          <a:p>
            <a:endParaRPr lang="en-CA" dirty="0"/>
          </a:p>
          <a:p>
            <a:r>
              <a:rPr lang="en-CA" dirty="0"/>
              <a:t>It has the ability to convert nearly any data type to any other data type assuming the value being converted is valid for the new type.</a:t>
            </a:r>
          </a:p>
          <a:p>
            <a:endParaRPr lang="en-CA" dirty="0"/>
          </a:p>
          <a:p>
            <a:r>
              <a:rPr lang="en-CA" b="1" dirty="0">
                <a:solidFill>
                  <a:srgbClr val="00B050"/>
                </a:solidFill>
              </a:rPr>
              <a:t>Valid Conversion Example</a:t>
            </a:r>
            <a:br>
              <a:rPr lang="en-CA" dirty="0"/>
            </a:br>
            <a:r>
              <a:rPr lang="en-CA" dirty="0"/>
              <a:t>Convert a byte with the value 7 into a double </a:t>
            </a:r>
            <a:r>
              <a:rPr lang="en-CA" dirty="0">
                <a:solidFill>
                  <a:srgbClr val="00B0F0"/>
                </a:solidFill>
              </a:rPr>
              <a:t>(would be stored as 7.0)</a:t>
            </a:r>
          </a:p>
          <a:p>
            <a:endParaRPr lang="en-CA" dirty="0"/>
          </a:p>
          <a:p>
            <a:r>
              <a:rPr lang="en-CA" b="1" dirty="0">
                <a:solidFill>
                  <a:srgbClr val="FF0000"/>
                </a:solidFill>
              </a:rPr>
              <a:t>Invalid Conversion Example</a:t>
            </a:r>
            <a:br>
              <a:rPr lang="en-CA" dirty="0"/>
            </a:br>
            <a:r>
              <a:rPr lang="en-CA" dirty="0"/>
              <a:t>Convert a string with the value “5.5” into an int </a:t>
            </a:r>
            <a:r>
              <a:rPr lang="en-CA" sz="2600" dirty="0">
                <a:solidFill>
                  <a:srgbClr val="00B0F0"/>
                </a:solidFill>
              </a:rPr>
              <a:t>(</a:t>
            </a:r>
            <a:r>
              <a:rPr lang="en-CA" sz="2600" dirty="0" err="1">
                <a:solidFill>
                  <a:srgbClr val="00B0F0"/>
                </a:solidFill>
              </a:rPr>
              <a:t>ints</a:t>
            </a:r>
            <a:r>
              <a:rPr lang="en-CA" sz="2600" dirty="0">
                <a:solidFill>
                  <a:srgbClr val="00B0F0"/>
                </a:solidFill>
              </a:rPr>
              <a:t> cannot have decimals)</a:t>
            </a:r>
            <a:endParaRPr lang="en-CA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2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DB02-50F3-48CD-A254-E2ED576A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Convert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D7F94-BBDC-4D03-9F85-C17EE9B81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Each conversion type has a specific command that works on the </a:t>
            </a:r>
            <a:r>
              <a:rPr lang="en-CA" dirty="0">
                <a:solidFill>
                  <a:srgbClr val="00B0F0"/>
                </a:solidFill>
              </a:rPr>
              <a:t>Convert</a:t>
            </a:r>
            <a:r>
              <a:rPr lang="en-CA" dirty="0"/>
              <a:t> </a:t>
            </a:r>
            <a:r>
              <a:rPr lang="en-CA" dirty="0">
                <a:solidFill>
                  <a:srgbClr val="00B050"/>
                </a:solidFill>
              </a:rPr>
              <a:t>object</a:t>
            </a:r>
            <a:r>
              <a:rPr lang="en-CA" dirty="0"/>
              <a:t>, like WriteLine works on the Console object</a:t>
            </a:r>
          </a:p>
          <a:p>
            <a:endParaRPr lang="en-CA" dirty="0"/>
          </a:p>
          <a:p>
            <a:r>
              <a:rPr lang="en-CA" dirty="0"/>
              <a:t>Some of the commands include:</a:t>
            </a:r>
          </a:p>
          <a:p>
            <a:pPr lvl="1"/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Convert.ToString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(value or variable to be converted)</a:t>
            </a:r>
          </a:p>
          <a:p>
            <a:pPr lvl="1"/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Convert.ToDouble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(value or variable to be converted)</a:t>
            </a:r>
          </a:p>
          <a:p>
            <a:pPr lvl="1"/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Convert.ToByte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(value or variable to be converted)</a:t>
            </a:r>
          </a:p>
          <a:p>
            <a:pPr lvl="1"/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Convert.ToBoolean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(value or variable to be converted)</a:t>
            </a:r>
          </a:p>
          <a:p>
            <a:pPr lvl="1"/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Convert.</a:t>
            </a:r>
            <a:r>
              <a:rPr lang="en-CA" sz="1800" b="1" dirty="0">
                <a:solidFill>
                  <a:srgbClr val="00B0F0"/>
                </a:solidFill>
                <a:latin typeface="Consolas" panose="020B0609020204030204" pitchFamily="49" charset="0"/>
              </a:rPr>
              <a:t>ToInt32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(value or variable to be converted)</a:t>
            </a:r>
          </a:p>
          <a:p>
            <a:endParaRPr lang="en-CA" dirty="0"/>
          </a:p>
          <a:p>
            <a:r>
              <a:rPr lang="en-CA" dirty="0"/>
              <a:t>The 32 is there to show we are converting to a regular 32-bit integer, there are other int types, such as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Int16</a:t>
            </a:r>
            <a:r>
              <a:rPr lang="en-CA" dirty="0"/>
              <a:t> and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Int64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9254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B6E5-B9C6-48D4-9A3A-843BD630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The Convert Method –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379AF-4C81-4F61-9346-5333214B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96752"/>
            <a:ext cx="10360501" cy="5386611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Once we have created our holder variable to store the converted value in, it is simply a matter of calling the correct Convert method</a:t>
            </a:r>
          </a:p>
          <a:p>
            <a:endParaRPr lang="en-CA" sz="1700" dirty="0"/>
          </a:p>
          <a:p>
            <a:r>
              <a:rPr lang="en-CA" dirty="0"/>
              <a:t>As with any variable, when we store something in it, we have to use an assignment statement, using the </a:t>
            </a:r>
            <a:r>
              <a:rPr lang="en-CA" b="1" dirty="0">
                <a:solidFill>
                  <a:srgbClr val="FFFF00"/>
                </a:solidFill>
              </a:rPr>
              <a:t>=</a:t>
            </a:r>
            <a:r>
              <a:rPr lang="en-CA" dirty="0"/>
              <a:t> sign.</a:t>
            </a:r>
          </a:p>
          <a:p>
            <a:pPr lvl="1"/>
            <a:r>
              <a:rPr lang="en-CA" dirty="0">
                <a:solidFill>
                  <a:srgbClr val="92D050"/>
                </a:solidFill>
              </a:rPr>
              <a:t>variable</a:t>
            </a:r>
            <a:r>
              <a:rPr lang="en-CA" dirty="0"/>
              <a:t> </a:t>
            </a:r>
            <a:r>
              <a:rPr lang="en-CA" dirty="0">
                <a:solidFill>
                  <a:srgbClr val="FFFF00"/>
                </a:solidFill>
              </a:rPr>
              <a:t>=</a:t>
            </a:r>
            <a:r>
              <a:rPr lang="en-CA" dirty="0"/>
              <a:t> </a:t>
            </a:r>
            <a:r>
              <a:rPr lang="en-CA" dirty="0">
                <a:solidFill>
                  <a:srgbClr val="92D050"/>
                </a:solidFill>
              </a:rPr>
              <a:t>expression</a:t>
            </a:r>
            <a:r>
              <a:rPr lang="en-CA" dirty="0"/>
              <a:t>, in this case the expression is our Conversion method</a:t>
            </a:r>
          </a:p>
          <a:p>
            <a:endParaRPr lang="en-CA" sz="1700" dirty="0"/>
          </a:p>
          <a:p>
            <a:r>
              <a:rPr lang="en-CA" dirty="0">
                <a:solidFill>
                  <a:srgbClr val="FF0000"/>
                </a:solidFill>
              </a:rPr>
              <a:t>Example 1</a:t>
            </a:r>
            <a:r>
              <a:rPr lang="en-CA" dirty="0"/>
              <a:t>: Convert the string “32.7” into a double</a:t>
            </a:r>
            <a:br>
              <a:rPr lang="en-CA" dirty="0"/>
            </a:b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double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newNum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  <a:b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newNum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= 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Convert.ToDouble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(“32.7”);</a:t>
            </a:r>
          </a:p>
          <a:p>
            <a:endParaRPr lang="en-CA" sz="2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</a:rPr>
              <a:t>Example 2</a:t>
            </a:r>
            <a:r>
              <a:rPr lang="en-CA" dirty="0"/>
              <a:t>: Convert the double variable into an int</a:t>
            </a:r>
            <a:br>
              <a:rPr lang="en-CA" dirty="0"/>
            </a:br>
            <a: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  <a:t>double num = 32.7;</a:t>
            </a:r>
            <a:b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  <a:t>int num2;</a:t>
            </a:r>
            <a:b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  <a:t>num2 = Convert.ToInt32(num);  </a:t>
            </a:r>
            <a:r>
              <a:rPr lang="en-CA" sz="17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What happens to the decimal, is this allowed?</a:t>
            </a:r>
            <a:endParaRPr lang="en-CA" sz="1700" dirty="0">
              <a:solidFill>
                <a:srgbClr val="FFFF00"/>
              </a:solidFill>
            </a:endParaRPr>
          </a:p>
          <a:p>
            <a:endParaRPr lang="en-CA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93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21EE-6748-4308-B259-86D802BF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Convert Method -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C552-C405-4DFF-9C90-74D9FF99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701796"/>
            <a:ext cx="10945216" cy="4751539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Remember, whatever value is being converted </a:t>
            </a:r>
            <a:r>
              <a:rPr lang="en-CA" b="1" dirty="0">
                <a:solidFill>
                  <a:srgbClr val="FFFF00"/>
                </a:solidFill>
              </a:rPr>
              <a:t>must</a:t>
            </a:r>
            <a:r>
              <a:rPr lang="en-CA" dirty="0"/>
              <a:t> be valid for the new type</a:t>
            </a:r>
          </a:p>
          <a:p>
            <a:pPr lvl="1"/>
            <a:r>
              <a:rPr lang="en-CA" dirty="0"/>
              <a:t>E.g. You cannot convert -4 into a byte, or “boat” into a double</a:t>
            </a:r>
          </a:p>
          <a:p>
            <a:pPr lvl="1"/>
            <a:endParaRPr lang="en-CA" dirty="0"/>
          </a:p>
          <a:p>
            <a:r>
              <a:rPr lang="en-CA" dirty="0"/>
              <a:t>When converting a </a:t>
            </a:r>
            <a:r>
              <a:rPr lang="en-CA" dirty="0">
                <a:solidFill>
                  <a:srgbClr val="FFFF00"/>
                </a:solidFill>
              </a:rPr>
              <a:t>double</a:t>
            </a:r>
            <a:r>
              <a:rPr lang="en-CA" dirty="0"/>
              <a:t> to an </a:t>
            </a:r>
            <a:r>
              <a:rPr lang="en-CA" dirty="0">
                <a:solidFill>
                  <a:srgbClr val="FFFF00"/>
                </a:solidFill>
              </a:rPr>
              <a:t>int</a:t>
            </a:r>
            <a:r>
              <a:rPr lang="en-CA" dirty="0"/>
              <a:t> or </a:t>
            </a:r>
            <a:r>
              <a:rPr lang="en-CA" dirty="0">
                <a:solidFill>
                  <a:srgbClr val="FFFF00"/>
                </a:solidFill>
              </a:rPr>
              <a:t>byte</a:t>
            </a:r>
            <a:r>
              <a:rPr lang="en-CA" dirty="0"/>
              <a:t> it will use the </a:t>
            </a:r>
            <a:r>
              <a:rPr lang="en-CA" b="1" dirty="0">
                <a:solidFill>
                  <a:srgbClr val="FFFF00"/>
                </a:solidFill>
              </a:rPr>
              <a:t>banker’s rule</a:t>
            </a:r>
            <a:r>
              <a:rPr lang="en-CA" dirty="0">
                <a:solidFill>
                  <a:srgbClr val="FFFF00"/>
                </a:solidFill>
              </a:rPr>
              <a:t> </a:t>
            </a:r>
            <a:r>
              <a:rPr lang="en-CA" dirty="0"/>
              <a:t>for rounding.  This means it rounds to the nearest whole number in all cases except when the digit being rounded is a 5, e.g. 32.5</a:t>
            </a:r>
          </a:p>
          <a:p>
            <a:pPr lvl="1"/>
            <a:r>
              <a:rPr lang="en-CA" dirty="0"/>
              <a:t>In this case it rounds to the nearest </a:t>
            </a:r>
            <a:r>
              <a:rPr lang="en-CA" b="1" dirty="0">
                <a:solidFill>
                  <a:srgbClr val="FFFF00"/>
                </a:solidFill>
              </a:rPr>
              <a:t>even</a:t>
            </a:r>
            <a:r>
              <a:rPr lang="en-CA" dirty="0"/>
              <a:t> number</a:t>
            </a:r>
          </a:p>
          <a:p>
            <a:pPr lvl="2"/>
            <a:r>
              <a:rPr lang="en-CA" dirty="0"/>
              <a:t>E.g. 32.5 will round to 32, where 33.5 will round to 34</a:t>
            </a:r>
          </a:p>
          <a:p>
            <a:endParaRPr lang="en-CA" dirty="0"/>
          </a:p>
          <a:p>
            <a:r>
              <a:rPr lang="en-CA" dirty="0"/>
              <a:t>Converting from a bool to a number will result: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1 = true </a:t>
            </a:r>
            <a:r>
              <a:rPr lang="en-CA" dirty="0"/>
              <a:t>and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0 = false</a:t>
            </a:r>
            <a:r>
              <a:rPr lang="en-CA" dirty="0"/>
              <a:t>.  </a:t>
            </a:r>
          </a:p>
          <a:p>
            <a:pPr lvl="1"/>
            <a:r>
              <a:rPr lang="en-CA" dirty="0"/>
              <a:t>However, converting from a number to a bool is different.  Any non-zero value will result in a true, zero will be a false.</a:t>
            </a:r>
          </a:p>
        </p:txBody>
      </p:sp>
    </p:spTree>
    <p:extLst>
      <p:ext uri="{BB962C8B-B14F-4D97-AF65-F5344CB8AC3E}">
        <p14:creationId xmlns:p14="http://schemas.microsoft.com/office/powerpoint/2010/main" val="120539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260</TotalTime>
  <Words>726</Words>
  <Application>Microsoft Office PowerPoint</Application>
  <PresentationFormat>Custom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Tech 16x9</vt:lpstr>
      <vt:lpstr>Data Type Conversion</vt:lpstr>
      <vt:lpstr>What is Data Type Conversion?</vt:lpstr>
      <vt:lpstr>What About the Square Peg?</vt:lpstr>
      <vt:lpstr>Before we Convert</vt:lpstr>
      <vt:lpstr>The Convert Method</vt:lpstr>
      <vt:lpstr>The Convert Method</vt:lpstr>
      <vt:lpstr>The Convert Method – How?</vt:lpstr>
      <vt:lpstr>The Convert Method -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15</cp:revision>
  <dcterms:created xsi:type="dcterms:W3CDTF">2020-09-21T00:53:05Z</dcterms:created>
  <dcterms:modified xsi:type="dcterms:W3CDTF">2022-09-25T20:46:24Z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