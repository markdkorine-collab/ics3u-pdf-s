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8" r:id="rId11"/>
    <p:sldId id="263" r:id="rId12"/>
    <p:sldId id="264" r:id="rId13"/>
    <p:sldId id="265" r:id="rId14"/>
    <p:sldId id="266" r:id="rId15"/>
    <p:sldId id="267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0" autoAdjust="0"/>
    <p:restoredTop sz="94660"/>
  </p:normalViewPr>
  <p:slideViewPr>
    <p:cSldViewPr>
      <p:cViewPr varScale="1">
        <p:scale>
          <a:sx n="119" d="100"/>
          <a:sy n="119" d="100"/>
        </p:scale>
        <p:origin x="108" y="3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9/21/2026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9/21/2026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Variables: Module 3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Expressions, Operators, Constants, Concatenation…again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40E5-BB6C-4888-B0D8-E54DDB56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Using a Variable -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08C44-5B9E-4D28-BCA4-248F31ADF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saw previously, to assign a value we simply use the = operator</a:t>
            </a:r>
          </a:p>
          <a:p>
            <a:pPr marL="0" indent="0">
              <a:buNone/>
            </a:pPr>
            <a:r>
              <a:rPr lang="en-CA" dirty="0"/>
              <a:t>Example: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userName = “</a:t>
            </a:r>
            <a:r>
              <a:rPr lang="en-CA" dirty="0" err="1">
                <a:solidFill>
                  <a:srgbClr val="00B0F0"/>
                </a:solidFill>
                <a:latin typeface="Consolas" panose="020B0609020204030204" pitchFamily="49" charset="0"/>
              </a:rPr>
              <a:t>Avi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”;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But just assigning an </a:t>
            </a:r>
            <a:r>
              <a:rPr lang="en-CA" dirty="0">
                <a:solidFill>
                  <a:srgbClr val="92D050"/>
                </a:solidFill>
              </a:rPr>
              <a:t>actual value </a:t>
            </a:r>
            <a:r>
              <a:rPr lang="en-CA" dirty="0"/>
              <a:t>is not the only thing we can do.</a:t>
            </a:r>
          </a:p>
          <a:p>
            <a:r>
              <a:rPr lang="en-CA" dirty="0"/>
              <a:t>When assigning a variable, we can assign:</a:t>
            </a:r>
          </a:p>
          <a:p>
            <a:pPr lvl="1"/>
            <a:r>
              <a:rPr lang="en-CA" dirty="0"/>
              <a:t>A </a:t>
            </a:r>
            <a:r>
              <a:rPr lang="en-CA" b="1" dirty="0">
                <a:solidFill>
                  <a:srgbClr val="FFFF00"/>
                </a:solidFill>
              </a:rPr>
              <a:t>literal</a:t>
            </a:r>
            <a:r>
              <a:rPr lang="en-CA" dirty="0"/>
              <a:t> (an actual value, e.g.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“Steve”</a:t>
            </a:r>
            <a:r>
              <a:rPr lang="en-CA" dirty="0"/>
              <a:t> or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5</a:t>
            </a:r>
            <a:r>
              <a:rPr lang="en-CA" dirty="0"/>
              <a:t> or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  <a:r>
              <a:rPr lang="en-CA" dirty="0"/>
              <a:t>)</a:t>
            </a:r>
          </a:p>
          <a:p>
            <a:pPr lvl="1"/>
            <a:r>
              <a:rPr lang="en-CA" b="1" dirty="0">
                <a:solidFill>
                  <a:srgbClr val="FFFF00"/>
                </a:solidFill>
              </a:rPr>
              <a:t>Another variable</a:t>
            </a:r>
            <a:r>
              <a:rPr lang="en-CA" dirty="0"/>
              <a:t> that has a matching type e.g. </a:t>
            </a:r>
            <a:r>
              <a:rPr lang="en-CA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highScore</a:t>
            </a: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 = </a:t>
            </a:r>
            <a:r>
              <a:rPr lang="en-CA" sz="2000" dirty="0" err="1">
                <a:solidFill>
                  <a:srgbClr val="92D050"/>
                </a:solidFill>
                <a:latin typeface="Consolas" panose="020B0609020204030204" pitchFamily="49" charset="0"/>
              </a:rPr>
              <a:t>playerScore</a:t>
            </a:r>
            <a:r>
              <a:rPr lang="en-CA" sz="2000" dirty="0">
                <a:solidFill>
                  <a:srgbClr val="92D05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CA" dirty="0"/>
              <a:t>An </a:t>
            </a:r>
            <a:r>
              <a:rPr lang="en-CA" b="1" dirty="0">
                <a:solidFill>
                  <a:srgbClr val="FFFF00"/>
                </a:solidFill>
              </a:rPr>
              <a:t>expression</a:t>
            </a:r>
          </a:p>
        </p:txBody>
      </p:sp>
    </p:spTree>
    <p:extLst>
      <p:ext uri="{BB962C8B-B14F-4D97-AF65-F5344CB8AC3E}">
        <p14:creationId xmlns:p14="http://schemas.microsoft.com/office/powerpoint/2010/main" val="375244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E26E9-A42C-46F1-9059-B17FA73F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Expressions – What are they?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19F08-3FC1-4D8B-8C05-57BECB79A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1223963"/>
          </a:xfrm>
        </p:spPr>
        <p:txBody>
          <a:bodyPr>
            <a:normAutofit/>
          </a:bodyPr>
          <a:lstStyle/>
          <a:p>
            <a:r>
              <a:rPr lang="en-CA" dirty="0"/>
              <a:t>A statement that evaluates to a value when executed</a:t>
            </a:r>
          </a:p>
          <a:p>
            <a:r>
              <a:rPr lang="en-CA" dirty="0">
                <a:solidFill>
                  <a:srgbClr val="FFFF00"/>
                </a:solidFill>
              </a:rPr>
              <a:t>NOTE: Standard Order of Operations (BEDMAS) Applies!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148A74E-196F-4379-8D21-EFA80550A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461192"/>
              </p:ext>
            </p:extLst>
          </p:nvPr>
        </p:nvGraphicFramePr>
        <p:xfrm>
          <a:off x="1701924" y="3068960"/>
          <a:ext cx="812588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544937625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755916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Evaluates to…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698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>
                          <a:latin typeface="Consolas" panose="020B0609020204030204" pitchFamily="49" charset="0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946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742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>
                          <a:latin typeface="Consolas" panose="020B0609020204030204" pitchFamily="49" charset="0"/>
                        </a:rPr>
                        <a:t>1 + 3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472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>
                          <a:latin typeface="Consolas" panose="020B0609020204030204" pitchFamily="49" charset="0"/>
                        </a:rPr>
                        <a:t>8.3 * (8 + 1)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80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>
                          <a:latin typeface="Consolas" panose="020B0609020204030204" pitchFamily="49" charset="0"/>
                        </a:rPr>
                        <a:t>“Mr.” + “Lane”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972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0F7198-631B-DBE8-AC02-953AE502E565}"/>
              </a:ext>
            </a:extLst>
          </p:cNvPr>
          <p:cNvSpPr txBox="1"/>
          <p:nvPr/>
        </p:nvSpPr>
        <p:spPr>
          <a:xfrm>
            <a:off x="5734372" y="3573016"/>
            <a:ext cx="166340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0070C0"/>
                </a:solidFill>
              </a:rPr>
              <a:t>true</a:t>
            </a:r>
          </a:p>
          <a:p>
            <a:r>
              <a:rPr lang="en-CA" sz="2800" dirty="0">
                <a:solidFill>
                  <a:srgbClr val="0070C0"/>
                </a:solidFill>
              </a:rPr>
              <a:t>5</a:t>
            </a:r>
          </a:p>
          <a:p>
            <a:r>
              <a:rPr lang="en-CA" sz="2800" dirty="0">
                <a:solidFill>
                  <a:srgbClr val="0070C0"/>
                </a:solidFill>
              </a:rPr>
              <a:t>4</a:t>
            </a:r>
          </a:p>
          <a:p>
            <a:r>
              <a:rPr lang="en-CA" sz="2800" dirty="0">
                <a:solidFill>
                  <a:srgbClr val="0070C0"/>
                </a:solidFill>
              </a:rPr>
              <a:t>74.7</a:t>
            </a:r>
          </a:p>
          <a:p>
            <a:r>
              <a:rPr lang="en-CA" sz="2800" dirty="0">
                <a:solidFill>
                  <a:srgbClr val="0070C0"/>
                </a:solidFill>
              </a:rPr>
              <a:t>“</a:t>
            </a:r>
            <a:r>
              <a:rPr lang="en-CA" sz="2800" dirty="0" err="1">
                <a:solidFill>
                  <a:srgbClr val="0070C0"/>
                </a:solidFill>
              </a:rPr>
              <a:t>Mr.Lane</a:t>
            </a:r>
            <a:r>
              <a:rPr lang="en-CA" sz="2800" dirty="0">
                <a:solidFill>
                  <a:srgbClr val="0070C0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603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ECE52-3B58-4444-A11A-36B1A1656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915E1-4B25-482D-9C8B-4A92A0BBE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96753"/>
            <a:ext cx="10360501" cy="936104"/>
          </a:xfrm>
        </p:spPr>
        <p:txBody>
          <a:bodyPr/>
          <a:lstStyle/>
          <a:p>
            <a:r>
              <a:rPr lang="en-CA" dirty="0"/>
              <a:t>To fully appreciate expressions we need to know our options, what operators can we apply to our data?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2852C7-DF1D-4616-A338-4A7B422548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429534"/>
              </p:ext>
            </p:extLst>
          </p:nvPr>
        </p:nvGraphicFramePr>
        <p:xfrm>
          <a:off x="1125860" y="2276874"/>
          <a:ext cx="10360501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272">
                  <a:extLst>
                    <a:ext uri="{9D8B030D-6E8A-4147-A177-3AD203B41FA5}">
                      <a16:colId xmlns:a16="http://schemas.microsoft.com/office/drawing/2014/main" val="1427647914"/>
                    </a:ext>
                  </a:extLst>
                </a:gridCol>
                <a:gridCol w="5561544">
                  <a:extLst>
                    <a:ext uri="{9D8B030D-6E8A-4147-A177-3AD203B41FA5}">
                      <a16:colId xmlns:a16="http://schemas.microsoft.com/office/drawing/2014/main" val="1650611977"/>
                    </a:ext>
                  </a:extLst>
                </a:gridCol>
                <a:gridCol w="3015685">
                  <a:extLst>
                    <a:ext uri="{9D8B030D-6E8A-4147-A177-3AD203B41FA5}">
                      <a16:colId xmlns:a16="http://schemas.microsoft.com/office/drawing/2014/main" val="1924994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24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Adds two numeric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price + tax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8019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Joins (Concatenates) </a:t>
                      </a:r>
                      <a:r>
                        <a:rPr lang="en-CA" dirty="0" smtClean="0"/>
                        <a:t>a string</a:t>
                      </a:r>
                      <a:r>
                        <a:rPr lang="en-CA" baseline="0" dirty="0" smtClean="0"/>
                        <a:t> with anything</a:t>
                      </a:r>
                      <a:endParaRPr lang="en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firstName + lastName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668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Subtracts the second value from the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cost – discount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90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Multiplies two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hours * wage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3094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Divides the first value by the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annualSalary</a:t>
                      </a:r>
                      <a:r>
                        <a:rPr lang="en-CA" dirty="0"/>
                        <a:t>/12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2850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Results in the </a:t>
                      </a:r>
                      <a:r>
                        <a:rPr lang="en-CA" b="1" dirty="0">
                          <a:solidFill>
                            <a:srgbClr val="FF0000"/>
                          </a:solidFill>
                        </a:rPr>
                        <a:t>remainder</a:t>
                      </a:r>
                      <a:r>
                        <a:rPr lang="en-CA" dirty="0"/>
                        <a:t> of the division. </a:t>
                      </a:r>
                      <a:r>
                        <a:rPr lang="en-CA" b="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E.g. 3 goes into 11 exactly three times and there is a remainder of 2 from the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11 %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909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028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41A42-AB75-43B0-BE72-818E7D863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Back to Expressions…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0BE55-7285-459D-A849-20104A7BB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Recall: An expression is a statement that evaluates to a value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/>
              <a:t>Examples: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string alphabet;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alphabet = “A” + “B” + “C” + “D” + “E”;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/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string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yearMessage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yearMessage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= “The year is “ + (2000 + 22);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4DAF16-E46D-412A-BFED-70AF4CF75A87}"/>
              </a:ext>
            </a:extLst>
          </p:cNvPr>
          <p:cNvSpPr/>
          <p:nvPr/>
        </p:nvSpPr>
        <p:spPr>
          <a:xfrm>
            <a:off x="6958508" y="2735711"/>
            <a:ext cx="4248472" cy="792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/>
              <a:t>Alphabet will hold the value: “ABCDE”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2397CB-3473-4D6F-B3EC-D19B349CB2E3}"/>
              </a:ext>
            </a:extLst>
          </p:cNvPr>
          <p:cNvSpPr/>
          <p:nvPr/>
        </p:nvSpPr>
        <p:spPr>
          <a:xfrm>
            <a:off x="7534572" y="3769625"/>
            <a:ext cx="4248472" cy="792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800" dirty="0" err="1"/>
              <a:t>yearMessage</a:t>
            </a:r>
            <a:r>
              <a:rPr lang="en-CA" sz="2800" dirty="0"/>
              <a:t> will hold the value “The year is 2022”</a:t>
            </a:r>
          </a:p>
        </p:txBody>
      </p:sp>
    </p:spTree>
    <p:extLst>
      <p:ext uri="{BB962C8B-B14F-4D97-AF65-F5344CB8AC3E}">
        <p14:creationId xmlns:p14="http://schemas.microsoft.com/office/powerpoint/2010/main" val="311210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3C12C-73CD-4ADC-9B93-3EF76341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Expressions and Math!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A9121-C2A3-47BE-B16A-8F862A58F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964909"/>
            <a:ext cx="11089231" cy="1872208"/>
          </a:xfrm>
        </p:spPr>
        <p:txBody>
          <a:bodyPr>
            <a:normAutofit fontScale="92500" lnSpcReduction="20000"/>
          </a:bodyPr>
          <a:lstStyle/>
          <a:p>
            <a:r>
              <a:rPr lang="en-CA" dirty="0">
                <a:solidFill>
                  <a:schemeClr val="bg1"/>
                </a:solidFill>
                <a:highlight>
                  <a:srgbClr val="FFFF00"/>
                </a:highlight>
              </a:rPr>
              <a:t>You should </a:t>
            </a:r>
            <a:r>
              <a:rPr lang="en-CA" b="1" dirty="0">
                <a:solidFill>
                  <a:srgbClr val="FF0000"/>
                </a:solidFill>
                <a:highlight>
                  <a:srgbClr val="FFFF00"/>
                </a:highlight>
              </a:rPr>
              <a:t>NEVER</a:t>
            </a:r>
            <a:r>
              <a:rPr lang="en-CA" dirty="0">
                <a:highlight>
                  <a:srgbClr val="FFFF00"/>
                </a:highlight>
              </a:rPr>
              <a:t> </a:t>
            </a:r>
            <a:r>
              <a:rPr lang="en-CA" dirty="0">
                <a:solidFill>
                  <a:schemeClr val="bg1"/>
                </a:solidFill>
                <a:highlight>
                  <a:srgbClr val="FFFF00"/>
                </a:highlight>
              </a:rPr>
              <a:t>do complex calculations in an output statement</a:t>
            </a:r>
          </a:p>
          <a:p>
            <a:pPr lvl="1"/>
            <a:r>
              <a:rPr lang="en-CA" dirty="0"/>
              <a:t>The only exception to this rule is </a:t>
            </a:r>
            <a:r>
              <a:rPr lang="en-CA" dirty="0">
                <a:solidFill>
                  <a:srgbClr val="FFFF00"/>
                </a:solidFill>
              </a:rPr>
              <a:t>rounding</a:t>
            </a:r>
            <a:r>
              <a:rPr lang="en-CA" dirty="0"/>
              <a:t> values </a:t>
            </a:r>
            <a:r>
              <a:rPr lang="en-CA" dirty="0" smtClean="0">
                <a:solidFill>
                  <a:srgbClr val="92D050"/>
                </a:solidFill>
              </a:rPr>
              <a:t>at the moment of display</a:t>
            </a:r>
            <a:r>
              <a:rPr lang="en-CA" dirty="0" smtClean="0"/>
              <a:t>, not before.</a:t>
            </a:r>
            <a:endParaRPr lang="en-CA" dirty="0"/>
          </a:p>
          <a:p>
            <a:r>
              <a:rPr lang="en-CA" dirty="0"/>
              <a:t>Instead, do your calculations and store them in a variable for later output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  <a:p>
            <a:pPr marL="0" indent="0">
              <a:spcBef>
                <a:spcPts val="0"/>
              </a:spcBef>
              <a:buNone/>
            </a:pPr>
            <a:r>
              <a:rPr lang="en-CA" dirty="0">
                <a:solidFill>
                  <a:srgbClr val="92D050"/>
                </a:solidFill>
              </a:rPr>
              <a:t>Math Examples</a:t>
            </a:r>
          </a:p>
          <a:p>
            <a:pPr marL="0" indent="0">
              <a:spcBef>
                <a:spcPts val="0"/>
              </a:spcBef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F4219-D2E2-4C73-89ED-C67B1613DBE5}"/>
              </a:ext>
            </a:extLst>
          </p:cNvPr>
          <p:cNvSpPr txBox="1"/>
          <p:nvPr/>
        </p:nvSpPr>
        <p:spPr>
          <a:xfrm>
            <a:off x="945217" y="2711781"/>
            <a:ext cx="695575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sum;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average;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sum = 10.3 + 4.2 + 3.7 + 6.5;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average = sum / 4;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Console.WriteLine(“The average is ” + average);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D09966-B86B-4CCB-863E-31CBFA4547BD}"/>
              </a:ext>
            </a:extLst>
          </p:cNvPr>
          <p:cNvSpPr txBox="1"/>
          <p:nvPr/>
        </p:nvSpPr>
        <p:spPr>
          <a:xfrm>
            <a:off x="945217" y="4725144"/>
            <a:ext cx="737894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length = 5;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width = 4;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perimeter;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perimeter = (2 * length) + (2 * width);</a:t>
            </a:r>
          </a:p>
          <a:p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Console.WriteLine(“The perimeter is ” + perimeter);</a:t>
            </a:r>
          </a:p>
        </p:txBody>
      </p:sp>
    </p:spTree>
    <p:extLst>
      <p:ext uri="{BB962C8B-B14F-4D97-AF65-F5344CB8AC3E}">
        <p14:creationId xmlns:p14="http://schemas.microsoft.com/office/powerpoint/2010/main" val="170896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4AD3-58AF-CD08-B58D-0DD2A94A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3" y="274637"/>
            <a:ext cx="10525532" cy="706091"/>
          </a:xfrm>
        </p:spPr>
        <p:txBody>
          <a:bodyPr/>
          <a:lstStyle/>
          <a:p>
            <a:r>
              <a:rPr lang="en-CA" dirty="0"/>
              <a:t>Special Note on Expressions with Mixed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731D9-2571-8DBB-C950-C92E11A0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636169" cy="547260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sz="2800" dirty="0">
                <a:solidFill>
                  <a:srgbClr val="00B0F0"/>
                </a:solidFill>
              </a:rPr>
              <a:t>Mixing data types within expressions will always result in the larger data type</a:t>
            </a:r>
          </a:p>
          <a:p>
            <a:pPr marL="457200" indent="-457200"/>
            <a:r>
              <a:rPr lang="en-CA" dirty="0"/>
              <a:t>Multiplying two </a:t>
            </a:r>
            <a:r>
              <a:rPr lang="en-CA" dirty="0" err="1"/>
              <a:t>ints</a:t>
            </a:r>
            <a:r>
              <a:rPr lang="en-CA" dirty="0"/>
              <a:t>, results in an int</a:t>
            </a:r>
          </a:p>
          <a:p>
            <a:pPr marL="761946" lvl="1" indent="-457200"/>
            <a:r>
              <a:rPr lang="en-CA" dirty="0"/>
              <a:t>Example 1: </a:t>
            </a:r>
            <a:r>
              <a:rPr lang="en-CA" dirty="0">
                <a:solidFill>
                  <a:srgbClr val="92D050"/>
                </a:solidFill>
              </a:rPr>
              <a:t>5 * 3 </a:t>
            </a:r>
            <a:r>
              <a:rPr lang="en-CA" dirty="0"/>
              <a:t>will be </a:t>
            </a:r>
            <a:r>
              <a:rPr lang="en-CA" dirty="0">
                <a:solidFill>
                  <a:srgbClr val="92D050"/>
                </a:solidFill>
              </a:rPr>
              <a:t>15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Multiplying a double and an int, results in a double</a:t>
            </a:r>
          </a:p>
          <a:p>
            <a:pPr marL="761946" lvl="1" indent="-457200"/>
            <a:r>
              <a:rPr lang="en-CA" dirty="0"/>
              <a:t>Example 2: </a:t>
            </a:r>
            <a:r>
              <a:rPr lang="en-CA" dirty="0">
                <a:solidFill>
                  <a:srgbClr val="92D050"/>
                </a:solidFill>
              </a:rPr>
              <a:t>2.5 * 3 </a:t>
            </a:r>
            <a:r>
              <a:rPr lang="en-CA" dirty="0"/>
              <a:t>will be </a:t>
            </a:r>
            <a:r>
              <a:rPr lang="en-CA" dirty="0">
                <a:solidFill>
                  <a:srgbClr val="92D050"/>
                </a:solidFill>
              </a:rPr>
              <a:t>7.5</a:t>
            </a:r>
          </a:p>
          <a:p>
            <a:pPr marL="457200" indent="-457200"/>
            <a:r>
              <a:rPr lang="en-CA" dirty="0"/>
              <a:t>Dividing two </a:t>
            </a:r>
            <a:r>
              <a:rPr lang="en-CA" dirty="0" err="1"/>
              <a:t>ints</a:t>
            </a:r>
            <a:r>
              <a:rPr lang="en-CA" dirty="0"/>
              <a:t>, results in an int! But what if the division should have a decimal</a:t>
            </a:r>
          </a:p>
          <a:p>
            <a:pPr marL="761946" lvl="1" indent="-457200"/>
            <a:r>
              <a:rPr lang="en-CA" dirty="0">
                <a:solidFill>
                  <a:srgbClr val="FFFF00"/>
                </a:solidFill>
              </a:rPr>
              <a:t>Example 3: </a:t>
            </a:r>
            <a:r>
              <a:rPr lang="en-CA" dirty="0">
                <a:solidFill>
                  <a:srgbClr val="92D050"/>
                </a:solidFill>
              </a:rPr>
              <a:t>5 / 2 </a:t>
            </a:r>
            <a:r>
              <a:rPr lang="en-CA" dirty="0">
                <a:solidFill>
                  <a:srgbClr val="FFFF00"/>
                </a:solidFill>
              </a:rPr>
              <a:t>will be </a:t>
            </a:r>
            <a:r>
              <a:rPr lang="en-CA" dirty="0">
                <a:solidFill>
                  <a:srgbClr val="92D050"/>
                </a:solidFill>
              </a:rPr>
              <a:t>2</a:t>
            </a:r>
          </a:p>
          <a:p>
            <a:pPr marL="1066693" lvl="2" indent="-457200"/>
            <a:r>
              <a:rPr lang="en-CA" sz="2400" dirty="0"/>
              <a:t>The decimal is </a:t>
            </a:r>
            <a:r>
              <a:rPr lang="en-CA" sz="2400" dirty="0">
                <a:solidFill>
                  <a:srgbClr val="FFFF00"/>
                </a:solidFill>
              </a:rPr>
              <a:t>truncated (completely cut off)</a:t>
            </a:r>
            <a:r>
              <a:rPr lang="en-CA" sz="2400" dirty="0"/>
              <a:t>, NOT rounded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800" dirty="0"/>
              <a:t>Dividing an int and a double (in either order), results in a double</a:t>
            </a:r>
          </a:p>
          <a:p>
            <a:pPr marL="761946" lvl="1" indent="-457200"/>
            <a:r>
              <a:rPr lang="en-CA" dirty="0"/>
              <a:t>Example 4: </a:t>
            </a:r>
            <a:r>
              <a:rPr lang="en-CA" dirty="0">
                <a:solidFill>
                  <a:srgbClr val="92D050"/>
                </a:solidFill>
              </a:rPr>
              <a:t>5 / 2.0 </a:t>
            </a:r>
            <a:r>
              <a:rPr lang="en-CA" dirty="0"/>
              <a:t>will be </a:t>
            </a:r>
            <a:r>
              <a:rPr lang="en-CA" dirty="0">
                <a:solidFill>
                  <a:srgbClr val="92D050"/>
                </a:solidFill>
              </a:rPr>
              <a:t>2.5</a:t>
            </a:r>
          </a:p>
          <a:p>
            <a:pPr marL="304746" lvl="1" indent="0">
              <a:buNone/>
            </a:pPr>
            <a:endParaRPr lang="en-CA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CA" sz="2800" dirty="0">
                <a:solidFill>
                  <a:srgbClr val="00B0F0"/>
                </a:solidFill>
              </a:rPr>
              <a:t>These are literal values, but variables would act the same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CA" sz="2100" dirty="0">
                <a:latin typeface="Consolas" panose="020B0609020204030204" pitchFamily="49" charset="0"/>
              </a:rPr>
              <a:t>int num = 5;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CA" sz="2100" dirty="0">
                <a:latin typeface="Consolas" panose="020B0609020204030204" pitchFamily="49" charset="0"/>
              </a:rPr>
              <a:t>int result = num/2; </a:t>
            </a:r>
            <a:r>
              <a:rPr lang="en-CA" sz="2100" dirty="0">
                <a:latin typeface="Consolas" panose="020B0609020204030204" pitchFamily="49" charset="0"/>
                <a:sym typeface="Wingdings" panose="05000000000000000000" pitchFamily="2" charset="2"/>
              </a:rPr>
              <a:t> What would change if we made result a double?</a:t>
            </a:r>
            <a:endParaRPr lang="en-CA" sz="2100" dirty="0">
              <a:latin typeface="Consolas" panose="020B06090202040302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CA" sz="2100" dirty="0" err="1">
                <a:latin typeface="Consolas" panose="020B0609020204030204" pitchFamily="49" charset="0"/>
              </a:rPr>
              <a:t>Console.WriteLine</a:t>
            </a:r>
            <a:r>
              <a:rPr lang="en-CA" sz="2100" dirty="0">
                <a:latin typeface="Consolas" panose="020B0609020204030204" pitchFamily="49" charset="0"/>
              </a:rPr>
              <a:t>(“Result: ” + result);  </a:t>
            </a:r>
            <a:r>
              <a:rPr lang="en-CA" sz="2100" dirty="0">
                <a:latin typeface="Consolas" panose="020B0609020204030204" pitchFamily="49" charset="0"/>
                <a:sym typeface="Wingdings" panose="05000000000000000000" pitchFamily="2" charset="2"/>
              </a:rPr>
              <a:t> Will display </a:t>
            </a:r>
            <a:r>
              <a:rPr lang="en-CA" sz="21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Result: 2</a:t>
            </a:r>
            <a:endParaRPr lang="en-CA" sz="21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66830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A5B1A-C40A-4DEA-9060-C6560D4C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Assigning Variables to Other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B88B6-8B3A-4007-87D6-A146AA161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4" y="1701797"/>
            <a:ext cx="10873207" cy="4462272"/>
          </a:xfrm>
        </p:spPr>
        <p:txBody>
          <a:bodyPr>
            <a:normAutofit/>
          </a:bodyPr>
          <a:lstStyle/>
          <a:p>
            <a:r>
              <a:rPr lang="en-CA" dirty="0"/>
              <a:t>Just like assigning a variable to an expression, we follow the same steps</a:t>
            </a:r>
          </a:p>
          <a:p>
            <a:pPr marL="0" indent="0">
              <a:buNone/>
            </a:pPr>
            <a:r>
              <a:rPr lang="en-CA" dirty="0"/>
              <a:t>Example: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twinBrotherAge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twinSisterAge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twinBrotherAge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= 15;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twinSisterAge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=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twinBrotherAge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endParaRPr lang="en-CA" sz="20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twinBrotherAge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= 16;</a:t>
            </a: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Font typeface="Georgia" panose="02040502050405020303" pitchFamily="18" charset="0"/>
              <a:buNone/>
              <a:defRPr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(“Bro: ” +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twinBrotherAge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spcBef>
                <a:spcPts val="600"/>
              </a:spcBef>
              <a:buNone/>
              <a:defRPr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(“Sis: ” +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twinSisterAge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55A4F-F214-477F-90F5-78C8C03CBE63}"/>
              </a:ext>
            </a:extLst>
          </p:cNvPr>
          <p:cNvSpPr txBox="1"/>
          <p:nvPr/>
        </p:nvSpPr>
        <p:spPr>
          <a:xfrm>
            <a:off x="5734372" y="3068960"/>
            <a:ext cx="639149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This </a:t>
            </a:r>
            <a:r>
              <a:rPr lang="en-CA" sz="2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COPIES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the </a:t>
            </a:r>
            <a:r>
              <a:rPr lang="en-CA" sz="2000" b="1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value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stored</a:t>
            </a:r>
          </a:p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in RAM for </a:t>
            </a:r>
            <a:r>
              <a:rPr lang="en-CA" sz="2000" dirty="0" err="1">
                <a:solidFill>
                  <a:srgbClr val="00B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twinBrotherAge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into</a:t>
            </a:r>
          </a:p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the </a:t>
            </a:r>
            <a:r>
              <a:rPr lang="en-CA" sz="2000" dirty="0" err="1">
                <a:solidFill>
                  <a:srgbClr val="00B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twinSisterAge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variable.  They</a:t>
            </a:r>
          </a:p>
          <a:p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are </a:t>
            </a:r>
            <a:r>
              <a:rPr lang="en-CA" sz="2000" b="1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NOT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linked after this point. Changing</a:t>
            </a:r>
          </a:p>
          <a:p>
            <a:r>
              <a:rPr lang="en-CA" sz="2000" dirty="0" err="1">
                <a:solidFill>
                  <a:srgbClr val="00B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twinBrotherAge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will not affect </a:t>
            </a:r>
            <a:r>
              <a:rPr lang="en-CA" sz="2000" dirty="0" err="1">
                <a:solidFill>
                  <a:srgbClr val="00B05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twinSisterAge</a:t>
            </a:r>
            <a:endParaRPr lang="en-CA" sz="2000" dirty="0">
              <a:solidFill>
                <a:srgbClr val="00B050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7C318F-BF21-6ADC-4782-6B6057B3F7B4}"/>
              </a:ext>
            </a:extLst>
          </p:cNvPr>
          <p:cNvCxnSpPr>
            <a:cxnSpLocks/>
          </p:cNvCxnSpPr>
          <p:nvPr/>
        </p:nvCxnSpPr>
        <p:spPr>
          <a:xfrm flipH="1">
            <a:off x="5446340" y="3717032"/>
            <a:ext cx="360040" cy="215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50AB4D-30AC-EB57-F3DC-E1FF200A9BCF}"/>
              </a:ext>
            </a:extLst>
          </p:cNvPr>
          <p:cNvSpPr/>
          <p:nvPr/>
        </p:nvSpPr>
        <p:spPr>
          <a:xfrm>
            <a:off x="1125860" y="5589240"/>
            <a:ext cx="6120680" cy="99412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Bro: 16</a:t>
            </a:r>
          </a:p>
          <a:p>
            <a:r>
              <a:rPr lang="en-CA" sz="28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</a:rPr>
              <a:t>Sis: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10C82-A0F0-7FE1-ABF0-7A54CD645B19}"/>
              </a:ext>
            </a:extLst>
          </p:cNvPr>
          <p:cNvSpPr txBox="1"/>
          <p:nvPr/>
        </p:nvSpPr>
        <p:spPr>
          <a:xfrm>
            <a:off x="7678588" y="5041173"/>
            <a:ext cx="3634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What will be displayed?</a:t>
            </a:r>
          </a:p>
        </p:txBody>
      </p:sp>
    </p:spTree>
    <p:extLst>
      <p:ext uri="{BB962C8B-B14F-4D97-AF65-F5344CB8AC3E}">
        <p14:creationId xmlns:p14="http://schemas.microsoft.com/office/powerpoint/2010/main" val="420531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9087-084A-478F-A9A4-D6B7C50B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FFFF00"/>
                </a:solidFill>
              </a:rPr>
              <a:t>Shortcut!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2AB7A-0684-4D1A-8DB0-4D824E35D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607523"/>
          </a:xfrm>
        </p:spPr>
        <p:txBody>
          <a:bodyPr/>
          <a:lstStyle/>
          <a:p>
            <a:r>
              <a:rPr lang="en-CA" dirty="0"/>
              <a:t>There are a number of commands you will use frequently in your programming career.  As such, people have developed shortcuts.</a:t>
            </a:r>
          </a:p>
          <a:p>
            <a:r>
              <a:rPr lang="en-CA" dirty="0"/>
              <a:t>Two of the most common actions are simply adding or subtracting a variable by a consistent value.</a:t>
            </a:r>
          </a:p>
          <a:p>
            <a:pPr lvl="1"/>
            <a:r>
              <a:rPr lang="en-CA" dirty="0"/>
              <a:t>For example, increasing a score by 5 whenever a coin is collected.</a:t>
            </a:r>
          </a:p>
          <a:p>
            <a:pPr lvl="1"/>
            <a:r>
              <a:rPr lang="en-CA" dirty="0"/>
              <a:t>The terms for these actions are </a:t>
            </a:r>
            <a:r>
              <a:rPr lang="en-CA" dirty="0">
                <a:solidFill>
                  <a:srgbClr val="FFFF00"/>
                </a:solidFill>
              </a:rPr>
              <a:t>increment</a:t>
            </a:r>
            <a:r>
              <a:rPr lang="en-CA" dirty="0"/>
              <a:t> (add) and </a:t>
            </a:r>
            <a:r>
              <a:rPr lang="en-CA" dirty="0">
                <a:solidFill>
                  <a:srgbClr val="FFFF00"/>
                </a:solidFill>
              </a:rPr>
              <a:t>decrement</a:t>
            </a:r>
            <a:r>
              <a:rPr lang="en-CA" dirty="0"/>
              <a:t>(subtract)</a:t>
            </a:r>
          </a:p>
          <a:p>
            <a:r>
              <a:rPr lang="en-CA" dirty="0"/>
              <a:t>To do this with our current knowledge:</a:t>
            </a:r>
          </a:p>
          <a:p>
            <a:pPr lvl="1"/>
            <a:r>
              <a:rPr lang="en-CA" dirty="0"/>
              <a:t>Example: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score = score + 5;</a:t>
            </a:r>
          </a:p>
          <a:p>
            <a:r>
              <a:rPr lang="en-CA" dirty="0"/>
              <a:t>The expression is evaluated </a:t>
            </a:r>
            <a:r>
              <a:rPr lang="en-CA" dirty="0">
                <a:solidFill>
                  <a:srgbClr val="FFFF00"/>
                </a:solidFill>
              </a:rPr>
              <a:t>BEFORE</a:t>
            </a:r>
            <a:r>
              <a:rPr lang="en-CA" dirty="0"/>
              <a:t> it is stored back in the variable</a:t>
            </a:r>
          </a:p>
        </p:txBody>
      </p:sp>
    </p:spTree>
    <p:extLst>
      <p:ext uri="{BB962C8B-B14F-4D97-AF65-F5344CB8AC3E}">
        <p14:creationId xmlns:p14="http://schemas.microsoft.com/office/powerpoint/2010/main" val="122273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1CA98-15A2-494F-A54E-605C850EC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FFFF00"/>
                </a:solidFill>
              </a:rPr>
              <a:t>Shortcut! – So what is it already!?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D7FE-064E-4369-B7DA-2B224C638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607523"/>
          </a:xfrm>
        </p:spPr>
        <p:txBody>
          <a:bodyPr>
            <a:normAutofit/>
          </a:bodyPr>
          <a:lstStyle/>
          <a:p>
            <a:r>
              <a:rPr lang="en-CA" dirty="0"/>
              <a:t>When we want a variable to add or subtract a value with </a:t>
            </a:r>
            <a:r>
              <a:rPr lang="en-CA" dirty="0">
                <a:solidFill>
                  <a:srgbClr val="FFFF00"/>
                </a:solidFill>
              </a:rPr>
              <a:t>itself</a:t>
            </a:r>
            <a:r>
              <a:rPr lang="en-CA" dirty="0"/>
              <a:t> we combine the operators needed</a:t>
            </a:r>
          </a:p>
          <a:p>
            <a:r>
              <a:rPr lang="en-CA" dirty="0"/>
              <a:t>Example: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score = score + 5;</a:t>
            </a:r>
            <a:r>
              <a:rPr lang="en-CA" dirty="0">
                <a:solidFill>
                  <a:srgbClr val="00B0F0"/>
                </a:solidFill>
              </a:rPr>
              <a:t>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becomes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score += 5;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The same things works for decrementing: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score -= 5;</a:t>
            </a:r>
          </a:p>
          <a:p>
            <a:pPr marL="377886" lvl="1" indent="0">
              <a:buNone/>
            </a:pPr>
            <a:endParaRPr lang="en-CA" dirty="0">
              <a:sym typeface="Wingdings" panose="05000000000000000000" pitchFamily="2" charset="2"/>
            </a:endParaRPr>
          </a:p>
          <a:p>
            <a:r>
              <a:rPr lang="en-CA" dirty="0">
                <a:sym typeface="Wingdings" panose="05000000000000000000" pitchFamily="2" charset="2"/>
              </a:rPr>
              <a:t>An even more common action than these is adding/subtracting by 1</a:t>
            </a:r>
          </a:p>
          <a:p>
            <a:r>
              <a:rPr lang="en-CA" dirty="0">
                <a:sym typeface="Wingdings" panose="05000000000000000000" pitchFamily="2" charset="2"/>
              </a:rPr>
              <a:t>To do this we use the operators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++</a:t>
            </a:r>
            <a:r>
              <a:rPr lang="en-CA" dirty="0">
                <a:sym typeface="Wingdings" panose="05000000000000000000" pitchFamily="2" charset="2"/>
              </a:rPr>
              <a:t> and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--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Example: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score = score + 1;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/>
              <a:t>becomes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score++;</a:t>
            </a:r>
            <a:endParaRPr lang="en-CA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2555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7672-6234-409E-9095-E6DE39F59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FD93E-3D42-4B7A-A272-876CB168B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669584"/>
          </a:xfrm>
        </p:spPr>
        <p:txBody>
          <a:bodyPr>
            <a:normAutofit/>
          </a:bodyPr>
          <a:lstStyle/>
          <a:p>
            <a:r>
              <a:rPr lang="en-CA" dirty="0">
                <a:solidFill>
                  <a:srgbClr val="FFFF00"/>
                </a:solidFill>
              </a:rPr>
              <a:t>Recall: </a:t>
            </a:r>
            <a:r>
              <a:rPr lang="en-CA" dirty="0"/>
              <a:t>The two purposes of variables is to store data that changes over time and to increase readability of our code</a:t>
            </a:r>
          </a:p>
          <a:p>
            <a:endParaRPr lang="en-CA" dirty="0"/>
          </a:p>
          <a:p>
            <a:r>
              <a:rPr lang="en-CA" dirty="0"/>
              <a:t>A </a:t>
            </a:r>
            <a:r>
              <a:rPr lang="en-CA" dirty="0">
                <a:solidFill>
                  <a:srgbClr val="FFFF00"/>
                </a:solidFill>
              </a:rPr>
              <a:t>Constant</a:t>
            </a:r>
            <a:r>
              <a:rPr lang="en-CA" dirty="0"/>
              <a:t> is a special kind of variable.  It has all the attributes of a variable except you </a:t>
            </a:r>
            <a:r>
              <a:rPr lang="en-CA" b="1" dirty="0">
                <a:solidFill>
                  <a:srgbClr val="00B050"/>
                </a:solidFill>
              </a:rPr>
              <a:t>MUST</a:t>
            </a:r>
            <a:r>
              <a:rPr lang="en-CA" dirty="0"/>
              <a:t> assign its value when you define it and its value can </a:t>
            </a:r>
            <a:r>
              <a:rPr lang="en-CA" b="1" dirty="0">
                <a:solidFill>
                  <a:srgbClr val="FF0000"/>
                </a:solidFill>
              </a:rPr>
              <a:t>NEVER</a:t>
            </a:r>
            <a:r>
              <a:rPr lang="en-CA" dirty="0"/>
              <a:t> be changed, hence constant</a:t>
            </a:r>
          </a:p>
          <a:p>
            <a:pPr lvl="1"/>
            <a:r>
              <a:rPr lang="en-CA" dirty="0"/>
              <a:t>Constants are almost always used simply as a nickname to give values meaning in the code (increased readability, no magic values!)</a:t>
            </a:r>
          </a:p>
          <a:p>
            <a:r>
              <a:rPr lang="en-CA" dirty="0"/>
              <a:t>We will always define constants globally, not locally</a:t>
            </a:r>
          </a:p>
          <a:p>
            <a:pPr lvl="1"/>
            <a:r>
              <a:rPr lang="en-CA" dirty="0"/>
              <a:t>We will always define constants above the variables</a:t>
            </a:r>
          </a:p>
          <a:p>
            <a:r>
              <a:rPr lang="en-CA" dirty="0"/>
              <a:t>Example</a:t>
            </a:r>
          </a:p>
          <a:p>
            <a:pPr marL="377886" lvl="1" indent="0">
              <a:buNone/>
            </a:pPr>
            <a:r>
              <a:rPr lang="en-CA" dirty="0">
                <a:solidFill>
                  <a:srgbClr val="FF0000"/>
                </a:solidFill>
                <a:latin typeface="Consolas" panose="020B0609020204030204" pitchFamily="49" charset="0"/>
              </a:rPr>
              <a:t>const</a:t>
            </a:r>
            <a:r>
              <a:rPr lang="en-CA" dirty="0">
                <a:solidFill>
                  <a:srgbClr val="00B0F0"/>
                </a:solidFill>
                <a:latin typeface="Consolas" panose="020B0609020204030204" pitchFamily="49" charset="0"/>
              </a:rPr>
              <a:t> double ACCELERATION_DUE_TO_GRAVITY = -9.81;</a:t>
            </a:r>
          </a:p>
        </p:txBody>
      </p:sp>
    </p:spTree>
    <p:extLst>
      <p:ext uri="{BB962C8B-B14F-4D97-AF65-F5344CB8AC3E}">
        <p14:creationId xmlns:p14="http://schemas.microsoft.com/office/powerpoint/2010/main" val="356737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5E96-4372-44F9-AEC6-8C1342482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/>
          <a:lstStyle/>
          <a:p>
            <a:r>
              <a:rPr lang="en-CA" dirty="0"/>
              <a:t>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B451E-28CC-48E9-8A6A-1D82821E2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10360501" cy="5112567"/>
          </a:xfrm>
        </p:spPr>
        <p:txBody>
          <a:bodyPr>
            <a:normAutofit/>
          </a:bodyPr>
          <a:lstStyle/>
          <a:p>
            <a:r>
              <a:rPr lang="en-CA" dirty="0"/>
              <a:t>Constant </a:t>
            </a:r>
            <a:r>
              <a:rPr lang="en-CA" dirty="0">
                <a:solidFill>
                  <a:srgbClr val="FFFF00"/>
                </a:solidFill>
              </a:rPr>
              <a:t>identifiers</a:t>
            </a:r>
            <a:r>
              <a:rPr lang="en-CA" dirty="0"/>
              <a:t> follow all of the same rules and conventions as regular variables except 3:</a:t>
            </a:r>
          </a:p>
          <a:p>
            <a:pPr lvl="1"/>
            <a:r>
              <a:rPr lang="en-CA" dirty="0"/>
              <a:t>Constant definitions start with the keyword </a:t>
            </a:r>
            <a:r>
              <a:rPr lang="en-CA" dirty="0">
                <a:solidFill>
                  <a:srgbClr val="00B0F0"/>
                </a:solidFill>
              </a:rPr>
              <a:t>const</a:t>
            </a:r>
          </a:p>
          <a:p>
            <a:pPr lvl="1"/>
            <a:r>
              <a:rPr lang="en-CA" dirty="0"/>
              <a:t>Constant identifiers use </a:t>
            </a:r>
            <a:r>
              <a:rPr lang="en-CA" dirty="0">
                <a:solidFill>
                  <a:srgbClr val="FFFF00"/>
                </a:solidFill>
              </a:rPr>
              <a:t>SCREAMING_CASE </a:t>
            </a:r>
            <a:r>
              <a:rPr lang="en-CA" dirty="0"/>
              <a:t>(all </a:t>
            </a:r>
            <a:r>
              <a:rPr lang="en-CA" dirty="0">
                <a:solidFill>
                  <a:srgbClr val="00B0F0"/>
                </a:solidFill>
              </a:rPr>
              <a:t>capital letters</a:t>
            </a:r>
            <a:r>
              <a:rPr lang="en-CA" dirty="0"/>
              <a:t>)</a:t>
            </a:r>
          </a:p>
          <a:p>
            <a:pPr lvl="1"/>
            <a:r>
              <a:rPr lang="en-CA" dirty="0"/>
              <a:t>Words are separated using </a:t>
            </a:r>
            <a:r>
              <a:rPr lang="en-CA" dirty="0">
                <a:solidFill>
                  <a:srgbClr val="00B0F0"/>
                </a:solidFill>
              </a:rPr>
              <a:t>underscores</a:t>
            </a:r>
          </a:p>
          <a:p>
            <a:pPr lvl="2"/>
            <a:r>
              <a:rPr lang="en-CA" dirty="0"/>
              <a:t>E.g. THIS_IS_A_CONSTANT_IDENTIFIER</a:t>
            </a:r>
          </a:p>
          <a:p>
            <a:pPr lvl="2"/>
            <a:endParaRPr lang="en-CA" dirty="0"/>
          </a:p>
          <a:p>
            <a:r>
              <a:rPr lang="en-CA" dirty="0">
                <a:solidFill>
                  <a:srgbClr val="FFFF00"/>
                </a:solidFill>
              </a:rPr>
              <a:t>SPECIAL NOTE:</a:t>
            </a:r>
          </a:p>
          <a:p>
            <a:pPr lvl="1"/>
            <a:r>
              <a:rPr lang="en-CA" dirty="0"/>
              <a:t>Normally when we create a global variable we </a:t>
            </a:r>
            <a:r>
              <a:rPr lang="en-CA" dirty="0">
                <a:solidFill>
                  <a:srgbClr val="92D050"/>
                </a:solidFill>
              </a:rPr>
              <a:t>must define it as static</a:t>
            </a:r>
            <a:r>
              <a:rPr lang="en-CA" dirty="0"/>
              <a:t> so we can use it in the Main later</a:t>
            </a:r>
          </a:p>
          <a:p>
            <a:pPr lvl="1"/>
            <a:r>
              <a:rPr lang="en-CA" dirty="0">
                <a:solidFill>
                  <a:srgbClr val="92D050"/>
                </a:solidFill>
              </a:rPr>
              <a:t>Constants are an exception to this rule</a:t>
            </a:r>
            <a:r>
              <a:rPr lang="en-CA" dirty="0"/>
              <a:t>, as the very definition of the word static means, unchanging (or constant) so it would be redundant.</a:t>
            </a:r>
          </a:p>
        </p:txBody>
      </p:sp>
    </p:spTree>
    <p:extLst>
      <p:ext uri="{BB962C8B-B14F-4D97-AF65-F5344CB8AC3E}">
        <p14:creationId xmlns:p14="http://schemas.microsoft.com/office/powerpoint/2010/main" val="65942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224</TotalTime>
  <Words>1091</Words>
  <Application>Microsoft Office PowerPoint</Application>
  <PresentationFormat>Custom</PresentationFormat>
  <Paragraphs>146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Georgia</vt:lpstr>
      <vt:lpstr>Wingdings</vt:lpstr>
      <vt:lpstr>Tech 16x9</vt:lpstr>
      <vt:lpstr>Variables: Module 3</vt:lpstr>
      <vt:lpstr>Using a Variable - Assignment</vt:lpstr>
      <vt:lpstr>Expressions – What are they?</vt:lpstr>
      <vt:lpstr>Operators</vt:lpstr>
      <vt:lpstr>Back to Expressions…</vt:lpstr>
      <vt:lpstr>Expressions and Math!</vt:lpstr>
      <vt:lpstr>Special Note on Expressions with Mixed Types</vt:lpstr>
      <vt:lpstr>Assigning Variables to Other Variables</vt:lpstr>
      <vt:lpstr>Shortcut!</vt:lpstr>
      <vt:lpstr>Shortcut! – So what is it already!?</vt:lpstr>
      <vt:lpstr>Constants</vt:lpstr>
      <vt:lpstr>Constants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Module 3</dc:title>
  <dc:creator>Trevor Lane</dc:creator>
  <cp:lastModifiedBy>Lane, Trevor</cp:lastModifiedBy>
  <cp:revision>16</cp:revision>
  <dcterms:created xsi:type="dcterms:W3CDTF">2020-09-22T04:18:11Z</dcterms:created>
  <dcterms:modified xsi:type="dcterms:W3CDTF">2026-09-21T18:20:59Z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