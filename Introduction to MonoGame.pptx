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57" r:id="rId3"/>
    <p:sldId id="271" r:id="rId4"/>
    <p:sldId id="258" r:id="rId5"/>
    <p:sldId id="259" r:id="rId6"/>
    <p:sldId id="263" r:id="rId7"/>
    <p:sldId id="264" r:id="rId8"/>
    <p:sldId id="279" r:id="rId9"/>
    <p:sldId id="280" r:id="rId10"/>
    <p:sldId id="281" r:id="rId11"/>
    <p:sldId id="272" r:id="rId12"/>
    <p:sldId id="273" r:id="rId13"/>
    <p:sldId id="274" r:id="rId14"/>
    <p:sldId id="27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72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715193EE-52CC-4520-95EE-21907C6269C9}" type="datetimeFigureOut">
              <a:rPr lang="en-CA" smtClean="0"/>
              <a:t>2026-10-04</a:t>
            </a:fld>
            <a:endParaRPr lang="en-CA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CA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F1AA482F-9FDD-4011-A549-AF3BC495C47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715193EE-52CC-4520-95EE-21907C6269C9}" type="datetimeFigureOut">
              <a:rPr lang="en-CA" smtClean="0"/>
              <a:t>2026-10-04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482F-9FDD-4011-A549-AF3BC495C47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715193EE-52CC-4520-95EE-21907C6269C9}" type="datetimeFigureOut">
              <a:rPr lang="en-CA" smtClean="0"/>
              <a:t>2026-10-04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F1AA482F-9FDD-4011-A549-AF3BC495C472}" type="slidenum">
              <a:rPr lang="en-CA" smtClean="0"/>
              <a:t>‹#›</a:t>
            </a:fld>
            <a:endParaRPr lang="en-CA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715193EE-52CC-4520-95EE-21907C6269C9}" type="datetimeFigureOut">
              <a:rPr lang="en-CA" smtClean="0"/>
              <a:t>2026-10-04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F1AA482F-9FDD-4011-A549-AF3BC495C47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715193EE-52CC-4520-95EE-21907C6269C9}" type="datetimeFigureOut">
              <a:rPr lang="en-CA" smtClean="0"/>
              <a:t>2026-10-04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F1AA482F-9FDD-4011-A549-AF3BC495C472}" type="slidenum">
              <a:rPr lang="en-CA" smtClean="0"/>
              <a:t>‹#›</a:t>
            </a:fld>
            <a:endParaRPr lang="en-C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93EE-52CC-4520-95EE-21907C6269C9}" type="datetimeFigureOut">
              <a:rPr lang="en-CA" smtClean="0"/>
              <a:t>2026-10-04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482F-9FDD-4011-A549-AF3BC495C47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715193EE-52CC-4520-95EE-21907C6269C9}" type="datetimeFigureOut">
              <a:rPr lang="en-CA" smtClean="0"/>
              <a:t>2026-10-04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F1AA482F-9FDD-4011-A549-AF3BC495C47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715193EE-52CC-4520-95EE-21907C6269C9}" type="datetimeFigureOut">
              <a:rPr lang="en-CA" smtClean="0"/>
              <a:t>2026-10-04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F1AA482F-9FDD-4011-A549-AF3BC495C472}" type="slidenum">
              <a:rPr lang="en-CA" smtClean="0"/>
              <a:t>‹#›</a:t>
            </a:fld>
            <a:endParaRPr lang="en-C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715193EE-52CC-4520-95EE-21907C6269C9}" type="datetimeFigureOut">
              <a:rPr lang="en-CA" smtClean="0"/>
              <a:t>2026-10-04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F1AA482F-9FDD-4011-A549-AF3BC495C472}" type="slidenum">
              <a:rPr lang="en-CA" smtClean="0"/>
              <a:t>‹#›</a:t>
            </a:fld>
            <a:endParaRPr lang="en-C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93EE-52CC-4520-95EE-21907C6269C9}" type="datetimeFigureOut">
              <a:rPr lang="en-CA" smtClean="0"/>
              <a:t>2026-10-04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482F-9FDD-4011-A549-AF3BC495C47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93EE-52CC-4520-95EE-21907C6269C9}" type="datetimeFigureOut">
              <a:rPr lang="en-CA" smtClean="0"/>
              <a:t>2026-10-04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482F-9FDD-4011-A549-AF3BC495C47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715193EE-52CC-4520-95EE-21907C6269C9}" type="datetimeFigureOut">
              <a:rPr lang="en-CA" smtClean="0"/>
              <a:t>2026-10-04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F1AA482F-9FDD-4011-A549-AF3BC495C472}" type="slidenum">
              <a:rPr lang="en-CA" smtClean="0"/>
              <a:t>‹#›</a:t>
            </a:fld>
            <a:endParaRPr lang="en-CA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afont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Introduction to </a:t>
            </a:r>
            <a:r>
              <a:rPr lang="en-CA" dirty="0" err="1"/>
              <a:t>MonoGame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The Open-Source successor to XNA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 to </a:t>
            </a:r>
            <a:r>
              <a:rPr lang="en-CA" dirty="0" err="1"/>
              <a:t>MonoGame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4040"/>
          </a:xfrm>
        </p:spPr>
        <p:txBody>
          <a:bodyPr>
            <a:normAutofit fontScale="85000" lnSpcReduction="10000"/>
          </a:bodyPr>
          <a:lstStyle/>
          <a:p>
            <a:r>
              <a:rPr lang="en-CA" dirty="0"/>
              <a:t>XNA was a programming tool created by Microsoft to ease the building of PC and XBox 360 games</a:t>
            </a:r>
          </a:p>
          <a:p>
            <a:endParaRPr lang="en-CA" dirty="0"/>
          </a:p>
          <a:p>
            <a:r>
              <a:rPr lang="en-CA" dirty="0"/>
              <a:t>It is a set of libraries that are extremely efficient that work together to simplify very complicated tasks like animation, sound, etc.</a:t>
            </a:r>
          </a:p>
          <a:p>
            <a:endParaRPr lang="en-CA" dirty="0"/>
          </a:p>
          <a:p>
            <a:r>
              <a:rPr lang="en-CA" dirty="0"/>
              <a:t>Since Microsoft discontinued support for XNA, the community took it upon itself to rebuild and support it themselves.</a:t>
            </a:r>
          </a:p>
          <a:p>
            <a:pPr lvl="1"/>
            <a:r>
              <a:rPr lang="en-CA" dirty="0"/>
              <a:t>Thus </a:t>
            </a:r>
            <a:r>
              <a:rPr lang="en-CA" dirty="0" err="1"/>
              <a:t>MonoGame</a:t>
            </a:r>
            <a:r>
              <a:rPr lang="en-CA" dirty="0"/>
              <a:t> was born, a near perfect reproduction of the entire XNA infrastructure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473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FE47C-DC62-40A5-AFA8-BD9633EC8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713234"/>
          </a:xfrm>
        </p:spPr>
        <p:txBody>
          <a:bodyPr>
            <a:normAutofit/>
          </a:bodyPr>
          <a:lstStyle/>
          <a:p>
            <a:r>
              <a:rPr lang="en-CA" sz="3800" dirty="0"/>
              <a:t>Games Made with </a:t>
            </a:r>
            <a:r>
              <a:rPr lang="en-CA" sz="3800" dirty="0" err="1"/>
              <a:t>MonoGame</a:t>
            </a:r>
            <a:endParaRPr lang="en-CA" sz="3800" dirty="0"/>
          </a:p>
        </p:txBody>
      </p:sp>
      <p:pic>
        <p:nvPicPr>
          <p:cNvPr id="2050" name="Picture 2" descr="Image result for bastion">
            <a:extLst>
              <a:ext uri="{FF2B5EF4-FFF2-40B4-BE49-F238E27FC236}">
                <a16:creationId xmlns:a16="http://schemas.microsoft.com/office/drawing/2014/main" id="{EA49682C-501F-4D4F-BA14-28AC35862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83126"/>
            <a:ext cx="2828925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Fez Game">
            <a:extLst>
              <a:ext uri="{FF2B5EF4-FFF2-40B4-BE49-F238E27FC236}">
                <a16:creationId xmlns:a16="http://schemas.microsoft.com/office/drawing/2014/main" id="{A1B977D3-9CAF-4A2C-95AB-64FDD4292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7" y="1002176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stardew valley cover art">
            <a:extLst>
              <a:ext uri="{FF2B5EF4-FFF2-40B4-BE49-F238E27FC236}">
                <a16:creationId xmlns:a16="http://schemas.microsoft.com/office/drawing/2014/main" id="{E667E0C3-B68E-41C2-8D20-DB50A1D92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3731854"/>
            <a:ext cx="2828925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mage result for Celeste">
            <a:extLst>
              <a:ext uri="{FF2B5EF4-FFF2-40B4-BE49-F238E27FC236}">
                <a16:creationId xmlns:a16="http://schemas.microsoft.com/office/drawing/2014/main" id="{2DE985B2-473A-4B44-B2BE-BB4E4887C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7" y="3731854"/>
            <a:ext cx="2828925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04DB29-5C19-46D5-AC5B-B3BEBA7A7A4D}"/>
              </a:ext>
            </a:extLst>
          </p:cNvPr>
          <p:cNvSpPr txBox="1"/>
          <p:nvPr/>
        </p:nvSpPr>
        <p:spPr>
          <a:xfrm>
            <a:off x="733368" y="2657388"/>
            <a:ext cx="22765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Bastion - 2011</a:t>
            </a:r>
          </a:p>
          <a:p>
            <a:pPr algn="ctr"/>
            <a:r>
              <a:rPr lang="en-CA" dirty="0"/>
              <a:t>Supergiant Games</a:t>
            </a:r>
          </a:p>
          <a:p>
            <a:pPr algn="ctr"/>
            <a:r>
              <a:rPr lang="en-CA" dirty="0"/>
              <a:t>Metacritic: 86%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125D01-9D68-44E9-8EB0-38C8D9C677C1}"/>
              </a:ext>
            </a:extLst>
          </p:cNvPr>
          <p:cNvSpPr txBox="1"/>
          <p:nvPr/>
        </p:nvSpPr>
        <p:spPr>
          <a:xfrm>
            <a:off x="6343901" y="2657388"/>
            <a:ext cx="18854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Fez – 2012</a:t>
            </a:r>
          </a:p>
          <a:p>
            <a:pPr algn="ctr"/>
            <a:r>
              <a:rPr lang="en-CA" dirty="0" err="1"/>
              <a:t>Disasterpeace</a:t>
            </a:r>
            <a:endParaRPr lang="en-CA" dirty="0"/>
          </a:p>
          <a:p>
            <a:pPr algn="ctr"/>
            <a:r>
              <a:rPr lang="en-CA" dirty="0"/>
              <a:t>Metacritic: 91%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B2AA5E-E7BF-4BBE-9A7E-D5DEDADA00E5}"/>
              </a:ext>
            </a:extLst>
          </p:cNvPr>
          <p:cNvSpPr txBox="1"/>
          <p:nvPr/>
        </p:nvSpPr>
        <p:spPr>
          <a:xfrm>
            <a:off x="584289" y="5406118"/>
            <a:ext cx="25747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Stardew Valley - 2016</a:t>
            </a:r>
          </a:p>
          <a:p>
            <a:pPr algn="ctr"/>
            <a:r>
              <a:rPr lang="en-CA" dirty="0" err="1"/>
              <a:t>Sickhead</a:t>
            </a:r>
            <a:r>
              <a:rPr lang="en-CA" dirty="0"/>
              <a:t> Games</a:t>
            </a:r>
          </a:p>
          <a:p>
            <a:pPr algn="ctr"/>
            <a:r>
              <a:rPr lang="en-CA" dirty="0"/>
              <a:t>Metacritic: 89%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A3ED04-7AC1-46D6-829C-CE0EC4CA19F5}"/>
              </a:ext>
            </a:extLst>
          </p:cNvPr>
          <p:cNvSpPr txBox="1"/>
          <p:nvPr/>
        </p:nvSpPr>
        <p:spPr>
          <a:xfrm>
            <a:off x="5729951" y="5406118"/>
            <a:ext cx="31133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Celeste - 2018</a:t>
            </a:r>
          </a:p>
          <a:p>
            <a:pPr algn="ctr"/>
            <a:r>
              <a:rPr lang="en-CA" dirty="0"/>
              <a:t>Matt Makes Games</a:t>
            </a:r>
          </a:p>
          <a:p>
            <a:pPr algn="ctr"/>
            <a:r>
              <a:rPr lang="en-CA" dirty="0"/>
              <a:t>Metacritic: 92%</a:t>
            </a:r>
          </a:p>
          <a:p>
            <a:pPr algn="ctr"/>
            <a:r>
              <a:rPr lang="en-CA" dirty="0"/>
              <a:t>Top Selling Indie on Switch</a:t>
            </a:r>
          </a:p>
        </p:txBody>
      </p:sp>
    </p:spTree>
    <p:extLst>
      <p:ext uri="{BB962C8B-B14F-4D97-AF65-F5344CB8AC3E}">
        <p14:creationId xmlns:p14="http://schemas.microsoft.com/office/powerpoint/2010/main" val="2419617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MonoGame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The basic </a:t>
            </a:r>
            <a:r>
              <a:rPr lang="en-CA" dirty="0" err="1">
                <a:solidFill>
                  <a:srgbClr val="00B0F0"/>
                </a:solidFill>
              </a:rPr>
              <a:t>MonoGame</a:t>
            </a:r>
            <a:r>
              <a:rPr lang="en-CA" dirty="0"/>
              <a:t> project has MUCH more involved in it than a standard C# program.</a:t>
            </a:r>
          </a:p>
          <a:p>
            <a:endParaRPr lang="en-CA" dirty="0"/>
          </a:p>
          <a:p>
            <a:r>
              <a:rPr lang="en-CA" dirty="0"/>
              <a:t>You can see this by creating a new </a:t>
            </a:r>
            <a:r>
              <a:rPr lang="en-CA" dirty="0" err="1">
                <a:solidFill>
                  <a:srgbClr val="00B0F0"/>
                </a:solidFill>
              </a:rPr>
              <a:t>MonoGame</a:t>
            </a:r>
            <a:r>
              <a:rPr lang="en-CA" dirty="0"/>
              <a:t> project Visual Studio Code</a:t>
            </a:r>
          </a:p>
          <a:p>
            <a:pPr lvl="1"/>
            <a:r>
              <a:rPr lang="en-CA" dirty="0"/>
              <a:t>Follow the steps on Google Classroom in the document: </a:t>
            </a:r>
            <a:r>
              <a:rPr lang="en-US" dirty="0">
                <a:solidFill>
                  <a:srgbClr val="92D050"/>
                </a:solidFill>
              </a:rPr>
              <a:t>Creating a New Program in VS Code</a:t>
            </a:r>
            <a:endParaRPr lang="en-CA" dirty="0">
              <a:solidFill>
                <a:srgbClr val="92D050"/>
              </a:solidFill>
            </a:endParaRPr>
          </a:p>
          <a:p>
            <a:endParaRPr lang="en-CA" dirty="0"/>
          </a:p>
          <a:p>
            <a:r>
              <a:rPr lang="en-CA" dirty="0"/>
              <a:t>You will see the level of complexity in a starting application</a:t>
            </a:r>
          </a:p>
        </p:txBody>
      </p:sp>
    </p:spTree>
    <p:extLst>
      <p:ext uri="{BB962C8B-B14F-4D97-AF65-F5344CB8AC3E}">
        <p14:creationId xmlns:p14="http://schemas.microsoft.com/office/powerpoint/2010/main" val="48137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MonoGame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It can sometimes be intimidating to get something working in </a:t>
            </a:r>
            <a:r>
              <a:rPr lang="en-CA" dirty="0" err="1">
                <a:solidFill>
                  <a:srgbClr val="00B0F0"/>
                </a:solidFill>
              </a:rPr>
              <a:t>MonoGame</a:t>
            </a:r>
            <a:r>
              <a:rPr lang="en-CA" dirty="0"/>
              <a:t>.  </a:t>
            </a:r>
          </a:p>
          <a:p>
            <a:pPr lvl="1"/>
            <a:r>
              <a:rPr lang="en-CA" dirty="0"/>
              <a:t>There is usually more setup involved, but the result is always much better</a:t>
            </a:r>
          </a:p>
          <a:p>
            <a:endParaRPr lang="en-CA" dirty="0"/>
          </a:p>
          <a:p>
            <a:r>
              <a:rPr lang="en-CA" dirty="0"/>
              <a:t>Example: Text Output</a:t>
            </a:r>
          </a:p>
          <a:p>
            <a:pPr lvl="1"/>
            <a:r>
              <a:rPr lang="en-CA" dirty="0"/>
              <a:t>See the </a:t>
            </a:r>
            <a:r>
              <a:rPr lang="en-CA" dirty="0" err="1">
                <a:solidFill>
                  <a:srgbClr val="00B0F0"/>
                </a:solidFill>
              </a:rPr>
              <a:t>MonoGame</a:t>
            </a:r>
            <a:r>
              <a:rPr lang="en-CA" dirty="0"/>
              <a:t> </a:t>
            </a:r>
            <a:r>
              <a:rPr lang="en-CA" dirty="0" err="1">
                <a:solidFill>
                  <a:srgbClr val="92D050"/>
                </a:solidFill>
              </a:rPr>
              <a:t>OutputDemo</a:t>
            </a:r>
            <a:endParaRPr lang="en-CA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758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Output in </a:t>
            </a:r>
            <a:r>
              <a:rPr lang="en-CA" dirty="0" err="1"/>
              <a:t>MonoGame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Everything in </a:t>
            </a:r>
            <a:r>
              <a:rPr lang="en-CA" dirty="0" err="1">
                <a:solidFill>
                  <a:srgbClr val="00B0F0"/>
                </a:solidFill>
              </a:rPr>
              <a:t>MonoGame</a:t>
            </a:r>
            <a:r>
              <a:rPr lang="en-CA" dirty="0"/>
              <a:t> is graphical, even text</a:t>
            </a:r>
          </a:p>
          <a:p>
            <a:endParaRPr lang="en-CA" dirty="0"/>
          </a:p>
          <a:p>
            <a:r>
              <a:rPr lang="en-CA" dirty="0"/>
              <a:t>In </a:t>
            </a:r>
            <a:r>
              <a:rPr lang="en-CA" dirty="0" err="1">
                <a:solidFill>
                  <a:srgbClr val="00B0F0"/>
                </a:solidFill>
              </a:rPr>
              <a:t>MonoGame</a:t>
            </a:r>
            <a:r>
              <a:rPr lang="en-CA" dirty="0"/>
              <a:t> we call different graphical texts </a:t>
            </a:r>
            <a:r>
              <a:rPr lang="en-CA" dirty="0" err="1">
                <a:solidFill>
                  <a:srgbClr val="92D050"/>
                </a:solidFill>
              </a:rPr>
              <a:t>SpriteFonts</a:t>
            </a:r>
            <a:endParaRPr lang="en-CA" dirty="0">
              <a:solidFill>
                <a:srgbClr val="92D050"/>
              </a:solidFill>
            </a:endParaRPr>
          </a:p>
          <a:p>
            <a:endParaRPr lang="en-CA" dirty="0"/>
          </a:p>
          <a:p>
            <a:r>
              <a:rPr lang="en-CA" dirty="0"/>
              <a:t>The following slides will guide you through the process of creating and using a </a:t>
            </a:r>
            <a:r>
              <a:rPr lang="en-CA" dirty="0" err="1">
                <a:solidFill>
                  <a:srgbClr val="92D050"/>
                </a:solidFill>
              </a:rPr>
              <a:t>SpriteFont</a:t>
            </a:r>
            <a:r>
              <a:rPr lang="en-CA" dirty="0"/>
              <a:t> for text output</a:t>
            </a:r>
          </a:p>
        </p:txBody>
      </p:sp>
    </p:spTree>
    <p:extLst>
      <p:ext uri="{BB962C8B-B14F-4D97-AF65-F5344CB8AC3E}">
        <p14:creationId xmlns:p14="http://schemas.microsoft.com/office/powerpoint/2010/main" val="376001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435280" cy="1399032"/>
          </a:xfrm>
        </p:spPr>
        <p:txBody>
          <a:bodyPr/>
          <a:lstStyle/>
          <a:p>
            <a:r>
              <a:rPr lang="en-CA" dirty="0" err="1">
                <a:solidFill>
                  <a:srgbClr val="00B0F0"/>
                </a:solidFill>
              </a:rPr>
              <a:t>SpriteFonts</a:t>
            </a:r>
            <a:r>
              <a:rPr lang="en-CA" dirty="0"/>
              <a:t>: The </a:t>
            </a:r>
            <a:r>
              <a:rPr lang="en-CA" dirty="0">
                <a:solidFill>
                  <a:srgbClr val="92D050"/>
                </a:solidFill>
              </a:rPr>
              <a:t>Builder</a:t>
            </a:r>
            <a:r>
              <a:rPr lang="en-CA" dirty="0"/>
              <a:t>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712968" cy="5042032"/>
          </a:xfrm>
        </p:spPr>
        <p:txBody>
          <a:bodyPr>
            <a:normAutofit fontScale="92500" lnSpcReduction="20000"/>
          </a:bodyPr>
          <a:lstStyle/>
          <a:p>
            <a:r>
              <a:rPr lang="en-CA" dirty="0">
                <a:solidFill>
                  <a:srgbClr val="FFFF00"/>
                </a:solidFill>
              </a:rPr>
              <a:t>Step 1</a:t>
            </a:r>
            <a:r>
              <a:rPr lang="en-CA" dirty="0"/>
              <a:t>: In Windows/Mac (Not VS Code)</a:t>
            </a:r>
          </a:p>
          <a:p>
            <a:pPr lvl="1"/>
            <a:r>
              <a:rPr lang="en-CA" dirty="0"/>
              <a:t>browse into your Outer project folder</a:t>
            </a:r>
          </a:p>
          <a:p>
            <a:pPr lvl="1"/>
            <a:r>
              <a:rPr lang="en-CA" dirty="0"/>
              <a:t>Then click into </a:t>
            </a:r>
            <a:r>
              <a:rPr lang="en-CA" dirty="0">
                <a:solidFill>
                  <a:srgbClr val="92D050"/>
                </a:solidFill>
              </a:rPr>
              <a:t>Builder</a:t>
            </a:r>
            <a:r>
              <a:rPr lang="en-CA" dirty="0"/>
              <a:t> </a:t>
            </a:r>
            <a:r>
              <a:rPr lang="en-CA" dirty="0"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rgbClr val="92D050"/>
                </a:solidFill>
                <a:sym typeface="Wingdings" panose="05000000000000000000" pitchFamily="2" charset="2"/>
              </a:rPr>
              <a:t>Assets</a:t>
            </a:r>
            <a:r>
              <a:rPr lang="en-CA" dirty="0">
                <a:sym typeface="Wingdings" panose="05000000000000000000" pitchFamily="2" charset="2"/>
              </a:rPr>
              <a:t>  </a:t>
            </a:r>
            <a:r>
              <a:rPr lang="en-CA" dirty="0">
                <a:solidFill>
                  <a:srgbClr val="92D050"/>
                </a:solidFill>
                <a:sym typeface="Wingdings" panose="05000000000000000000" pitchFamily="2" charset="2"/>
              </a:rPr>
              <a:t>Fonts</a:t>
            </a:r>
          </a:p>
          <a:p>
            <a:pPr lvl="1"/>
            <a:endParaRPr lang="en-CA" dirty="0">
              <a:sym typeface="Wingdings" panose="05000000000000000000" pitchFamily="2" charset="2"/>
            </a:endParaRPr>
          </a:p>
          <a:p>
            <a:r>
              <a:rPr lang="en-CA" dirty="0"/>
              <a:t>The instructions here are also in the </a:t>
            </a:r>
            <a:r>
              <a:rPr lang="en-CA" dirty="0">
                <a:solidFill>
                  <a:srgbClr val="92D050"/>
                </a:solidFill>
              </a:rPr>
              <a:t>README.txt</a:t>
            </a:r>
            <a:r>
              <a:rPr lang="en-CA" dirty="0"/>
              <a:t> file in the </a:t>
            </a:r>
            <a:r>
              <a:rPr lang="en-CA" dirty="0">
                <a:solidFill>
                  <a:srgbClr val="92D050"/>
                </a:solidFill>
              </a:rPr>
              <a:t>Fonts</a:t>
            </a:r>
            <a:r>
              <a:rPr lang="en-CA" dirty="0"/>
              <a:t> folder</a:t>
            </a:r>
          </a:p>
          <a:p>
            <a:endParaRPr lang="en-CA" dirty="0"/>
          </a:p>
          <a:p>
            <a:r>
              <a:rPr lang="en-CA" dirty="0"/>
              <a:t>In </a:t>
            </a:r>
            <a:r>
              <a:rPr lang="en-CA" dirty="0">
                <a:solidFill>
                  <a:srgbClr val="FFFF00"/>
                </a:solidFill>
              </a:rPr>
              <a:t>MonoGame</a:t>
            </a:r>
            <a:r>
              <a:rPr lang="en-CA" dirty="0"/>
              <a:t> you should </a:t>
            </a:r>
            <a:r>
              <a:rPr lang="en-CA" b="1" dirty="0">
                <a:solidFill>
                  <a:srgbClr val="FFFF00"/>
                </a:solidFill>
              </a:rPr>
              <a:t>re-use</a:t>
            </a:r>
            <a:r>
              <a:rPr lang="en-CA" dirty="0"/>
              <a:t> </a:t>
            </a:r>
            <a:r>
              <a:rPr lang="en-CA" dirty="0" err="1">
                <a:solidFill>
                  <a:srgbClr val="00B0F0"/>
                </a:solidFill>
              </a:rPr>
              <a:t>SpriteFonts</a:t>
            </a:r>
            <a:r>
              <a:rPr lang="en-CA" dirty="0"/>
              <a:t> for all text in the game intended to look and be sized the same.</a:t>
            </a:r>
          </a:p>
          <a:p>
            <a:endParaRPr lang="en-CA" dirty="0"/>
          </a:p>
          <a:p>
            <a:r>
              <a:rPr lang="en-CA" dirty="0"/>
              <a:t>A new </a:t>
            </a:r>
            <a:r>
              <a:rPr lang="en-CA" dirty="0" err="1">
                <a:solidFill>
                  <a:srgbClr val="00B0F0"/>
                </a:solidFill>
              </a:rPr>
              <a:t>SpriteFont</a:t>
            </a:r>
            <a:r>
              <a:rPr lang="en-CA" dirty="0"/>
              <a:t> is needed to show a different size or font style</a:t>
            </a:r>
            <a:endParaRPr lang="en-CA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70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A8DA4-FA15-4B40-8913-5176D64DB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B1ECA-4FD4-4B73-3991-39385AD51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7494"/>
            <a:ext cx="8435280" cy="785242"/>
          </a:xfrm>
        </p:spPr>
        <p:txBody>
          <a:bodyPr/>
          <a:lstStyle/>
          <a:p>
            <a:r>
              <a:rPr lang="en-CA" dirty="0" err="1">
                <a:solidFill>
                  <a:srgbClr val="00B0F0"/>
                </a:solidFill>
              </a:rPr>
              <a:t>SpriteFonts</a:t>
            </a:r>
            <a:r>
              <a:rPr lang="en-CA" dirty="0"/>
              <a:t>: Find Your Fonts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AEEE5-23C3-321F-90D1-434ABF460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052736"/>
            <a:ext cx="8712968" cy="5402072"/>
          </a:xfrm>
        </p:spPr>
        <p:txBody>
          <a:bodyPr>
            <a:normAutofit lnSpcReduction="10000"/>
          </a:bodyPr>
          <a:lstStyle/>
          <a:p>
            <a:r>
              <a:rPr lang="en-CA" dirty="0">
                <a:solidFill>
                  <a:srgbClr val="FFFF00"/>
                </a:solidFill>
              </a:rPr>
              <a:t>Step 2</a:t>
            </a:r>
            <a:r>
              <a:rPr lang="en-CA" dirty="0"/>
              <a:t>: Find your desired Font</a:t>
            </a:r>
          </a:p>
          <a:p>
            <a:pPr lvl="1"/>
            <a:r>
              <a:rPr lang="en-CA" dirty="0"/>
              <a:t>Font files have a type of either .</a:t>
            </a:r>
            <a:r>
              <a:rPr lang="en-CA" dirty="0" err="1"/>
              <a:t>ttf</a:t>
            </a:r>
            <a:r>
              <a:rPr lang="en-CA" dirty="0"/>
              <a:t> or .</a:t>
            </a:r>
            <a:r>
              <a:rPr lang="en-CA" dirty="0" err="1"/>
              <a:t>otf</a:t>
            </a:r>
            <a:endParaRPr lang="en-CA" dirty="0"/>
          </a:p>
          <a:p>
            <a:pPr lvl="1"/>
            <a:r>
              <a:rPr lang="en-CA" b="1" dirty="0">
                <a:latin typeface="Century Gothic" panose="020B0502020202020204" pitchFamily="34" charset="0"/>
              </a:rPr>
              <a:t>Option 1</a:t>
            </a:r>
            <a:r>
              <a:rPr lang="en-CA" dirty="0">
                <a:latin typeface="Century Gothic" panose="020B0502020202020204" pitchFamily="34" charset="0"/>
              </a:rPr>
              <a:t>: Find the fonts on Windows/Mac</a:t>
            </a:r>
          </a:p>
          <a:p>
            <a:pPr lvl="2"/>
            <a:r>
              <a:rPr lang="en-CA" dirty="0">
                <a:solidFill>
                  <a:srgbClr val="92D050"/>
                </a:solidFill>
                <a:latin typeface="Century Gothic" panose="020B0502020202020204" pitchFamily="34" charset="0"/>
              </a:rPr>
              <a:t>Windows</a:t>
            </a:r>
            <a:r>
              <a:rPr lang="en-CA" dirty="0">
                <a:latin typeface="Century Gothic" panose="020B0502020202020204" pitchFamily="34" charset="0"/>
              </a:rPr>
              <a:t>: C:\Windows\Fonts</a:t>
            </a:r>
          </a:p>
          <a:p>
            <a:pPr lvl="2"/>
            <a:r>
              <a:rPr lang="en-CA" dirty="0">
                <a:solidFill>
                  <a:srgbClr val="92D050"/>
                </a:solidFill>
                <a:latin typeface="Century Gothic" panose="020B0502020202020204" pitchFamily="34" charset="0"/>
              </a:rPr>
              <a:t>Mac</a:t>
            </a:r>
            <a:r>
              <a:rPr lang="en-CA" dirty="0">
                <a:latin typeface="Century Gothic" panose="020B0502020202020204" pitchFamily="34" charset="0"/>
              </a:rPr>
              <a:t>: </a:t>
            </a:r>
            <a:r>
              <a:rPr lang="en-CA" dirty="0" err="1">
                <a:latin typeface="Century Gothic" panose="020B0502020202020204" pitchFamily="34" charset="0"/>
              </a:rPr>
              <a:t>Fontbook</a:t>
            </a:r>
            <a:r>
              <a:rPr lang="en-CA" dirty="0">
                <a:latin typeface="Century Gothic" panose="020B0502020202020204" pitchFamily="34" charset="0"/>
              </a:rPr>
              <a:t> Application</a:t>
            </a:r>
          </a:p>
          <a:p>
            <a:pPr lvl="2"/>
            <a:r>
              <a:rPr lang="en-CA" dirty="0">
                <a:latin typeface="Century Gothic" panose="020B0502020202020204" pitchFamily="34" charset="0"/>
              </a:rPr>
              <a:t>Copy-Paste the desired font into your </a:t>
            </a:r>
            <a:r>
              <a:rPr lang="en-CA" dirty="0">
                <a:solidFill>
                  <a:srgbClr val="FFFF00"/>
                </a:solidFill>
                <a:latin typeface="Century Gothic" panose="020B0502020202020204" pitchFamily="34" charset="0"/>
              </a:rPr>
              <a:t>Builder/Assets/Fonts</a:t>
            </a:r>
            <a:r>
              <a:rPr lang="en-CA" dirty="0">
                <a:latin typeface="Century Gothic" panose="020B0502020202020204" pitchFamily="34" charset="0"/>
              </a:rPr>
              <a:t> folder</a:t>
            </a:r>
          </a:p>
          <a:p>
            <a:pPr lvl="2"/>
            <a:endParaRPr lang="en-CA" dirty="0">
              <a:latin typeface="Century Gothic" panose="020B0502020202020204" pitchFamily="34" charset="0"/>
            </a:endParaRPr>
          </a:p>
          <a:p>
            <a:pPr lvl="1"/>
            <a:r>
              <a:rPr lang="en-CA" dirty="0">
                <a:latin typeface="Century Gothic" panose="020B0502020202020204" pitchFamily="34" charset="0"/>
              </a:rPr>
              <a:t>Use a trusted online source (</a:t>
            </a:r>
            <a:r>
              <a:rPr lang="en-CA" dirty="0" err="1">
                <a:latin typeface="Century Gothic" panose="020B0502020202020204" pitchFamily="34" charset="0"/>
              </a:rPr>
              <a:t>e.g</a:t>
            </a:r>
            <a:r>
              <a:rPr lang="en-CA" dirty="0">
                <a:latin typeface="Century Gothic" panose="020B0502020202020204" pitchFamily="34" charset="0"/>
              </a:rPr>
              <a:t> </a:t>
            </a:r>
            <a:r>
              <a:rPr lang="en-CA" dirty="0">
                <a:solidFill>
                  <a:srgbClr val="00B0F0"/>
                </a:solidFill>
                <a:latin typeface="Century Gothic" panose="020B0502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dafont.com</a:t>
            </a:r>
            <a:r>
              <a:rPr lang="en-CA" dirty="0">
                <a:latin typeface="Century Gothic" panose="020B0502020202020204" pitchFamily="34" charset="0"/>
              </a:rPr>
              <a:t>)</a:t>
            </a:r>
          </a:p>
          <a:p>
            <a:pPr lvl="2"/>
            <a:r>
              <a:rPr lang="en-CA" dirty="0">
                <a:latin typeface="Century Gothic" panose="020B0502020202020204" pitchFamily="34" charset="0"/>
              </a:rPr>
              <a:t>Download the font (may come a </a:t>
            </a:r>
            <a:r>
              <a:rPr lang="en-CA" dirty="0">
                <a:solidFill>
                  <a:srgbClr val="92D050"/>
                </a:solidFill>
                <a:latin typeface="Century Gothic" panose="020B0502020202020204" pitchFamily="34" charset="0"/>
              </a:rPr>
              <a:t>.zip</a:t>
            </a:r>
            <a:r>
              <a:rPr lang="en-CA" dirty="0">
                <a:latin typeface="Century Gothic" panose="020B0502020202020204" pitchFamily="34" charset="0"/>
              </a:rPr>
              <a:t> file that needs to be extracted first)</a:t>
            </a:r>
          </a:p>
          <a:p>
            <a:pPr lvl="2"/>
            <a:r>
              <a:rPr lang="en-CA" dirty="0">
                <a:latin typeface="Century Gothic" panose="020B0502020202020204" pitchFamily="34" charset="0"/>
              </a:rPr>
              <a:t>Move the downloaded </a:t>
            </a:r>
            <a:r>
              <a:rPr lang="en-CA" dirty="0">
                <a:solidFill>
                  <a:srgbClr val="92D050"/>
                </a:solidFill>
                <a:latin typeface="Century Gothic" panose="020B0502020202020204" pitchFamily="34" charset="0"/>
              </a:rPr>
              <a:t>.</a:t>
            </a:r>
            <a:r>
              <a:rPr lang="en-CA" dirty="0" err="1">
                <a:solidFill>
                  <a:srgbClr val="92D050"/>
                </a:solidFill>
                <a:latin typeface="Century Gothic" panose="020B0502020202020204" pitchFamily="34" charset="0"/>
              </a:rPr>
              <a:t>ttf</a:t>
            </a:r>
            <a:r>
              <a:rPr lang="en-CA" dirty="0">
                <a:latin typeface="Century Gothic" panose="020B0502020202020204" pitchFamily="34" charset="0"/>
              </a:rPr>
              <a:t>/</a:t>
            </a:r>
            <a:r>
              <a:rPr lang="en-CA" dirty="0">
                <a:solidFill>
                  <a:srgbClr val="92D050"/>
                </a:solidFill>
                <a:latin typeface="Century Gothic" panose="020B0502020202020204" pitchFamily="34" charset="0"/>
              </a:rPr>
              <a:t>.</a:t>
            </a:r>
            <a:r>
              <a:rPr lang="en-CA" dirty="0" err="1">
                <a:solidFill>
                  <a:srgbClr val="92D050"/>
                </a:solidFill>
                <a:latin typeface="Century Gothic" panose="020B0502020202020204" pitchFamily="34" charset="0"/>
              </a:rPr>
              <a:t>otf</a:t>
            </a:r>
            <a:r>
              <a:rPr lang="en-CA" dirty="0">
                <a:latin typeface="Century Gothic" panose="020B0502020202020204" pitchFamily="34" charset="0"/>
              </a:rPr>
              <a:t> (</a:t>
            </a:r>
            <a:r>
              <a:rPr lang="en-CA" b="1" dirty="0">
                <a:latin typeface="Century Gothic" panose="020B0502020202020204" pitchFamily="34" charset="0"/>
              </a:rPr>
              <a:t>NOT</a:t>
            </a:r>
            <a:r>
              <a:rPr lang="en-CA" dirty="0">
                <a:latin typeface="Century Gothic" panose="020B0502020202020204" pitchFamily="34" charset="0"/>
              </a:rPr>
              <a:t> a .zip or folders) into your </a:t>
            </a:r>
            <a:r>
              <a:rPr lang="en-CA" dirty="0">
                <a:solidFill>
                  <a:srgbClr val="FFFF00"/>
                </a:solidFill>
                <a:latin typeface="Century Gothic" panose="020B0502020202020204" pitchFamily="34" charset="0"/>
              </a:rPr>
              <a:t>Builder/Assets/Fonts</a:t>
            </a:r>
            <a:r>
              <a:rPr lang="en-CA" dirty="0">
                <a:latin typeface="Century Gothic" panose="020B0502020202020204" pitchFamily="34" charset="0"/>
              </a:rPr>
              <a:t> folder</a:t>
            </a:r>
          </a:p>
        </p:txBody>
      </p:sp>
    </p:spTree>
    <p:extLst>
      <p:ext uri="{BB962C8B-B14F-4D97-AF65-F5344CB8AC3E}">
        <p14:creationId xmlns:p14="http://schemas.microsoft.com/office/powerpoint/2010/main" val="3000349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0683A-608F-B415-DF01-18EC80A38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7EA7B-6E51-9356-9F1C-467A328D1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7494"/>
            <a:ext cx="8435280" cy="1001266"/>
          </a:xfrm>
        </p:spPr>
        <p:txBody>
          <a:bodyPr/>
          <a:lstStyle/>
          <a:p>
            <a:r>
              <a:rPr lang="en-CA" dirty="0" err="1">
                <a:solidFill>
                  <a:srgbClr val="00B0F0"/>
                </a:solidFill>
              </a:rPr>
              <a:t>SpriteFonts</a:t>
            </a:r>
            <a:r>
              <a:rPr lang="en-CA" dirty="0"/>
              <a:t>: Copy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89C58-923E-5701-EAA4-9DC190D5A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412776"/>
            <a:ext cx="8712968" cy="5042032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FFFF00"/>
                </a:solidFill>
              </a:rPr>
              <a:t>Step 3</a:t>
            </a:r>
            <a:r>
              <a:rPr lang="en-CA" dirty="0"/>
              <a:t>: Make a copy of the </a:t>
            </a:r>
            <a:r>
              <a:rPr lang="en-CA" dirty="0" err="1">
                <a:solidFill>
                  <a:srgbClr val="92D050"/>
                </a:solidFill>
              </a:rPr>
              <a:t>Template.spritefont</a:t>
            </a:r>
            <a:r>
              <a:rPr lang="en-CA" dirty="0"/>
              <a:t> file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Use </a:t>
            </a:r>
            <a:r>
              <a:rPr lang="en-CA" dirty="0" err="1">
                <a:solidFill>
                  <a:srgbClr val="00B0F0"/>
                </a:solidFill>
                <a:sym typeface="Wingdings" panose="05000000000000000000" pitchFamily="2" charset="2"/>
              </a:rPr>
              <a:t>MixedCase</a:t>
            </a:r>
            <a:r>
              <a:rPr lang="en-CA" dirty="0">
                <a:sym typeface="Wingdings" panose="05000000000000000000" pitchFamily="2" charset="2"/>
              </a:rPr>
              <a:t> naming to </a:t>
            </a:r>
            <a:r>
              <a:rPr lang="en-CA" dirty="0">
                <a:solidFill>
                  <a:srgbClr val="00B0F0"/>
                </a:solidFill>
                <a:sym typeface="Wingdings" panose="05000000000000000000" pitchFamily="2" charset="2"/>
              </a:rPr>
              <a:t>rename</a:t>
            </a:r>
            <a:r>
              <a:rPr lang="en-CA" dirty="0">
                <a:sym typeface="Wingdings" panose="05000000000000000000" pitchFamily="2" charset="2"/>
              </a:rPr>
              <a:t> the file according to its usage</a:t>
            </a:r>
          </a:p>
          <a:p>
            <a:pPr lvl="2"/>
            <a:r>
              <a:rPr lang="en-CA" dirty="0">
                <a:sym typeface="Wingdings" panose="05000000000000000000" pitchFamily="2" charset="2"/>
              </a:rPr>
              <a:t>E.g. </a:t>
            </a:r>
            <a:r>
              <a:rPr lang="en-CA" dirty="0" err="1">
                <a:solidFill>
                  <a:srgbClr val="92D050"/>
                </a:solidFill>
                <a:sym typeface="Wingdings" panose="05000000000000000000" pitchFamily="2" charset="2"/>
              </a:rPr>
              <a:t>MenuFont.spritefont</a:t>
            </a:r>
            <a:r>
              <a:rPr lang="en-CA" dirty="0">
                <a:solidFill>
                  <a:srgbClr val="92D050"/>
                </a:solidFill>
                <a:sym typeface="Wingdings" panose="05000000000000000000" pitchFamily="2" charset="2"/>
              </a:rPr>
              <a:t> </a:t>
            </a:r>
            <a:r>
              <a:rPr lang="en-CA" dirty="0">
                <a:sym typeface="Wingdings" panose="05000000000000000000" pitchFamily="2" charset="2"/>
              </a:rPr>
              <a:t>or</a:t>
            </a:r>
            <a:r>
              <a:rPr lang="en-CA" dirty="0">
                <a:solidFill>
                  <a:srgbClr val="92D050"/>
                </a:solidFill>
                <a:sym typeface="Wingdings" panose="05000000000000000000" pitchFamily="2" charset="2"/>
              </a:rPr>
              <a:t> </a:t>
            </a:r>
            <a:r>
              <a:rPr lang="en-CA" dirty="0" err="1">
                <a:solidFill>
                  <a:srgbClr val="92D050"/>
                </a:solidFill>
                <a:sym typeface="Wingdings" panose="05000000000000000000" pitchFamily="2" charset="2"/>
              </a:rPr>
              <a:t>LargeText.spritefont</a:t>
            </a:r>
            <a:endParaRPr lang="en-CA" dirty="0">
              <a:solidFill>
                <a:srgbClr val="92D050"/>
              </a:solidFill>
              <a:sym typeface="Wingdings" panose="05000000000000000000" pitchFamily="2" charset="2"/>
            </a:endParaRPr>
          </a:p>
          <a:p>
            <a:pPr lvl="1"/>
            <a:endParaRPr lang="en-CA" dirty="0">
              <a:sym typeface="Wingdings" panose="05000000000000000000" pitchFamily="2" charset="2"/>
            </a:endParaRPr>
          </a:p>
          <a:p>
            <a:r>
              <a:rPr lang="en-CA" dirty="0">
                <a:solidFill>
                  <a:srgbClr val="FFFF00"/>
                </a:solidFill>
              </a:rPr>
              <a:t>Step 4</a:t>
            </a:r>
            <a:r>
              <a:rPr lang="en-CA" dirty="0"/>
              <a:t>: Open the renamed file in either a text editor (e.g. Notepad) or right in VS Code</a:t>
            </a:r>
          </a:p>
        </p:txBody>
      </p:sp>
    </p:spTree>
    <p:extLst>
      <p:ext uri="{BB962C8B-B14F-4D97-AF65-F5344CB8AC3E}">
        <p14:creationId xmlns:p14="http://schemas.microsoft.com/office/powerpoint/2010/main" val="6233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3CE54-5C9F-F680-DB43-C35868C3E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38F39-BEC4-918E-E8A9-97C1C4CD6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7494"/>
            <a:ext cx="8435280" cy="1001266"/>
          </a:xfrm>
        </p:spPr>
        <p:txBody>
          <a:bodyPr/>
          <a:lstStyle/>
          <a:p>
            <a:r>
              <a:rPr lang="en-CA" dirty="0" err="1">
                <a:solidFill>
                  <a:srgbClr val="00B0F0"/>
                </a:solidFill>
              </a:rPr>
              <a:t>SpriteFonts</a:t>
            </a:r>
            <a:r>
              <a:rPr lang="en-CA" dirty="0"/>
              <a:t>: Change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EA725-0343-68E9-FCF3-DC7087892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16" y="1196752"/>
            <a:ext cx="8712968" cy="5472608"/>
          </a:xfrm>
        </p:spPr>
        <p:txBody>
          <a:bodyPr>
            <a:normAutofit lnSpcReduction="10000"/>
          </a:bodyPr>
          <a:lstStyle/>
          <a:p>
            <a:r>
              <a:rPr lang="en-CA" dirty="0">
                <a:solidFill>
                  <a:srgbClr val="FFFF00"/>
                </a:solidFill>
              </a:rPr>
              <a:t>Step 5</a:t>
            </a:r>
            <a:r>
              <a:rPr lang="en-CA" dirty="0"/>
              <a:t>: Make necessary option choices by changing any of the listed properties</a:t>
            </a:r>
          </a:p>
          <a:p>
            <a:pPr marL="64008" indent="0">
              <a:buNone/>
            </a:pPr>
            <a:endParaRPr lang="en-CA" dirty="0">
              <a:sym typeface="Wingdings" panose="05000000000000000000" pitchFamily="2" charset="2"/>
            </a:endParaRPr>
          </a:p>
          <a:p>
            <a:pPr lvl="1"/>
            <a:endParaRPr lang="en-CA" dirty="0">
              <a:sym typeface="Wingdings" panose="05000000000000000000" pitchFamily="2" charset="2"/>
            </a:endParaRPr>
          </a:p>
          <a:p>
            <a:pPr lvl="1"/>
            <a:endParaRPr lang="en-CA" dirty="0">
              <a:sym typeface="Wingdings" panose="05000000000000000000" pitchFamily="2" charset="2"/>
            </a:endParaRPr>
          </a:p>
          <a:p>
            <a:pPr lvl="1"/>
            <a:endParaRPr lang="en-CA" dirty="0">
              <a:sym typeface="Wingdings" panose="05000000000000000000" pitchFamily="2" charset="2"/>
            </a:endParaRPr>
          </a:p>
          <a:p>
            <a:pPr lvl="1"/>
            <a:endParaRPr lang="en-CA" dirty="0">
              <a:sym typeface="Wingdings" panose="05000000000000000000" pitchFamily="2" charset="2"/>
            </a:endParaRPr>
          </a:p>
          <a:p>
            <a:pPr lvl="1"/>
            <a:r>
              <a:rPr lang="en-CA" dirty="0">
                <a:sym typeface="Wingdings" panose="05000000000000000000" pitchFamily="2" charset="2"/>
              </a:rPr>
              <a:t>Save the file!</a:t>
            </a:r>
            <a:endParaRPr lang="en-CA" dirty="0">
              <a:solidFill>
                <a:srgbClr val="92D050"/>
              </a:solidFill>
              <a:sym typeface="Wingdings" panose="05000000000000000000" pitchFamily="2" charset="2"/>
            </a:endParaRPr>
          </a:p>
          <a:p>
            <a:pPr lvl="1"/>
            <a:endParaRPr lang="en-CA" dirty="0">
              <a:sym typeface="Wingdings" panose="05000000000000000000" pitchFamily="2" charset="2"/>
            </a:endParaRPr>
          </a:p>
          <a:p>
            <a:r>
              <a:rPr lang="en-CA" dirty="0">
                <a:solidFill>
                  <a:srgbClr val="FFFF00"/>
                </a:solidFill>
              </a:rPr>
              <a:t>Step 6</a:t>
            </a:r>
            <a:r>
              <a:rPr lang="en-CA" dirty="0"/>
              <a:t>: Run the Builder program in VS Code</a:t>
            </a:r>
          </a:p>
          <a:p>
            <a:pPr lvl="1"/>
            <a:r>
              <a:rPr lang="en-CA" dirty="0"/>
              <a:t>This step MUST be done after each change to a </a:t>
            </a:r>
            <a:r>
              <a:rPr lang="en-CA" dirty="0" err="1"/>
              <a:t>SpriteFont</a:t>
            </a:r>
            <a:r>
              <a:rPr lang="en-CA" dirty="0"/>
              <a:t> file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CC5290-D10A-9EE1-853B-2D2D91F6F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517528"/>
              </p:ext>
            </p:extLst>
          </p:nvPr>
        </p:nvGraphicFramePr>
        <p:xfrm>
          <a:off x="179512" y="2132856"/>
          <a:ext cx="8784975" cy="22148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93283444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20933292"/>
                    </a:ext>
                  </a:extLst>
                </a:gridCol>
                <a:gridCol w="6408711">
                  <a:extLst>
                    <a:ext uri="{9D8B030D-6E8A-4147-A177-3AD203B41FA5}">
                      <a16:colId xmlns:a16="http://schemas.microsoft.com/office/drawing/2014/main" val="2330242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792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err="1"/>
                        <a:t>FontName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Must </a:t>
                      </a:r>
                      <a:r>
                        <a:rPr lang="en-US" b="1" dirty="0"/>
                        <a:t>EXACTLY</a:t>
                      </a:r>
                      <a:r>
                        <a:rPr lang="en-US" dirty="0"/>
                        <a:t> match the true name of the font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13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is roughly how tall the text is, in pixels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88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Spacing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number of pixels between each letter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429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Style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400" dirty="0"/>
                        <a:t>This property is broken, normally you would use the words </a:t>
                      </a:r>
                      <a:r>
                        <a:rPr lang="en-US" sz="1400" b="1" dirty="0"/>
                        <a:t>Regular</a:t>
                      </a:r>
                      <a:r>
                        <a:rPr lang="en-US" sz="1400" dirty="0"/>
                        <a:t>, </a:t>
                      </a:r>
                      <a:r>
                        <a:rPr lang="en-US" sz="1400" b="1" dirty="0"/>
                        <a:t>Default</a:t>
                      </a:r>
                      <a:r>
                        <a:rPr lang="en-US" sz="1400" dirty="0"/>
                        <a:t> or </a:t>
                      </a:r>
                      <a:r>
                        <a:rPr lang="en-US" sz="1400" b="1" dirty="0"/>
                        <a:t>Italic</a:t>
                      </a:r>
                      <a:r>
                        <a:rPr lang="en-US" sz="1400" dirty="0"/>
                        <a:t>.  Instead, include these words after a space following the </a:t>
                      </a:r>
                      <a:r>
                        <a:rPr lang="en-US" sz="1400" dirty="0" err="1"/>
                        <a:t>FontName</a:t>
                      </a:r>
                      <a:r>
                        <a:rPr lang="en-US" sz="1400" dirty="0"/>
                        <a:t> text (if the font supports it), e.g. 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FontName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&gt;Arial Bold&lt;/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FontName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&gt;</a:t>
                      </a:r>
                      <a:endParaRPr lang="en-CA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038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99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5C239-7661-4C44-B780-76B9C1BD0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785242"/>
          </a:xfrm>
        </p:spPr>
        <p:txBody>
          <a:bodyPr/>
          <a:lstStyle/>
          <a:p>
            <a:r>
              <a:rPr lang="en-CA" dirty="0"/>
              <a:t>Using </a:t>
            </a:r>
            <a:r>
              <a:rPr lang="en-CA" dirty="0" err="1"/>
              <a:t>SpriteFonts</a:t>
            </a:r>
            <a:r>
              <a:rPr lang="en-CA" dirty="0"/>
              <a:t> (</a:t>
            </a:r>
            <a:r>
              <a:rPr lang="en-CA" dirty="0">
                <a:solidFill>
                  <a:srgbClr val="FFFF00"/>
                </a:solidFill>
              </a:rPr>
              <a:t>Code!</a:t>
            </a:r>
            <a:r>
              <a:rPr lang="en-CA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7B9AB-8CED-45D7-8187-0FBF99D7B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96752"/>
            <a:ext cx="8568952" cy="5258056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FFFF00"/>
                </a:solidFill>
              </a:rPr>
              <a:t>Step 1</a:t>
            </a:r>
            <a:r>
              <a:rPr lang="en-CA" dirty="0"/>
              <a:t>: Create a </a:t>
            </a:r>
            <a:r>
              <a:rPr lang="en-CA" dirty="0" err="1"/>
              <a:t>SpriteFont</a:t>
            </a:r>
            <a:r>
              <a:rPr lang="en-CA" dirty="0"/>
              <a:t> Object</a:t>
            </a:r>
          </a:p>
          <a:p>
            <a:pPr lvl="1"/>
            <a:r>
              <a:rPr lang="en-CA" sz="2000" dirty="0"/>
              <a:t>Create a global variable of type </a:t>
            </a:r>
            <a:r>
              <a:rPr lang="en-CA" sz="2000" dirty="0" err="1"/>
              <a:t>SpriteFont</a:t>
            </a:r>
            <a:r>
              <a:rPr lang="en-CA" sz="2000" dirty="0"/>
              <a:t> and give it a name directed to its purpose</a:t>
            </a:r>
          </a:p>
          <a:p>
            <a:pPr marL="64008" indent="0">
              <a:buNone/>
            </a:pP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SpriteFont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menuFont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; </a:t>
            </a:r>
            <a:r>
              <a:rPr lang="en-CA" sz="2000" b="1" dirty="0"/>
              <a:t>OR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SpriteFont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smallFont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endParaRPr lang="en-CA" dirty="0"/>
          </a:p>
          <a:p>
            <a:r>
              <a:rPr lang="en-CA" dirty="0">
                <a:solidFill>
                  <a:srgbClr val="FFFF00"/>
                </a:solidFill>
              </a:rPr>
              <a:t>Step 2</a:t>
            </a:r>
            <a:r>
              <a:rPr lang="en-CA" dirty="0"/>
              <a:t>: Load the </a:t>
            </a:r>
            <a:r>
              <a:rPr lang="en-CA" dirty="0" err="1"/>
              <a:t>SpriteFont</a:t>
            </a:r>
            <a:endParaRPr lang="en-CA" dirty="0"/>
          </a:p>
          <a:p>
            <a:pPr lvl="1"/>
            <a:r>
              <a:rPr lang="en-CA" sz="2000" dirty="0"/>
              <a:t>In </a:t>
            </a:r>
            <a:r>
              <a:rPr lang="en-CA" sz="2000" dirty="0" err="1">
                <a:solidFill>
                  <a:srgbClr val="FFFF00"/>
                </a:solidFill>
              </a:rPr>
              <a:t>LoadContent</a:t>
            </a:r>
            <a:r>
              <a:rPr lang="en-CA" sz="2000" dirty="0"/>
              <a:t> using the </a:t>
            </a:r>
            <a:r>
              <a:rPr lang="en-CA" sz="2000" dirty="0" err="1">
                <a:latin typeface="Consolas" panose="020B0609020204030204" pitchFamily="49" charset="0"/>
              </a:rPr>
              <a:t>Content.Load</a:t>
            </a:r>
            <a:r>
              <a:rPr lang="en-CA" sz="2000" dirty="0">
                <a:latin typeface="Consolas" panose="020B0609020204030204" pitchFamily="49" charset="0"/>
              </a:rPr>
              <a:t> </a:t>
            </a:r>
            <a:r>
              <a:rPr lang="en-CA" sz="2000" dirty="0"/>
              <a:t>method</a:t>
            </a:r>
          </a:p>
          <a:p>
            <a:pPr lvl="1"/>
            <a:r>
              <a:rPr lang="en-CA" sz="2000" dirty="0"/>
              <a:t>Its one parameter is the file path to the </a:t>
            </a:r>
            <a:r>
              <a:rPr lang="en-CA" sz="2000" dirty="0" err="1"/>
              <a:t>SpriteFont</a:t>
            </a:r>
            <a:r>
              <a:rPr lang="en-CA" sz="2000" dirty="0"/>
              <a:t> you created in your Fonts folder</a:t>
            </a:r>
            <a:endParaRPr lang="en-CA" dirty="0"/>
          </a:p>
          <a:p>
            <a:pPr marL="64008" indent="0">
              <a:buNone/>
            </a:pP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menuFont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 = 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Content.Load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&lt;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SpriteFont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&gt;(“Fonts/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MenuFont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”);</a:t>
            </a:r>
            <a:endParaRPr lang="en-CA" sz="2400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088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194E9-A44D-42D3-AF9B-39259ABE2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785242"/>
          </a:xfrm>
        </p:spPr>
        <p:txBody>
          <a:bodyPr>
            <a:normAutofit/>
          </a:bodyPr>
          <a:lstStyle/>
          <a:p>
            <a:r>
              <a:rPr lang="en-CA" dirty="0"/>
              <a:t>Using </a:t>
            </a:r>
            <a:r>
              <a:rPr lang="en-CA" dirty="0" err="1"/>
              <a:t>SpriteFonts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F7AFC-3BA3-45EC-A548-9F330561D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5258056"/>
          </a:xfrm>
        </p:spPr>
        <p:txBody>
          <a:bodyPr/>
          <a:lstStyle/>
          <a:p>
            <a:r>
              <a:rPr lang="en-CA" dirty="0">
                <a:solidFill>
                  <a:srgbClr val="FFFF00"/>
                </a:solidFill>
              </a:rPr>
              <a:t>Step 3</a:t>
            </a:r>
            <a:r>
              <a:rPr lang="en-CA" dirty="0"/>
              <a:t>: Store text draw locations</a:t>
            </a:r>
          </a:p>
          <a:p>
            <a:pPr lvl="1"/>
            <a:r>
              <a:rPr lang="en-CA" sz="2000" dirty="0"/>
              <a:t>For </a:t>
            </a:r>
            <a:r>
              <a:rPr lang="en-CA" sz="2000" b="1" dirty="0">
                <a:solidFill>
                  <a:srgbClr val="FFFF00"/>
                </a:solidFill>
              </a:rPr>
              <a:t>each</a:t>
            </a:r>
            <a:r>
              <a:rPr lang="en-CA" sz="2000" dirty="0"/>
              <a:t> piece of text to be displayed, create a Vector2 object with a descriptive name (it needs an X,Y location)</a:t>
            </a:r>
          </a:p>
          <a:p>
            <a:pPr marL="64008" indent="0">
              <a:buNone/>
            </a:pP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Vector2 menuChoice1Loc = new Vector2(50,100);</a:t>
            </a:r>
          </a:p>
          <a:p>
            <a:pPr marL="537210" lvl="1" indent="0">
              <a:buNone/>
            </a:pPr>
            <a:endParaRPr lang="en-CA" sz="2000" dirty="0">
              <a:latin typeface="Consolas" panose="020B0609020204030204" pitchFamily="49" charset="0"/>
            </a:endParaRPr>
          </a:p>
          <a:p>
            <a:r>
              <a:rPr lang="en-CA" dirty="0">
                <a:solidFill>
                  <a:srgbClr val="FFFF00"/>
                </a:solidFill>
              </a:rPr>
              <a:t>Step 4</a:t>
            </a:r>
            <a:r>
              <a:rPr lang="en-CA" dirty="0"/>
              <a:t>: Store text strings (recommended)</a:t>
            </a:r>
          </a:p>
          <a:p>
            <a:pPr lvl="1"/>
            <a:r>
              <a:rPr lang="en-CA" sz="2000" dirty="0"/>
              <a:t>For </a:t>
            </a:r>
            <a:r>
              <a:rPr lang="en-CA" sz="2000" b="1" dirty="0">
                <a:solidFill>
                  <a:srgbClr val="FFFF00"/>
                </a:solidFill>
              </a:rPr>
              <a:t>each</a:t>
            </a:r>
            <a:r>
              <a:rPr lang="en-CA" sz="2000" dirty="0"/>
              <a:t> piece of text to be displayed, create a string with a similar descriptive name.  This may only be needed if you intend to change its value at some point</a:t>
            </a:r>
          </a:p>
          <a:p>
            <a:pPr marL="64008" indent="0">
              <a:buNone/>
            </a:pP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string menuChoice1 = “Play Game”;</a:t>
            </a:r>
          </a:p>
        </p:txBody>
      </p:sp>
    </p:spTree>
    <p:extLst>
      <p:ext uri="{BB962C8B-B14F-4D97-AF65-F5344CB8AC3E}">
        <p14:creationId xmlns:p14="http://schemas.microsoft.com/office/powerpoint/2010/main" val="982241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194E9-A44D-42D3-AF9B-39259ABE2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785242"/>
          </a:xfrm>
        </p:spPr>
        <p:txBody>
          <a:bodyPr>
            <a:normAutofit/>
          </a:bodyPr>
          <a:lstStyle/>
          <a:p>
            <a:r>
              <a:rPr lang="en-CA" dirty="0"/>
              <a:t>Using </a:t>
            </a:r>
            <a:r>
              <a:rPr lang="en-CA" dirty="0" err="1"/>
              <a:t>SpriteFonts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F7AFC-3BA3-45EC-A548-9F330561D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96752"/>
            <a:ext cx="8568952" cy="5258056"/>
          </a:xfrm>
        </p:spPr>
        <p:txBody>
          <a:bodyPr/>
          <a:lstStyle/>
          <a:p>
            <a:r>
              <a:rPr lang="en-CA" dirty="0">
                <a:solidFill>
                  <a:srgbClr val="FFFF00"/>
                </a:solidFill>
              </a:rPr>
              <a:t>Step 5</a:t>
            </a:r>
            <a:r>
              <a:rPr lang="en-CA" dirty="0"/>
              <a:t>: Draw your text</a:t>
            </a:r>
          </a:p>
          <a:p>
            <a:pPr lvl="1"/>
            <a:r>
              <a:rPr lang="en-CA" sz="2000" dirty="0"/>
              <a:t>All drawing in MonoGame occurs inside the Draw Method</a:t>
            </a:r>
          </a:p>
          <a:p>
            <a:pPr lvl="1"/>
            <a:r>
              <a:rPr lang="en-CA" sz="2000" dirty="0"/>
              <a:t>Setup the </a:t>
            </a:r>
            <a:r>
              <a:rPr lang="en-CA" sz="2000" dirty="0">
                <a:solidFill>
                  <a:srgbClr val="92D050"/>
                </a:solidFill>
              </a:rPr>
              <a:t>_</a:t>
            </a:r>
            <a:r>
              <a:rPr lang="en-CA" sz="2000" dirty="0" err="1">
                <a:solidFill>
                  <a:srgbClr val="92D050"/>
                </a:solidFill>
              </a:rPr>
              <a:t>spriteBatch</a:t>
            </a:r>
            <a:r>
              <a:rPr lang="en-CA" sz="2000" dirty="0"/>
              <a:t> with two method calls</a:t>
            </a:r>
          </a:p>
          <a:p>
            <a:pPr marL="64008" indent="0"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_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spriteBatch.Begin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();</a:t>
            </a:r>
          </a:p>
          <a:p>
            <a:pPr marL="64008" indent="0"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_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spriteBatch.End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endParaRPr lang="en-CA" sz="2000" dirty="0"/>
          </a:p>
          <a:p>
            <a:pPr lvl="1"/>
            <a:r>
              <a:rPr lang="en-CA" sz="2000" dirty="0"/>
              <a:t>ALL draw calls go </a:t>
            </a:r>
            <a:r>
              <a:rPr lang="en-CA" sz="2000" dirty="0">
                <a:solidFill>
                  <a:srgbClr val="FFFF00"/>
                </a:solidFill>
              </a:rPr>
              <a:t>indented and</a:t>
            </a:r>
            <a:r>
              <a:rPr lang="en-CA" sz="2000" dirty="0"/>
              <a:t> </a:t>
            </a:r>
            <a:r>
              <a:rPr lang="en-CA" sz="2000" dirty="0">
                <a:solidFill>
                  <a:srgbClr val="FFFF00"/>
                </a:solidFill>
              </a:rPr>
              <a:t>between</a:t>
            </a:r>
            <a:r>
              <a:rPr lang="en-CA" sz="2000" dirty="0"/>
              <a:t> those 2 statements</a:t>
            </a:r>
          </a:p>
          <a:p>
            <a:pPr lvl="1"/>
            <a:r>
              <a:rPr lang="en-CA" sz="2000" dirty="0"/>
              <a:t>Use the </a:t>
            </a:r>
            <a:r>
              <a:rPr lang="en-CA" sz="2000" dirty="0">
                <a:solidFill>
                  <a:srgbClr val="00B0F0"/>
                </a:solidFill>
              </a:rPr>
              <a:t>_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spriteBatch.DrawString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()</a:t>
            </a:r>
            <a:r>
              <a:rPr lang="en-CA" sz="2000" dirty="0"/>
              <a:t> method which requires 4 parameters:</a:t>
            </a:r>
          </a:p>
          <a:p>
            <a:pPr lvl="2"/>
            <a:r>
              <a:rPr lang="en-CA" sz="1800" dirty="0" err="1"/>
              <a:t>SpriteFont</a:t>
            </a:r>
            <a:r>
              <a:rPr lang="en-CA" sz="1800" dirty="0"/>
              <a:t>, text, location and text color (Type </a:t>
            </a:r>
            <a:r>
              <a:rPr lang="en-CA" sz="1800" dirty="0">
                <a:solidFill>
                  <a:srgbClr val="92D050"/>
                </a:solidFill>
              </a:rPr>
              <a:t>Color.</a:t>
            </a:r>
            <a:r>
              <a:rPr lang="en-CA" sz="1800" dirty="0"/>
              <a:t> for options)</a:t>
            </a:r>
          </a:p>
          <a:p>
            <a:pPr marL="64008" indent="0">
              <a:buNone/>
            </a:pPr>
            <a:r>
              <a:rPr lang="en-CA" sz="1800" dirty="0">
                <a:solidFill>
                  <a:srgbClr val="00B0F0"/>
                </a:solidFill>
                <a:latin typeface="Consolas" panose="020B0609020204030204" pitchFamily="49" charset="0"/>
              </a:rPr>
              <a:t>_</a:t>
            </a:r>
            <a:r>
              <a:rPr lang="en-CA" sz="1800" dirty="0" err="1">
                <a:solidFill>
                  <a:srgbClr val="00B0F0"/>
                </a:solidFill>
                <a:latin typeface="Consolas" panose="020B0609020204030204" pitchFamily="49" charset="0"/>
              </a:rPr>
              <a:t>spriteBatch.DrawString</a:t>
            </a:r>
            <a:r>
              <a:rPr lang="en-CA" sz="1800" dirty="0">
                <a:solidFill>
                  <a:srgbClr val="00B0F0"/>
                </a:solidFill>
                <a:latin typeface="Consolas" panose="020B0609020204030204" pitchFamily="49" charset="0"/>
              </a:rPr>
              <a:t>(menuFont,menuOpt1,menuOpt1Loc, </a:t>
            </a:r>
            <a:r>
              <a:rPr lang="en-CA" sz="1800" dirty="0" err="1">
                <a:solidFill>
                  <a:srgbClr val="00B0F0"/>
                </a:solidFill>
                <a:latin typeface="Consolas" panose="020B0609020204030204" pitchFamily="49" charset="0"/>
              </a:rPr>
              <a:t>Color.Red</a:t>
            </a:r>
            <a:r>
              <a:rPr lang="en-CA" sz="1800" dirty="0">
                <a:solidFill>
                  <a:srgbClr val="00B0F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464255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80DC1-FC05-38A2-94A7-AE81D786D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785242"/>
          </a:xfrm>
        </p:spPr>
        <p:txBody>
          <a:bodyPr>
            <a:normAutofit/>
          </a:bodyPr>
          <a:lstStyle/>
          <a:p>
            <a:r>
              <a:rPr lang="en-CA" dirty="0"/>
              <a:t>Error – Cannot Find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EC009-9F25-1E11-83C3-BDA0FBA53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96752"/>
            <a:ext cx="8363272" cy="5258056"/>
          </a:xfrm>
        </p:spPr>
        <p:txBody>
          <a:bodyPr>
            <a:normAutofit/>
          </a:bodyPr>
          <a:lstStyle/>
          <a:p>
            <a:r>
              <a:rPr lang="en-CA" dirty="0"/>
              <a:t>When you run your program after loading some Content, it is not uncommon to get an error stating </a:t>
            </a:r>
            <a:r>
              <a:rPr lang="en-CA" dirty="0">
                <a:solidFill>
                  <a:srgbClr val="FF0000"/>
                </a:solidFill>
              </a:rPr>
              <a:t>cannot find your Content file</a:t>
            </a:r>
          </a:p>
          <a:p>
            <a:endParaRPr lang="en-CA" dirty="0"/>
          </a:p>
          <a:p>
            <a:r>
              <a:rPr lang="en-CA" dirty="0"/>
              <a:t>This happens for 1 of 2 reasons:</a:t>
            </a:r>
          </a:p>
          <a:p>
            <a:pPr lvl="1"/>
            <a:r>
              <a:rPr lang="en-CA" dirty="0"/>
              <a:t>You spelled the file name or path incorrectly</a:t>
            </a:r>
          </a:p>
          <a:p>
            <a:pPr lvl="1"/>
            <a:r>
              <a:rPr lang="en-CA" dirty="0"/>
              <a:t>You forgot to Run the Builder after changes</a:t>
            </a:r>
          </a:p>
        </p:txBody>
      </p:sp>
    </p:spTree>
    <p:extLst>
      <p:ext uri="{BB962C8B-B14F-4D97-AF65-F5344CB8AC3E}">
        <p14:creationId xmlns:p14="http://schemas.microsoft.com/office/powerpoint/2010/main" val="4631885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665</TotalTime>
  <Words>955</Words>
  <Application>Microsoft Office PowerPoint</Application>
  <PresentationFormat>On-screen Show (4:3)</PresentationFormat>
  <Paragraphs>128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Century Gothic</vt:lpstr>
      <vt:lpstr>Consolas</vt:lpstr>
      <vt:lpstr>Verdana</vt:lpstr>
      <vt:lpstr>Wingdings</vt:lpstr>
      <vt:lpstr>Wingdings 2</vt:lpstr>
      <vt:lpstr>Verve</vt:lpstr>
      <vt:lpstr>Introduction to MonoGame</vt:lpstr>
      <vt:lpstr>Introduction to MonoGame</vt:lpstr>
      <vt:lpstr>Games Made with MonoGame</vt:lpstr>
      <vt:lpstr>MonoGame</vt:lpstr>
      <vt:lpstr>MonoGame</vt:lpstr>
      <vt:lpstr>Output in MonoGame</vt:lpstr>
      <vt:lpstr>SpriteFonts: The Builder Project</vt:lpstr>
      <vt:lpstr>SpriteFonts: Find Your Fonts</vt:lpstr>
      <vt:lpstr>SpriteFonts: Copy Template</vt:lpstr>
      <vt:lpstr>SpriteFonts: Change Settings</vt:lpstr>
      <vt:lpstr>Using SpriteFonts (Code!)</vt:lpstr>
      <vt:lpstr>Using SpriteFonts</vt:lpstr>
      <vt:lpstr>Using SpriteFonts</vt:lpstr>
      <vt:lpstr>Error – Cannot Find File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Introducution to XNA</dc:title>
  <dc:creator>Trevor</dc:creator>
  <cp:lastModifiedBy>Trevor Lane</cp:lastModifiedBy>
  <cp:revision>31</cp:revision>
  <dcterms:created xsi:type="dcterms:W3CDTF">2012-09-19T23:55:00Z</dcterms:created>
  <dcterms:modified xsi:type="dcterms:W3CDTF">2026-10-04T23:52:31Z</dcterms:modified>
</cp:coreProperties>
</file>