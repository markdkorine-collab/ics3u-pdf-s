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09" d="100"/>
          <a:sy n="109" d="100"/>
        </p:scale>
        <p:origin x="114" y="13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9/25/2022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9/25/2022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9/25/2022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 Conversion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Method 2: Cast</a:t>
            </a:r>
          </a:p>
          <a:p>
            <a:r>
              <a:rPr lang="en-US" dirty="0"/>
              <a:t>Method 3: TryParse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26F6-05D7-4ADB-B5D6-E06D5FCF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 2: Casting Data to Another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A75A4-A97C-4063-A414-8205C223C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The Cast method is really the idea of simply treating one data type like another for the moment</a:t>
            </a:r>
          </a:p>
          <a:p>
            <a:pPr lvl="1"/>
            <a:r>
              <a:rPr lang="en-CA" dirty="0"/>
              <a:t>This conversion method is almost always used for on the spot conversion and typically stored for later</a:t>
            </a:r>
          </a:p>
          <a:p>
            <a:endParaRPr lang="en-CA" dirty="0"/>
          </a:p>
          <a:p>
            <a:r>
              <a:rPr lang="en-CA" dirty="0"/>
              <a:t>It works similarly to the Convert method, but with a few more restrictions</a:t>
            </a:r>
          </a:p>
          <a:p>
            <a:pPr lvl="1"/>
            <a:r>
              <a:rPr lang="en-CA" dirty="0"/>
              <a:t>You can </a:t>
            </a:r>
            <a:r>
              <a:rPr lang="en-CA" b="1" dirty="0">
                <a:solidFill>
                  <a:srgbClr val="FFFF00"/>
                </a:solidFill>
              </a:rPr>
              <a:t>ONLY</a:t>
            </a:r>
            <a:r>
              <a:rPr lang="en-CA" dirty="0"/>
              <a:t> convert </a:t>
            </a:r>
            <a:r>
              <a:rPr lang="en-CA" dirty="0">
                <a:solidFill>
                  <a:srgbClr val="92D050"/>
                </a:solidFill>
              </a:rPr>
              <a:t>similar</a:t>
            </a:r>
            <a:r>
              <a:rPr lang="en-CA" dirty="0"/>
              <a:t> types</a:t>
            </a:r>
          </a:p>
          <a:p>
            <a:pPr lvl="2"/>
            <a:r>
              <a:rPr lang="en-CA" dirty="0"/>
              <a:t>Example: int to double, but not string to double or int</a:t>
            </a:r>
          </a:p>
          <a:p>
            <a:pPr lvl="1"/>
            <a:r>
              <a:rPr lang="en-CA" dirty="0">
                <a:solidFill>
                  <a:srgbClr val="92D050"/>
                </a:solidFill>
              </a:rPr>
              <a:t>When converting double to an int or byte</a:t>
            </a:r>
            <a:r>
              <a:rPr lang="en-CA" dirty="0"/>
              <a:t>, the decimal is </a:t>
            </a:r>
            <a:r>
              <a:rPr lang="en-CA" b="1" dirty="0">
                <a:solidFill>
                  <a:srgbClr val="FFFF00"/>
                </a:solidFill>
              </a:rPr>
              <a:t>truncated</a:t>
            </a:r>
            <a:r>
              <a:rPr lang="en-CA" dirty="0"/>
              <a:t> (cut off), no rounding will occur</a:t>
            </a:r>
          </a:p>
          <a:p>
            <a:pPr lvl="2"/>
            <a:r>
              <a:rPr lang="en-CA" dirty="0"/>
              <a:t>Casting 3.9 to an int will give 3, so will casting 3.1</a:t>
            </a:r>
          </a:p>
        </p:txBody>
      </p:sp>
    </p:spTree>
    <p:extLst>
      <p:ext uri="{BB962C8B-B14F-4D97-AF65-F5344CB8AC3E}">
        <p14:creationId xmlns:p14="http://schemas.microsoft.com/office/powerpoint/2010/main" val="230289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87A9-0FE1-4334-9262-5F7A85AD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Casting –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11D94-DE7F-4E5D-A8C5-83241066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124744"/>
            <a:ext cx="10873207" cy="5328592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Casting still follows all the other same rules as Convert</a:t>
            </a:r>
          </a:p>
          <a:p>
            <a:pPr lvl="1"/>
            <a:r>
              <a:rPr lang="en-CA" dirty="0"/>
              <a:t>Use a variable to hold the result of the cast, </a:t>
            </a:r>
            <a:r>
              <a:rPr lang="en-CA" dirty="0">
                <a:solidFill>
                  <a:srgbClr val="FFFF00"/>
                </a:solidFill>
              </a:rPr>
              <a:t>unless you are using it on the spot </a:t>
            </a:r>
            <a:r>
              <a:rPr lang="en-CA" dirty="0"/>
              <a:t>and don’t intend to use the casted value again later</a:t>
            </a:r>
          </a:p>
          <a:p>
            <a:pPr lvl="2"/>
            <a:r>
              <a:rPr lang="en-CA" dirty="0"/>
              <a:t>This commonly happens when you just want to cast a value for output purposes.</a:t>
            </a:r>
          </a:p>
          <a:p>
            <a:pPr lvl="2"/>
            <a:r>
              <a:rPr lang="en-CA" dirty="0"/>
              <a:t>Or during calculations when you want to treat a value as another type to ensure your calculations work as expected</a:t>
            </a:r>
          </a:p>
          <a:p>
            <a:pPr lvl="1"/>
            <a:r>
              <a:rPr lang="en-CA" dirty="0"/>
              <a:t>Use an assignment statement to store the converted result, if necessary</a:t>
            </a:r>
          </a:p>
          <a:p>
            <a:r>
              <a:rPr lang="en-CA" dirty="0"/>
              <a:t>To use it: put the desired data type in brackets right next to the value, variable or expression you want to cast</a:t>
            </a:r>
          </a:p>
          <a:p>
            <a:pPr marL="0" indent="0">
              <a:buNone/>
            </a:pPr>
            <a:r>
              <a:rPr lang="en-CA" dirty="0">
                <a:solidFill>
                  <a:srgbClr val="92D050"/>
                </a:solidFill>
              </a:rPr>
              <a:t>Example: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int numMarks = 3;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int displayAverage;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int sum = 87 + 91 + 67;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double average = sum / (double)numMarks; </a:t>
            </a:r>
            <a:r>
              <a:rPr lang="en-CA" sz="1700" dirty="0">
                <a:solidFill>
                  <a:srgbClr val="FFFF00"/>
                </a:solidFill>
                <a:sym typeface="Wingdings" panose="05000000000000000000" pitchFamily="2" charset="2"/>
              </a:rPr>
              <a:t> casted numMarks on-the-spot to double so we don’t lose our decimals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displayAverage = (int)average; </a:t>
            </a:r>
            <a:r>
              <a:rPr lang="en-CA" sz="1700" dirty="0">
                <a:solidFill>
                  <a:srgbClr val="FFFF00"/>
                </a:solidFill>
                <a:sym typeface="Wingdings" panose="05000000000000000000" pitchFamily="2" charset="2"/>
              </a:rPr>
              <a:t> Casted and stored the result for later display.  The original data still has its decimals</a:t>
            </a:r>
            <a:endParaRPr lang="en-CA" sz="1700" dirty="0">
              <a:solidFill>
                <a:srgbClr val="FFFF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7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(“Average Mark: ” + </a:t>
            </a:r>
            <a:r>
              <a:rPr lang="en-CA" sz="1700" dirty="0" err="1">
                <a:solidFill>
                  <a:srgbClr val="00B0F0"/>
                </a:solidFill>
                <a:latin typeface="Consolas" panose="020B0609020204030204" pitchFamily="49" charset="0"/>
              </a:rPr>
              <a:t>displayAverage</a:t>
            </a: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9668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B610-98DC-4A5D-8919-01E795A8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Casting - BEDMAS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3205-BE5F-42FD-9B53-D22C51FF9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BEDMAS still applies to the data being converted</a:t>
            </a:r>
          </a:p>
          <a:p>
            <a:r>
              <a:rPr lang="en-CA" dirty="0"/>
              <a:t>The value being converted next to the cast can itself be an entire expression.  Just don’t forget the brackets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>
                <a:solidFill>
                  <a:srgbClr val="92D050"/>
                </a:solidFill>
              </a:rPr>
              <a:t>Example: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2800" dirty="0">
                <a:solidFill>
                  <a:srgbClr val="00B0F0"/>
                </a:solidFill>
                <a:latin typeface="Consolas" panose="020B0609020204030204" pitchFamily="49" charset="0"/>
              </a:rPr>
              <a:t>double num = 87.8;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2800" dirty="0">
                <a:solidFill>
                  <a:srgbClr val="00B0F0"/>
                </a:solidFill>
                <a:latin typeface="Consolas" panose="020B0609020204030204" pitchFamily="49" charset="0"/>
              </a:rPr>
              <a:t>int </a:t>
            </a:r>
            <a:r>
              <a:rPr lang="en-CA" sz="2800" dirty="0" err="1">
                <a:solidFill>
                  <a:srgbClr val="00B0F0"/>
                </a:solidFill>
                <a:latin typeface="Consolas" panose="020B0609020204030204" pitchFamily="49" charset="0"/>
              </a:rPr>
              <a:t>tripledNum</a:t>
            </a:r>
            <a:r>
              <a:rPr lang="en-CA" sz="28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tripledNum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 = (int)(num * 3); </a:t>
            </a:r>
            <a:r>
              <a:rPr lang="en-CA" sz="2200" dirty="0">
                <a:solidFill>
                  <a:srgbClr val="92D050"/>
                </a:solidFill>
                <a:latin typeface="Consolas" panose="020B0609020204030204" pitchFamily="49" charset="0"/>
              </a:rPr>
              <a:t>//will store 263, not 263.4</a:t>
            </a:r>
            <a:endParaRPr lang="en-CA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CA" dirty="0"/>
              <a:t>The brackets get evaluated before the cast occurs</a:t>
            </a:r>
            <a:endParaRPr lang="en-CA" sz="28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41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6E16-0E8B-4A60-8DD2-FFC7A0EB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 3: TryParse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1704-533E-4D2F-A8A2-78C6FEE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636169" cy="475153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CA" dirty="0"/>
              <a:t>This is the most complex method but comes with benefits the others do not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CA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CA" dirty="0">
                <a:solidFill>
                  <a:srgbClr val="FFFF00"/>
                </a:solidFill>
              </a:rPr>
              <a:t>It can </a:t>
            </a:r>
            <a:r>
              <a:rPr lang="en-CA" b="1" dirty="0">
                <a:solidFill>
                  <a:srgbClr val="FFFF00"/>
                </a:solidFill>
              </a:rPr>
              <a:t>ONLY</a:t>
            </a:r>
            <a:r>
              <a:rPr lang="en-CA" dirty="0">
                <a:solidFill>
                  <a:srgbClr val="FFFF00"/>
                </a:solidFill>
              </a:rPr>
              <a:t> convert strings into other data types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CA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CA" dirty="0" err="1">
                <a:solidFill>
                  <a:srgbClr val="00B0F0"/>
                </a:solidFill>
              </a:rPr>
              <a:t>TryParse</a:t>
            </a:r>
            <a:r>
              <a:rPr lang="en-CA" dirty="0"/>
              <a:t> will not only convert the value, but will also tell the programmer if the conversion was successful or not without ever crashing the program.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CA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CA" dirty="0"/>
              <a:t>Conversions are more strict to be successful</a:t>
            </a:r>
            <a:br>
              <a:rPr lang="en-CA" dirty="0"/>
            </a:br>
            <a:r>
              <a:rPr lang="en-CA" dirty="0"/>
              <a:t>E.g. converting “37.2” into an </a:t>
            </a:r>
            <a:r>
              <a:rPr lang="en-CA" dirty="0">
                <a:solidFill>
                  <a:srgbClr val="FFFF00"/>
                </a:solidFill>
              </a:rPr>
              <a:t>int</a:t>
            </a:r>
            <a:r>
              <a:rPr lang="en-CA" dirty="0"/>
              <a:t> will be </a:t>
            </a:r>
            <a:r>
              <a:rPr lang="en-CA" dirty="0">
                <a:solidFill>
                  <a:srgbClr val="FF0000"/>
                </a:solidFill>
              </a:rPr>
              <a:t>unsuccessful</a:t>
            </a:r>
            <a:br>
              <a:rPr lang="en-CA" dirty="0"/>
            </a:br>
            <a:r>
              <a:rPr lang="en-CA" dirty="0"/>
              <a:t>E.g. converting “37.2” into a </a:t>
            </a:r>
            <a:r>
              <a:rPr lang="en-CA" dirty="0">
                <a:solidFill>
                  <a:srgbClr val="FFFF00"/>
                </a:solidFill>
              </a:rPr>
              <a:t>double</a:t>
            </a:r>
            <a:r>
              <a:rPr lang="en-CA" dirty="0"/>
              <a:t> will be </a:t>
            </a:r>
            <a:r>
              <a:rPr lang="en-CA" dirty="0">
                <a:solidFill>
                  <a:srgbClr val="92D050"/>
                </a:solidFill>
              </a:rPr>
              <a:t>successful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CA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CA" b="1" dirty="0">
                <a:solidFill>
                  <a:srgbClr val="FFFF00"/>
                </a:solidFill>
              </a:rPr>
              <a:t>If a conversion fails, </a:t>
            </a:r>
            <a:r>
              <a:rPr lang="en-CA" b="1" dirty="0">
                <a:solidFill>
                  <a:srgbClr val="FF0000"/>
                </a:solidFill>
              </a:rPr>
              <a:t>0</a:t>
            </a:r>
            <a:r>
              <a:rPr lang="en-CA" b="1" dirty="0">
                <a:solidFill>
                  <a:srgbClr val="FFFF00"/>
                </a:solidFill>
              </a:rPr>
              <a:t> is stored in the variable holding the converted value</a:t>
            </a:r>
          </a:p>
        </p:txBody>
      </p:sp>
    </p:spTree>
    <p:extLst>
      <p:ext uri="{BB962C8B-B14F-4D97-AF65-F5344CB8AC3E}">
        <p14:creationId xmlns:p14="http://schemas.microsoft.com/office/powerpoint/2010/main" val="56307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D8E2-A8E6-4FC6-B461-A397E960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TryParse –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A2BB9-2FB6-4386-8DCF-3BE957599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Because the TryParse method gives us two pieces of information for each conversion, </a:t>
            </a:r>
            <a:r>
              <a:rPr lang="en-CA" dirty="0">
                <a:solidFill>
                  <a:srgbClr val="FFFF00"/>
                </a:solidFill>
              </a:rPr>
              <a:t>value</a:t>
            </a:r>
            <a:r>
              <a:rPr lang="en-CA" dirty="0"/>
              <a:t> and </a:t>
            </a:r>
            <a:r>
              <a:rPr lang="en-CA" dirty="0">
                <a:solidFill>
                  <a:srgbClr val="FFFF00"/>
                </a:solidFill>
              </a:rPr>
              <a:t>success</a:t>
            </a:r>
            <a:r>
              <a:rPr lang="en-CA" dirty="0"/>
              <a:t>, we need a second result variable of type </a:t>
            </a:r>
            <a:r>
              <a:rPr lang="en-CA" dirty="0">
                <a:solidFill>
                  <a:srgbClr val="92D050"/>
                </a:solidFill>
              </a:rPr>
              <a:t>bool</a:t>
            </a:r>
            <a:r>
              <a:rPr lang="en-CA" dirty="0"/>
              <a:t> to store the success status </a:t>
            </a:r>
            <a:r>
              <a:rPr lang="en-CA" dirty="0">
                <a:solidFill>
                  <a:srgbClr val="00B0F0"/>
                </a:solidFill>
              </a:rPr>
              <a:t>(true or false)</a:t>
            </a:r>
          </a:p>
          <a:p>
            <a:endParaRPr lang="en-CA" dirty="0"/>
          </a:p>
          <a:p>
            <a:r>
              <a:rPr lang="en-CA" dirty="0"/>
              <a:t>The </a:t>
            </a:r>
            <a:r>
              <a:rPr lang="en-CA" dirty="0">
                <a:solidFill>
                  <a:srgbClr val="92D050"/>
                </a:solidFill>
              </a:rPr>
              <a:t>syntax</a:t>
            </a:r>
            <a:r>
              <a:rPr lang="en-CA" dirty="0"/>
              <a:t> is more complicated then anything you have seen so far in the course, but still manageable</a:t>
            </a:r>
          </a:p>
          <a:p>
            <a:endParaRPr lang="en-CA" dirty="0"/>
          </a:p>
          <a:p>
            <a:r>
              <a:rPr lang="en-CA" dirty="0"/>
              <a:t>It is still an assignment statement, this time with the </a:t>
            </a:r>
            <a:r>
              <a:rPr lang="en-CA" dirty="0">
                <a:solidFill>
                  <a:srgbClr val="92D050"/>
                </a:solidFill>
              </a:rPr>
              <a:t>bool</a:t>
            </a:r>
            <a:r>
              <a:rPr lang="en-CA" dirty="0"/>
              <a:t> variable on the left. The conversion variable will be used in the conversion method as a </a:t>
            </a:r>
            <a:r>
              <a:rPr lang="en-CA" dirty="0">
                <a:solidFill>
                  <a:srgbClr val="92D050"/>
                </a:solidFill>
              </a:rPr>
              <a:t>parameter</a:t>
            </a:r>
            <a:r>
              <a:rPr lang="en-CA" dirty="0"/>
              <a:t> on the right side of the =</a:t>
            </a:r>
          </a:p>
        </p:txBody>
      </p:sp>
    </p:spTree>
    <p:extLst>
      <p:ext uri="{BB962C8B-B14F-4D97-AF65-F5344CB8AC3E}">
        <p14:creationId xmlns:p14="http://schemas.microsoft.com/office/powerpoint/2010/main" val="127939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1FBB-885B-4B15-8141-F619CA65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TryParse –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1933A-92C6-4ACD-9888-6C1BE9F28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Up until now whenever using a command that needed data, like Console.WriteLine() it only required one piece of data </a:t>
            </a:r>
            <a:r>
              <a:rPr lang="en-CA" dirty="0">
                <a:solidFill>
                  <a:srgbClr val="00B0F0"/>
                </a:solidFill>
              </a:rPr>
              <a:t>(parameter)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This time we will use two, when more than one is required in a command we separate each piece of data with a </a:t>
            </a:r>
            <a:r>
              <a:rPr lang="en-CA" dirty="0">
                <a:solidFill>
                  <a:srgbClr val="FFFF00"/>
                </a:solidFill>
              </a:rPr>
              <a:t>comma</a:t>
            </a:r>
          </a:p>
          <a:p>
            <a:endParaRPr lang="en-CA" dirty="0"/>
          </a:p>
          <a:p>
            <a:r>
              <a:rPr lang="en-CA" dirty="0"/>
              <a:t>We will also need a new keyword that is rarely used in C# and you should only be using it when you use TryParse, for the entirety of this course.  That keyword is:</a:t>
            </a:r>
          </a:p>
          <a:p>
            <a:pPr lvl="1"/>
            <a:r>
              <a:rPr lang="en-CA" b="1" dirty="0">
                <a:solidFill>
                  <a:srgbClr val="FFFF00"/>
                </a:solidFill>
              </a:rPr>
              <a:t>out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1967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0349-0412-43A4-87C3-C3E22893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TryParse –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DDF0B-8024-4DF1-B63B-4A923E1C9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75153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string mark = “87.8”;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bool isValid;	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bools are typically named as a yes/no Question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double convertedMark;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isValid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= Double.TryParse(mark,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out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convertedMark);</a:t>
            </a:r>
          </a:p>
          <a:p>
            <a:pPr marL="0" indent="0">
              <a:buNone/>
            </a:pPr>
            <a:endParaRPr lang="en-CA" sz="2800" dirty="0">
              <a:sym typeface="Wingdings" panose="05000000000000000000" pitchFamily="2" charset="2"/>
            </a:endParaRPr>
          </a:p>
          <a:p>
            <a:r>
              <a:rPr lang="en-CA" sz="2800" dirty="0">
                <a:sym typeface="Wingdings" panose="05000000000000000000" pitchFamily="2" charset="2"/>
              </a:rPr>
              <a:t>The first thing you notice is the </a:t>
            </a:r>
            <a:r>
              <a:rPr lang="en-CA" sz="2800" b="1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Double</a:t>
            </a:r>
            <a:r>
              <a:rPr lang="en-CA" sz="2800" b="1" dirty="0">
                <a:solidFill>
                  <a:srgbClr val="FFFF00"/>
                </a:solidFill>
                <a:sym typeface="Wingdings" panose="05000000000000000000" pitchFamily="2" charset="2"/>
              </a:rPr>
              <a:t>.</a:t>
            </a:r>
            <a:r>
              <a:rPr lang="en-CA" sz="2800" dirty="0">
                <a:sym typeface="Wingdings" panose="05000000000000000000" pitchFamily="2" charset="2"/>
              </a:rPr>
              <a:t> When doing a TryParse we do this behaviour on the data type of choice, but spelled with a capital letter, e.g. </a:t>
            </a: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Int32.TryParse</a:t>
            </a:r>
          </a:p>
          <a:p>
            <a:r>
              <a:rPr lang="en-CA" sz="2800" dirty="0">
                <a:sym typeface="Wingdings" panose="05000000000000000000" pitchFamily="2" charset="2"/>
              </a:rPr>
              <a:t>In the brackets, </a:t>
            </a:r>
            <a:r>
              <a:rPr lang="en-CA" sz="2800" b="1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mark</a:t>
            </a:r>
            <a:r>
              <a:rPr lang="en-CA" sz="2800" dirty="0">
                <a:sym typeface="Wingdings" panose="05000000000000000000" pitchFamily="2" charset="2"/>
              </a:rPr>
              <a:t> is the string variable being converted</a:t>
            </a:r>
          </a:p>
          <a:p>
            <a:r>
              <a:rPr lang="en-CA" sz="2800" dirty="0">
                <a:sym typeface="Wingdings" panose="05000000000000000000" pitchFamily="2" charset="2"/>
              </a:rPr>
              <a:t>In the brackets, </a:t>
            </a:r>
            <a:r>
              <a:rPr lang="en-CA" sz="2800" b="1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out convertedMark</a:t>
            </a:r>
            <a:r>
              <a:rPr lang="en-CA" sz="2800" b="1" dirty="0">
                <a:solidFill>
                  <a:srgbClr val="FFFF00"/>
                </a:solidFill>
                <a:sym typeface="Wingdings" panose="05000000000000000000" pitchFamily="2" charset="2"/>
              </a:rPr>
              <a:t> </a:t>
            </a:r>
            <a:r>
              <a:rPr lang="en-CA" sz="2800" dirty="0">
                <a:sym typeface="Wingdings" panose="05000000000000000000" pitchFamily="2" charset="2"/>
              </a:rPr>
              <a:t>will put the result of the conversion in convertedMark if successful, </a:t>
            </a:r>
            <a:r>
              <a:rPr lang="en-CA" sz="2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0</a:t>
            </a:r>
            <a:r>
              <a:rPr lang="en-CA" sz="2800" dirty="0">
                <a:sym typeface="Wingdings" panose="05000000000000000000" pitchFamily="2" charset="2"/>
              </a:rPr>
              <a:t> otherwise.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07BE08-0D90-FE0F-2747-CC10886DE263}"/>
              </a:ext>
            </a:extLst>
          </p:cNvPr>
          <p:cNvCxnSpPr/>
          <p:nvPr/>
        </p:nvCxnSpPr>
        <p:spPr>
          <a:xfrm flipH="1" flipV="1">
            <a:off x="3142084" y="2708920"/>
            <a:ext cx="3024336" cy="864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5475F9-1D3C-CC50-22DA-ADFD21D0BC78}"/>
              </a:ext>
            </a:extLst>
          </p:cNvPr>
          <p:cNvCxnSpPr/>
          <p:nvPr/>
        </p:nvCxnSpPr>
        <p:spPr>
          <a:xfrm flipV="1">
            <a:off x="4366220" y="2708920"/>
            <a:ext cx="432048" cy="223224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C78649-9583-995E-7F58-2A787D33A691}"/>
              </a:ext>
            </a:extLst>
          </p:cNvPr>
          <p:cNvCxnSpPr/>
          <p:nvPr/>
        </p:nvCxnSpPr>
        <p:spPr>
          <a:xfrm flipH="1" flipV="1">
            <a:off x="2277988" y="1988840"/>
            <a:ext cx="2088232" cy="295232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FFDEBB-95B9-2626-0295-3C0D5D9E4C5C}"/>
              </a:ext>
            </a:extLst>
          </p:cNvPr>
          <p:cNvCxnSpPr/>
          <p:nvPr/>
        </p:nvCxnSpPr>
        <p:spPr>
          <a:xfrm flipV="1">
            <a:off x="4654252" y="2708920"/>
            <a:ext cx="1368152" cy="2952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72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9067-9C88-49EF-82D8-16609DBB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to Convert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4CEE5-F20C-44DE-AD81-A6F883AF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building our applications you will find there are key points when conversion MAY be necessary</a:t>
            </a:r>
          </a:p>
          <a:p>
            <a:pPr lvl="1"/>
            <a:r>
              <a:rPr lang="en-CA" dirty="0">
                <a:solidFill>
                  <a:srgbClr val="92D050"/>
                </a:solidFill>
              </a:rPr>
              <a:t>Sometimes</a:t>
            </a:r>
            <a:r>
              <a:rPr lang="en-CA" dirty="0"/>
              <a:t> during output for a more user-friendly display of data</a:t>
            </a:r>
          </a:p>
          <a:p>
            <a:pPr lvl="1"/>
            <a:endParaRPr lang="en-CA" dirty="0"/>
          </a:p>
          <a:p>
            <a:pPr lvl="1"/>
            <a:r>
              <a:rPr lang="en-CA" dirty="0">
                <a:solidFill>
                  <a:srgbClr val="92D050"/>
                </a:solidFill>
              </a:rPr>
              <a:t>Sometimes</a:t>
            </a:r>
            <a:r>
              <a:rPr lang="en-CA" dirty="0"/>
              <a:t> during calculations to ensure accuracy, or lack of, if desired</a:t>
            </a:r>
          </a:p>
          <a:p>
            <a:pPr lvl="1"/>
            <a:endParaRPr lang="en-CA" dirty="0"/>
          </a:p>
          <a:p>
            <a:pPr lvl="1"/>
            <a:r>
              <a:rPr lang="en-CA" dirty="0">
                <a:solidFill>
                  <a:srgbClr val="92D050"/>
                </a:solidFill>
              </a:rPr>
              <a:t>Most times </a:t>
            </a:r>
            <a:r>
              <a:rPr lang="en-CA" dirty="0"/>
              <a:t>during </a:t>
            </a:r>
            <a:r>
              <a:rPr lang="en-CA" dirty="0">
                <a:solidFill>
                  <a:srgbClr val="FFFF00"/>
                </a:solidFill>
              </a:rPr>
              <a:t>INPUT</a:t>
            </a:r>
            <a:r>
              <a:rPr lang="en-CA" dirty="0"/>
              <a:t>.  Whenever we get data from the user, it will come to us as a </a:t>
            </a:r>
            <a:r>
              <a:rPr lang="en-CA" dirty="0">
                <a:solidFill>
                  <a:srgbClr val="FFFF00"/>
                </a:solidFill>
              </a:rPr>
              <a:t>string</a:t>
            </a:r>
            <a:r>
              <a:rPr lang="en-CA" dirty="0"/>
              <a:t>.  This may not be useful if we asked for a number</a:t>
            </a:r>
          </a:p>
          <a:p>
            <a:pPr lvl="2"/>
            <a:r>
              <a:rPr lang="en-CA" dirty="0"/>
              <a:t>It is our responsibility to convert it to the desired data type before storing it for later use</a:t>
            </a:r>
          </a:p>
        </p:txBody>
      </p:sp>
    </p:spTree>
    <p:extLst>
      <p:ext uri="{BB962C8B-B14F-4D97-AF65-F5344CB8AC3E}">
        <p14:creationId xmlns:p14="http://schemas.microsoft.com/office/powerpoint/2010/main" val="29018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610</TotalTime>
  <Words>874</Words>
  <Application>Microsoft Office PowerPoint</Application>
  <PresentationFormat>Custom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Tech 16x9</vt:lpstr>
      <vt:lpstr>Data Type Conversion</vt:lpstr>
      <vt:lpstr>Method 2: Casting Data to Another Type</vt:lpstr>
      <vt:lpstr>Casting – How?</vt:lpstr>
      <vt:lpstr>Casting - BEDMAS</vt:lpstr>
      <vt:lpstr>Method 3: TryParse</vt:lpstr>
      <vt:lpstr>TryParse – How?</vt:lpstr>
      <vt:lpstr>TryParse – How?</vt:lpstr>
      <vt:lpstr>TryParse – How?</vt:lpstr>
      <vt:lpstr>When to Convert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20</cp:revision>
  <dcterms:created xsi:type="dcterms:W3CDTF">2020-09-21T00:53:05Z</dcterms:created>
  <dcterms:modified xsi:type="dcterms:W3CDTF">2022-09-25T23:59:36Z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