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FDA4-C29D-4148-94E7-113F8893F2D7}" type="datetimeFigureOut">
              <a:rPr lang="en-CA" smtClean="0"/>
              <a:t>2022-10-19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79AE2-0A20-4F18-9187-D5033F5E6C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7435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FDA4-C29D-4148-94E7-113F8893F2D7}" type="datetimeFigureOut">
              <a:rPr lang="en-CA" smtClean="0"/>
              <a:t>2022-10-19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79AE2-0A20-4F18-9187-D5033F5E6C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3710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FDA4-C29D-4148-94E7-113F8893F2D7}" type="datetimeFigureOut">
              <a:rPr lang="en-CA" smtClean="0"/>
              <a:t>2022-10-19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79AE2-0A20-4F18-9187-D5033F5E6C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6829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FDA4-C29D-4148-94E7-113F8893F2D7}" type="datetimeFigureOut">
              <a:rPr lang="en-CA" smtClean="0"/>
              <a:t>2022-10-19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79AE2-0A20-4F18-9187-D5033F5E6C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2371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FDA4-C29D-4148-94E7-113F8893F2D7}" type="datetimeFigureOut">
              <a:rPr lang="en-CA" smtClean="0"/>
              <a:t>2022-10-19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79AE2-0A20-4F18-9187-D5033F5E6C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798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FDA4-C29D-4148-94E7-113F8893F2D7}" type="datetimeFigureOut">
              <a:rPr lang="en-CA" smtClean="0"/>
              <a:t>2022-10-19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79AE2-0A20-4F18-9187-D5033F5E6C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1415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FDA4-C29D-4148-94E7-113F8893F2D7}" type="datetimeFigureOut">
              <a:rPr lang="en-CA" smtClean="0"/>
              <a:t>2022-10-19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79AE2-0A20-4F18-9187-D5033F5E6C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010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FDA4-C29D-4148-94E7-113F8893F2D7}" type="datetimeFigureOut">
              <a:rPr lang="en-CA" smtClean="0"/>
              <a:t>2022-10-19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79AE2-0A20-4F18-9187-D5033F5E6C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7628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FDA4-C29D-4148-94E7-113F8893F2D7}" type="datetimeFigureOut">
              <a:rPr lang="en-CA" smtClean="0"/>
              <a:t>2022-10-19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79AE2-0A20-4F18-9187-D5033F5E6C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5766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FDA4-C29D-4148-94E7-113F8893F2D7}" type="datetimeFigureOut">
              <a:rPr lang="en-CA" smtClean="0"/>
              <a:t>2022-10-19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79AE2-0A20-4F18-9187-D5033F5E6C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3865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FDA4-C29D-4148-94E7-113F8893F2D7}" type="datetimeFigureOut">
              <a:rPr lang="en-CA" smtClean="0"/>
              <a:t>2022-10-19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79AE2-0A20-4F18-9187-D5033F5E6C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5038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FDA4-C29D-4148-94E7-113F8893F2D7}" type="datetimeFigureOut">
              <a:rPr lang="en-CA" smtClean="0"/>
              <a:t>2022-10-19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79AE2-0A20-4F18-9187-D5033F5E6CFE}" type="slidenum">
              <a:rPr lang="en-CA" smtClean="0"/>
              <a:t>‹#›</a:t>
            </a:fld>
            <a:endParaRPr lang="en-CA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0436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FDA4-C29D-4148-94E7-113F8893F2D7}" type="datetimeFigureOut">
              <a:rPr lang="en-CA" smtClean="0"/>
              <a:t>2022-10-19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79AE2-0A20-4F18-9187-D5033F5E6C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6752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FDA4-C29D-4148-94E7-113F8893F2D7}" type="datetimeFigureOut">
              <a:rPr lang="en-CA" smtClean="0"/>
              <a:t>2022-10-19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79AE2-0A20-4F18-9187-D5033F5E6C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287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FDA4-C29D-4148-94E7-113F8893F2D7}" type="datetimeFigureOut">
              <a:rPr lang="en-CA" smtClean="0"/>
              <a:t>2022-10-19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79AE2-0A20-4F18-9187-D5033F5E6C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7166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FDA4-C29D-4148-94E7-113F8893F2D7}" type="datetimeFigureOut">
              <a:rPr lang="en-CA" smtClean="0"/>
              <a:t>2022-10-19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79AE2-0A20-4F18-9187-D5033F5E6C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2038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FDA4-C29D-4148-94E7-113F8893F2D7}" type="datetimeFigureOut">
              <a:rPr lang="en-CA" smtClean="0"/>
              <a:t>2022-10-19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79AE2-0A20-4F18-9187-D5033F5E6C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1931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7B5FDA4-C29D-4148-94E7-113F8893F2D7}" type="datetimeFigureOut">
              <a:rPr lang="en-CA" smtClean="0"/>
              <a:t>2022-10-19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1879AE2-0A20-4F18-9187-D5033F5E6C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4575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err="1"/>
              <a:t>MonoGame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User Input</a:t>
            </a:r>
          </a:p>
        </p:txBody>
      </p:sp>
    </p:spTree>
    <p:extLst>
      <p:ext uri="{BB962C8B-B14F-4D97-AF65-F5344CB8AC3E}">
        <p14:creationId xmlns:p14="http://schemas.microsoft.com/office/powerpoint/2010/main" val="3906738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3 Forms of User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There are three methods used to get data from the user to interact with your software:</a:t>
            </a:r>
          </a:p>
          <a:p>
            <a:pPr lvl="1"/>
            <a:r>
              <a:rPr lang="en-CA" dirty="0" err="1"/>
              <a:t>GamePad</a:t>
            </a:r>
            <a:r>
              <a:rPr lang="en-CA" dirty="0"/>
              <a:t> (Xbox 360 Controller)</a:t>
            </a:r>
          </a:p>
          <a:p>
            <a:endParaRPr lang="en-CA" dirty="0"/>
          </a:p>
          <a:p>
            <a:pPr lvl="1"/>
            <a:r>
              <a:rPr lang="en-CA" dirty="0"/>
              <a:t>Keyboard</a:t>
            </a:r>
          </a:p>
          <a:p>
            <a:endParaRPr lang="en-CA" dirty="0"/>
          </a:p>
          <a:p>
            <a:pPr lvl="1"/>
            <a:r>
              <a:rPr lang="en-CA" dirty="0"/>
              <a:t>Mouse</a:t>
            </a:r>
          </a:p>
        </p:txBody>
      </p:sp>
    </p:spTree>
    <p:extLst>
      <p:ext uri="{BB962C8B-B14F-4D97-AF65-F5344CB8AC3E}">
        <p14:creationId xmlns:p14="http://schemas.microsoft.com/office/powerpoint/2010/main" val="332127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The functionality has already been created and is in the library </a:t>
            </a:r>
            <a:r>
              <a:rPr lang="en-CA" b="1" dirty="0" err="1"/>
              <a:t>Microsoft.Xna.Framework.Input</a:t>
            </a:r>
            <a:endParaRPr lang="en-CA" b="1" dirty="0"/>
          </a:p>
          <a:p>
            <a:endParaRPr lang="en-CA" dirty="0"/>
          </a:p>
          <a:p>
            <a:r>
              <a:rPr lang="en-CA" dirty="0"/>
              <a:t>Your job will be to simply use the code they have created to complete your tasks</a:t>
            </a:r>
          </a:p>
        </p:txBody>
      </p:sp>
    </p:spTree>
    <p:extLst>
      <p:ext uri="{BB962C8B-B14F-4D97-AF65-F5344CB8AC3E}">
        <p14:creationId xmlns:p14="http://schemas.microsoft.com/office/powerpoint/2010/main" val="3924400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Analog versus 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Input devices are made up of two different types of controls, analog and digital:</a:t>
            </a:r>
          </a:p>
          <a:p>
            <a:endParaRPr lang="en-CA" dirty="0"/>
          </a:p>
          <a:p>
            <a:r>
              <a:rPr lang="en-CA" dirty="0"/>
              <a:t>A digital control is either </a:t>
            </a:r>
            <a:r>
              <a:rPr lang="en-CA" b="1" i="1" dirty="0"/>
              <a:t>ON</a:t>
            </a:r>
            <a:r>
              <a:rPr lang="en-CA" dirty="0"/>
              <a:t> or </a:t>
            </a:r>
            <a:r>
              <a:rPr lang="en-CA" b="1" i="1" dirty="0"/>
              <a:t>OFF</a:t>
            </a:r>
            <a:endParaRPr lang="en-CA" dirty="0"/>
          </a:p>
          <a:p>
            <a:pPr lvl="1"/>
            <a:r>
              <a:rPr lang="en-CA" dirty="0"/>
              <a:t>E.g. X, Y, B, A are all digital controls on a 360 controller</a:t>
            </a:r>
          </a:p>
          <a:p>
            <a:pPr lvl="1"/>
            <a:endParaRPr lang="en-CA" dirty="0"/>
          </a:p>
          <a:p>
            <a:r>
              <a:rPr lang="en-CA" dirty="0"/>
              <a:t>Analog controls have a range of values</a:t>
            </a:r>
          </a:p>
          <a:p>
            <a:pPr lvl="1"/>
            <a:r>
              <a:rPr lang="en-CA" dirty="0"/>
              <a:t>E.g. The </a:t>
            </a:r>
            <a:r>
              <a:rPr lang="en-CA" dirty="0" err="1"/>
              <a:t>thumbsticks</a:t>
            </a:r>
            <a:r>
              <a:rPr lang="en-CA" dirty="0"/>
              <a:t> and triggers on a 360 controller</a:t>
            </a:r>
          </a:p>
        </p:txBody>
      </p:sp>
    </p:spTree>
    <p:extLst>
      <p:ext uri="{BB962C8B-B14F-4D97-AF65-F5344CB8AC3E}">
        <p14:creationId xmlns:p14="http://schemas.microsoft.com/office/powerpoint/2010/main" val="3150767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order to get user input the game must </a:t>
            </a:r>
            <a:r>
              <a:rPr lang="en-CA" b="1" i="1" dirty="0"/>
              <a:t>poll</a:t>
            </a:r>
            <a:r>
              <a:rPr lang="en-CA" dirty="0"/>
              <a:t> its controls.</a:t>
            </a:r>
          </a:p>
          <a:p>
            <a:pPr lvl="1"/>
            <a:r>
              <a:rPr lang="en-CA" b="1" i="1" dirty="0"/>
              <a:t>Polling</a:t>
            </a:r>
            <a:r>
              <a:rPr lang="en-CA" dirty="0"/>
              <a:t> is the act of repeatedly checking a </a:t>
            </a:r>
            <a:r>
              <a:rPr lang="en-CA" dirty="0" smtClean="0"/>
              <a:t>controller’s </a:t>
            </a:r>
            <a:r>
              <a:rPr lang="en-CA" dirty="0"/>
              <a:t>state, then processing that data</a:t>
            </a:r>
          </a:p>
          <a:p>
            <a:pPr lvl="2"/>
            <a:r>
              <a:rPr lang="en-CA" dirty="0"/>
              <a:t>E.g. Check to see if the jump button is currently pressed, if so then jump!</a:t>
            </a:r>
          </a:p>
          <a:p>
            <a:pPr lvl="1"/>
            <a:r>
              <a:rPr lang="en-CA" dirty="0"/>
              <a:t>Polling is done in the Update function of your game.</a:t>
            </a:r>
          </a:p>
        </p:txBody>
      </p:sp>
    </p:spTree>
    <p:extLst>
      <p:ext uri="{BB962C8B-B14F-4D97-AF65-F5344CB8AC3E}">
        <p14:creationId xmlns:p14="http://schemas.microsoft.com/office/powerpoint/2010/main" val="1120888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Input from a </a:t>
            </a:r>
            <a:r>
              <a:rPr lang="en-CA" dirty="0" err="1"/>
              <a:t>GamePad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826008"/>
          </a:xfrm>
        </p:spPr>
        <p:txBody>
          <a:bodyPr>
            <a:normAutofit/>
          </a:bodyPr>
          <a:lstStyle/>
          <a:p>
            <a:r>
              <a:rPr lang="en-CA" dirty="0" err="1"/>
              <a:t>MonoGame</a:t>
            </a:r>
            <a:r>
              <a:rPr lang="en-CA" dirty="0"/>
              <a:t> can support up to 4 controllers:</a:t>
            </a:r>
          </a:p>
          <a:p>
            <a:pPr lvl="1"/>
            <a:r>
              <a:rPr lang="en-CA" dirty="0"/>
              <a:t>The controls on an Xbox 360 gamepad consist of:</a:t>
            </a:r>
          </a:p>
          <a:p>
            <a:pPr lvl="2"/>
            <a:r>
              <a:rPr lang="en-CA" dirty="0"/>
              <a:t>Buttons</a:t>
            </a:r>
          </a:p>
          <a:p>
            <a:pPr lvl="2"/>
            <a:r>
              <a:rPr lang="en-CA" dirty="0"/>
              <a:t>Triggers</a:t>
            </a:r>
          </a:p>
          <a:p>
            <a:pPr lvl="2"/>
            <a:r>
              <a:rPr lang="en-CA" dirty="0" err="1"/>
              <a:t>Thumbsticks</a:t>
            </a:r>
            <a:endParaRPr lang="en-CA" dirty="0"/>
          </a:p>
          <a:p>
            <a:pPr lvl="2"/>
            <a:r>
              <a:rPr lang="en-CA" dirty="0"/>
              <a:t>Digital Pad (</a:t>
            </a:r>
            <a:r>
              <a:rPr lang="en-CA" dirty="0" err="1"/>
              <a:t>Dpad</a:t>
            </a:r>
            <a:r>
              <a:rPr lang="en-CA" dirty="0"/>
              <a:t>)</a:t>
            </a:r>
          </a:p>
          <a:p>
            <a:pPr lvl="2"/>
            <a:endParaRPr lang="en-CA" dirty="0"/>
          </a:p>
          <a:p>
            <a:r>
              <a:rPr lang="en-CA" dirty="0"/>
              <a:t>Input from a Gamepad includes coordinate data from the </a:t>
            </a:r>
            <a:r>
              <a:rPr lang="en-CA" dirty="0" err="1"/>
              <a:t>Thumbsticks</a:t>
            </a:r>
            <a:r>
              <a:rPr lang="en-CA" dirty="0"/>
              <a:t> and the state information of each buttons including the </a:t>
            </a:r>
            <a:r>
              <a:rPr lang="en-CA" dirty="0" err="1"/>
              <a:t>Dpad</a:t>
            </a:r>
            <a:r>
              <a:rPr lang="en-CA" dirty="0"/>
              <a:t> buttons</a:t>
            </a:r>
          </a:p>
          <a:p>
            <a:endParaRPr lang="en-CA" dirty="0"/>
          </a:p>
          <a:p>
            <a:r>
              <a:rPr lang="en-CA" dirty="0"/>
              <a:t>You may also enable vibrate to give physical feedback to the users (Output)</a:t>
            </a:r>
          </a:p>
        </p:txBody>
      </p:sp>
    </p:spTree>
    <p:extLst>
      <p:ext uri="{BB962C8B-B14F-4D97-AF65-F5344CB8AC3E}">
        <p14:creationId xmlns:p14="http://schemas.microsoft.com/office/powerpoint/2010/main" val="2391554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882808"/>
            <a:ext cx="8424936" cy="4572000"/>
          </a:xfrm>
        </p:spPr>
        <p:txBody>
          <a:bodyPr>
            <a:normAutofit fontScale="85000" lnSpcReduction="10000"/>
          </a:bodyPr>
          <a:lstStyle/>
          <a:p>
            <a:r>
              <a:rPr lang="en-CA" dirty="0"/>
              <a:t>To set up a connection to the controller </a:t>
            </a:r>
            <a:r>
              <a:rPr lang="en-CA" dirty="0" smtClean="0"/>
              <a:t>create </a:t>
            </a:r>
            <a:r>
              <a:rPr lang="en-CA" dirty="0"/>
              <a:t>a global variable for each controller.</a:t>
            </a:r>
          </a:p>
          <a:p>
            <a:pPr lvl="1"/>
            <a:r>
              <a:rPr lang="en-CA" sz="2100" dirty="0" err="1">
                <a:solidFill>
                  <a:srgbClr val="00B0F0"/>
                </a:solidFill>
                <a:latin typeface="Consolas" panose="020B0609020204030204" pitchFamily="49" charset="0"/>
              </a:rPr>
              <a:t>GamePadState</a:t>
            </a:r>
            <a:r>
              <a:rPr lang="en-CA" sz="2100" dirty="0">
                <a:solidFill>
                  <a:srgbClr val="00B0F0"/>
                </a:solidFill>
                <a:latin typeface="Consolas" panose="020B0609020204030204" pitchFamily="49" charset="0"/>
              </a:rPr>
              <a:t> gamePad1;</a:t>
            </a:r>
            <a:r>
              <a:rPr lang="en-CA" dirty="0">
                <a:sym typeface="Wingdings" panose="05000000000000000000" pitchFamily="2" charset="2"/>
              </a:rPr>
              <a:t> a variable for each control is needed</a:t>
            </a:r>
          </a:p>
          <a:p>
            <a:pPr lvl="1"/>
            <a:endParaRPr lang="en-CA" dirty="0"/>
          </a:p>
          <a:p>
            <a:r>
              <a:rPr lang="en-CA" dirty="0"/>
              <a:t>Get the controllers’ current state at the </a:t>
            </a:r>
            <a:r>
              <a:rPr lang="en-CA" b="1" dirty="0">
                <a:solidFill>
                  <a:srgbClr val="FFFF00"/>
                </a:solidFill>
              </a:rPr>
              <a:t>top</a:t>
            </a:r>
            <a:r>
              <a:rPr lang="en-CA" dirty="0"/>
              <a:t> of Update (60 x per second, this is done)</a:t>
            </a:r>
          </a:p>
          <a:p>
            <a:pPr lvl="1"/>
            <a:r>
              <a:rPr lang="en-CA" sz="2100" dirty="0">
                <a:solidFill>
                  <a:srgbClr val="00B0F0"/>
                </a:solidFill>
                <a:latin typeface="Consolas" panose="020B0609020204030204" pitchFamily="49" charset="0"/>
              </a:rPr>
              <a:t>gamePad1 = </a:t>
            </a:r>
            <a:r>
              <a:rPr lang="en-CA" sz="2100" dirty="0" err="1">
                <a:solidFill>
                  <a:srgbClr val="00B0F0"/>
                </a:solidFill>
                <a:latin typeface="Consolas" panose="020B0609020204030204" pitchFamily="49" charset="0"/>
              </a:rPr>
              <a:t>GamePad.GetState</a:t>
            </a:r>
            <a:r>
              <a:rPr lang="en-CA" sz="2100" dirty="0">
                <a:solidFill>
                  <a:srgbClr val="00B0F0"/>
                </a:solidFill>
                <a:latin typeface="Consolas" panose="020B0609020204030204" pitchFamily="49" charset="0"/>
              </a:rPr>
              <a:t>(</a:t>
            </a:r>
            <a:r>
              <a:rPr lang="en-CA" sz="2100" dirty="0" err="1">
                <a:solidFill>
                  <a:srgbClr val="00B0F0"/>
                </a:solidFill>
                <a:latin typeface="Consolas" panose="020B0609020204030204" pitchFamily="49" charset="0"/>
              </a:rPr>
              <a:t>PlayerIndex.One</a:t>
            </a:r>
            <a:r>
              <a:rPr lang="en-CA" sz="2100" dirty="0">
                <a:solidFill>
                  <a:srgbClr val="00B0F0"/>
                </a:solidFill>
                <a:latin typeface="Consolas" panose="020B0609020204030204" pitchFamily="49" charset="0"/>
              </a:rPr>
              <a:t>);</a:t>
            </a:r>
          </a:p>
          <a:p>
            <a:pPr marL="64008" indent="0">
              <a:buNone/>
            </a:pPr>
            <a:endParaRPr lang="en-CA" sz="1800" b="1" dirty="0"/>
          </a:p>
          <a:p>
            <a:pPr marL="64008" indent="0">
              <a:buNone/>
            </a:pPr>
            <a:endParaRPr lang="en-CA" sz="1800" b="1" dirty="0"/>
          </a:p>
          <a:p>
            <a:r>
              <a:rPr lang="en-CA" dirty="0" err="1">
                <a:solidFill>
                  <a:srgbClr val="00B050"/>
                </a:solidFill>
              </a:rPr>
              <a:t>GamePadState</a:t>
            </a:r>
            <a:r>
              <a:rPr lang="en-CA" dirty="0"/>
              <a:t> is the variable type</a:t>
            </a:r>
          </a:p>
          <a:p>
            <a:r>
              <a:rPr lang="en-CA" dirty="0">
                <a:solidFill>
                  <a:srgbClr val="00B050"/>
                </a:solidFill>
              </a:rPr>
              <a:t>gamePad1</a:t>
            </a:r>
            <a:r>
              <a:rPr lang="en-CA" dirty="0"/>
              <a:t> is the name of our controller</a:t>
            </a:r>
          </a:p>
          <a:p>
            <a:r>
              <a:rPr lang="en-CA" dirty="0" err="1">
                <a:solidFill>
                  <a:srgbClr val="00B050"/>
                </a:solidFill>
              </a:rPr>
              <a:t>GamePad.GetState</a:t>
            </a:r>
            <a:r>
              <a:rPr lang="en-CA" dirty="0">
                <a:solidFill>
                  <a:srgbClr val="00B050"/>
                </a:solidFill>
              </a:rPr>
              <a:t>() </a:t>
            </a:r>
            <a:r>
              <a:rPr lang="en-CA" dirty="0"/>
              <a:t>is an object and Method used to get the current state of EVERY button and stick, etc.</a:t>
            </a:r>
          </a:p>
          <a:p>
            <a:r>
              <a:rPr lang="en-CA" dirty="0" err="1">
                <a:solidFill>
                  <a:srgbClr val="00B050"/>
                </a:solidFill>
              </a:rPr>
              <a:t>PlayerIndex.One</a:t>
            </a:r>
            <a:r>
              <a:rPr lang="en-CA" dirty="0"/>
              <a:t> is a constant to specify which controller is desired to poll for data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575510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Need for 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Due to the fact that we are polling the controller for input, we need to use if statements to only do something when the desired state of a button is given</a:t>
            </a:r>
          </a:p>
          <a:p>
            <a:pPr marL="64008" indent="0">
              <a:buNone/>
            </a:pPr>
            <a:endParaRPr lang="en-CA" sz="1600" dirty="0"/>
          </a:p>
          <a:p>
            <a:pPr marL="64008" indent="0">
              <a:buNone/>
            </a:pPr>
            <a:r>
              <a:rPr lang="en-CA" sz="2000" dirty="0"/>
              <a:t>E.g.</a:t>
            </a:r>
            <a:r>
              <a:rPr lang="en-CA" dirty="0"/>
              <a:t/>
            </a:r>
            <a:br>
              <a:rPr lang="en-CA" dirty="0"/>
            </a:br>
            <a:r>
              <a:rPr lang="en-CA" sz="1600" dirty="0">
                <a:latin typeface="Consolas" panose="020B0609020204030204" pitchFamily="49" charset="0"/>
              </a:rPr>
              <a:t>if (gamePad1.Buttons.Start == </a:t>
            </a:r>
            <a:r>
              <a:rPr lang="en-CA" sz="1600" dirty="0" err="1">
                <a:latin typeface="Consolas" panose="020B0609020204030204" pitchFamily="49" charset="0"/>
              </a:rPr>
              <a:t>ButtonState.Pressed</a:t>
            </a:r>
            <a:r>
              <a:rPr lang="en-CA" sz="1600" dirty="0">
                <a:latin typeface="Consolas" panose="020B0609020204030204" pitchFamily="49" charset="0"/>
              </a:rPr>
              <a:t>)</a:t>
            </a:r>
          </a:p>
          <a:p>
            <a:pPr marL="64008" indent="0">
              <a:buNone/>
            </a:pPr>
            <a:r>
              <a:rPr lang="en-CA" sz="1600" dirty="0">
                <a:latin typeface="Consolas" panose="020B0609020204030204" pitchFamily="49" charset="0"/>
              </a:rPr>
              <a:t>{</a:t>
            </a:r>
          </a:p>
          <a:p>
            <a:pPr marL="64008" indent="0">
              <a:buNone/>
            </a:pPr>
            <a:r>
              <a:rPr lang="en-CA" sz="1600" dirty="0">
                <a:latin typeface="Consolas" panose="020B0609020204030204" pitchFamily="49" charset="0"/>
              </a:rPr>
              <a:t>       //Do Something, like pause the game</a:t>
            </a:r>
          </a:p>
          <a:p>
            <a:pPr marL="64008" indent="0">
              <a:buNone/>
            </a:pPr>
            <a:r>
              <a:rPr lang="en-CA" sz="1600" dirty="0">
                <a:latin typeface="Consolas" panose="020B0609020204030204" pitchFamily="49" charset="0"/>
              </a:rPr>
              <a:t>}</a:t>
            </a:r>
          </a:p>
          <a:p>
            <a:pPr marL="64008" indent="0">
              <a:buNone/>
            </a:pPr>
            <a:endParaRPr lang="en-CA" sz="1600" dirty="0">
              <a:latin typeface="Consolas" panose="020B0609020204030204" pitchFamily="49" charset="0"/>
            </a:endParaRPr>
          </a:p>
          <a:p>
            <a:pPr marL="64008" indent="0">
              <a:buNone/>
            </a:pPr>
            <a:r>
              <a:rPr lang="en-CA" sz="1600" dirty="0">
                <a:solidFill>
                  <a:srgbClr val="FFFF00"/>
                </a:solidFill>
                <a:latin typeface="Consolas" panose="020B0609020204030204" pitchFamily="49" charset="0"/>
              </a:rPr>
              <a:t>NOTE: </a:t>
            </a:r>
            <a:r>
              <a:rPr lang="en-CA" sz="1600" dirty="0">
                <a:latin typeface="Consolas" panose="020B0609020204030204" pitchFamily="49" charset="0"/>
              </a:rPr>
              <a:t>Using separate ifs for each button allows for more than one button pressed at a time. else ifs limit it to the first button detected.</a:t>
            </a:r>
          </a:p>
        </p:txBody>
      </p:sp>
    </p:spTree>
    <p:extLst>
      <p:ext uri="{BB962C8B-B14F-4D97-AF65-F5344CB8AC3E}">
        <p14:creationId xmlns:p14="http://schemas.microsoft.com/office/powerpoint/2010/main" val="2084208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Handling </a:t>
            </a:r>
            <a:r>
              <a:rPr lang="en-CA" dirty="0" err="1"/>
              <a:t>Thumbsticks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The </a:t>
            </a:r>
            <a:r>
              <a:rPr lang="en-CA" dirty="0" err="1"/>
              <a:t>Thumbsticks</a:t>
            </a:r>
            <a:r>
              <a:rPr lang="en-CA" dirty="0"/>
              <a:t> are analog, which means they handle a range of float values in decimal form.</a:t>
            </a:r>
          </a:p>
          <a:p>
            <a:endParaRPr lang="en-CA" dirty="0"/>
          </a:p>
          <a:p>
            <a:r>
              <a:rPr lang="en-CA" dirty="0"/>
              <a:t>Visualize the range of a </a:t>
            </a:r>
            <a:r>
              <a:rPr lang="en-CA" dirty="0" err="1"/>
              <a:t>Thumbstick</a:t>
            </a:r>
            <a:r>
              <a:rPr lang="en-CA" dirty="0"/>
              <a:t> as follows:</a:t>
            </a:r>
          </a:p>
          <a:p>
            <a:pPr lvl="1"/>
            <a:r>
              <a:rPr lang="en-CA" dirty="0"/>
              <a:t>A value from -1 </a:t>
            </a:r>
            <a:r>
              <a:rPr lang="en-CA" dirty="0">
                <a:sym typeface="Wingdings" panose="05000000000000000000" pitchFamily="2" charset="2"/>
              </a:rPr>
              <a:t> 1 in the x direction (horizontal)</a:t>
            </a:r>
          </a:p>
          <a:p>
            <a:pPr lvl="1"/>
            <a:r>
              <a:rPr lang="en-CA" dirty="0"/>
              <a:t>A value from -1 </a:t>
            </a:r>
            <a:r>
              <a:rPr lang="en-CA" dirty="0">
                <a:sym typeface="Wingdings" panose="05000000000000000000" pitchFamily="2" charset="2"/>
              </a:rPr>
              <a:t> 1 in the y direction (vertical)</a:t>
            </a:r>
          </a:p>
          <a:p>
            <a:pPr lvl="1"/>
            <a:endParaRPr lang="en-CA" dirty="0">
              <a:sym typeface="Wingdings" panose="05000000000000000000" pitchFamily="2" charset="2"/>
            </a:endParaRPr>
          </a:p>
          <a:p>
            <a:r>
              <a:rPr lang="en-CA" dirty="0">
                <a:sym typeface="Wingdings" panose="05000000000000000000" pitchFamily="2" charset="2"/>
              </a:rPr>
              <a:t>Together this tells us how hard the player is pressing in both directions</a:t>
            </a:r>
            <a:endParaRPr lang="en-CA" dirty="0"/>
          </a:p>
          <a:p>
            <a:pPr marL="64008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32889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Handling </a:t>
            </a:r>
            <a:r>
              <a:rPr lang="en-CA" dirty="0" err="1"/>
              <a:t>Thumbsticks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700808"/>
            <a:ext cx="8568952" cy="4058751"/>
          </a:xfrm>
        </p:spPr>
        <p:txBody>
          <a:bodyPr>
            <a:normAutofit/>
          </a:bodyPr>
          <a:lstStyle/>
          <a:p>
            <a:r>
              <a:rPr lang="en-CA" dirty="0"/>
              <a:t>When retrieving </a:t>
            </a:r>
            <a:r>
              <a:rPr lang="en-CA" dirty="0" err="1"/>
              <a:t>Thumbstick</a:t>
            </a:r>
            <a:r>
              <a:rPr lang="en-CA" dirty="0"/>
              <a:t> data you need to specify whether you want the right or left </a:t>
            </a:r>
            <a:r>
              <a:rPr lang="en-CA" dirty="0" err="1"/>
              <a:t>Thumbstick</a:t>
            </a:r>
            <a:r>
              <a:rPr lang="en-CA" dirty="0"/>
              <a:t> as well as the X or Y component</a:t>
            </a:r>
          </a:p>
          <a:p>
            <a:pPr marL="64008" indent="0">
              <a:buNone/>
            </a:pPr>
            <a:r>
              <a:rPr lang="en-CA" sz="2000" b="1" dirty="0"/>
              <a:t>E.g.</a:t>
            </a:r>
          </a:p>
          <a:p>
            <a:pPr marL="64008" indent="0">
              <a:buNone/>
            </a:pPr>
            <a:r>
              <a:rPr lang="en-CA" sz="1700" dirty="0" err="1">
                <a:solidFill>
                  <a:srgbClr val="00B0F0"/>
                </a:solidFill>
                <a:latin typeface="Consolas" panose="020B0609020204030204" pitchFamily="49" charset="0"/>
              </a:rPr>
              <a:t>playerLoc.X</a:t>
            </a:r>
            <a:r>
              <a:rPr lang="en-CA" sz="1700" dirty="0">
                <a:solidFill>
                  <a:srgbClr val="00B0F0"/>
                </a:solidFill>
                <a:latin typeface="Consolas" panose="020B0609020204030204" pitchFamily="49" charset="0"/>
              </a:rPr>
              <a:t> = </a:t>
            </a:r>
            <a:r>
              <a:rPr lang="en-CA" sz="1700" dirty="0" err="1">
                <a:solidFill>
                  <a:srgbClr val="00B0F0"/>
                </a:solidFill>
                <a:latin typeface="Consolas" panose="020B0609020204030204" pitchFamily="49" charset="0"/>
              </a:rPr>
              <a:t>playerLoc.X</a:t>
            </a:r>
            <a:r>
              <a:rPr lang="en-CA" sz="1700" dirty="0">
                <a:solidFill>
                  <a:srgbClr val="00B0F0"/>
                </a:solidFill>
                <a:latin typeface="Consolas" panose="020B0609020204030204" pitchFamily="49" charset="0"/>
              </a:rPr>
              <a:t> + (</a:t>
            </a:r>
            <a:r>
              <a:rPr lang="en-CA" sz="1700" dirty="0" err="1">
                <a:solidFill>
                  <a:srgbClr val="00B0F0"/>
                </a:solidFill>
                <a:latin typeface="Consolas" panose="020B0609020204030204" pitchFamily="49" charset="0"/>
              </a:rPr>
              <a:t>maxSpeed</a:t>
            </a:r>
            <a:r>
              <a:rPr lang="en-CA" sz="17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CA" sz="17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* gamePad1.ThumbSticks.Left.X</a:t>
            </a:r>
            <a:r>
              <a:rPr lang="en-CA" sz="1700" dirty="0">
                <a:solidFill>
                  <a:srgbClr val="00B0F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CA" dirty="0"/>
          </a:p>
          <a:p>
            <a:r>
              <a:rPr lang="en-CA" dirty="0"/>
              <a:t>If </a:t>
            </a:r>
            <a:r>
              <a:rPr lang="en-CA" dirty="0" err="1">
                <a:solidFill>
                  <a:srgbClr val="92D050"/>
                </a:solidFill>
              </a:rPr>
              <a:t>maxSpeed</a:t>
            </a:r>
            <a:r>
              <a:rPr lang="en-CA" dirty="0"/>
              <a:t> was a variable of value 5.0</a:t>
            </a:r>
          </a:p>
          <a:p>
            <a:r>
              <a:rPr lang="en-CA" dirty="0"/>
              <a:t>This code adds at most 5 pixels to the player’s x location based on the left </a:t>
            </a:r>
            <a:r>
              <a:rPr lang="en-CA" dirty="0" err="1"/>
              <a:t>thumbstick’s</a:t>
            </a:r>
            <a:r>
              <a:rPr lang="en-CA" dirty="0"/>
              <a:t> x movement.</a:t>
            </a:r>
          </a:p>
          <a:p>
            <a:pPr lvl="1"/>
            <a:r>
              <a:rPr lang="en-CA" dirty="0"/>
              <a:t>If the </a:t>
            </a:r>
            <a:r>
              <a:rPr lang="en-CA" dirty="0" err="1"/>
              <a:t>thumbstick’s</a:t>
            </a:r>
            <a:r>
              <a:rPr lang="en-CA" dirty="0"/>
              <a:t> x value is 0.5, a value of 2.5 would be added to the player’s current X value</a:t>
            </a:r>
          </a:p>
        </p:txBody>
      </p:sp>
    </p:spTree>
    <p:extLst>
      <p:ext uri="{BB962C8B-B14F-4D97-AF65-F5344CB8AC3E}">
        <p14:creationId xmlns:p14="http://schemas.microsoft.com/office/powerpoint/2010/main" val="3355417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Final Note on the </a:t>
            </a:r>
            <a:r>
              <a:rPr lang="en-CA" dirty="0" err="1"/>
              <a:t>DPad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CA" dirty="0"/>
              <a:t>The key thing to remember is that the </a:t>
            </a:r>
            <a:r>
              <a:rPr lang="en-CA" dirty="0" err="1"/>
              <a:t>Dpad</a:t>
            </a:r>
            <a:r>
              <a:rPr lang="en-CA" dirty="0"/>
              <a:t> is actually 4 separate buttons;</a:t>
            </a:r>
          </a:p>
          <a:p>
            <a:pPr lvl="1"/>
            <a:r>
              <a:rPr lang="en-CA" dirty="0"/>
              <a:t>Left</a:t>
            </a:r>
          </a:p>
          <a:p>
            <a:pPr lvl="1"/>
            <a:r>
              <a:rPr lang="en-CA" dirty="0"/>
              <a:t>Right</a:t>
            </a:r>
          </a:p>
          <a:p>
            <a:pPr lvl="1"/>
            <a:r>
              <a:rPr lang="en-CA" dirty="0"/>
              <a:t>Up</a:t>
            </a:r>
          </a:p>
          <a:p>
            <a:pPr lvl="1"/>
            <a:r>
              <a:rPr lang="en-CA" dirty="0"/>
              <a:t>Down</a:t>
            </a:r>
          </a:p>
          <a:p>
            <a:pPr lvl="1"/>
            <a:endParaRPr lang="en-CA" dirty="0"/>
          </a:p>
          <a:p>
            <a:pPr marL="64008" indent="0">
              <a:buNone/>
            </a:pPr>
            <a:r>
              <a:rPr lang="en-CA" sz="2800" dirty="0"/>
              <a:t>E.g.</a:t>
            </a:r>
          </a:p>
          <a:p>
            <a:pPr marL="64008" indent="0">
              <a:buNone/>
            </a:pPr>
            <a:r>
              <a:rPr lang="en-CA" sz="2800" dirty="0">
                <a:latin typeface="Consolas" panose="020B0609020204030204" pitchFamily="49" charset="0"/>
              </a:rPr>
              <a:t>if (gamePad1.DPad.Left == </a:t>
            </a:r>
            <a:r>
              <a:rPr lang="en-CA" sz="2800" dirty="0" err="1">
                <a:latin typeface="Consolas" panose="020B0609020204030204" pitchFamily="49" charset="0"/>
              </a:rPr>
              <a:t>ButtonState.Pressed</a:t>
            </a:r>
            <a:r>
              <a:rPr lang="en-CA" sz="2800" dirty="0">
                <a:latin typeface="Consolas" panose="020B0609020204030204" pitchFamily="49" charset="0"/>
              </a:rPr>
              <a:t>)</a:t>
            </a:r>
          </a:p>
          <a:p>
            <a:pPr marL="64008" indent="0">
              <a:buNone/>
            </a:pPr>
            <a:r>
              <a:rPr lang="en-CA" sz="2800" dirty="0">
                <a:latin typeface="Consolas" panose="020B0609020204030204" pitchFamily="49" charset="0"/>
              </a:rPr>
              <a:t>{</a:t>
            </a:r>
          </a:p>
          <a:p>
            <a:pPr marL="64008" indent="0">
              <a:buNone/>
            </a:pPr>
            <a:r>
              <a:rPr lang="en-CA" sz="2800" dirty="0">
                <a:latin typeface="Consolas" panose="020B0609020204030204" pitchFamily="49" charset="0"/>
              </a:rPr>
              <a:t>       // Do something when left is pressed</a:t>
            </a:r>
          </a:p>
          <a:p>
            <a:pPr marL="64008" indent="0">
              <a:buNone/>
            </a:pPr>
            <a:r>
              <a:rPr lang="en-CA" sz="2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09581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Vibrating the </a:t>
            </a:r>
            <a:r>
              <a:rPr lang="en-CA" dirty="0" err="1"/>
              <a:t>GamePad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Vibrating the gamepad is a great way to signal to the user that they are close to danger or they have been hit or any other reason you can think of</a:t>
            </a:r>
          </a:p>
          <a:p>
            <a:endParaRPr lang="en-CA" dirty="0"/>
          </a:p>
          <a:p>
            <a:r>
              <a:rPr lang="en-CA" dirty="0"/>
              <a:t>To do this you use the </a:t>
            </a:r>
            <a:r>
              <a:rPr lang="en-CA" dirty="0" err="1"/>
              <a:t>SetVibration</a:t>
            </a:r>
            <a:r>
              <a:rPr lang="en-CA" dirty="0"/>
              <a:t> Method</a:t>
            </a:r>
          </a:p>
          <a:p>
            <a:pPr lvl="1"/>
            <a:r>
              <a:rPr lang="en-CA" dirty="0"/>
              <a:t>To use it you will need three pieces of information:</a:t>
            </a:r>
          </a:p>
          <a:p>
            <a:pPr lvl="2"/>
            <a:r>
              <a:rPr lang="en-CA" dirty="0"/>
              <a:t>The desired gamepad to vibrate</a:t>
            </a:r>
          </a:p>
          <a:p>
            <a:pPr lvl="2"/>
            <a:r>
              <a:rPr lang="en-CA" dirty="0"/>
              <a:t>The strength of the left motor, between 0 and 1.0</a:t>
            </a:r>
          </a:p>
          <a:p>
            <a:pPr lvl="2"/>
            <a:r>
              <a:rPr lang="en-CA" dirty="0"/>
              <a:t>The strength of the right motor, between 0 and 1.0</a:t>
            </a:r>
          </a:p>
        </p:txBody>
      </p:sp>
    </p:spTree>
    <p:extLst>
      <p:ext uri="{BB962C8B-B14F-4D97-AF65-F5344CB8AC3E}">
        <p14:creationId xmlns:p14="http://schemas.microsoft.com/office/powerpoint/2010/main" val="309945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Vibrating the </a:t>
            </a:r>
            <a:r>
              <a:rPr lang="en-CA" dirty="0" err="1"/>
              <a:t>GamePad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E.g. Vibrate both the left and right motor at half strength</a:t>
            </a:r>
          </a:p>
          <a:p>
            <a:pPr lvl="1"/>
            <a:r>
              <a:rPr lang="en-CA" sz="1800" dirty="0" err="1">
                <a:solidFill>
                  <a:srgbClr val="00B0F0"/>
                </a:solidFill>
                <a:latin typeface="Consolas" panose="020B0609020204030204" pitchFamily="49" charset="0"/>
              </a:rPr>
              <a:t>GamePad.SetVibration</a:t>
            </a: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</a:rPr>
              <a:t>(</a:t>
            </a:r>
            <a:r>
              <a:rPr lang="en-CA" sz="1800" dirty="0" err="1">
                <a:solidFill>
                  <a:srgbClr val="00B0F0"/>
                </a:solidFill>
                <a:latin typeface="Consolas" panose="020B0609020204030204" pitchFamily="49" charset="0"/>
              </a:rPr>
              <a:t>PlayerIndex.One</a:t>
            </a: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</a:rPr>
              <a:t>, 0.5f, 0.5f);</a:t>
            </a:r>
          </a:p>
          <a:p>
            <a:pPr lvl="1"/>
            <a:endParaRPr lang="en-CA" dirty="0"/>
          </a:p>
          <a:p>
            <a:r>
              <a:rPr lang="en-CA" dirty="0"/>
              <a:t>The important thing to remember is that the controller will </a:t>
            </a:r>
            <a:r>
              <a:rPr lang="en-CA" dirty="0" smtClean="0"/>
              <a:t>only </a:t>
            </a:r>
            <a:r>
              <a:rPr lang="en-CA" dirty="0" smtClean="0"/>
              <a:t>continue </a:t>
            </a:r>
            <a:r>
              <a:rPr lang="en-CA" dirty="0"/>
              <a:t>to vibrate </a:t>
            </a:r>
            <a:r>
              <a:rPr lang="en-CA" dirty="0" smtClean="0"/>
              <a:t>if you tell it to each update.</a:t>
            </a:r>
          </a:p>
          <a:p>
            <a:pPr lvl="1"/>
            <a:r>
              <a:rPr lang="en-CA" sz="16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This is a change from the original XNA tool, which would keep vibrating until you manually set the vibrate strengths to 0</a:t>
            </a:r>
            <a:endParaRPr lang="en-CA" sz="1600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963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Keyboard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732450"/>
            <a:ext cx="8280920" cy="4792894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Keyboard input is easier than </a:t>
            </a:r>
            <a:r>
              <a:rPr lang="en-CA" dirty="0" err="1"/>
              <a:t>GamePad</a:t>
            </a:r>
            <a:r>
              <a:rPr lang="en-CA" dirty="0"/>
              <a:t> input since there is no analog </a:t>
            </a:r>
            <a:r>
              <a:rPr lang="en-CA" dirty="0" smtClean="0"/>
              <a:t>data</a:t>
            </a:r>
          </a:p>
          <a:p>
            <a:endParaRPr lang="en-CA" dirty="0"/>
          </a:p>
          <a:p>
            <a:r>
              <a:rPr lang="en-CA" dirty="0"/>
              <a:t>The commands are very </a:t>
            </a:r>
            <a:r>
              <a:rPr lang="en-CA" dirty="0" smtClean="0"/>
              <a:t>similar; </a:t>
            </a:r>
            <a:r>
              <a:rPr lang="en-CA" dirty="0"/>
              <a:t>to detect if the </a:t>
            </a:r>
            <a:r>
              <a:rPr lang="en-CA" b="1" i="1" dirty="0"/>
              <a:t>d</a:t>
            </a:r>
            <a:r>
              <a:rPr lang="en-CA" dirty="0"/>
              <a:t> key is pressed</a:t>
            </a:r>
          </a:p>
          <a:p>
            <a:pPr lvl="1"/>
            <a:r>
              <a:rPr lang="en-CA" dirty="0"/>
              <a:t>First create a Global </a:t>
            </a:r>
            <a:r>
              <a:rPr lang="en-CA" dirty="0" err="1"/>
              <a:t>KeyboardState</a:t>
            </a:r>
            <a:r>
              <a:rPr lang="en-CA" dirty="0"/>
              <a:t> variable</a:t>
            </a:r>
          </a:p>
          <a:p>
            <a:pPr lvl="2"/>
            <a:r>
              <a:rPr lang="en-CA" sz="1900" dirty="0" err="1">
                <a:solidFill>
                  <a:srgbClr val="00B0F0"/>
                </a:solidFill>
                <a:latin typeface="Consolas" panose="020B0609020204030204" pitchFamily="49" charset="0"/>
              </a:rPr>
              <a:t>KeyboardState</a:t>
            </a:r>
            <a:r>
              <a:rPr lang="en-CA" sz="1900" dirty="0">
                <a:solidFill>
                  <a:srgbClr val="00B0F0"/>
                </a:solidFill>
                <a:latin typeface="Consolas" panose="020B0609020204030204" pitchFamily="49" charset="0"/>
              </a:rPr>
              <a:t> kb;</a:t>
            </a:r>
          </a:p>
          <a:p>
            <a:pPr lvl="1"/>
            <a:r>
              <a:rPr lang="en-CA" dirty="0"/>
              <a:t>Then in Update, get its state and analyse it</a:t>
            </a:r>
          </a:p>
          <a:p>
            <a:pPr marL="64008" indent="0">
              <a:buNone/>
            </a:pPr>
            <a:r>
              <a:rPr lang="en-CA" sz="2400" dirty="0"/>
              <a:t>E.g. </a:t>
            </a:r>
          </a:p>
          <a:p>
            <a:pPr marL="64008" indent="0">
              <a:buNone/>
            </a:pP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kb = </a:t>
            </a:r>
            <a:r>
              <a:rPr lang="en-CA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Keyboard.GetState</a:t>
            </a:r>
            <a:r>
              <a:rPr lang="en-CA" sz="2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();</a:t>
            </a:r>
          </a:p>
          <a:p>
            <a:pPr marL="64008" indent="0">
              <a:buNone/>
            </a:pP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/>
            </a:r>
            <a:b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if(</a:t>
            </a:r>
            <a:r>
              <a:rPr lang="en-CA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kb.IsKeyDown</a:t>
            </a: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(</a:t>
            </a:r>
            <a:r>
              <a:rPr lang="en-CA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Keys.D</a:t>
            </a: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))</a:t>
            </a:r>
            <a:b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{</a:t>
            </a:r>
            <a:b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      </a:t>
            </a:r>
            <a:r>
              <a:rPr lang="en-CA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player.X</a:t>
            </a: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 = </a:t>
            </a:r>
            <a:r>
              <a:rPr lang="en-CA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player.X</a:t>
            </a: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 + </a:t>
            </a:r>
            <a:r>
              <a:rPr lang="en-CA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maxSpeed</a:t>
            </a: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pPr marL="64008" indent="0">
              <a:buNone/>
            </a:pP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}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06367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Mouse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898016"/>
          </a:xfrm>
        </p:spPr>
        <p:txBody>
          <a:bodyPr>
            <a:normAutofit/>
          </a:bodyPr>
          <a:lstStyle/>
          <a:p>
            <a:r>
              <a:rPr lang="en-CA" dirty="0"/>
              <a:t>A typical mouse has three digital buttons</a:t>
            </a:r>
          </a:p>
          <a:p>
            <a:pPr lvl="1"/>
            <a:r>
              <a:rPr lang="en-CA" dirty="0"/>
              <a:t>Left</a:t>
            </a:r>
          </a:p>
          <a:p>
            <a:pPr lvl="1"/>
            <a:r>
              <a:rPr lang="en-CA" dirty="0"/>
              <a:t>Right</a:t>
            </a:r>
          </a:p>
          <a:p>
            <a:pPr lvl="1"/>
            <a:r>
              <a:rPr lang="en-CA" dirty="0"/>
              <a:t>Clickable scroll wheel</a:t>
            </a:r>
          </a:p>
          <a:p>
            <a:pPr lvl="1"/>
            <a:endParaRPr lang="en-CA" dirty="0"/>
          </a:p>
          <a:p>
            <a:r>
              <a:rPr lang="en-CA" dirty="0"/>
              <a:t>There is typically one analog control, the mouse wheel</a:t>
            </a:r>
          </a:p>
          <a:p>
            <a:endParaRPr lang="en-CA" dirty="0"/>
          </a:p>
          <a:p>
            <a:r>
              <a:rPr lang="en-CA" dirty="0"/>
              <a:t>The mouse itself is an analog control in terms of its position</a:t>
            </a:r>
          </a:p>
        </p:txBody>
      </p:sp>
    </p:spTree>
    <p:extLst>
      <p:ext uri="{BB962C8B-B14F-4D97-AF65-F5344CB8AC3E}">
        <p14:creationId xmlns:p14="http://schemas.microsoft.com/office/powerpoint/2010/main" val="1778852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Mouse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363272" cy="4572000"/>
          </a:xfrm>
        </p:spPr>
        <p:txBody>
          <a:bodyPr>
            <a:normAutofit/>
          </a:bodyPr>
          <a:lstStyle/>
          <a:p>
            <a:r>
              <a:rPr lang="en-CA" dirty="0"/>
              <a:t>You may make the mouse visible in an Xbox game by setting it to true in the Initialize Method </a:t>
            </a:r>
            <a:r>
              <a:rPr lang="en-CA" b="1" dirty="0"/>
              <a:t>above</a:t>
            </a:r>
            <a:r>
              <a:rPr lang="en-CA" dirty="0"/>
              <a:t> the </a:t>
            </a:r>
            <a:r>
              <a:rPr lang="en-CA" dirty="0" err="1"/>
              <a:t>base.Initialize</a:t>
            </a:r>
            <a:r>
              <a:rPr lang="en-CA" dirty="0"/>
              <a:t>() line:</a:t>
            </a:r>
          </a:p>
          <a:p>
            <a:pPr lvl="1"/>
            <a:r>
              <a:rPr lang="en-CA" sz="2200" dirty="0" err="1">
                <a:solidFill>
                  <a:srgbClr val="00B0F0"/>
                </a:solidFill>
                <a:latin typeface="Consolas" panose="020B0609020204030204" pitchFamily="49" charset="0"/>
              </a:rPr>
              <a:t>IsMouseVisible</a:t>
            </a:r>
            <a:r>
              <a:rPr lang="en-CA" sz="2200" dirty="0">
                <a:solidFill>
                  <a:srgbClr val="00B0F0"/>
                </a:solidFill>
                <a:latin typeface="Consolas" panose="020B0609020204030204" pitchFamily="49" charset="0"/>
              </a:rPr>
              <a:t> = true;</a:t>
            </a:r>
          </a:p>
          <a:p>
            <a:endParaRPr lang="en-CA" dirty="0"/>
          </a:p>
          <a:p>
            <a:r>
              <a:rPr lang="en-CA" dirty="0"/>
              <a:t>The mouse’s position is relative to the game window only, not the whole screen.</a:t>
            </a:r>
          </a:p>
          <a:p>
            <a:pPr lvl="1"/>
            <a:r>
              <a:rPr lang="en-CA" dirty="0"/>
              <a:t>(0, 0) is the top left of the playable game window</a:t>
            </a:r>
          </a:p>
          <a:p>
            <a:pPr lvl="1"/>
            <a:endParaRPr lang="en-CA" dirty="0"/>
          </a:p>
          <a:p>
            <a:r>
              <a:rPr lang="en-CA" dirty="0" err="1"/>
              <a:t>MouseState</a:t>
            </a:r>
            <a:r>
              <a:rPr lang="en-CA" dirty="0"/>
              <a:t> information is retrieved using the </a:t>
            </a:r>
            <a:r>
              <a:rPr lang="en-CA" dirty="0" err="1"/>
              <a:t>Mouse.GetState</a:t>
            </a:r>
            <a:r>
              <a:rPr lang="en-CA" dirty="0"/>
              <a:t>() method</a:t>
            </a:r>
          </a:p>
        </p:txBody>
      </p:sp>
    </p:spTree>
    <p:extLst>
      <p:ext uri="{BB962C8B-B14F-4D97-AF65-F5344CB8AC3E}">
        <p14:creationId xmlns:p14="http://schemas.microsoft.com/office/powerpoint/2010/main" val="3702943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88640"/>
            <a:ext cx="7765322" cy="792088"/>
          </a:xfrm>
        </p:spPr>
        <p:txBody>
          <a:bodyPr/>
          <a:lstStyle/>
          <a:p>
            <a:r>
              <a:rPr lang="en-CA" dirty="0"/>
              <a:t>Mouse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8352928" cy="5112568"/>
          </a:xfrm>
        </p:spPr>
        <p:txBody>
          <a:bodyPr>
            <a:normAutofit fontScale="77500" lnSpcReduction="20000"/>
          </a:bodyPr>
          <a:lstStyle/>
          <a:p>
            <a:r>
              <a:rPr lang="en-CA" sz="2300" dirty="0"/>
              <a:t>The following example retrieves the mouse’s location as well as when it clicked the left button:</a:t>
            </a:r>
          </a:p>
          <a:p>
            <a:pPr lvl="1"/>
            <a:r>
              <a:rPr lang="en-CA" sz="2100" dirty="0"/>
              <a:t>Create the Global </a:t>
            </a:r>
            <a:r>
              <a:rPr lang="en-CA" sz="2100" dirty="0" err="1"/>
              <a:t>MouseState</a:t>
            </a:r>
            <a:r>
              <a:rPr lang="en-CA" sz="2100" dirty="0"/>
              <a:t> variable</a:t>
            </a:r>
          </a:p>
          <a:p>
            <a:pPr lvl="2"/>
            <a:r>
              <a:rPr lang="en-CA" sz="1800" dirty="0" err="1">
                <a:solidFill>
                  <a:srgbClr val="00B0F0"/>
                </a:solidFill>
                <a:latin typeface="Consolas" panose="020B0609020204030204" pitchFamily="49" charset="0"/>
              </a:rPr>
              <a:t>MouseState</a:t>
            </a: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</a:rPr>
              <a:t> mouse;</a:t>
            </a:r>
          </a:p>
          <a:p>
            <a:pPr lvl="1"/>
            <a:r>
              <a:rPr lang="en-CA" sz="2100" dirty="0"/>
              <a:t>Then retrieve and analyse its current state in Update</a:t>
            </a:r>
          </a:p>
          <a:p>
            <a:endParaRPr lang="en-CA" dirty="0"/>
          </a:p>
          <a:p>
            <a:pPr marL="64008" indent="0">
              <a:buNone/>
            </a:pPr>
            <a:r>
              <a:rPr lang="en-CA" dirty="0"/>
              <a:t>E.g.</a:t>
            </a:r>
          </a:p>
          <a:p>
            <a:pPr marL="64008" indent="0">
              <a:buNone/>
            </a:pPr>
            <a:r>
              <a:rPr lang="en-CA" sz="2300" dirty="0">
                <a:solidFill>
                  <a:srgbClr val="00B0F0"/>
                </a:solidFill>
                <a:latin typeface="Consolas" panose="020B0609020204030204" pitchFamily="49" charset="0"/>
              </a:rPr>
              <a:t>mouse = </a:t>
            </a:r>
            <a:r>
              <a:rPr lang="en-CA" sz="2300" dirty="0" err="1">
                <a:solidFill>
                  <a:srgbClr val="00B0F0"/>
                </a:solidFill>
                <a:latin typeface="Consolas" panose="020B0609020204030204" pitchFamily="49" charset="0"/>
              </a:rPr>
              <a:t>Mouse.GetState</a:t>
            </a:r>
            <a:r>
              <a:rPr lang="en-CA" sz="2300" dirty="0">
                <a:solidFill>
                  <a:srgbClr val="00B0F0"/>
                </a:solidFill>
                <a:latin typeface="Consolas" panose="020B0609020204030204" pitchFamily="49" charset="0"/>
              </a:rPr>
              <a:t>();</a:t>
            </a:r>
          </a:p>
          <a:p>
            <a:pPr marL="64008" indent="0">
              <a:buNone/>
            </a:pPr>
            <a:r>
              <a:rPr lang="en-CA" sz="2300" dirty="0">
                <a:solidFill>
                  <a:srgbClr val="00B0F0"/>
                </a:solidFill>
                <a:latin typeface="Consolas" panose="020B0609020204030204" pitchFamily="49" charset="0"/>
              </a:rPr>
              <a:t>if (</a:t>
            </a:r>
            <a:r>
              <a:rPr lang="en-CA" sz="2300" dirty="0" err="1">
                <a:solidFill>
                  <a:srgbClr val="00B0F0"/>
                </a:solidFill>
                <a:latin typeface="Consolas" panose="020B0609020204030204" pitchFamily="49" charset="0"/>
              </a:rPr>
              <a:t>mouse.LeftButton</a:t>
            </a:r>
            <a:r>
              <a:rPr lang="en-CA" sz="2300" dirty="0">
                <a:solidFill>
                  <a:srgbClr val="00B0F0"/>
                </a:solidFill>
                <a:latin typeface="Consolas" panose="020B0609020204030204" pitchFamily="49" charset="0"/>
              </a:rPr>
              <a:t> == </a:t>
            </a:r>
            <a:r>
              <a:rPr lang="en-CA" sz="2300" dirty="0" err="1">
                <a:solidFill>
                  <a:srgbClr val="00B0F0"/>
                </a:solidFill>
                <a:latin typeface="Consolas" panose="020B0609020204030204" pitchFamily="49" charset="0"/>
              </a:rPr>
              <a:t>ButtonState.Pressed</a:t>
            </a:r>
            <a:r>
              <a:rPr lang="en-CA" sz="2300" dirty="0">
                <a:solidFill>
                  <a:srgbClr val="00B0F0"/>
                </a:solidFill>
                <a:latin typeface="Consolas" panose="020B0609020204030204" pitchFamily="49" charset="0"/>
              </a:rPr>
              <a:t>)</a:t>
            </a:r>
          </a:p>
          <a:p>
            <a:pPr marL="64008" indent="0">
              <a:buNone/>
            </a:pPr>
            <a:r>
              <a:rPr lang="en-CA" sz="2300" dirty="0">
                <a:solidFill>
                  <a:srgbClr val="00B0F0"/>
                </a:solidFill>
                <a:latin typeface="Consolas" panose="020B0609020204030204" pitchFamily="49" charset="0"/>
              </a:rPr>
              <a:t>{</a:t>
            </a:r>
          </a:p>
          <a:p>
            <a:pPr marL="64008" indent="0">
              <a:buNone/>
            </a:pPr>
            <a:r>
              <a:rPr lang="en-CA" sz="2300" dirty="0">
                <a:solidFill>
                  <a:srgbClr val="00B0F0"/>
                </a:solidFill>
                <a:latin typeface="Consolas" panose="020B0609020204030204" pitchFamily="49" charset="0"/>
              </a:rPr>
              <a:t>  </a:t>
            </a:r>
            <a:r>
              <a:rPr lang="en-CA" sz="23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if </a:t>
            </a:r>
            <a:r>
              <a:rPr lang="en-CA" sz="2300" dirty="0">
                <a:solidFill>
                  <a:srgbClr val="00B0F0"/>
                </a:solidFill>
                <a:latin typeface="Consolas" panose="020B0609020204030204" pitchFamily="49" charset="0"/>
              </a:rPr>
              <a:t>(</a:t>
            </a:r>
            <a:r>
              <a:rPr lang="en-CA" sz="2300" dirty="0" err="1">
                <a:solidFill>
                  <a:srgbClr val="00B0F0"/>
                </a:solidFill>
                <a:latin typeface="Consolas" panose="020B0609020204030204" pitchFamily="49" charset="0"/>
              </a:rPr>
              <a:t>mouse.X</a:t>
            </a:r>
            <a:r>
              <a:rPr lang="en-CA" sz="2300" dirty="0">
                <a:solidFill>
                  <a:srgbClr val="00B0F0"/>
                </a:solidFill>
                <a:latin typeface="Consolas" panose="020B0609020204030204" pitchFamily="49" charset="0"/>
              </a:rPr>
              <a:t> == 400 &amp;&amp; </a:t>
            </a:r>
            <a:r>
              <a:rPr lang="en-CA" sz="2300" dirty="0" err="1">
                <a:solidFill>
                  <a:srgbClr val="00B0F0"/>
                </a:solidFill>
                <a:latin typeface="Consolas" panose="020B0609020204030204" pitchFamily="49" charset="0"/>
              </a:rPr>
              <a:t>mouse.Y</a:t>
            </a:r>
            <a:r>
              <a:rPr lang="en-CA" sz="2300" dirty="0">
                <a:solidFill>
                  <a:srgbClr val="00B0F0"/>
                </a:solidFill>
                <a:latin typeface="Consolas" panose="020B0609020204030204" pitchFamily="49" charset="0"/>
              </a:rPr>
              <a:t> == 240)</a:t>
            </a:r>
          </a:p>
          <a:p>
            <a:pPr marL="64008" indent="0">
              <a:buNone/>
            </a:pPr>
            <a:r>
              <a:rPr lang="en-CA" sz="2300" dirty="0">
                <a:solidFill>
                  <a:srgbClr val="00B0F0"/>
                </a:solidFill>
                <a:latin typeface="Consolas" panose="020B0609020204030204" pitchFamily="49" charset="0"/>
              </a:rPr>
              <a:t>  </a:t>
            </a:r>
            <a:r>
              <a:rPr lang="en-CA" sz="23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{</a:t>
            </a:r>
            <a:endParaRPr lang="en-CA" sz="23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64008" indent="0">
              <a:buNone/>
            </a:pPr>
            <a:r>
              <a:rPr lang="en-CA" sz="23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CA" sz="23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//</a:t>
            </a:r>
            <a:r>
              <a:rPr lang="en-CA" sz="2300" dirty="0">
                <a:solidFill>
                  <a:srgbClr val="00B0F0"/>
                </a:solidFill>
                <a:latin typeface="Consolas" panose="020B0609020204030204" pitchFamily="49" charset="0"/>
              </a:rPr>
              <a:t>The user clicked on the exact centre of an 800x480 screen</a:t>
            </a:r>
          </a:p>
          <a:p>
            <a:pPr marL="64008" indent="0">
              <a:buNone/>
            </a:pPr>
            <a:r>
              <a:rPr lang="en-CA" sz="2300" dirty="0">
                <a:solidFill>
                  <a:srgbClr val="00B0F0"/>
                </a:solidFill>
                <a:latin typeface="Consolas" panose="020B0609020204030204" pitchFamily="49" charset="0"/>
              </a:rPr>
              <a:t>  </a:t>
            </a:r>
            <a:r>
              <a:rPr lang="en-CA" sz="23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}</a:t>
            </a:r>
            <a:endParaRPr lang="en-CA" sz="23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64008" indent="0">
              <a:buNone/>
            </a:pPr>
            <a:r>
              <a:rPr lang="en-CA" sz="2300" dirty="0">
                <a:solidFill>
                  <a:srgbClr val="00B0F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6847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785242"/>
          </a:xfrm>
        </p:spPr>
        <p:txBody>
          <a:bodyPr/>
          <a:lstStyle/>
          <a:p>
            <a:r>
              <a:rPr lang="en-CA" dirty="0"/>
              <a:t>Special Note on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86048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FFFF00"/>
                </a:solidFill>
              </a:rPr>
              <a:t>Remember: we get input 60x/second</a:t>
            </a:r>
          </a:p>
          <a:p>
            <a:pPr lvl="1"/>
            <a:r>
              <a:rPr lang="en-CA" dirty="0"/>
              <a:t>That means when a user clicks a button, the chance that they only had that button down for one of those 60</a:t>
            </a:r>
            <a:r>
              <a:rPr lang="en-CA" baseline="30000" dirty="0"/>
              <a:t>th</a:t>
            </a:r>
            <a:r>
              <a:rPr lang="en-CA" dirty="0"/>
              <a:t>’s of a second are nearly zero</a:t>
            </a:r>
          </a:p>
          <a:p>
            <a:pPr lvl="1"/>
            <a:endParaRPr lang="en-CA" dirty="0"/>
          </a:p>
          <a:p>
            <a:pPr lvl="1"/>
            <a:r>
              <a:rPr lang="en-CA" dirty="0">
                <a:solidFill>
                  <a:srgbClr val="00B0F0"/>
                </a:solidFill>
              </a:rPr>
              <a:t>This will result in multiple unintentional button presses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To avoid this problem, we can track both the current state of the input device, as well as the previous state (the state during the last time Update was called)</a:t>
            </a:r>
          </a:p>
        </p:txBody>
      </p:sp>
    </p:spTree>
    <p:extLst>
      <p:ext uri="{BB962C8B-B14F-4D97-AF65-F5344CB8AC3E}">
        <p14:creationId xmlns:p14="http://schemas.microsoft.com/office/powerpoint/2010/main" val="3773724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Special Note on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42032"/>
          </a:xfrm>
        </p:spPr>
        <p:txBody>
          <a:bodyPr>
            <a:normAutofit/>
          </a:bodyPr>
          <a:lstStyle/>
          <a:p>
            <a:r>
              <a:rPr lang="en-CA" dirty="0"/>
              <a:t>By comparing the two states we can determine if the button click was a new one or a “hold” of the button</a:t>
            </a:r>
          </a:p>
          <a:p>
            <a:endParaRPr lang="en-CA" dirty="0"/>
          </a:p>
          <a:p>
            <a:r>
              <a:rPr lang="en-CA" dirty="0"/>
              <a:t>Step 1: Create another Global State variable for your device</a:t>
            </a:r>
          </a:p>
          <a:p>
            <a:pPr lvl="1"/>
            <a:r>
              <a:rPr lang="en-CA" sz="1900" dirty="0" err="1">
                <a:solidFill>
                  <a:srgbClr val="00B0F0"/>
                </a:solidFill>
                <a:latin typeface="Consolas" panose="020B0609020204030204" pitchFamily="49" charset="0"/>
              </a:rPr>
              <a:t>KeyboardState</a:t>
            </a:r>
            <a:r>
              <a:rPr lang="en-CA" sz="19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CA" sz="1900" dirty="0" err="1">
                <a:solidFill>
                  <a:srgbClr val="00B0F0"/>
                </a:solidFill>
                <a:latin typeface="Consolas" panose="020B0609020204030204" pitchFamily="49" charset="0"/>
              </a:rPr>
              <a:t>prevKb</a:t>
            </a:r>
            <a:r>
              <a:rPr lang="en-CA" sz="19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en-CA" sz="19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r>
              <a:rPr lang="en-CA" dirty="0"/>
              <a:t>Step 2: Just before you get the current state for the current keyboard at the top of Update, copy its now old state into the </a:t>
            </a:r>
            <a:r>
              <a:rPr lang="en-CA" dirty="0" err="1"/>
              <a:t>prevState</a:t>
            </a:r>
            <a:r>
              <a:rPr lang="en-CA" dirty="0"/>
              <a:t> variable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sz="1900" dirty="0" err="1">
                <a:solidFill>
                  <a:srgbClr val="00B0F0"/>
                </a:solidFill>
                <a:latin typeface="Consolas" panose="020B0609020204030204" pitchFamily="49" charset="0"/>
              </a:rPr>
              <a:t>prevKb</a:t>
            </a:r>
            <a:r>
              <a:rPr lang="en-CA" sz="1900" dirty="0">
                <a:solidFill>
                  <a:srgbClr val="00B0F0"/>
                </a:solidFill>
                <a:latin typeface="Consolas" panose="020B0609020204030204" pitchFamily="49" charset="0"/>
              </a:rPr>
              <a:t> = kb;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sz="1900" dirty="0">
                <a:solidFill>
                  <a:srgbClr val="00B0F0"/>
                </a:solidFill>
                <a:latin typeface="Consolas" panose="020B0609020204030204" pitchFamily="49" charset="0"/>
              </a:rPr>
              <a:t>kb = </a:t>
            </a:r>
            <a:r>
              <a:rPr lang="en-CA" sz="1900" dirty="0" err="1">
                <a:solidFill>
                  <a:srgbClr val="00B0F0"/>
                </a:solidFill>
                <a:latin typeface="Consolas" panose="020B0609020204030204" pitchFamily="49" charset="0"/>
              </a:rPr>
              <a:t>Keyboard.GetState</a:t>
            </a:r>
            <a:r>
              <a:rPr lang="en-CA" sz="1900" dirty="0">
                <a:solidFill>
                  <a:srgbClr val="00B0F0"/>
                </a:solidFill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282524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Special Note on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898016"/>
          </a:xfrm>
        </p:spPr>
        <p:txBody>
          <a:bodyPr>
            <a:normAutofit/>
          </a:bodyPr>
          <a:lstStyle/>
          <a:p>
            <a:r>
              <a:rPr lang="en-CA" dirty="0"/>
              <a:t>Step 3: Compare values to check for a new click</a:t>
            </a:r>
          </a:p>
          <a:p>
            <a:pPr marL="64008" indent="0">
              <a:spcBef>
                <a:spcPts val="200"/>
              </a:spcBef>
              <a:spcAft>
                <a:spcPts val="0"/>
              </a:spcAft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if (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kb.IsKeyDown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(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Keys.S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) &amp;&amp; !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prevKb.IsKeyDown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(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Keys.S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))</a:t>
            </a:r>
          </a:p>
          <a:p>
            <a:pPr marL="64008" indent="0">
              <a:spcBef>
                <a:spcPts val="200"/>
              </a:spcBef>
              <a:spcAft>
                <a:spcPts val="0"/>
              </a:spcAft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{</a:t>
            </a:r>
          </a:p>
          <a:p>
            <a:pPr marL="64008" indent="0">
              <a:spcBef>
                <a:spcPts val="200"/>
              </a:spcBef>
              <a:spcAft>
                <a:spcPts val="0"/>
              </a:spcAft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     //Make the player duck</a:t>
            </a:r>
          </a:p>
          <a:p>
            <a:pPr marL="64008" indent="0">
              <a:spcBef>
                <a:spcPts val="200"/>
              </a:spcBef>
              <a:spcAft>
                <a:spcPts val="0"/>
              </a:spcAft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CA" dirty="0"/>
              <a:t>Take notice of the </a:t>
            </a:r>
            <a:r>
              <a:rPr lang="en-CA" b="1" dirty="0">
                <a:solidFill>
                  <a:srgbClr val="FFFF00"/>
                </a:solidFill>
              </a:rPr>
              <a:t>!</a:t>
            </a:r>
            <a:r>
              <a:rPr lang="en-CA" dirty="0"/>
              <a:t> In the </a:t>
            </a:r>
            <a:r>
              <a:rPr lang="en-CA" dirty="0" err="1"/>
              <a:t>prevKb</a:t>
            </a:r>
            <a:r>
              <a:rPr lang="en-CA" dirty="0"/>
              <a:t> check</a:t>
            </a:r>
          </a:p>
          <a:p>
            <a:endParaRPr lang="en-CA" dirty="0"/>
          </a:p>
          <a:p>
            <a:r>
              <a:rPr lang="en-CA" dirty="0"/>
              <a:t>This is saying, if the S key is currently down but in the previous state it was </a:t>
            </a:r>
            <a:r>
              <a:rPr lang="en-CA" b="1" dirty="0"/>
              <a:t>NOT</a:t>
            </a:r>
            <a:r>
              <a:rPr lang="en-CA" dirty="0"/>
              <a:t> down, that means it is a NEW press</a:t>
            </a:r>
          </a:p>
        </p:txBody>
      </p:sp>
    </p:spTree>
    <p:extLst>
      <p:ext uri="{BB962C8B-B14F-4D97-AF65-F5344CB8AC3E}">
        <p14:creationId xmlns:p14="http://schemas.microsoft.com/office/powerpoint/2010/main" val="11239060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593</TotalTime>
  <Words>1258</Words>
  <Application>Microsoft Office PowerPoint</Application>
  <PresentationFormat>On-screen Show (4:3)</PresentationFormat>
  <Paragraphs>168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Calisto MT</vt:lpstr>
      <vt:lpstr>Consolas</vt:lpstr>
      <vt:lpstr>Trebuchet MS</vt:lpstr>
      <vt:lpstr>Wingdings</vt:lpstr>
      <vt:lpstr>Wingdings 2</vt:lpstr>
      <vt:lpstr>Slate</vt:lpstr>
      <vt:lpstr>MonoGame</vt:lpstr>
      <vt:lpstr>3 Forms of User Input</vt:lpstr>
      <vt:lpstr>The library</vt:lpstr>
      <vt:lpstr>Analog versus Digital</vt:lpstr>
      <vt:lpstr>Polling</vt:lpstr>
      <vt:lpstr>Input from a GamePad</vt:lpstr>
      <vt:lpstr>The Connection</vt:lpstr>
      <vt:lpstr>The Need for ifs</vt:lpstr>
      <vt:lpstr>Handling Thumbsticks</vt:lpstr>
      <vt:lpstr>Handling Thumbsticks</vt:lpstr>
      <vt:lpstr>Final Note on the DPad</vt:lpstr>
      <vt:lpstr>Vibrating the GamePad</vt:lpstr>
      <vt:lpstr>Vibrating the GamePad</vt:lpstr>
      <vt:lpstr>Keyboard Input</vt:lpstr>
      <vt:lpstr>Mouse Input</vt:lpstr>
      <vt:lpstr>Mouse Input</vt:lpstr>
      <vt:lpstr>Mouse Input</vt:lpstr>
      <vt:lpstr>Special Note on Input</vt:lpstr>
      <vt:lpstr>Special Note on Input</vt:lpstr>
      <vt:lpstr>Special Note on Input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XNA</dc:title>
  <dc:creator>Trevor Lane</dc:creator>
  <cp:lastModifiedBy>Lane, Trevor</cp:lastModifiedBy>
  <cp:revision>29</cp:revision>
  <dcterms:created xsi:type="dcterms:W3CDTF">2012-03-26T00:42:25Z</dcterms:created>
  <dcterms:modified xsi:type="dcterms:W3CDTF">2022-10-19T19:56:07Z</dcterms:modified>
</cp:coreProperties>
</file>