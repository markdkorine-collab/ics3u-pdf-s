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57" r:id="rId5"/>
    <p:sldId id="287" r:id="rId6"/>
    <p:sldId id="288" r:id="rId7"/>
    <p:sldId id="289" r:id="rId8"/>
    <p:sldId id="261" r:id="rId9"/>
    <p:sldId id="266" r:id="rId10"/>
    <p:sldId id="262" r:id="rId11"/>
    <p:sldId id="263" r:id="rId12"/>
    <p:sldId id="264" r:id="rId13"/>
    <p:sldId id="265" r:id="rId14"/>
    <p:sldId id="267" r:id="rId15"/>
    <p:sldId id="268" r:id="rId16"/>
    <p:sldId id="272" r:id="rId17"/>
    <p:sldId id="273" r:id="rId18"/>
    <p:sldId id="274" r:id="rId19"/>
    <p:sldId id="280" r:id="rId20"/>
    <p:sldId id="290" r:id="rId21"/>
    <p:sldId id="291" r:id="rId2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23" d="100"/>
          <a:sy n="123" d="100"/>
        </p:scale>
        <p:origin x="108" y="288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5/5/2026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5/5/2026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C078FDE-BC7C-45ED-AC55-5F1C5535B47E}" type="slidenum">
              <a:rPr lang="en-CA" altLang="en-US">
                <a:latin typeface="Calibri" panose="020F0502020204030204" pitchFamily="34" charset="0"/>
              </a:rPr>
              <a:pPr/>
              <a:t>4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01DB635-16D9-45FC-83DC-384A4E59239D}" type="slidenum">
              <a:rPr lang="en-CA" altLang="en-US">
                <a:latin typeface="Calibri" panose="020F0502020204030204" pitchFamily="34" charset="0"/>
              </a:rPr>
              <a:pPr/>
              <a:t>5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164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9E83E2B-AB23-4359-81C6-48D8E3F6D890}" type="slidenum">
              <a:rPr lang="en-CA" altLang="en-US">
                <a:latin typeface="Calibri" panose="020F0502020204030204" pitchFamily="34" charset="0"/>
              </a:rPr>
              <a:pPr/>
              <a:t>6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416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B84C55-D0CC-4635-8B36-2F275F143FF1}" type="slidenum">
              <a:rPr lang="en-CA" altLang="en-US">
                <a:latin typeface="Calibri" panose="020F0502020204030204" pitchFamily="34" charset="0"/>
              </a:rPr>
              <a:pPr/>
              <a:t>7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504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05B0EF5-6686-49B0-B8F7-7287B397E074}" type="slidenum">
              <a:rPr lang="en-CA" altLang="en-US">
                <a:latin typeface="Calibri" panose="020F0502020204030204" pitchFamily="34" charset="0"/>
              </a:rPr>
              <a:pPr/>
              <a:t>8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254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7B012D3-1131-4046-A44D-9063008D3135}" type="slidenum">
              <a:rPr lang="en-CA" altLang="en-US">
                <a:latin typeface="Calibri" panose="020F0502020204030204" pitchFamily="34" charset="0"/>
              </a:rPr>
              <a:pPr/>
              <a:t>9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85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092A8E2-F090-4A33-85AF-828CCD3A2C26}" type="slidenum">
              <a:rPr lang="en-CA" altLang="en-US">
                <a:latin typeface="Calibri" panose="020F0502020204030204" pitchFamily="34" charset="0"/>
              </a:rPr>
              <a:pPr/>
              <a:t>10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350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C667B5A-03D1-4AE9-82DF-C70A86A06048}" type="slidenum">
              <a:rPr lang="en-CA" altLang="en-US">
                <a:latin typeface="Calibri" panose="020F0502020204030204" pitchFamily="34" charset="0"/>
              </a:rPr>
              <a:pPr/>
              <a:t>11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444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8AD7265-3EAC-49ED-8FD2-BC60563272D5}" type="slidenum">
              <a:rPr lang="en-CA" altLang="en-US">
                <a:latin typeface="Calibri" panose="020F0502020204030204" pitchFamily="34" charset="0"/>
              </a:rPr>
              <a:pPr/>
              <a:t>12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752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EF986DB-A6D8-4750-8A62-86B76929A8DC}" type="slidenum">
              <a:rPr lang="en-CA" altLang="en-US">
                <a:latin typeface="Calibri" panose="020F0502020204030204" pitchFamily="34" charset="0"/>
              </a:rPr>
              <a:pPr/>
              <a:t>13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326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687D0B8-0B0F-4827-9727-FD38B928DAEA}" type="slidenum">
              <a:rPr lang="en-CA" altLang="en-US">
                <a:latin typeface="Calibri" panose="020F0502020204030204" pitchFamily="34" charset="0"/>
              </a:rPr>
              <a:pPr/>
              <a:t>14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490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A184769-FF93-4C95-9962-AA92D9763851}" type="slidenum">
              <a:rPr lang="en-CA" altLang="en-US">
                <a:latin typeface="Calibri" panose="020F0502020204030204" pitchFamily="34" charset="0"/>
              </a:rPr>
              <a:pPr/>
              <a:t>15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500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7D8D5B0-94D0-4B7D-8BF8-4180470DC24A}" type="slidenum">
              <a:rPr lang="en-CA" altLang="en-US">
                <a:latin typeface="Calibri" panose="020F0502020204030204" pitchFamily="34" charset="0"/>
              </a:rPr>
              <a:pPr/>
              <a:t>16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746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CD8B6B4-328B-43DC-92FF-936742D6F972}" type="slidenum">
              <a:rPr lang="en-CA" altLang="en-US">
                <a:latin typeface="Calibri" panose="020F0502020204030204" pitchFamily="34" charset="0"/>
              </a:rPr>
              <a:pPr/>
              <a:t>17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409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5/5/2026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5/5/2026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5/5/2026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5/5/2026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2.0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CE355-4BAD-46B8-BB2A-63DB46946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533400"/>
            <a:ext cx="8229600" cy="951384"/>
          </a:xfrm>
        </p:spPr>
        <p:txBody>
          <a:bodyPr/>
          <a:lstStyle/>
          <a:p>
            <a:r>
              <a:rPr lang="en-CA" dirty="0"/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79270-9961-4BBD-A517-89A000D70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892" y="1700808"/>
            <a:ext cx="9865096" cy="4812544"/>
          </a:xfrm>
        </p:spPr>
        <p:txBody>
          <a:bodyPr/>
          <a:lstStyle/>
          <a:p>
            <a:r>
              <a:rPr lang="en-CA" dirty="0"/>
              <a:t>Pseudocode is another design strategy used when designing our programs</a:t>
            </a:r>
          </a:p>
          <a:p>
            <a:endParaRPr lang="en-CA" dirty="0"/>
          </a:p>
          <a:p>
            <a:r>
              <a:rPr lang="en-CA" dirty="0"/>
              <a:t>In grade 10, we learned Flow Charts which helped us plan how our programs will flow</a:t>
            </a:r>
          </a:p>
          <a:p>
            <a:endParaRPr lang="en-CA" dirty="0"/>
          </a:p>
          <a:p>
            <a:r>
              <a:rPr lang="en-CA" dirty="0"/>
              <a:t>In this class we have learned about I.P.O. charts which teach us how to understand the components and steps of an entire program</a:t>
            </a:r>
          </a:p>
        </p:txBody>
      </p:sp>
    </p:spTree>
    <p:extLst>
      <p:ext uri="{BB962C8B-B14F-4D97-AF65-F5344CB8AC3E}">
        <p14:creationId xmlns:p14="http://schemas.microsoft.com/office/powerpoint/2010/main" val="294252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0C42-73A5-4EA1-80B0-50A80762E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It’s True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61508-0845-49CD-8EA3-2074BB049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reality, not all design strategies are used to plan entire programs</a:t>
            </a:r>
          </a:p>
          <a:p>
            <a:endParaRPr lang="en-CA" dirty="0"/>
          </a:p>
          <a:p>
            <a:r>
              <a:rPr lang="en-CA" dirty="0"/>
              <a:t>Pseudocode’s true purpose is to plan a solution to one problem in a program, a </a:t>
            </a:r>
            <a:r>
              <a:rPr lang="en-CA" dirty="0" smtClean="0"/>
              <a:t>method </a:t>
            </a:r>
            <a:r>
              <a:rPr lang="en-CA" dirty="0"/>
              <a:t>that handles collision detection for example</a:t>
            </a:r>
          </a:p>
        </p:txBody>
      </p:sp>
    </p:spTree>
    <p:extLst>
      <p:ext uri="{BB962C8B-B14F-4D97-AF65-F5344CB8AC3E}">
        <p14:creationId xmlns:p14="http://schemas.microsoft.com/office/powerpoint/2010/main" val="379510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What is Pseudocode?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Structured English for the purpose of describing an algorithm (the steps to solve a problem).</a:t>
            </a:r>
          </a:p>
          <a:p>
            <a:pPr marL="320040" indent="-320040">
              <a:buFont typeface="Wingdings 2"/>
              <a:buChar char=""/>
              <a:defRPr/>
            </a:pPr>
            <a:endParaRPr lang="en-CA" dirty="0"/>
          </a:p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It allows the designer to focus on the logic of the algorithm without being distracted by details of language syntax</a:t>
            </a:r>
            <a:r>
              <a:rPr lang="en-CA" dirty="0" smtClean="0"/>
              <a:t>.  </a:t>
            </a:r>
            <a:r>
              <a:rPr lang="en-CA" dirty="0" smtClean="0">
                <a:solidFill>
                  <a:srgbClr val="FFFF00"/>
                </a:solidFill>
              </a:rPr>
              <a:t>The true goal is to convey the logic to solve the problem.</a:t>
            </a:r>
            <a:endParaRPr lang="en-CA" dirty="0">
              <a:solidFill>
                <a:srgbClr val="FFFF00"/>
              </a:solidFill>
            </a:endParaRPr>
          </a:p>
          <a:p>
            <a:pPr marL="320040" indent="-320040">
              <a:buNone/>
              <a:defRPr/>
            </a:pPr>
            <a:endParaRPr lang="en-CA" dirty="0"/>
          </a:p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This means the pseudocode is general and can later be applied regardless of programming language.</a:t>
            </a:r>
            <a:endParaRPr lang="en-CA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268760"/>
            <a:ext cx="10360501" cy="5112568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CA" altLang="en-US" dirty="0"/>
              <a:t>The rules of pseudocode are straight forward</a:t>
            </a:r>
          </a:p>
          <a:p>
            <a:pPr lvl="1"/>
            <a:endParaRPr lang="en-CA" altLang="en-US" dirty="0"/>
          </a:p>
          <a:p>
            <a:r>
              <a:rPr lang="en-CA" altLang="en-US" dirty="0"/>
              <a:t>You do not need to define variables, just use them (but you may need to assign a value to them to begin depending on the program)</a:t>
            </a:r>
          </a:p>
          <a:p>
            <a:pPr lvl="1"/>
            <a:r>
              <a:rPr lang="en-CA" altLang="en-US" dirty="0"/>
              <a:t>Reference data in arrays using [ ] as normal</a:t>
            </a:r>
          </a:p>
          <a:p>
            <a:pPr lvl="1"/>
            <a:endParaRPr lang="en-CA" altLang="en-US" dirty="0"/>
          </a:p>
          <a:p>
            <a:pPr eaLnBrk="1" hangingPunct="1"/>
            <a:r>
              <a:rPr lang="en-CA" altLang="en-US" dirty="0"/>
              <a:t>All statements showing dependency are to be </a:t>
            </a:r>
            <a:r>
              <a:rPr lang="en-CA" altLang="en-US" dirty="0" smtClean="0"/>
              <a:t>indented, there are no { }</a:t>
            </a:r>
            <a:endParaRPr lang="en-CA" altLang="en-US" dirty="0"/>
          </a:p>
          <a:p>
            <a:r>
              <a:rPr lang="en-CA" altLang="en-US" dirty="0"/>
              <a:t>Including:</a:t>
            </a:r>
          </a:p>
          <a:p>
            <a:pPr lvl="1"/>
            <a:r>
              <a:rPr lang="en-CA" altLang="en-US" dirty="0"/>
              <a:t>WHILE</a:t>
            </a:r>
          </a:p>
          <a:p>
            <a:pPr lvl="1"/>
            <a:r>
              <a:rPr lang="en-CA" altLang="en-US" dirty="0"/>
              <a:t>FOR</a:t>
            </a:r>
          </a:p>
          <a:p>
            <a:pPr lvl="1"/>
            <a:r>
              <a:rPr lang="en-CA" altLang="en-US" dirty="0"/>
              <a:t>IF, ELSE</a:t>
            </a:r>
          </a:p>
          <a:p>
            <a:pPr lvl="1"/>
            <a:r>
              <a:rPr lang="en-CA" altLang="en-US" dirty="0"/>
              <a:t>CASE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60648"/>
            <a:ext cx="8229600" cy="648072"/>
          </a:xfrm>
        </p:spPr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Action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836" y="863089"/>
            <a:ext cx="10945216" cy="5976664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CA" altLang="en-US" dirty="0"/>
              <a:t>Keywords are used to indicate common input, output, and processing operations. Most are the same as from IPO charts</a:t>
            </a:r>
          </a:p>
          <a:p>
            <a:pPr eaLnBrk="1" hangingPunct="1"/>
            <a:endParaRPr lang="en-CA" altLang="en-US" dirty="0"/>
          </a:p>
          <a:p>
            <a:pPr eaLnBrk="1" hangingPunct="1"/>
            <a:endParaRPr lang="en-CA" altLang="en-US" dirty="0"/>
          </a:p>
          <a:p>
            <a:pPr eaLnBrk="1" hangingPunct="1"/>
            <a:endParaRPr lang="en-CA" altLang="en-US" dirty="0"/>
          </a:p>
          <a:p>
            <a:pPr eaLnBrk="1" hangingPunct="1"/>
            <a:endParaRPr lang="en-CA" altLang="en-US" dirty="0"/>
          </a:p>
          <a:p>
            <a:pPr eaLnBrk="1" hangingPunct="1"/>
            <a:endParaRPr lang="en-CA" altLang="en-US" dirty="0"/>
          </a:p>
          <a:p>
            <a:pPr eaLnBrk="1" hangingPunct="1"/>
            <a:endParaRPr lang="en-CA" altLang="en-US" dirty="0"/>
          </a:p>
          <a:p>
            <a:pPr eaLnBrk="1" hangingPunct="1"/>
            <a:endParaRPr lang="en-CA" altLang="en-US" dirty="0"/>
          </a:p>
          <a:p>
            <a:pPr eaLnBrk="1" hangingPunct="1"/>
            <a:endParaRPr lang="en-CA" altLang="en-US" sz="1800" dirty="0"/>
          </a:p>
          <a:p>
            <a:pPr eaLnBrk="1" hangingPunct="1"/>
            <a:endParaRPr lang="en-CA" altLang="en-US" sz="1800" dirty="0"/>
          </a:p>
          <a:p>
            <a:pPr eaLnBrk="1" hangingPunct="1"/>
            <a:r>
              <a:rPr lang="en-CA" altLang="en-US" dirty="0">
                <a:solidFill>
                  <a:srgbClr val="FFFF00"/>
                </a:solidFill>
              </a:rPr>
              <a:t>You may need to create more to suit your program, for example ROUND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60E371D-2569-4915-BD67-E56E3190E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057362"/>
              </p:ext>
            </p:extLst>
          </p:nvPr>
        </p:nvGraphicFramePr>
        <p:xfrm>
          <a:off x="1557908" y="1628800"/>
          <a:ext cx="96490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0297">
                  <a:extLst>
                    <a:ext uri="{9D8B030D-6E8A-4147-A177-3AD203B41FA5}">
                      <a16:colId xmlns:a16="http://schemas.microsoft.com/office/drawing/2014/main" val="2296718874"/>
                    </a:ext>
                  </a:extLst>
                </a:gridCol>
                <a:gridCol w="4018775">
                  <a:extLst>
                    <a:ext uri="{9D8B030D-6E8A-4147-A177-3AD203B41FA5}">
                      <a16:colId xmlns:a16="http://schemas.microsoft.com/office/drawing/2014/main" val="704994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Programming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Pseudocode Keyword(s)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026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853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DISPLAY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03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Compute (Calculate)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mtClean="0"/>
                        <a:t>COMPUTE or CALCULATE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716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Initialize, Assign a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43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Add </a:t>
                      </a:r>
                      <a:r>
                        <a:rPr lang="en-CA" dirty="0" smtClean="0"/>
                        <a:t>one, Subtract one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INCREMENT, DECREMENT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Call a </a:t>
                      </a:r>
                      <a:r>
                        <a:rPr lang="en-CA" dirty="0" smtClean="0"/>
                        <a:t>method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28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List parameters for a </a:t>
                      </a:r>
                      <a:r>
                        <a:rPr lang="en-CA" dirty="0" smtClean="0"/>
                        <a:t>method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WITH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09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Return a value for a </a:t>
                      </a:r>
                      <a:r>
                        <a:rPr lang="en-CA" dirty="0" smtClean="0"/>
                        <a:t>method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84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Boolean logic statements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AND, OR,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17781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The structured part of pseudocode is a notation for representing five specific structured programming constructs: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SEQUENCE</a:t>
            </a:r>
            <a:r>
              <a:rPr lang="en-CA" altLang="en-US" dirty="0"/>
              <a:t> (a series of commands)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WHILE</a:t>
            </a:r>
            <a:r>
              <a:rPr lang="en-CA" altLang="en-US" dirty="0"/>
              <a:t> (conditional loop)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FOR</a:t>
            </a:r>
            <a:r>
              <a:rPr lang="en-CA" altLang="en-US" dirty="0"/>
              <a:t> (counted loop)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IF-THEN-ELSE</a:t>
            </a:r>
            <a:r>
              <a:rPr lang="en-CA" altLang="en-US" dirty="0"/>
              <a:t> (1 or 2 choices)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CASE</a:t>
            </a:r>
            <a:r>
              <a:rPr lang="en-CA" altLang="en-US" dirty="0"/>
              <a:t> (more than 2 choices, </a:t>
            </a:r>
            <a:r>
              <a:rPr lang="en-CA" altLang="en-US" dirty="0">
                <a:solidFill>
                  <a:srgbClr val="FFFF00"/>
                </a:solidFill>
              </a:rPr>
              <a:t>no ELSE IF </a:t>
            </a:r>
            <a:r>
              <a:rPr lang="en-CA" altLang="en-US" dirty="0" smtClean="0">
                <a:solidFill>
                  <a:srgbClr val="FFFF00"/>
                </a:solidFill>
              </a:rPr>
              <a:t>exists</a:t>
            </a:r>
            <a:r>
              <a:rPr lang="en-CA" altLang="en-US" dirty="0" smtClean="0"/>
              <a:t>)</a:t>
            </a:r>
          </a:p>
          <a:p>
            <a:pPr lvl="2"/>
            <a:r>
              <a:rPr lang="en-CA" altLang="en-US" dirty="0" smtClean="0"/>
              <a:t>later to be coded as </a:t>
            </a:r>
            <a:r>
              <a:rPr lang="en-CA" altLang="en-US" dirty="0" smtClean="0">
                <a:solidFill>
                  <a:srgbClr val="FFFF00"/>
                </a:solidFill>
              </a:rPr>
              <a:t>EITHER</a:t>
            </a:r>
            <a:r>
              <a:rPr lang="en-CA" altLang="en-US" dirty="0" smtClean="0"/>
              <a:t> a </a:t>
            </a:r>
            <a:r>
              <a:rPr lang="en-CA" altLang="en-US" dirty="0" smtClean="0">
                <a:solidFill>
                  <a:srgbClr val="00B0F0"/>
                </a:solidFill>
              </a:rPr>
              <a:t>switch</a:t>
            </a:r>
            <a:r>
              <a:rPr lang="en-CA" altLang="en-US" dirty="0" smtClean="0"/>
              <a:t> or </a:t>
            </a:r>
            <a:r>
              <a:rPr lang="en-CA" altLang="en-US" dirty="0" smtClean="0">
                <a:solidFill>
                  <a:srgbClr val="00B0F0"/>
                </a:solidFill>
              </a:rPr>
              <a:t>if-else if</a:t>
            </a:r>
            <a:r>
              <a:rPr lang="en-CA" altLang="en-US" dirty="0" smtClean="0"/>
              <a:t> statement (programmer’s choice)</a:t>
            </a:r>
            <a:endParaRPr lang="en-CA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For code that simply runs from Top-to-Bottom</a:t>
            </a:r>
          </a:p>
          <a:p>
            <a:pPr eaLnBrk="1" hangingPunct="1"/>
            <a:endParaRPr lang="en-CA" altLang="en-US" dirty="0"/>
          </a:p>
          <a:p>
            <a:pPr eaLnBrk="1" hangingPunct="1"/>
            <a:r>
              <a:rPr lang="en-CA" altLang="en-US" dirty="0"/>
              <a:t>Sequential control is indicated by writing one action after another</a:t>
            </a:r>
          </a:p>
          <a:p>
            <a:pPr eaLnBrk="1" hangingPunct="1"/>
            <a:endParaRPr lang="en-CA" altLang="en-US" dirty="0"/>
          </a:p>
          <a:p>
            <a:pPr eaLnBrk="1" hangingPunct="1"/>
            <a:r>
              <a:rPr lang="en-CA" altLang="en-US" dirty="0"/>
              <a:t>Each action on a line by itself, and all actions aligned with the same indent.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SEQUENCE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CA" altLang="en-US" dirty="0">
                <a:solidFill>
                  <a:srgbClr val="FF0000"/>
                </a:solidFill>
              </a:rPr>
              <a:t>Example: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SET </a:t>
            </a:r>
            <a:r>
              <a:rPr lang="en-CA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height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  </a:t>
            </a:r>
            <a:r>
              <a:rPr lang="en-CA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= 2.5 </a:t>
            </a:r>
            <a:r>
              <a:rPr lang="en-CA" altLang="en-US" i="1" dirty="0" smtClean="0">
                <a:ea typeface="Cambria" panose="02040503050406030204" pitchFamily="18" charset="0"/>
              </a:rPr>
              <a:t>(</a:t>
            </a:r>
            <a:r>
              <a:rPr lang="en-CA" altLang="en-US" sz="2000" i="1" dirty="0" smtClean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plain English is also acceptable, SET height to 2.5</a:t>
            </a:r>
            <a:r>
              <a:rPr lang="en-CA" altLang="en-US" i="1" dirty="0" smtClean="0">
                <a:ea typeface="Cambria" panose="02040503050406030204" pitchFamily="18" charset="0"/>
              </a:rPr>
              <a:t>)</a:t>
            </a:r>
            <a:endParaRPr lang="en-CA" altLang="en-US" i="1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SET </a:t>
            </a:r>
            <a:r>
              <a:rPr lang="en-CA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width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 =</a:t>
            </a:r>
            <a:r>
              <a:rPr lang="en-CA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  <a:p>
            <a:pPr>
              <a:buNone/>
            </a:pP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COMPUTE </a:t>
            </a:r>
            <a:r>
              <a:rPr lang="en-CA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area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CA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height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 * </a:t>
            </a:r>
            <a:r>
              <a:rPr lang="en-CA" altLang="en-US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width </a:t>
            </a:r>
            <a:r>
              <a:rPr lang="en-CA" altLang="en-US" i="1" dirty="0" smtClean="0">
                <a:ea typeface="Cambria" panose="02040503050406030204" pitchFamily="18" charset="0"/>
              </a:rPr>
              <a:t>(</a:t>
            </a:r>
            <a:r>
              <a:rPr lang="en-CA" altLang="en-US" sz="2000" i="1" dirty="0" smtClean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standard math symbols, e.g. </a:t>
            </a:r>
            <a:r>
              <a:rPr lang="en-US" dirty="0">
                <a:solidFill>
                  <a:srgbClr val="92D050"/>
                </a:solidFill>
              </a:rPr>
              <a:t>√</a:t>
            </a:r>
            <a:r>
              <a:rPr lang="en-CA" altLang="en-US" i="1" dirty="0" smtClean="0">
                <a:ea typeface="Cambria" panose="02040503050406030204" pitchFamily="18" charset="0"/>
              </a:rPr>
              <a:t>)</a:t>
            </a:r>
            <a:endParaRPr lang="en-CA" altLang="en-US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DISPLAY “The area is: ” + </a:t>
            </a:r>
            <a:r>
              <a:rPr lang="en-CA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area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i="1" dirty="0" smtClean="0"/>
              <a:t>(</a:t>
            </a:r>
            <a:r>
              <a:rPr lang="en-CA" altLang="en-US" sz="2000" i="1" dirty="0">
                <a:solidFill>
                  <a:srgbClr val="FFFF00"/>
                </a:solidFill>
              </a:rPr>
              <a:t>Y</a:t>
            </a:r>
            <a:r>
              <a:rPr lang="en-CA" altLang="en-US" sz="2000" i="1" dirty="0" smtClean="0">
                <a:solidFill>
                  <a:srgbClr val="FFFF00"/>
                </a:solidFill>
              </a:rPr>
              <a:t>es, we </a:t>
            </a:r>
            <a:r>
              <a:rPr lang="en-CA" altLang="en-US" sz="2000" i="1" dirty="0">
                <a:solidFill>
                  <a:srgbClr val="FFFF00"/>
                </a:solidFill>
              </a:rPr>
              <a:t>still use concatenation</a:t>
            </a:r>
            <a:r>
              <a:rPr lang="en-CA" altLang="en-US" i="1" dirty="0"/>
              <a:t>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IF-THEN-ELSE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1 or 2 choices on a given Boolean comparison is indicated by the use of four keywords: 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IF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THEN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ELSE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ENDIF</a:t>
            </a:r>
          </a:p>
          <a:p>
            <a:pPr lvl="1" eaLnBrk="1" hangingPunct="1"/>
            <a:endParaRPr lang="en-CA" altLang="en-US" dirty="0"/>
          </a:p>
          <a:p>
            <a:pPr lvl="1" eaLnBrk="1" hangingPunct="1"/>
            <a:r>
              <a:rPr lang="en-CA" altLang="en-US" dirty="0"/>
              <a:t>We use these when describing a </a:t>
            </a:r>
            <a:r>
              <a:rPr lang="en-CA" altLang="en-US" b="1" i="1" dirty="0">
                <a:solidFill>
                  <a:srgbClr val="92D050"/>
                </a:solidFill>
              </a:rPr>
              <a:t>simple if-statement</a:t>
            </a:r>
            <a:endParaRPr lang="en-CA" alt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IF-THEN-ELSE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0587" y="1628800"/>
            <a:ext cx="10360501" cy="4462272"/>
          </a:xfrm>
        </p:spPr>
        <p:txBody>
          <a:bodyPr>
            <a:normAutofit/>
          </a:bodyPr>
          <a:lstStyle/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The general form is:</a:t>
            </a:r>
          </a:p>
          <a:p>
            <a:pPr marL="320040" indent="-320040">
              <a:buNone/>
              <a:defRPr/>
            </a:pPr>
            <a:endParaRPr lang="en-CA" dirty="0"/>
          </a:p>
          <a:p>
            <a:pPr marL="320040" indent="-320040">
              <a:buNone/>
              <a:defRPr/>
            </a:pPr>
            <a:endParaRPr lang="en-CA" dirty="0"/>
          </a:p>
          <a:p>
            <a:pPr marL="320040" indent="-320040">
              <a:buNone/>
              <a:defRPr/>
            </a:pPr>
            <a:endParaRPr lang="en-CA" dirty="0"/>
          </a:p>
          <a:p>
            <a:pPr marL="320040" indent="-320040">
              <a:buNone/>
              <a:defRPr/>
            </a:pPr>
            <a:endParaRPr lang="en-CA" dirty="0"/>
          </a:p>
          <a:p>
            <a:pPr marL="320040" indent="-320040">
              <a:buFont typeface="Wingdings 2"/>
              <a:buChar char=""/>
              <a:defRPr/>
            </a:pPr>
            <a:r>
              <a:rPr lang="en-CA" b="1" dirty="0"/>
              <a:t>The </a:t>
            </a:r>
            <a:r>
              <a:rPr lang="en-CA" b="1" dirty="0">
                <a:solidFill>
                  <a:srgbClr val="00B0F0"/>
                </a:solidFill>
              </a:rPr>
              <a:t>ELSE</a:t>
            </a:r>
            <a:r>
              <a:rPr lang="en-CA" b="1" dirty="0"/>
              <a:t> keyword and "</a:t>
            </a:r>
            <a:r>
              <a:rPr lang="en-CA" b="1" dirty="0">
                <a:solidFill>
                  <a:srgbClr val="00B0F0"/>
                </a:solidFill>
              </a:rPr>
              <a:t>sequence 2</a:t>
            </a:r>
            <a:r>
              <a:rPr lang="en-CA" b="1" dirty="0"/>
              <a:t>" are optional.</a:t>
            </a:r>
          </a:p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If the condition is true, </a:t>
            </a:r>
            <a:r>
              <a:rPr lang="en-CA" dirty="0">
                <a:solidFill>
                  <a:srgbClr val="00B0F0"/>
                </a:solidFill>
              </a:rPr>
              <a:t>sequence 1</a:t>
            </a:r>
            <a:r>
              <a:rPr lang="en-CA" dirty="0"/>
              <a:t> is performed, otherwise </a:t>
            </a:r>
            <a:r>
              <a:rPr lang="en-CA" dirty="0">
                <a:solidFill>
                  <a:srgbClr val="00B0F0"/>
                </a:solidFill>
              </a:rPr>
              <a:t>sequence 2</a:t>
            </a:r>
            <a:r>
              <a:rPr lang="en-CA" dirty="0"/>
              <a:t> is performed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799B0-1003-4342-893B-7399300B2890}"/>
              </a:ext>
            </a:extLst>
          </p:cNvPr>
          <p:cNvSpPr txBox="1"/>
          <p:nvPr/>
        </p:nvSpPr>
        <p:spPr>
          <a:xfrm>
            <a:off x="1413892" y="2420888"/>
            <a:ext cx="2414444" cy="17851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320040" indent="-320040">
              <a:buNone/>
              <a:defRPr/>
            </a:pPr>
            <a:r>
              <a:rPr lang="en-CA" sz="2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condition THEN</a:t>
            </a:r>
          </a:p>
          <a:p>
            <a:pPr marL="320040" indent="-320040">
              <a:buNone/>
              <a:defRPr/>
            </a:pPr>
            <a:r>
              <a:rPr lang="en-CA" sz="2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sequence 1</a:t>
            </a:r>
          </a:p>
          <a:p>
            <a:pPr marL="320040" indent="-320040">
              <a:buNone/>
              <a:defRPr/>
            </a:pPr>
            <a:r>
              <a:rPr lang="en-CA" sz="2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ELSE</a:t>
            </a:r>
          </a:p>
          <a:p>
            <a:pPr marL="320040" indent="-320040">
              <a:buNone/>
              <a:defRPr/>
            </a:pPr>
            <a:r>
              <a:rPr lang="en-CA" sz="2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sequence 2</a:t>
            </a:r>
          </a:p>
          <a:p>
            <a:pPr marL="320040" indent="-320040">
              <a:buNone/>
              <a:defRPr/>
            </a:pPr>
            <a:r>
              <a:rPr lang="en-CA" sz="2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ENDIF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Content Placeholder 2"/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64708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CA" altLang="en-US" dirty="0">
                <a:solidFill>
                  <a:srgbClr val="FF0000"/>
                </a:solidFill>
              </a:rPr>
              <a:t>Example: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IF-THEN-ELSE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77F4F-7E42-4527-8E75-4C43F7944E9F}"/>
              </a:ext>
            </a:extLst>
          </p:cNvPr>
          <p:cNvSpPr txBox="1"/>
          <p:nvPr/>
        </p:nvSpPr>
        <p:spPr>
          <a:xfrm>
            <a:off x="1341884" y="2375173"/>
            <a:ext cx="7925118" cy="25545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CA" altLang="en-US" sz="32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hoursWorked</a:t>
            </a: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&gt; </a:t>
            </a:r>
            <a:r>
              <a:rPr lang="en-CA" altLang="en-US" sz="32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normalMaxHours</a:t>
            </a: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THEN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DISPLAY </a:t>
            </a:r>
            <a:r>
              <a:rPr lang="en-CA" altLang="en-US" sz="32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“Overtime pay earned”</a:t>
            </a:r>
            <a:endParaRPr lang="en-CA" altLang="en-US" sz="32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ELSE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DISPLAY </a:t>
            </a:r>
            <a:r>
              <a:rPr lang="en-CA" altLang="en-US" sz="32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“Standard pay earned”</a:t>
            </a:r>
            <a:endParaRPr lang="en-CA" altLang="en-US" sz="32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ENDIF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533400"/>
            <a:ext cx="8229600" cy="807368"/>
          </a:xfrm>
        </p:spPr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612" y="1340768"/>
            <a:ext cx="8579296" cy="5184576"/>
          </a:xfrm>
        </p:spPr>
        <p:txBody>
          <a:bodyPr>
            <a:normAutofit fontScale="92500" lnSpcReduction="10000"/>
          </a:bodyPr>
          <a:lstStyle/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A </a:t>
            </a:r>
            <a:r>
              <a:rPr lang="en-CA" dirty="0">
                <a:solidFill>
                  <a:srgbClr val="FFFF00"/>
                </a:solidFill>
              </a:rPr>
              <a:t>CASE</a:t>
            </a:r>
            <a:r>
              <a:rPr lang="en-CA" dirty="0"/>
              <a:t> construct indicates a multi-selection based on conditions that are unique.</a:t>
            </a:r>
          </a:p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Four keywords:</a:t>
            </a:r>
          </a:p>
          <a:p>
            <a:pPr marL="630936" lvl="1" indent="-274320">
              <a:buFont typeface="Wingdings 2"/>
              <a:buChar char=""/>
              <a:defRPr/>
            </a:pPr>
            <a:r>
              <a:rPr lang="en-CA" dirty="0">
                <a:solidFill>
                  <a:srgbClr val="00B0F0"/>
                </a:solidFill>
              </a:rPr>
              <a:t>CASE</a:t>
            </a:r>
          </a:p>
          <a:p>
            <a:pPr marL="630936" lvl="1" indent="-274320">
              <a:buFont typeface="Wingdings 2"/>
              <a:buChar char=""/>
              <a:defRPr/>
            </a:pPr>
            <a:r>
              <a:rPr lang="en-CA" dirty="0">
                <a:solidFill>
                  <a:srgbClr val="00B0F0"/>
                </a:solidFill>
              </a:rPr>
              <a:t>OF</a:t>
            </a:r>
          </a:p>
          <a:p>
            <a:pPr marL="630936" lvl="1" indent="-274320">
              <a:buFont typeface="Wingdings 2"/>
              <a:buChar char=""/>
              <a:defRPr/>
            </a:pPr>
            <a:r>
              <a:rPr lang="en-CA" dirty="0">
                <a:solidFill>
                  <a:srgbClr val="00B0F0"/>
                </a:solidFill>
              </a:rPr>
              <a:t>OTHERS</a:t>
            </a:r>
          </a:p>
          <a:p>
            <a:pPr marL="630936" lvl="1" indent="-274320">
              <a:buFont typeface="Wingdings 2"/>
              <a:buChar char=""/>
              <a:defRPr/>
            </a:pPr>
            <a:r>
              <a:rPr lang="en-CA" dirty="0">
                <a:solidFill>
                  <a:srgbClr val="00B0F0"/>
                </a:solidFill>
              </a:rPr>
              <a:t>ENDCASE</a:t>
            </a:r>
          </a:p>
          <a:p>
            <a:pPr marL="320040" indent="-320040">
              <a:buFont typeface="Wingdings 2"/>
              <a:buChar char=""/>
              <a:defRPr/>
            </a:pPr>
            <a:r>
              <a:rPr lang="en-CA" dirty="0" smtClean="0"/>
              <a:t>Test Conditions </a:t>
            </a:r>
            <a:r>
              <a:rPr lang="en-CA" dirty="0"/>
              <a:t>are used to </a:t>
            </a:r>
            <a:r>
              <a:rPr lang="en-CA" dirty="0" smtClean="0"/>
              <a:t>show </a:t>
            </a:r>
            <a:r>
              <a:rPr lang="en-CA" dirty="0"/>
              <a:t>the various alternatives</a:t>
            </a:r>
            <a:r>
              <a:rPr lang="en-CA" dirty="0" smtClean="0"/>
              <a:t>.</a:t>
            </a:r>
          </a:p>
          <a:p>
            <a:pPr marL="624786" lvl="1" indent="-320040">
              <a:buFont typeface="Wingdings 2"/>
              <a:buChar char=""/>
              <a:defRPr/>
            </a:pPr>
            <a:r>
              <a:rPr lang="en-CA" dirty="0" smtClean="0"/>
              <a:t>E.g. &lt; 13                </a:t>
            </a:r>
            <a:r>
              <a:rPr lang="en-CA" dirty="0" smtClean="0">
                <a:solidFill>
                  <a:srgbClr val="92D050"/>
                </a:solidFill>
              </a:rPr>
              <a:t>or</a:t>
            </a:r>
            <a:r>
              <a:rPr lang="en-CA" dirty="0" smtClean="0"/>
              <a:t>       &gt;= 13 </a:t>
            </a:r>
            <a:r>
              <a:rPr lang="en-CA" dirty="0" smtClean="0">
                <a:solidFill>
                  <a:srgbClr val="FFFF00"/>
                </a:solidFill>
              </a:rPr>
              <a:t>AND</a:t>
            </a:r>
            <a:r>
              <a:rPr lang="en-CA" dirty="0" smtClean="0"/>
              <a:t> &lt; 20</a:t>
            </a:r>
            <a:endParaRPr lang="en-CA" dirty="0"/>
          </a:p>
          <a:p>
            <a:pPr marL="320040" indent="-320040">
              <a:buFont typeface="Wingdings 2"/>
              <a:buChar char=""/>
              <a:defRPr/>
            </a:pPr>
            <a:endParaRPr lang="en-CA" dirty="0"/>
          </a:p>
          <a:p>
            <a:pPr marL="320040" indent="-320040">
              <a:buFont typeface="Wingdings 2"/>
              <a:buChar char=""/>
              <a:defRPr/>
            </a:pPr>
            <a:r>
              <a:rPr lang="en-CA" dirty="0" smtClean="0"/>
              <a:t>This is to be used when you would make use of if-else if or switch statements for 3 or more choices</a:t>
            </a:r>
            <a:endParaRPr lang="en-CA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 decel="100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800" decel="100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800" decel="100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800" decel="100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00" decel="100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CASE</a:t>
            </a:r>
          </a:p>
        </p:txBody>
      </p:sp>
      <p:sp>
        <p:nvSpPr>
          <p:cNvPr id="20484" name="Content Placeholder 2"/>
          <p:cNvSpPr>
            <a:spLocks noGrp="1"/>
          </p:cNvSpPr>
          <p:nvPr>
            <p:ph sz="quarter" idx="2"/>
          </p:nvPr>
        </p:nvSpPr>
        <p:spPr>
          <a:xfrm>
            <a:off x="1226076" y="1268761"/>
            <a:ext cx="4286250" cy="576063"/>
          </a:xfrm>
        </p:spPr>
        <p:txBody>
          <a:bodyPr/>
          <a:lstStyle/>
          <a:p>
            <a:pPr eaLnBrk="1" hangingPunct="1"/>
            <a:r>
              <a:rPr lang="en-CA" altLang="en-US" dirty="0"/>
              <a:t>The general form is: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14492" y="958484"/>
            <a:ext cx="5148064" cy="5770816"/>
          </a:xfrm>
        </p:spPr>
        <p:txBody>
          <a:bodyPr/>
          <a:lstStyle/>
          <a:p>
            <a:pPr eaLnBrk="1" hangingPunct="1"/>
            <a:r>
              <a:rPr lang="en-CA" altLang="en-US" b="1" dirty="0"/>
              <a:t>The </a:t>
            </a:r>
            <a:r>
              <a:rPr lang="en-CA" altLang="en-US" b="1" dirty="0">
                <a:solidFill>
                  <a:srgbClr val="00B0F0"/>
                </a:solidFill>
              </a:rPr>
              <a:t>OTHERS</a:t>
            </a:r>
            <a:r>
              <a:rPr lang="en-CA" altLang="en-US" b="1" dirty="0"/>
              <a:t> clause with its </a:t>
            </a:r>
            <a:r>
              <a:rPr lang="en-CA" altLang="en-US" b="1" dirty="0">
                <a:solidFill>
                  <a:srgbClr val="00B0F0"/>
                </a:solidFill>
              </a:rPr>
              <a:t>default sequence </a:t>
            </a:r>
            <a:r>
              <a:rPr lang="en-CA" altLang="en-US" b="1" dirty="0"/>
              <a:t>is optional.</a:t>
            </a:r>
          </a:p>
          <a:p>
            <a:pPr lvl="1"/>
            <a:endParaRPr lang="en-CA" altLang="en-US" b="1" dirty="0"/>
          </a:p>
          <a:p>
            <a:pPr eaLnBrk="1" hangingPunct="1"/>
            <a:r>
              <a:rPr lang="en-CA" altLang="en-US" dirty="0"/>
              <a:t>Conditions are normally </a:t>
            </a:r>
            <a:r>
              <a:rPr lang="en-CA" altLang="en-US" dirty="0" smtClean="0"/>
              <a:t>numbers, characters or comparisons indicating </a:t>
            </a:r>
            <a:r>
              <a:rPr lang="en-CA" altLang="en-US" dirty="0"/>
              <a:t>the value of “expression”</a:t>
            </a:r>
          </a:p>
          <a:p>
            <a:pPr lvl="1"/>
            <a:endParaRPr lang="en-CA" altLang="en-US" dirty="0"/>
          </a:p>
          <a:p>
            <a:pPr eaLnBrk="1" hangingPunct="1"/>
            <a:r>
              <a:rPr lang="en-CA" altLang="en-US" dirty="0"/>
              <a:t>They can be English statements or some other notation that specifies the condition under which the given sequence is to be performed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7641D5-C38B-4F89-ACCF-473391247F69}"/>
              </a:ext>
            </a:extLst>
          </p:cNvPr>
          <p:cNvSpPr txBox="1"/>
          <p:nvPr/>
        </p:nvSpPr>
        <p:spPr>
          <a:xfrm>
            <a:off x="981844" y="2049809"/>
            <a:ext cx="5740674" cy="35394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expression OF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condition </a:t>
            </a:r>
            <a:r>
              <a:rPr lang="en-CA" altLang="en-US" sz="3200" dirty="0" smtClean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1: </a:t>
            </a: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sequence 1 </a:t>
            </a:r>
            <a:b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condition </a:t>
            </a:r>
            <a:r>
              <a:rPr lang="en-CA" altLang="en-US" sz="3200" dirty="0" smtClean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2: </a:t>
            </a: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sequence 2 </a:t>
            </a:r>
            <a:b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... </a:t>
            </a:r>
            <a:b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condition </a:t>
            </a:r>
            <a:r>
              <a:rPr lang="en-CA" altLang="en-US" sz="3200" dirty="0" smtClean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n: </a:t>
            </a: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sequence n </a:t>
            </a:r>
            <a:b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OTHERS: </a:t>
            </a:r>
            <a:r>
              <a:rPr lang="en-CA" altLang="en-US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default sequence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32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ENDCASE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433437" y="764704"/>
            <a:ext cx="4038600" cy="504056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CA" dirty="0">
                <a:solidFill>
                  <a:srgbClr val="FF0000"/>
                </a:solidFill>
              </a:rPr>
              <a:t>Example 2: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125860" y="764704"/>
            <a:ext cx="4038600" cy="408165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CA" dirty="0">
                <a:solidFill>
                  <a:srgbClr val="FF0000"/>
                </a:solidFill>
              </a:rPr>
              <a:t>Example 1: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193" y="248939"/>
            <a:ext cx="10360501" cy="619627"/>
          </a:xfrm>
        </p:spPr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CASE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62CD8-27AD-44A0-943F-11E6E08257C3}"/>
              </a:ext>
            </a:extLst>
          </p:cNvPr>
          <p:cNvSpPr txBox="1"/>
          <p:nvPr/>
        </p:nvSpPr>
        <p:spPr>
          <a:xfrm>
            <a:off x="1197868" y="1299131"/>
            <a:ext cx="4450385" cy="44012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320040" indent="-320040">
              <a:buNone/>
              <a:defRPr/>
            </a:pP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  </a:t>
            </a:r>
            <a:r>
              <a:rPr lang="en-CA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title</a:t>
            </a: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OF</a:t>
            </a:r>
            <a:b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CA" sz="2800" dirty="0" err="1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Mr</a:t>
            </a: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”:    DISPLAY "Mister“</a:t>
            </a:r>
            <a:b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CA" sz="2800" dirty="0" err="1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Mrs</a:t>
            </a: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”: DISPLAY "Missus"</a:t>
            </a:r>
            <a:b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“Miss”: DISPLAY "Miss“</a:t>
            </a:r>
            <a:b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CA" sz="2800" dirty="0" err="1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Ms</a:t>
            </a: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”:   DISPLAY "</a:t>
            </a:r>
            <a:r>
              <a:rPr lang="en-CA" sz="2800" dirty="0" err="1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Mizz</a:t>
            </a: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b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“Dr”:    DISPLAY "Doctor”</a:t>
            </a:r>
          </a:p>
          <a:p>
            <a:pPr marL="320040" indent="-320040">
              <a:buNone/>
              <a:defRPr/>
            </a:pPr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ENDCASE</a:t>
            </a:r>
          </a:p>
          <a:p>
            <a:pPr marL="320040" indent="-320040">
              <a:buNone/>
              <a:defRPr/>
            </a:pPr>
            <a:endParaRPr lang="en-CA" sz="3200" dirty="0">
              <a:solidFill>
                <a:schemeClr val="tx1">
                  <a:lumMod val="85000"/>
                </a:schemeClr>
              </a:solidFill>
            </a:endParaRPr>
          </a:p>
          <a:p>
            <a:pPr marL="320040" indent="-320040">
              <a:buNone/>
              <a:defRPr/>
            </a:pPr>
            <a:endParaRPr lang="en-CA" sz="2000" dirty="0">
              <a:solidFill>
                <a:schemeClr val="tx1">
                  <a:lumMod val="85000"/>
                </a:schemeClr>
              </a:solidFill>
            </a:endParaRPr>
          </a:p>
          <a:p>
            <a:pPr marL="320040" indent="-320040">
              <a:buNone/>
              <a:defRPr/>
            </a:pPr>
            <a:r>
              <a:rPr lang="en-CA" sz="3200" dirty="0">
                <a:solidFill>
                  <a:srgbClr val="FFFF00"/>
                </a:solidFill>
              </a:rPr>
              <a:t>Note: The lack of </a:t>
            </a:r>
            <a:r>
              <a:rPr lang="en-CA" sz="3200" b="1" dirty="0">
                <a:solidFill>
                  <a:srgbClr val="FFFF00"/>
                </a:solidFill>
              </a:rPr>
              <a:t>OTHERS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53855-6A20-4834-90F2-A8076425342A}"/>
              </a:ext>
            </a:extLst>
          </p:cNvPr>
          <p:cNvSpPr txBox="1"/>
          <p:nvPr/>
        </p:nvSpPr>
        <p:spPr>
          <a:xfrm>
            <a:off x="6577453" y="1299156"/>
            <a:ext cx="4824536" cy="44012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 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grade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OF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&gt;= 80:  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 SET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4</a:t>
            </a:r>
            <a:b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&gt;= 70 AND &lt;= 79: 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 SET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3</a:t>
            </a:r>
            <a:b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&gt;= 60 AND &lt;= 69: 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 SET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2</a:t>
            </a:r>
            <a:b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&gt;= 50 AND &lt;= 59: 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 SET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1</a:t>
            </a:r>
            <a:b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&lt;50: 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 SET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R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OTHERS: 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 SET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I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66420" y="5838563"/>
            <a:ext cx="554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FF00"/>
                </a:solidFill>
              </a:rPr>
              <a:t>NOTE</a:t>
            </a:r>
            <a:r>
              <a:rPr lang="en-US" sz="1600" dirty="0" smtClean="0"/>
              <a:t>: If sequences are more than one line, we format this</a:t>
            </a:r>
          </a:p>
          <a:p>
            <a:r>
              <a:rPr lang="en-US" sz="1600" dirty="0" smtClean="0"/>
              <a:t>By dropping down a line and indenting each line of the sequence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81000"/>
            <a:ext cx="8229600" cy="807368"/>
          </a:xfrm>
        </p:spPr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Nested Constructs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6511" y="1196752"/>
            <a:ext cx="8229600" cy="1728192"/>
          </a:xfrm>
        </p:spPr>
        <p:txBody>
          <a:bodyPr>
            <a:normAutofit/>
          </a:bodyPr>
          <a:lstStyle/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The constructs can be embedded within each other</a:t>
            </a:r>
          </a:p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This is made clear by use of indenting</a:t>
            </a:r>
          </a:p>
          <a:p>
            <a:pPr marL="0" indent="0">
              <a:buNone/>
              <a:defRPr/>
            </a:pPr>
            <a:r>
              <a:rPr lang="en-CA" dirty="0">
                <a:solidFill>
                  <a:srgbClr val="FF0000"/>
                </a:solidFill>
              </a:rPr>
              <a:t>Example: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8E46-B086-49D2-AE96-416D3A0D501F}"/>
              </a:ext>
            </a:extLst>
          </p:cNvPr>
          <p:cNvSpPr txBox="1"/>
          <p:nvPr/>
        </p:nvSpPr>
        <p:spPr>
          <a:xfrm>
            <a:off x="2133972" y="2924944"/>
            <a:ext cx="7128792" cy="36009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DISPLAY “Enter rectangle length”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DISPLAY “Enter rectangle width”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width</a:t>
            </a:r>
          </a:p>
          <a:p>
            <a:pPr marL="320040" indent="-320040">
              <a:buNone/>
              <a:defRPr/>
            </a:pPr>
            <a:endParaRPr lang="en-CA" sz="2000" dirty="0">
              <a:solidFill>
                <a:schemeClr val="tx1">
                  <a:lumMod val="8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&gt; 0 THEN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IF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&gt; 0 THEN 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COMPUTE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area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*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DISPLAY “Area: “ +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area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ENDIF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6300" y="4419509"/>
            <a:ext cx="529080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chemeClr val="bg1"/>
                </a:solidFill>
              </a:rPr>
              <a:t>Yes, you could have used a compound statement here:</a:t>
            </a:r>
          </a:p>
          <a:p>
            <a:r>
              <a:rPr lang="en-US" sz="1800" dirty="0" smtClean="0">
                <a:solidFill>
                  <a:schemeClr val="bg1"/>
                </a:solidFill>
              </a:rPr>
              <a:t>IF length &gt; 0 AND width &gt; 0 THEN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195882"/>
            <a:ext cx="8229600" cy="73536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Calling </a:t>
            </a:r>
            <a:r>
              <a:rPr lang="en-CA" dirty="0" smtClean="0">
                <a:solidFill>
                  <a:schemeClr val="tx2">
                    <a:tint val="100000"/>
                    <a:satMod val="250000"/>
                  </a:schemeClr>
                </a:solidFill>
              </a:rPr>
              <a:t>Methods</a:t>
            </a:r>
            <a:endParaRPr lang="en-CA" dirty="0">
              <a:solidFill>
                <a:schemeClr val="tx2">
                  <a:tint val="100000"/>
                  <a:satMod val="2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884" y="1412776"/>
            <a:ext cx="9505056" cy="5249342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CA" altLang="en-US" dirty="0"/>
              <a:t>Use the </a:t>
            </a:r>
            <a:r>
              <a:rPr lang="en-CA" altLang="en-US" b="1" dirty="0">
                <a:solidFill>
                  <a:srgbClr val="FFFF00"/>
                </a:solidFill>
              </a:rPr>
              <a:t>CALL</a:t>
            </a:r>
            <a:r>
              <a:rPr lang="en-CA" altLang="en-US" dirty="0"/>
              <a:t> keyword to indicate the calling of a </a:t>
            </a:r>
            <a:r>
              <a:rPr lang="en-CA" altLang="en-US" dirty="0" smtClean="0"/>
              <a:t>method </a:t>
            </a:r>
            <a:r>
              <a:rPr lang="en-CA" altLang="en-US" dirty="0"/>
              <a:t>in pseudocode</a:t>
            </a:r>
          </a:p>
          <a:p>
            <a:pPr eaLnBrk="1" hangingPunct="1"/>
            <a:r>
              <a:rPr lang="en-CA" altLang="en-US" dirty="0"/>
              <a:t>If it is a function use the keyword </a:t>
            </a:r>
            <a:r>
              <a:rPr lang="en-CA" altLang="en-US" b="1" dirty="0">
                <a:solidFill>
                  <a:srgbClr val="FFFF00"/>
                </a:solidFill>
              </a:rPr>
              <a:t>RETURN</a:t>
            </a:r>
            <a:r>
              <a:rPr lang="en-CA" altLang="en-US" dirty="0"/>
              <a:t> indicating where the result will be stored</a:t>
            </a:r>
          </a:p>
          <a:p>
            <a:pPr eaLnBrk="1" hangingPunct="1"/>
            <a:r>
              <a:rPr lang="en-CA" altLang="en-US" dirty="0"/>
              <a:t>If it has parameters use the keyword </a:t>
            </a:r>
            <a:r>
              <a:rPr lang="en-CA" altLang="en-US" b="1" dirty="0">
                <a:solidFill>
                  <a:srgbClr val="FFFF00"/>
                </a:solidFill>
              </a:rPr>
              <a:t>WITH </a:t>
            </a:r>
            <a:r>
              <a:rPr lang="en-CA" altLang="en-US" dirty="0"/>
              <a:t>and separate </a:t>
            </a:r>
            <a:r>
              <a:rPr lang="en-CA" altLang="en-US" dirty="0" smtClean="0"/>
              <a:t>parameter values </a:t>
            </a:r>
            <a:r>
              <a:rPr lang="en-CA" altLang="en-US" dirty="0"/>
              <a:t>with commas</a:t>
            </a:r>
          </a:p>
          <a:p>
            <a:pPr eaLnBrk="1" hangingPunct="1"/>
            <a:r>
              <a:rPr lang="en-CA" altLang="en-US" dirty="0"/>
              <a:t>If you call a </a:t>
            </a:r>
            <a:r>
              <a:rPr lang="en-CA" altLang="en-US" dirty="0" smtClean="0"/>
              <a:t>method, </a:t>
            </a:r>
            <a:r>
              <a:rPr lang="en-CA" altLang="en-US" dirty="0"/>
              <a:t>you must also supply the pseudocode for that </a:t>
            </a:r>
            <a:r>
              <a:rPr lang="en-CA" altLang="en-US" dirty="0" smtClean="0"/>
              <a:t>method</a:t>
            </a:r>
            <a:endParaRPr lang="en-CA" altLang="en-US" dirty="0"/>
          </a:p>
          <a:p>
            <a:pPr eaLnBrk="1" hangingPunct="1"/>
            <a:endParaRPr lang="en-CA" altLang="en-US" dirty="0"/>
          </a:p>
          <a:p>
            <a:pPr marL="0" indent="0" eaLnBrk="1" hangingPunct="1">
              <a:buNone/>
            </a:pPr>
            <a:r>
              <a:rPr lang="en-CA" altLang="en-US" dirty="0">
                <a:solidFill>
                  <a:srgbClr val="FF0000"/>
                </a:solidFill>
              </a:rPr>
              <a:t>Examples: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2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CALL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Exponent </a:t>
            </a:r>
            <a:r>
              <a:rPr lang="en-CA" altLang="en-US" sz="22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WITH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2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2 </a:t>
            </a:r>
            <a:r>
              <a:rPr lang="en-CA" altLang="en-US" sz="22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2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</a:t>
            </a:r>
          </a:p>
          <a:p>
            <a:pPr eaLnBrk="1" hangingPunct="1">
              <a:buNone/>
            </a:pPr>
            <a:r>
              <a:rPr lang="en-CA" altLang="en-US" sz="22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CALL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AvgAge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2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WITH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20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studentAges</a:t>
            </a:r>
            <a:r>
              <a:rPr lang="en-CA" altLang="en-US" sz="22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[]</a:t>
            </a:r>
            <a:endParaRPr lang="en-CA" altLang="en-US" sz="22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None/>
            </a:pPr>
            <a:r>
              <a:rPr lang="en-CA" altLang="en-US" sz="22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CALL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Swap </a:t>
            </a:r>
            <a:r>
              <a:rPr lang="en-CA" altLang="en-US" sz="22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WITH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2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currentItem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CA" altLang="en-US" sz="22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targetItem</a:t>
            </a:r>
            <a:endParaRPr lang="en-CA" altLang="en-US" sz="22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2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CALL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GetBalance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2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CA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2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bankBalance</a:t>
            </a:r>
            <a:endParaRPr lang="en-CA" altLang="en-US" sz="22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 decel="100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12D4-0A6F-47AE-9C64-0D17CFBA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Defining Subprograms in 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602EF5-D30A-45EC-BBBE-9A5A7D0CC567}"/>
              </a:ext>
            </a:extLst>
          </p:cNvPr>
          <p:cNvSpPr txBox="1"/>
          <p:nvPr/>
        </p:nvSpPr>
        <p:spPr>
          <a:xfrm>
            <a:off x="1218883" y="951052"/>
            <a:ext cx="9698697" cy="563231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20040" indent="-320040">
              <a:buNone/>
              <a:defRPr/>
            </a:pP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DISPLAY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“Enter rectangle length”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DISPLAY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“Enter rectangle width”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width</a:t>
            </a:r>
          </a:p>
          <a:p>
            <a:pPr marL="320040" indent="-320040">
              <a:buNone/>
              <a:defRPr/>
            </a:pPr>
            <a:endParaRPr lang="en-CA" sz="2000" dirty="0">
              <a:solidFill>
                <a:schemeClr val="tx1">
                  <a:lumMod val="8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CALL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sz="20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CalcRecArea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area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DISPLAY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“Area: ” +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area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---------------------</a:t>
            </a:r>
          </a:p>
          <a:p>
            <a:pPr marL="320040" indent="-320040">
              <a:buNone/>
              <a:defRPr/>
            </a:pPr>
            <a:endParaRPr lang="en-CA" sz="2000" dirty="0">
              <a:solidFill>
                <a:schemeClr val="tx1">
                  <a:lumMod val="8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20040" indent="-320040">
              <a:buNone/>
              <a:defRPr/>
            </a:pPr>
            <a:r>
              <a:rPr lang="en-CA" sz="20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CalcRecArea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&gt; 0 </a:t>
            </a: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THEN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</a:t>
            </a: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&gt; 0 </a:t>
            </a: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THEN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      </a:t>
            </a: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* </a:t>
            </a:r>
            <a:r>
              <a:rPr lang="en-CA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width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</a:t>
            </a: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ENDIF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ENDIF</a:t>
            </a:r>
          </a:p>
          <a:p>
            <a:pPr marL="320040" indent="-320040">
              <a:buNone/>
              <a:defRPr/>
            </a:pPr>
            <a:endParaRPr lang="en-CA" sz="2000" dirty="0">
              <a:solidFill>
                <a:schemeClr val="tx1">
                  <a:lumMod val="8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CA" sz="2000" dirty="0">
                <a:solidFill>
                  <a:schemeClr val="tx1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0</a:t>
            </a:r>
          </a:p>
          <a:p>
            <a:pPr marL="320040" indent="-320040">
              <a:buNone/>
              <a:defRPr/>
            </a:pPr>
            <a:r>
              <a:rPr lang="en-CA" sz="2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79450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http://purl.org/dc/terms/"/>
    <ds:schemaRef ds:uri="4873beb7-5857-4685-be1f-d57550cc96cc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1166</Words>
  <Application>Microsoft Office PowerPoint</Application>
  <PresentationFormat>Custom</PresentationFormat>
  <Paragraphs>212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Wingdings 2</vt:lpstr>
      <vt:lpstr>Tech 16x9</vt:lpstr>
      <vt:lpstr>Pseudocode</vt:lpstr>
      <vt:lpstr>What is it?</vt:lpstr>
      <vt:lpstr>It’s True Purpose</vt:lpstr>
      <vt:lpstr>What is Pseudocode?</vt:lpstr>
      <vt:lpstr>Rules</vt:lpstr>
      <vt:lpstr>Action Keywords</vt:lpstr>
      <vt:lpstr>Structure</vt:lpstr>
      <vt:lpstr>SEQUENCE</vt:lpstr>
      <vt:lpstr>SEQUENCE</vt:lpstr>
      <vt:lpstr>IF-THEN-ELSE</vt:lpstr>
      <vt:lpstr>IF-THEN-ELSE</vt:lpstr>
      <vt:lpstr>IF-THEN-ELSE</vt:lpstr>
      <vt:lpstr>CASE</vt:lpstr>
      <vt:lpstr>CASE</vt:lpstr>
      <vt:lpstr>CASE</vt:lpstr>
      <vt:lpstr>Nested Constructs</vt:lpstr>
      <vt:lpstr>Calling Methods</vt:lpstr>
      <vt:lpstr>Defining Subprograms in Pseudocode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creator>Trevor Lane</dc:creator>
  <cp:lastModifiedBy>Lane, Trevor</cp:lastModifiedBy>
  <cp:revision>22</cp:revision>
  <dcterms:created xsi:type="dcterms:W3CDTF">2020-11-23T02:16:33Z</dcterms:created>
  <dcterms:modified xsi:type="dcterms:W3CDTF">2026-05-05T12:20:53Z</dcterms:modified>
</cp:coreProperties>
</file>