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70" r:id="rId7"/>
    <p:sldId id="260" r:id="rId8"/>
    <p:sldId id="262" r:id="rId9"/>
    <p:sldId id="263" r:id="rId10"/>
    <p:sldId id="264" r:id="rId11"/>
    <p:sldId id="265" r:id="rId12"/>
    <p:sldId id="269" r:id="rId13"/>
    <p:sldId id="266" r:id="rId14"/>
    <p:sldId id="267" r:id="rId15"/>
    <p:sldId id="268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1FF"/>
    <a:srgbClr val="0000FF"/>
    <a:srgbClr val="839721"/>
    <a:srgbClr val="394404"/>
    <a:srgbClr val="5F6F0F"/>
    <a:srgbClr val="718412"/>
    <a:srgbClr val="65741A"/>
    <a:srgbClr val="70811D"/>
    <a:srgbClr val="7B8D1F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9/18/2026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9/18/2026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Programming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 Structure and Output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AE85-1899-4CDC-B90A-0C2672FE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Program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52CEE-5FE3-4846-9122-C99E71C67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4751539"/>
          </a:xfrm>
        </p:spPr>
        <p:txBody>
          <a:bodyPr/>
          <a:lstStyle/>
          <a:p>
            <a:r>
              <a:rPr lang="en-CA" dirty="0"/>
              <a:t>When you create a new project in Visual </a:t>
            </a:r>
            <a:r>
              <a:rPr lang="en-CA" dirty="0" smtClean="0"/>
              <a:t>Studio or VS Code, </a:t>
            </a:r>
            <a:r>
              <a:rPr lang="en-CA" dirty="0"/>
              <a:t>the project should be </a:t>
            </a:r>
            <a:r>
              <a:rPr lang="en-CA" dirty="0">
                <a:solidFill>
                  <a:srgbClr val="FFFF00"/>
                </a:solidFill>
              </a:rPr>
              <a:t>named based on the purpose of the program</a:t>
            </a:r>
          </a:p>
          <a:p>
            <a:endParaRPr lang="en-CA" dirty="0"/>
          </a:p>
          <a:p>
            <a:r>
              <a:rPr lang="en-CA" dirty="0"/>
              <a:t>When naming the project, be sure to use </a:t>
            </a:r>
            <a:r>
              <a:rPr lang="en-CA" b="1" dirty="0" err="1">
                <a:solidFill>
                  <a:srgbClr val="0070C0"/>
                </a:solidFill>
              </a:rPr>
              <a:t>MixedCase</a:t>
            </a:r>
            <a:r>
              <a:rPr lang="en-CA" dirty="0"/>
              <a:t> style.  This means, there are no spaces in the name and every word starts with a capital letter</a:t>
            </a:r>
          </a:p>
          <a:p>
            <a:pPr lvl="1"/>
            <a:r>
              <a:rPr lang="en-CA" dirty="0">
                <a:solidFill>
                  <a:srgbClr val="00B050"/>
                </a:solidFill>
              </a:rPr>
              <a:t>Example Project Names</a:t>
            </a:r>
            <a:r>
              <a:rPr lang="en-CA" dirty="0"/>
              <a:t>: </a:t>
            </a:r>
            <a:r>
              <a:rPr lang="en-CA" dirty="0" err="1"/>
              <a:t>SuperMario</a:t>
            </a:r>
            <a:r>
              <a:rPr lang="en-CA" dirty="0"/>
              <a:t>, ProgAssignment1, </a:t>
            </a:r>
            <a:r>
              <a:rPr lang="en-CA" dirty="0" err="1"/>
              <a:t>ShapeCalculator</a:t>
            </a:r>
            <a:endParaRPr lang="en-CA" dirty="0"/>
          </a:p>
          <a:p>
            <a:pPr marL="377886" lvl="1" indent="0">
              <a:buNone/>
            </a:pPr>
            <a:endParaRPr lang="en-CA" dirty="0"/>
          </a:p>
          <a:p>
            <a:r>
              <a:rPr lang="en-CA" dirty="0"/>
              <a:t>Each project will begin with a single file, </a:t>
            </a:r>
            <a:r>
              <a:rPr lang="en-CA" b="1" dirty="0" err="1">
                <a:solidFill>
                  <a:srgbClr val="0070C0"/>
                </a:solidFill>
              </a:rPr>
              <a:t>Program.cs</a:t>
            </a:r>
            <a:r>
              <a:rPr lang="en-CA" dirty="0"/>
              <a:t>,</a:t>
            </a:r>
            <a:r>
              <a:rPr lang="en-CA" dirty="0">
                <a:solidFill>
                  <a:srgbClr val="0070C0"/>
                </a:solidFill>
              </a:rPr>
              <a:t> </a:t>
            </a:r>
            <a:r>
              <a:rPr lang="en-CA" dirty="0"/>
              <a:t>for C# and </a:t>
            </a:r>
            <a:r>
              <a:rPr lang="en-CA" b="1" dirty="0">
                <a:solidFill>
                  <a:srgbClr val="0070C0"/>
                </a:solidFill>
              </a:rPr>
              <a:t>Main.java</a:t>
            </a:r>
            <a:r>
              <a:rPr lang="en-CA" dirty="0"/>
              <a:t> for a java project</a:t>
            </a:r>
          </a:p>
        </p:txBody>
      </p:sp>
    </p:spTree>
    <p:extLst>
      <p:ext uri="{BB962C8B-B14F-4D97-AF65-F5344CB8AC3E}">
        <p14:creationId xmlns:p14="http://schemas.microsoft.com/office/powerpoint/2010/main" val="327785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67E13-8471-4EFB-90C5-0F93238D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274637"/>
            <a:ext cx="11089231" cy="922115"/>
          </a:xfrm>
        </p:spPr>
        <p:txBody>
          <a:bodyPr/>
          <a:lstStyle/>
          <a:p>
            <a:r>
              <a:rPr lang="en-CA" dirty="0"/>
              <a:t>Starting Project Layouts in Visual Studio 2022 and VS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9A14F-CDF6-4245-8D71-86A16F55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1844" y="1701800"/>
            <a:ext cx="5319779" cy="575072"/>
          </a:xfrm>
        </p:spPr>
        <p:txBody>
          <a:bodyPr>
            <a:normAutofit/>
          </a:bodyPr>
          <a:lstStyle/>
          <a:p>
            <a:r>
              <a:rPr lang="en-CA" dirty="0"/>
              <a:t>C# Project (On </a:t>
            </a:r>
            <a:r>
              <a:rPr lang="en-CA" dirty="0" smtClean="0"/>
              <a:t>VS </a:t>
            </a:r>
            <a:r>
              <a:rPr lang="en-CA" dirty="0" err="1" smtClean="0"/>
              <a:t>COde</a:t>
            </a:r>
            <a:r>
              <a:rPr lang="en-CA" dirty="0" smtClean="0"/>
              <a:t>)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7FBB4-2FC7-4479-9E52-F5B2A9CA9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959" y="2276872"/>
            <a:ext cx="5519534" cy="259228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namespace</a:t>
            </a:r>
            <a:r>
              <a:rPr lang="en-CA" sz="1600" dirty="0">
                <a:latin typeface="Consolas" panose="020B0609020204030204" pitchFamily="49" charset="0"/>
              </a:rPr>
              <a:t> Test;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/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class</a:t>
            </a:r>
            <a:r>
              <a:rPr lang="en-CA" sz="1600" dirty="0">
                <a:latin typeface="Consolas" panose="020B0609020204030204" pitchFamily="49" charset="0"/>
              </a:rPr>
              <a:t>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    </a:t>
            </a:r>
            <a:r>
              <a:rPr lang="en-CA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static void</a:t>
            </a:r>
            <a:r>
              <a:rPr lang="en-CA" sz="1600" dirty="0">
                <a:latin typeface="Consolas" panose="020B0609020204030204" pitchFamily="49" charset="0"/>
              </a:rPr>
              <a:t> Main(</a:t>
            </a:r>
            <a:r>
              <a:rPr lang="en-CA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CA" sz="1600" dirty="0">
                <a:latin typeface="Consolas" panose="020B0609020204030204" pitchFamily="49" charset="0"/>
              </a:rPr>
              <a:t>[] </a:t>
            </a:r>
            <a:r>
              <a:rPr lang="en-CA" sz="1600" dirty="0" err="1">
                <a:latin typeface="Consolas" panose="020B0609020204030204" pitchFamily="49" charset="0"/>
              </a:rPr>
              <a:t>args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   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       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</a:t>
            </a:r>
            <a:r>
              <a:rPr lang="en-CA" sz="1600" dirty="0"/>
              <a:t>"</a:t>
            </a:r>
            <a:r>
              <a:rPr lang="en-CA" sz="1600" dirty="0">
                <a:latin typeface="Consolas" panose="020B0609020204030204" pitchFamily="49" charset="0"/>
              </a:rPr>
              <a:t>Hello, World!</a:t>
            </a:r>
            <a:r>
              <a:rPr lang="en-CA" sz="1600" dirty="0"/>
              <a:t>"</a:t>
            </a:r>
            <a:r>
              <a:rPr lang="en-CA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 smtClean="0">
                <a:latin typeface="Consolas" panose="020B0609020204030204" pitchFamily="49" charset="0"/>
              </a:rPr>
              <a:t>}</a:t>
            </a:r>
            <a:endParaRPr lang="en-CA" sz="1600" dirty="0">
              <a:latin typeface="Consolas" panose="020B06090202040302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6CD8F-48DA-4C9A-87EB-F4BF99C4D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22405" y="1701800"/>
            <a:ext cx="5569196" cy="575072"/>
          </a:xfrm>
        </p:spPr>
        <p:txBody>
          <a:bodyPr>
            <a:normAutofit fontScale="92500"/>
          </a:bodyPr>
          <a:lstStyle/>
          <a:p>
            <a:r>
              <a:rPr lang="en-CA" dirty="0"/>
              <a:t>C# Project (On </a:t>
            </a:r>
            <a:r>
              <a:rPr lang="en-CA" dirty="0" smtClean="0"/>
              <a:t>Visual Studio)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ED7F4C-6AF9-4F06-B13F-B80915A80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22405" y="2264714"/>
            <a:ext cx="5472608" cy="271245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namespace</a:t>
            </a:r>
            <a:r>
              <a:rPr lang="en-CA" sz="1600" dirty="0">
                <a:latin typeface="Consolas" panose="020B0609020204030204" pitchFamily="49" charset="0"/>
              </a:rPr>
              <a:t> Test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internal</a:t>
            </a:r>
            <a:r>
              <a:rPr lang="en-CA" sz="1600" dirty="0"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class</a:t>
            </a:r>
            <a:r>
              <a:rPr lang="en-CA" sz="1600" dirty="0">
                <a:latin typeface="Consolas" panose="020B0609020204030204" pitchFamily="49" charset="0"/>
              </a:rPr>
              <a:t> Program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static void</a:t>
            </a:r>
            <a:r>
              <a:rPr lang="en-US" sz="1600" dirty="0">
                <a:latin typeface="Consolas" panose="020B0609020204030204" pitchFamily="49" charset="0"/>
              </a:rPr>
              <a:t> Main(</a:t>
            </a:r>
            <a:r>
              <a:rPr lang="en-US" sz="16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latin typeface="Consolas" panose="020B0609020204030204" pitchFamily="49" charset="0"/>
              </a:rPr>
              <a:t>[] </a:t>
            </a:r>
            <a:r>
              <a:rPr lang="en-US" sz="1600" dirty="0" err="1">
                <a:latin typeface="Consolas" panose="020B0609020204030204" pitchFamily="49" charset="0"/>
              </a:rPr>
              <a:t>args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        </a:t>
            </a:r>
            <a:r>
              <a:rPr lang="en-CA" sz="1600" dirty="0" err="1">
                <a:latin typeface="Consolas" panose="020B0609020204030204" pitchFamily="49" charset="0"/>
              </a:rPr>
              <a:t>Console.WriteLine</a:t>
            </a:r>
            <a:r>
              <a:rPr lang="en-CA" sz="1600" dirty="0">
                <a:latin typeface="Consolas" panose="020B0609020204030204" pitchFamily="49" charset="0"/>
              </a:rPr>
              <a:t>(</a:t>
            </a:r>
            <a:r>
              <a:rPr lang="en-CA" sz="1600" dirty="0"/>
              <a:t>"</a:t>
            </a:r>
            <a:r>
              <a:rPr lang="en-CA" sz="1600" dirty="0">
                <a:latin typeface="Consolas" panose="020B0609020204030204" pitchFamily="49" charset="0"/>
              </a:rPr>
              <a:t>Hello, World!</a:t>
            </a:r>
            <a:r>
              <a:rPr lang="en-CA" sz="1600" dirty="0"/>
              <a:t>"</a:t>
            </a:r>
            <a:r>
              <a:rPr lang="en-CA" sz="1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C22FF2-724C-4FE3-9FEF-C2C8F6513EA0}"/>
              </a:ext>
            </a:extLst>
          </p:cNvPr>
          <p:cNvCxnSpPr>
            <a:cxnSpLocks/>
          </p:cNvCxnSpPr>
          <p:nvPr/>
        </p:nvCxnSpPr>
        <p:spPr>
          <a:xfrm flipV="1">
            <a:off x="5950396" y="1844824"/>
            <a:ext cx="17599" cy="3132348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787181C-57FA-5CA4-01E1-FE175F000247}"/>
              </a:ext>
            </a:extLst>
          </p:cNvPr>
          <p:cNvSpPr txBox="1"/>
          <p:nvPr/>
        </p:nvSpPr>
        <p:spPr>
          <a:xfrm>
            <a:off x="1294996" y="5226295"/>
            <a:ext cx="100132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>
                <a:solidFill>
                  <a:srgbClr val="FFFF00"/>
                </a:solidFill>
              </a:rPr>
              <a:t>NOTE 1:</a:t>
            </a:r>
            <a:r>
              <a:rPr lang="en-CA" sz="1600" dirty="0">
                <a:solidFill>
                  <a:srgbClr val="DCDCDC"/>
                </a:solidFill>
              </a:rPr>
              <a:t> You can see that both versions are identical with two small exceptions.</a:t>
            </a:r>
          </a:p>
          <a:p>
            <a:r>
              <a:rPr lang="en-CA" sz="1600" dirty="0">
                <a:solidFill>
                  <a:srgbClr val="DCDCDC"/>
                </a:solidFill>
              </a:rPr>
              <a:t>1) The namespace in VS Code ends with a ; and has no ownership braces { }</a:t>
            </a:r>
          </a:p>
          <a:p>
            <a:r>
              <a:rPr lang="en-CA" sz="1600" dirty="0">
                <a:solidFill>
                  <a:srgbClr val="DCDCDC"/>
                </a:solidFill>
              </a:rPr>
              <a:t>2) The Visual Studio 2022 version has the keyword internal before the class keyword.  This will not affect your program</a:t>
            </a:r>
          </a:p>
        </p:txBody>
      </p:sp>
    </p:spTree>
    <p:extLst>
      <p:ext uri="{BB962C8B-B14F-4D97-AF65-F5344CB8AC3E}">
        <p14:creationId xmlns:p14="http://schemas.microsoft.com/office/powerpoint/2010/main" val="335751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2CE272-A6DC-8E84-9453-E15D969683F6}"/>
              </a:ext>
            </a:extLst>
          </p:cNvPr>
          <p:cNvSpPr/>
          <p:nvPr/>
        </p:nvSpPr>
        <p:spPr>
          <a:xfrm>
            <a:off x="1269876" y="2913654"/>
            <a:ext cx="3096344" cy="36004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AD9B8B-3774-4EE8-9083-FE7206E8251C}"/>
              </a:ext>
            </a:extLst>
          </p:cNvPr>
          <p:cNvSpPr/>
          <p:nvPr/>
        </p:nvSpPr>
        <p:spPr>
          <a:xfrm>
            <a:off x="1269876" y="1988839"/>
            <a:ext cx="1944216" cy="79208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2E59EC-A483-45A0-87A7-35275BACEAB3}"/>
              </a:ext>
            </a:extLst>
          </p:cNvPr>
          <p:cNvSpPr/>
          <p:nvPr/>
        </p:nvSpPr>
        <p:spPr>
          <a:xfrm>
            <a:off x="1269876" y="3498519"/>
            <a:ext cx="2232248" cy="36004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AA7354-6673-465E-9C51-397E3F23673C}"/>
              </a:ext>
            </a:extLst>
          </p:cNvPr>
          <p:cNvSpPr/>
          <p:nvPr/>
        </p:nvSpPr>
        <p:spPr>
          <a:xfrm>
            <a:off x="1557908" y="4149080"/>
            <a:ext cx="5544616" cy="36004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EB51B-FA69-4EBC-928D-B637BC62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846354"/>
          </a:xfrm>
        </p:spPr>
        <p:txBody>
          <a:bodyPr/>
          <a:lstStyle/>
          <a:p>
            <a:r>
              <a:rPr lang="en-CA" dirty="0"/>
              <a:t>C# Program Structure: </a:t>
            </a:r>
            <a:r>
              <a:rPr lang="en-CA" dirty="0" err="1">
                <a:solidFill>
                  <a:srgbClr val="92D050"/>
                </a:solidFill>
              </a:rPr>
              <a:t>Program.cs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5919-3F44-470A-BAD0-A3499A2C0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19" y="1556792"/>
            <a:ext cx="10360501" cy="4665469"/>
          </a:xfrm>
        </p:spPr>
        <p:txBody>
          <a:bodyPr/>
          <a:lstStyle/>
          <a:p>
            <a:r>
              <a:rPr lang="en-CA" dirty="0"/>
              <a:t>There are a number of key areas here to note, each have a purpose!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endParaRPr lang="en-CA" sz="2000" dirty="0">
              <a:solidFill>
                <a:srgbClr val="DCDCD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2000" dirty="0">
              <a:solidFill>
                <a:schemeClr val="bg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2000" dirty="0">
              <a:solidFill>
                <a:schemeClr val="bg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namespace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ProjectName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Program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en-CA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  public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Main </a:t>
            </a: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en-CA" sz="2000" dirty="0">
                <a:solidFill>
                  <a:srgbClr val="569CD6"/>
                </a:solidFill>
                <a:latin typeface="Consolas" panose="020B0609020204030204" pitchFamily="49" charset="0"/>
              </a:rPr>
              <a:t>string</a:t>
            </a: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[]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args</a:t>
            </a: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en-CA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  }</a:t>
            </a:r>
            <a:endParaRPr lang="en-CA" sz="20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solidFill>
                  <a:srgbClr val="DCDCD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C1DB0D-F88F-470F-A1FA-AC856B4747AD}"/>
              </a:ext>
            </a:extLst>
          </p:cNvPr>
          <p:cNvSpPr/>
          <p:nvPr/>
        </p:nvSpPr>
        <p:spPr>
          <a:xfrm>
            <a:off x="1917948" y="4734006"/>
            <a:ext cx="2808312" cy="360040"/>
          </a:xfrm>
          <a:prstGeom prst="roundRect">
            <a:avLst/>
          </a:prstGeom>
          <a:solidFill>
            <a:srgbClr val="00B050"/>
          </a:solidFill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rgbClr val="002060"/>
                </a:solidFill>
              </a:rPr>
              <a:t>Your Code Here!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516BA1-C3FE-41D1-AB0D-25F699CA627E}"/>
              </a:ext>
            </a:extLst>
          </p:cNvPr>
          <p:cNvCxnSpPr>
            <a:cxnSpLocks/>
          </p:cNvCxnSpPr>
          <p:nvPr/>
        </p:nvCxnSpPr>
        <p:spPr>
          <a:xfrm flipH="1">
            <a:off x="3342159" y="216303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6A5F7-A321-42CD-A8A5-355601BF66B1}"/>
              </a:ext>
            </a:extLst>
          </p:cNvPr>
          <p:cNvCxnSpPr>
            <a:cxnSpLocks/>
          </p:cNvCxnSpPr>
          <p:nvPr/>
        </p:nvCxnSpPr>
        <p:spPr>
          <a:xfrm flipH="1">
            <a:off x="3574132" y="3661957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05AF60-DFB7-4372-AC39-C170B3CBDFE7}"/>
              </a:ext>
            </a:extLst>
          </p:cNvPr>
          <p:cNvCxnSpPr>
            <a:cxnSpLocks/>
          </p:cNvCxnSpPr>
          <p:nvPr/>
        </p:nvCxnSpPr>
        <p:spPr>
          <a:xfrm flipH="1">
            <a:off x="7174532" y="437639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295ED8-EE80-43E5-8FE3-45041AB9D99F}"/>
              </a:ext>
            </a:extLst>
          </p:cNvPr>
          <p:cNvCxnSpPr>
            <a:cxnSpLocks/>
          </p:cNvCxnSpPr>
          <p:nvPr/>
        </p:nvCxnSpPr>
        <p:spPr>
          <a:xfrm flipH="1">
            <a:off x="4798268" y="491508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A4DEE3-A554-4D8C-AF43-6C99122406B1}"/>
              </a:ext>
            </a:extLst>
          </p:cNvPr>
          <p:cNvSpPr txBox="1"/>
          <p:nvPr/>
        </p:nvSpPr>
        <p:spPr>
          <a:xfrm>
            <a:off x="4006180" y="1988840"/>
            <a:ext cx="7825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92D050"/>
                </a:solidFill>
              </a:rPr>
              <a:t>Libraries</a:t>
            </a:r>
            <a:r>
              <a:rPr lang="en-CA" sz="1800" dirty="0"/>
              <a:t>: premade code, giving your program functionality.  Added with the </a:t>
            </a:r>
            <a:r>
              <a:rPr lang="en-CA" sz="1800" dirty="0">
                <a:solidFill>
                  <a:srgbClr val="FFFF00"/>
                </a:solidFill>
              </a:rPr>
              <a:t>using</a:t>
            </a:r>
          </a:p>
          <a:p>
            <a:r>
              <a:rPr lang="en-CA" sz="1800" dirty="0"/>
              <a:t>Keyword.  E.g. 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using System;</a:t>
            </a:r>
            <a:r>
              <a:rPr lang="en-CA" sz="1800" dirty="0"/>
              <a:t> </a:t>
            </a:r>
            <a:r>
              <a:rPr lang="en-CA" sz="1800" dirty="0">
                <a:sym typeface="Wingdings" panose="05000000000000000000" pitchFamily="2" charset="2"/>
              </a:rPr>
              <a:t> There will typically be multiple of these</a:t>
            </a:r>
            <a:endParaRPr lang="en-CA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5A0AB1-06C4-4AD4-AF6D-E2093AACF73C}"/>
              </a:ext>
            </a:extLst>
          </p:cNvPr>
          <p:cNvSpPr txBox="1"/>
          <p:nvPr/>
        </p:nvSpPr>
        <p:spPr>
          <a:xfrm>
            <a:off x="4150196" y="3491716"/>
            <a:ext cx="733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92D050"/>
                </a:solidFill>
              </a:rPr>
              <a:t>Class Line</a:t>
            </a:r>
            <a:r>
              <a:rPr lang="en-CA" sz="1800" dirty="0"/>
              <a:t>: The container that owns everything in the file, shown with { and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3CAC29-82F0-4BAC-86E3-BA48B48CC875}"/>
              </a:ext>
            </a:extLst>
          </p:cNvPr>
          <p:cNvSpPr txBox="1"/>
          <p:nvPr/>
        </p:nvSpPr>
        <p:spPr>
          <a:xfrm>
            <a:off x="7792019" y="4191727"/>
            <a:ext cx="442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92D050"/>
                </a:solidFill>
              </a:rPr>
              <a:t>Main Signature</a:t>
            </a:r>
            <a:r>
              <a:rPr lang="en-CA" sz="1800" dirty="0"/>
              <a:t>: The point our program starts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4BD4C7-03ED-4C46-899B-33CCB29ABBEF}"/>
              </a:ext>
            </a:extLst>
          </p:cNvPr>
          <p:cNvSpPr txBox="1"/>
          <p:nvPr/>
        </p:nvSpPr>
        <p:spPr>
          <a:xfrm>
            <a:off x="5425325" y="4726885"/>
            <a:ext cx="6257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92D050"/>
                </a:solidFill>
              </a:rPr>
              <a:t>Main Logic</a:t>
            </a:r>
            <a:r>
              <a:rPr lang="en-CA" sz="1800" dirty="0"/>
              <a:t>:   Where all your code will go for now.  It will run, one</a:t>
            </a:r>
          </a:p>
          <a:p>
            <a:r>
              <a:rPr lang="en-CA" sz="1800" dirty="0"/>
              <a:t>	line at a time.  From top to bottom.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2FD559-75C5-7DF0-FCF3-360884F45A02}"/>
              </a:ext>
            </a:extLst>
          </p:cNvPr>
          <p:cNvCxnSpPr>
            <a:cxnSpLocks/>
          </p:cNvCxnSpPr>
          <p:nvPr/>
        </p:nvCxnSpPr>
        <p:spPr>
          <a:xfrm flipH="1">
            <a:off x="4432754" y="308716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FBE51E-50D3-A8D7-C3A1-754F07F0BEB1}"/>
              </a:ext>
            </a:extLst>
          </p:cNvPr>
          <p:cNvSpPr txBox="1"/>
          <p:nvPr/>
        </p:nvSpPr>
        <p:spPr>
          <a:xfrm>
            <a:off x="5096775" y="2912971"/>
            <a:ext cx="523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92D050"/>
                </a:solidFill>
              </a:rPr>
              <a:t>Namespace</a:t>
            </a:r>
            <a:r>
              <a:rPr lang="en-CA" sz="1800" dirty="0"/>
              <a:t>: The container for the whole project code</a:t>
            </a:r>
          </a:p>
        </p:txBody>
      </p:sp>
    </p:spTree>
    <p:extLst>
      <p:ext uri="{BB962C8B-B14F-4D97-AF65-F5344CB8AC3E}">
        <p14:creationId xmlns:p14="http://schemas.microsoft.com/office/powerpoint/2010/main" val="136182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8" grpId="0" animBg="1"/>
      <p:bldP spid="10" grpId="0" animBg="1"/>
      <p:bldP spid="17" grpId="0"/>
      <p:bldP spid="19" grpId="0"/>
      <p:bldP spid="21" grpId="0"/>
      <p:bldP spid="23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7B98-C47A-4436-9FBA-2F270383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94123"/>
          </a:xfrm>
        </p:spPr>
        <p:txBody>
          <a:bodyPr/>
          <a:lstStyle/>
          <a:p>
            <a:r>
              <a:rPr lang="en-CA" dirty="0"/>
              <a:t>Special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6333-2A36-4678-9CA8-54B2DF50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492153" cy="4823301"/>
          </a:xfrm>
        </p:spPr>
        <p:txBody>
          <a:bodyPr>
            <a:normAutofit/>
          </a:bodyPr>
          <a:lstStyle/>
          <a:p>
            <a:r>
              <a:rPr lang="en-CA" dirty="0"/>
              <a:t>Every single word in the previous slide is important</a:t>
            </a:r>
          </a:p>
          <a:p>
            <a:pPr lvl="1"/>
            <a:r>
              <a:rPr lang="en-CA" dirty="0"/>
              <a:t>All but the names were </a:t>
            </a:r>
            <a:r>
              <a:rPr lang="en-CA" b="1" dirty="0">
                <a:solidFill>
                  <a:srgbClr val="00B0F0"/>
                </a:solidFill>
              </a:rPr>
              <a:t>keywords</a:t>
            </a:r>
            <a:r>
              <a:rPr lang="en-CA" dirty="0"/>
              <a:t> in the syntax dictionary, and have meaning</a:t>
            </a:r>
          </a:p>
          <a:p>
            <a:pPr lvl="1"/>
            <a:endParaRPr lang="en-CA" dirty="0"/>
          </a:p>
          <a:p>
            <a:r>
              <a:rPr lang="en-CA" dirty="0"/>
              <a:t>The curly brackets (</a:t>
            </a:r>
            <a:r>
              <a:rPr lang="en-CA" dirty="0">
                <a:solidFill>
                  <a:srgbClr val="00B0F0"/>
                </a:solidFill>
              </a:rPr>
              <a:t>braces</a:t>
            </a:r>
            <a:r>
              <a:rPr lang="en-CA" dirty="0"/>
              <a:t>) and </a:t>
            </a:r>
            <a:r>
              <a:rPr lang="en-CA" dirty="0">
                <a:solidFill>
                  <a:srgbClr val="00B0F0"/>
                </a:solidFill>
              </a:rPr>
              <a:t>semi-colons</a:t>
            </a:r>
            <a:r>
              <a:rPr lang="en-CA" dirty="0"/>
              <a:t> are just as important</a:t>
            </a:r>
          </a:p>
          <a:p>
            <a:pPr lvl="1"/>
            <a:r>
              <a:rPr lang="en-CA" dirty="0"/>
              <a:t>Braces act like containers, and show ownership</a:t>
            </a:r>
          </a:p>
          <a:p>
            <a:pPr lvl="1"/>
            <a:r>
              <a:rPr lang="en-CA" dirty="0"/>
              <a:t>Semi-colons signal the end of a code instruction, like a period in English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00B0F0"/>
                </a:solidFill>
              </a:rPr>
              <a:t>Case</a:t>
            </a:r>
            <a:r>
              <a:rPr lang="en-CA" dirty="0"/>
              <a:t> is important!</a:t>
            </a:r>
          </a:p>
          <a:p>
            <a:pPr lvl="1"/>
            <a:r>
              <a:rPr lang="en-CA" dirty="0"/>
              <a:t>Lowercase is not treated the same ways as uppercase</a:t>
            </a:r>
          </a:p>
          <a:p>
            <a:pPr lvl="1"/>
            <a:r>
              <a:rPr lang="en-CA" dirty="0"/>
              <a:t>Meaning, the words </a:t>
            </a:r>
            <a:r>
              <a:rPr lang="en-CA" dirty="0">
                <a:solidFill>
                  <a:srgbClr val="FFFF00"/>
                </a:solidFill>
              </a:rPr>
              <a:t>class</a:t>
            </a:r>
            <a:r>
              <a:rPr lang="en-CA" dirty="0"/>
              <a:t> and </a:t>
            </a:r>
            <a:r>
              <a:rPr lang="en-CA" dirty="0">
                <a:solidFill>
                  <a:srgbClr val="FFFF00"/>
                </a:solidFill>
              </a:rPr>
              <a:t>Class</a:t>
            </a:r>
            <a:r>
              <a:rPr lang="en-CA" dirty="0"/>
              <a:t> would be considered two different words</a:t>
            </a:r>
          </a:p>
        </p:txBody>
      </p:sp>
    </p:spTree>
    <p:extLst>
      <p:ext uri="{BB962C8B-B14F-4D97-AF65-F5344CB8AC3E}">
        <p14:creationId xmlns:p14="http://schemas.microsoft.com/office/powerpoint/2010/main" val="154064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30A5-0719-4C24-B5E5-46D2E642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C3B0-5425-4947-8BC8-460D1977A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Output is when information or feedback of some kind flows from the computer </a:t>
            </a:r>
            <a:r>
              <a:rPr lang="en-CA" dirty="0">
                <a:solidFill>
                  <a:srgbClr val="FFFF00"/>
                </a:solidFill>
              </a:rPr>
              <a:t>OUT</a:t>
            </a:r>
            <a:r>
              <a:rPr lang="en-CA" dirty="0"/>
              <a:t> to the user.</a:t>
            </a:r>
          </a:p>
          <a:p>
            <a:r>
              <a:rPr lang="en-CA" dirty="0"/>
              <a:t>It can come in many forms: images, sound, vibration, </a:t>
            </a:r>
            <a:r>
              <a:rPr lang="en-CA" dirty="0">
                <a:solidFill>
                  <a:srgbClr val="00B050"/>
                </a:solidFill>
              </a:rPr>
              <a:t>text</a:t>
            </a:r>
            <a:r>
              <a:rPr lang="en-CA" dirty="0"/>
              <a:t>, etc.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C# has two main commands for displaying text on the screen</a:t>
            </a:r>
          </a:p>
          <a:p>
            <a:pPr lvl="1"/>
            <a:r>
              <a:rPr lang="en-CA" dirty="0">
                <a:latin typeface="Consolas" panose="020B0609020204030204" pitchFamily="49" charset="0"/>
              </a:rPr>
              <a:t>Console.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WriteLine</a:t>
            </a:r>
            <a:r>
              <a:rPr lang="en-CA" dirty="0">
                <a:latin typeface="Consolas" panose="020B0609020204030204" pitchFamily="49" charset="0"/>
              </a:rPr>
              <a:t>(text to display)</a:t>
            </a:r>
            <a:endParaRPr lang="en-CA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lvl="1"/>
            <a:r>
              <a:rPr lang="en-CA" dirty="0" err="1">
                <a:latin typeface="Consolas" panose="020B0609020204030204" pitchFamily="49" charset="0"/>
              </a:rPr>
              <a:t>Console.</a:t>
            </a: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Write</a:t>
            </a:r>
            <a:r>
              <a:rPr lang="en-CA" dirty="0">
                <a:latin typeface="Consolas" panose="020B0609020204030204" pitchFamily="49" charset="0"/>
              </a:rPr>
              <a:t>(text to display)</a:t>
            </a:r>
          </a:p>
        </p:txBody>
      </p:sp>
    </p:spTree>
    <p:extLst>
      <p:ext uri="{BB962C8B-B14F-4D97-AF65-F5344CB8AC3E}">
        <p14:creationId xmlns:p14="http://schemas.microsoft.com/office/powerpoint/2010/main" val="291135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3DCF-CF31-40B9-B30D-476A824A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Console</a:t>
            </a:r>
            <a:r>
              <a:rPr lang="en-CA" dirty="0">
                <a:solidFill>
                  <a:srgbClr val="92D050"/>
                </a:solidFill>
              </a:rPr>
              <a:t>.WriteLine</a:t>
            </a:r>
            <a:r>
              <a:rPr lang="en-CA" dirty="0"/>
              <a:t> and </a:t>
            </a:r>
            <a:r>
              <a:rPr lang="en-CA" dirty="0" err="1">
                <a:solidFill>
                  <a:srgbClr val="FF0000"/>
                </a:solidFill>
              </a:rPr>
              <a:t>Console</a:t>
            </a:r>
            <a:r>
              <a:rPr lang="en-CA" dirty="0" err="1">
                <a:solidFill>
                  <a:srgbClr val="92D050"/>
                </a:solidFill>
              </a:rPr>
              <a:t>.Write</a:t>
            </a:r>
            <a:endParaRPr lang="en-CA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5A57C-EEEF-413B-86A4-803FE2FFD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Console</a:t>
            </a:r>
            <a:r>
              <a:rPr lang="en-CA" dirty="0"/>
              <a:t> is what is called an </a:t>
            </a:r>
            <a:r>
              <a:rPr lang="en-CA" dirty="0">
                <a:solidFill>
                  <a:srgbClr val="FFFF00"/>
                </a:solidFill>
              </a:rPr>
              <a:t>object</a:t>
            </a:r>
          </a:p>
          <a:p>
            <a:r>
              <a:rPr lang="en-CA" b="1" dirty="0">
                <a:solidFill>
                  <a:srgbClr val="00B0F0"/>
                </a:solidFill>
              </a:rPr>
              <a:t>Object</a:t>
            </a:r>
            <a:r>
              <a:rPr lang="en-CA" dirty="0"/>
              <a:t>: An object is something with a set of </a:t>
            </a:r>
            <a:r>
              <a:rPr lang="en-CA" dirty="0">
                <a:solidFill>
                  <a:srgbClr val="00B050"/>
                </a:solidFill>
              </a:rPr>
              <a:t>attributes</a:t>
            </a:r>
            <a:r>
              <a:rPr lang="en-CA" dirty="0"/>
              <a:t> (properties) and </a:t>
            </a:r>
            <a:r>
              <a:rPr lang="en-CA" dirty="0">
                <a:solidFill>
                  <a:srgbClr val="00B050"/>
                </a:solidFill>
              </a:rPr>
              <a:t>behaviours</a:t>
            </a:r>
            <a:r>
              <a:rPr lang="en-CA" dirty="0"/>
              <a:t>(Methods or Actions it can “do”).  E.g. Console is an object that has attributes like Title and </a:t>
            </a:r>
            <a:r>
              <a:rPr lang="en-CA" dirty="0" err="1"/>
              <a:t>BackgroundColor</a:t>
            </a:r>
            <a:r>
              <a:rPr lang="en-CA" dirty="0"/>
              <a:t>.  It has behaviours like Beep and WriteLine.</a:t>
            </a:r>
          </a:p>
          <a:p>
            <a:r>
              <a:rPr lang="en-CA" dirty="0">
                <a:solidFill>
                  <a:srgbClr val="FFC000"/>
                </a:solidFill>
              </a:rPr>
              <a:t>WriteLine</a:t>
            </a:r>
            <a:r>
              <a:rPr lang="en-CA" dirty="0"/>
              <a:t> and </a:t>
            </a:r>
            <a:r>
              <a:rPr lang="en-CA" dirty="0">
                <a:solidFill>
                  <a:srgbClr val="FFC000"/>
                </a:solidFill>
              </a:rPr>
              <a:t>Write</a:t>
            </a:r>
            <a:r>
              <a:rPr lang="en-CA" dirty="0"/>
              <a:t> are called a </a:t>
            </a:r>
            <a:r>
              <a:rPr lang="en-CA" dirty="0">
                <a:solidFill>
                  <a:srgbClr val="00B050"/>
                </a:solidFill>
              </a:rPr>
              <a:t>methods</a:t>
            </a:r>
          </a:p>
          <a:p>
            <a:r>
              <a:rPr lang="en-CA" b="1" dirty="0">
                <a:solidFill>
                  <a:srgbClr val="00B0F0"/>
                </a:solidFill>
              </a:rPr>
              <a:t>Method</a:t>
            </a:r>
            <a:r>
              <a:rPr lang="en-CA" dirty="0"/>
              <a:t>: Is a prewritten block of code that performs a single task.  When talking about objects, a method is sometimes referred to as a </a:t>
            </a:r>
            <a:r>
              <a:rPr lang="en-CA" dirty="0">
                <a:solidFill>
                  <a:srgbClr val="00B050"/>
                </a:solidFill>
              </a:rPr>
              <a:t>behaviour</a:t>
            </a:r>
            <a:r>
              <a:rPr lang="en-CA" dirty="0"/>
              <a:t>.</a:t>
            </a:r>
          </a:p>
          <a:p>
            <a:r>
              <a:rPr lang="en-CA" dirty="0"/>
              <a:t>In our case, the method’s task is to display text on the screen</a:t>
            </a:r>
          </a:p>
        </p:txBody>
      </p:sp>
    </p:spTree>
    <p:extLst>
      <p:ext uri="{BB962C8B-B14F-4D97-AF65-F5344CB8AC3E}">
        <p14:creationId xmlns:p14="http://schemas.microsoft.com/office/powerpoint/2010/main" val="148470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A7C441-3416-45E1-98B9-7C327AE12EF0}"/>
              </a:ext>
            </a:extLst>
          </p:cNvPr>
          <p:cNvSpPr/>
          <p:nvPr/>
        </p:nvSpPr>
        <p:spPr>
          <a:xfrm>
            <a:off x="3770840" y="2958253"/>
            <a:ext cx="1026445" cy="3600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2A62E-0196-4A66-85A2-DE7F686731AE}"/>
              </a:ext>
            </a:extLst>
          </p:cNvPr>
          <p:cNvSpPr/>
          <p:nvPr/>
        </p:nvSpPr>
        <p:spPr>
          <a:xfrm>
            <a:off x="4907260" y="2958253"/>
            <a:ext cx="1331168" cy="3600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755577-44A6-467A-AAEA-70E63DA9652C}"/>
              </a:ext>
            </a:extLst>
          </p:cNvPr>
          <p:cNvSpPr/>
          <p:nvPr/>
        </p:nvSpPr>
        <p:spPr>
          <a:xfrm>
            <a:off x="6382444" y="2958253"/>
            <a:ext cx="1947243" cy="3600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48A28-97F6-433F-AB3B-5508DE89F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Syntax: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r>
              <a:rPr lang="en-CA" dirty="0"/>
              <a:t>		</a:t>
            </a:r>
            <a:r>
              <a:rPr lang="en-CA" sz="2050" dirty="0">
                <a:latin typeface="Consolas" panose="020B0609020204030204" pitchFamily="49" charset="0"/>
              </a:rPr>
              <a:t>Console.WriteLine(“Hello World!”);</a:t>
            </a:r>
          </a:p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2869C-1E36-49A6-A00A-B75A9204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Console.WriteLine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E00D49-940E-4832-927C-3FD5CBF5D69B}"/>
              </a:ext>
            </a:extLst>
          </p:cNvPr>
          <p:cNvCxnSpPr/>
          <p:nvPr/>
        </p:nvCxnSpPr>
        <p:spPr>
          <a:xfrm>
            <a:off x="3933190" y="2480613"/>
            <a:ext cx="0" cy="477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157A4F-FC8B-4D17-8EAF-E2DB8F3BDF57}"/>
              </a:ext>
            </a:extLst>
          </p:cNvPr>
          <p:cNvSpPr txBox="1"/>
          <p:nvPr/>
        </p:nvSpPr>
        <p:spPr>
          <a:xfrm>
            <a:off x="2277988" y="2090736"/>
            <a:ext cx="3419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object being acted 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8F2CFA-5804-45EE-BB50-C177879E44DB}"/>
              </a:ext>
            </a:extLst>
          </p:cNvPr>
          <p:cNvCxnSpPr>
            <a:cxnSpLocks/>
          </p:cNvCxnSpPr>
          <p:nvPr/>
        </p:nvCxnSpPr>
        <p:spPr>
          <a:xfrm>
            <a:off x="5770459" y="1976557"/>
            <a:ext cx="0" cy="975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58F0C3-A2CA-4363-A027-F26E91C12B10}"/>
              </a:ext>
            </a:extLst>
          </p:cNvPr>
          <p:cNvSpPr txBox="1"/>
          <p:nvPr/>
        </p:nvSpPr>
        <p:spPr>
          <a:xfrm>
            <a:off x="3770841" y="1511766"/>
            <a:ext cx="3999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method to output the text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AD0DB9-DD51-445F-A50B-2A7BCEF83538}"/>
              </a:ext>
            </a:extLst>
          </p:cNvPr>
          <p:cNvCxnSpPr>
            <a:cxnSpLocks/>
          </p:cNvCxnSpPr>
          <p:nvPr/>
        </p:nvCxnSpPr>
        <p:spPr>
          <a:xfrm>
            <a:off x="7877024" y="1542527"/>
            <a:ext cx="0" cy="1409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B476C6-CFAA-4A50-8831-7EFE8030D897}"/>
              </a:ext>
            </a:extLst>
          </p:cNvPr>
          <p:cNvSpPr txBox="1"/>
          <p:nvPr/>
        </p:nvSpPr>
        <p:spPr>
          <a:xfrm>
            <a:off x="5770459" y="298271"/>
            <a:ext cx="54674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text to be given to the method</a:t>
            </a:r>
          </a:p>
          <a:p>
            <a:r>
              <a:rPr lang="en-CA" dirty="0"/>
              <a:t>that will then be output to the screen.</a:t>
            </a:r>
          </a:p>
          <a:p>
            <a:r>
              <a:rPr lang="en-CA" dirty="0"/>
              <a:t>Notice the quotes, </a:t>
            </a:r>
            <a:r>
              <a:rPr lang="en-CA" dirty="0">
                <a:solidFill>
                  <a:schemeClr val="accent2"/>
                </a:solidFill>
              </a:rPr>
              <a:t>text is always inside </a:t>
            </a:r>
            <a:r>
              <a:rPr lang="en-CA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 ”</a:t>
            </a:r>
          </a:p>
        </p:txBody>
      </p:sp>
      <p:cxnSp>
        <p:nvCxnSpPr>
          <p:cNvPr id="18" name="Curved Connector 23">
            <a:extLst>
              <a:ext uri="{FF2B5EF4-FFF2-40B4-BE49-F238E27FC236}">
                <a16:creationId xmlns:a16="http://schemas.microsoft.com/office/drawing/2014/main" id="{4AFFF415-A203-431B-86DC-6847FCB9B42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05271" y="3496487"/>
            <a:ext cx="1457222" cy="1153111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Curved Connector 28">
            <a:extLst>
              <a:ext uri="{FF2B5EF4-FFF2-40B4-BE49-F238E27FC236}">
                <a16:creationId xmlns:a16="http://schemas.microsoft.com/office/drawing/2014/main" id="{BEEAB706-3D50-457C-93A1-D6A6FABD9F0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41289" y="3397088"/>
            <a:ext cx="1457222" cy="129614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3B05DB-2699-41FE-A902-06BEC61EDFF8}"/>
              </a:ext>
            </a:extLst>
          </p:cNvPr>
          <p:cNvSpPr txBox="1"/>
          <p:nvPr/>
        </p:nvSpPr>
        <p:spPr>
          <a:xfrm>
            <a:off x="4752648" y="4689293"/>
            <a:ext cx="60629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Any values used by a method must be supplied</a:t>
            </a:r>
          </a:p>
          <a:p>
            <a:r>
              <a:rPr lang="en-CA" dirty="0"/>
              <a:t>in the round brackets so the method knows</a:t>
            </a:r>
          </a:p>
          <a:p>
            <a:r>
              <a:rPr lang="en-CA" dirty="0"/>
              <a:t>where </a:t>
            </a:r>
            <a:r>
              <a:rPr lang="en-CA" b="1" dirty="0">
                <a:solidFill>
                  <a:srgbClr val="0070C0"/>
                </a:solidFill>
              </a:rPr>
              <a:t>its</a:t>
            </a:r>
            <a:r>
              <a:rPr lang="en-CA" dirty="0"/>
              <a:t> data starts and stops. Multiple values</a:t>
            </a:r>
          </a:p>
          <a:p>
            <a:r>
              <a:rPr lang="en-CA" dirty="0"/>
              <a:t>separated with the use of commas.</a:t>
            </a:r>
          </a:p>
          <a:p>
            <a:r>
              <a:rPr lang="en-CA" dirty="0"/>
              <a:t>These values are called </a:t>
            </a:r>
            <a:r>
              <a:rPr lang="en-CA" b="1" dirty="0">
                <a:solidFill>
                  <a:srgbClr val="FFFF00"/>
                </a:solidFill>
              </a:rPr>
              <a:t>parameters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32570-080F-421C-8BB3-3CF8062E98EB}"/>
              </a:ext>
            </a:extLst>
          </p:cNvPr>
          <p:cNvCxnSpPr>
            <a:cxnSpLocks/>
          </p:cNvCxnSpPr>
          <p:nvPr/>
        </p:nvCxnSpPr>
        <p:spPr>
          <a:xfrm flipH="1">
            <a:off x="8614692" y="2320744"/>
            <a:ext cx="455208" cy="7482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284824-1EA2-455C-BF3A-064334308BE2}"/>
              </a:ext>
            </a:extLst>
          </p:cNvPr>
          <p:cNvSpPr txBox="1"/>
          <p:nvPr/>
        </p:nvSpPr>
        <p:spPr>
          <a:xfrm>
            <a:off x="8974732" y="1720580"/>
            <a:ext cx="32148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 semi-colon is needed</a:t>
            </a:r>
          </a:p>
          <a:p>
            <a:r>
              <a:rPr lang="en-CA" dirty="0"/>
              <a:t>To tell C# where the end</a:t>
            </a:r>
          </a:p>
          <a:p>
            <a:r>
              <a:rPr lang="en-CA" dirty="0"/>
              <a:t>Of the command is</a:t>
            </a:r>
          </a:p>
        </p:txBody>
      </p:sp>
    </p:spTree>
    <p:extLst>
      <p:ext uri="{BB962C8B-B14F-4D97-AF65-F5344CB8AC3E}">
        <p14:creationId xmlns:p14="http://schemas.microsoft.com/office/powerpoint/2010/main" val="172089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1" grpId="0"/>
      <p:bldP spid="13" grpId="0"/>
      <p:bldP spid="16" grpId="0"/>
      <p:bldP spid="21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DD0C-4B35-4384-856E-4D90B943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Console.Write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C1994-60EF-443F-82EF-6CF3E1D7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Write and WriteLine are used in the exact same way</a:t>
            </a:r>
          </a:p>
          <a:p>
            <a:r>
              <a:rPr lang="en-CA" dirty="0"/>
              <a:t>Syntax: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>
                <a:latin typeface="Consolas" panose="020B0609020204030204" pitchFamily="49" charset="0"/>
              </a:rPr>
              <a:t>Console.Write</a:t>
            </a:r>
            <a:r>
              <a:rPr lang="en-CA" dirty="0">
                <a:latin typeface="Consolas" panose="020B0609020204030204" pitchFamily="49" charset="0"/>
              </a:rPr>
              <a:t>(“Hello World!”);</a:t>
            </a:r>
          </a:p>
        </p:txBody>
      </p:sp>
    </p:spTree>
    <p:extLst>
      <p:ext uri="{BB962C8B-B14F-4D97-AF65-F5344CB8AC3E}">
        <p14:creationId xmlns:p14="http://schemas.microsoft.com/office/powerpoint/2010/main" val="79936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BA62-938A-4314-883E-69C8BC7E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Console.WriteLine vs. </a:t>
            </a:r>
            <a:r>
              <a:rPr lang="en-CA" dirty="0" err="1"/>
              <a:t>Console.Write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6C91-35DB-4BEA-8060-F1076B8C0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701796"/>
            <a:ext cx="10945215" cy="4823547"/>
          </a:xfrm>
        </p:spPr>
        <p:txBody>
          <a:bodyPr>
            <a:normAutofit/>
          </a:bodyPr>
          <a:lstStyle/>
          <a:p>
            <a:r>
              <a:rPr lang="en-CA" dirty="0"/>
              <a:t>We can use WriteLine and Write as many times as we would like in a program, much like all methods</a:t>
            </a:r>
          </a:p>
          <a:p>
            <a:r>
              <a:rPr lang="en-CA" dirty="0"/>
              <a:t>Console.WriteLine will write out all of the text supplied to it and then </a:t>
            </a:r>
            <a:r>
              <a:rPr lang="en-CA" dirty="0">
                <a:solidFill>
                  <a:srgbClr val="92D050"/>
                </a:solidFill>
              </a:rPr>
              <a:t>force</a:t>
            </a:r>
            <a:r>
              <a:rPr lang="en-CA" dirty="0"/>
              <a:t> the cursor (where text will show up next) </a:t>
            </a:r>
            <a:r>
              <a:rPr lang="en-CA" dirty="0">
                <a:solidFill>
                  <a:srgbClr val="92D050"/>
                </a:solidFill>
              </a:rPr>
              <a:t>down</a:t>
            </a:r>
            <a:r>
              <a:rPr lang="en-CA" dirty="0"/>
              <a:t> to the next line</a:t>
            </a:r>
          </a:p>
          <a:p>
            <a:endParaRPr lang="en-CA" dirty="0"/>
          </a:p>
          <a:p>
            <a:r>
              <a:rPr lang="en-CA" dirty="0"/>
              <a:t>This is the one difference between Console.WriteLine and </a:t>
            </a:r>
            <a:r>
              <a:rPr lang="en-CA" dirty="0" err="1"/>
              <a:t>Console.Write</a:t>
            </a:r>
            <a:endParaRPr lang="en-CA" dirty="0"/>
          </a:p>
          <a:p>
            <a:pPr lvl="1"/>
            <a:r>
              <a:rPr lang="en-CA" dirty="0" err="1"/>
              <a:t>Console.Write</a:t>
            </a:r>
            <a:r>
              <a:rPr lang="en-CA" dirty="0"/>
              <a:t>  will write out all of the text supplied to it, but the cursor will </a:t>
            </a:r>
            <a:r>
              <a:rPr lang="en-CA" dirty="0">
                <a:solidFill>
                  <a:srgbClr val="92D050"/>
                </a:solidFill>
              </a:rPr>
              <a:t>remain</a:t>
            </a:r>
            <a:r>
              <a:rPr lang="en-CA" dirty="0"/>
              <a:t> on the same line, therefore causing the next output to be there too</a:t>
            </a:r>
          </a:p>
        </p:txBody>
      </p:sp>
    </p:spTree>
    <p:extLst>
      <p:ext uri="{BB962C8B-B14F-4D97-AF65-F5344CB8AC3E}">
        <p14:creationId xmlns:p14="http://schemas.microsoft.com/office/powerpoint/2010/main" val="99089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3699-B575-4D8C-9827-62EDE82B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Program with Resulting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78C1-D41A-48E5-B131-D4EC173179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namespace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1600" dirty="0" err="1">
                <a:solidFill>
                  <a:srgbClr val="B0C4DE"/>
                </a:solidFill>
                <a:latin typeface="Consolas" panose="020B0609020204030204" pitchFamily="49" charset="0"/>
              </a:rPr>
              <a:t>ProjectName</a:t>
            </a: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;</a:t>
            </a:r>
            <a:endParaRPr lang="en-CA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Program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en-CA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  public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Main </a:t>
            </a: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(</a:t>
            </a:r>
            <a:r>
              <a:rPr lang="en-CA" sz="1600" dirty="0">
                <a:solidFill>
                  <a:srgbClr val="569CD6"/>
                </a:solidFill>
                <a:latin typeface="Consolas" panose="020B0609020204030204" pitchFamily="49" charset="0"/>
              </a:rPr>
              <a:t>string</a:t>
            </a: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[]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args</a:t>
            </a: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)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{</a:t>
            </a:r>
            <a:endParaRPr lang="en-CA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Console.WriteLine(“Hello World!”);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endParaRPr lang="en-CA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(“Computer Science”);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4D4D4"/>
                </a:solidFill>
                <a:latin typeface="Consolas" panose="020B0609020204030204" pitchFamily="49" charset="0"/>
              </a:rPr>
              <a:t>    Console.WriteLine(“Rules!!!”);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  }</a:t>
            </a:r>
            <a:endParaRPr lang="en-CA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600" dirty="0">
                <a:solidFill>
                  <a:srgbClr val="DCDCD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69E8F-3A54-48B0-8F2C-D6B19877E9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Console Output (exact format)</a:t>
            </a:r>
          </a:p>
          <a:p>
            <a:pPr marL="0" indent="0">
              <a:buNone/>
            </a:pPr>
            <a:r>
              <a:rPr lang="en-CA" sz="1400" dirty="0">
                <a:latin typeface="Consolas" panose="020B0609020204030204" pitchFamily="49" charset="0"/>
              </a:rPr>
              <a:t>Hello World!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1400" dirty="0">
                <a:latin typeface="Consolas" panose="020B0609020204030204" pitchFamily="49" charset="0"/>
              </a:rPr>
              <a:t>Computer </a:t>
            </a:r>
            <a:r>
              <a:rPr lang="en-CA" sz="1400" dirty="0" err="1">
                <a:latin typeface="Consolas" panose="020B0609020204030204" pitchFamily="49" charset="0"/>
              </a:rPr>
              <a:t>ScienceRules</a:t>
            </a:r>
            <a:r>
              <a:rPr lang="en-CA" sz="1400" dirty="0">
                <a:latin typeface="Consolas" panose="020B0609020204030204" pitchFamily="49" charset="0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4356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D933-F33A-48FB-918E-304F9CF4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 Wait, there’s more…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704A-7A53-4911-891C-B45877E6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Go watch the lesson videos as they will go into much more details about the capabilities with respect to output, including:</a:t>
            </a:r>
          </a:p>
          <a:p>
            <a:pPr lvl="1"/>
            <a:r>
              <a:rPr lang="en-CA" dirty="0"/>
              <a:t>Combining Text (called concatenation)</a:t>
            </a:r>
          </a:p>
          <a:p>
            <a:pPr lvl="1"/>
            <a:r>
              <a:rPr lang="en-CA" dirty="0"/>
              <a:t>Adding special characters to your output</a:t>
            </a:r>
          </a:p>
          <a:p>
            <a:pPr lvl="1"/>
            <a:r>
              <a:rPr lang="en-CA" dirty="0"/>
              <a:t>Adjusting output colours</a:t>
            </a:r>
          </a:p>
        </p:txBody>
      </p:sp>
    </p:spTree>
    <p:extLst>
      <p:ext uri="{BB962C8B-B14F-4D97-AF65-F5344CB8AC3E}">
        <p14:creationId xmlns:p14="http://schemas.microsoft.com/office/powerpoint/2010/main" val="330181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519</TotalTime>
  <Words>949</Words>
  <Application>Microsoft Office PowerPoint</Application>
  <PresentationFormat>Custom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Wingdings</vt:lpstr>
      <vt:lpstr>Tech 16x9</vt:lpstr>
      <vt:lpstr>Intro to Programming</vt:lpstr>
      <vt:lpstr>Program Structure</vt:lpstr>
      <vt:lpstr>Starting Project Layouts in Visual Studio 2022 and VS Code</vt:lpstr>
      <vt:lpstr>C# Program Structure: Program.cs</vt:lpstr>
      <vt:lpstr>Special Notes</vt:lpstr>
      <vt:lpstr>Output</vt:lpstr>
      <vt:lpstr>Console.WriteLine and Console.Write</vt:lpstr>
      <vt:lpstr>Console.WriteLine</vt:lpstr>
      <vt:lpstr>Console.Write</vt:lpstr>
      <vt:lpstr>Console.WriteLine vs. Console.Write</vt:lpstr>
      <vt:lpstr>Example Program with Resulting Output</vt:lpstr>
      <vt:lpstr>But Wait, there’s more…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Programming</dc:title>
  <dc:creator>Trevor Lane</dc:creator>
  <cp:lastModifiedBy>Lane, Trevor</cp:lastModifiedBy>
  <cp:revision>19</cp:revision>
  <dcterms:created xsi:type="dcterms:W3CDTF">2020-09-18T00:25:15Z</dcterms:created>
  <dcterms:modified xsi:type="dcterms:W3CDTF">2026-09-18T13:31:40Z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