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4/30/2025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0:27.17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984 4261,'-3'-2,"-1"-1,1 1,-1 0,0 0,0 0,0 1,0-1,0 1,0 0,-8-1,-12-5,7-1,0-2,1 1,0-2,0 0,-26-26,-63-78,18 18,58 69,-43-43,-65-84,127 139,1 0,0 0,1-1,1 0,1 0,-6-27,-13-33,-116-278,134 336,0-2,2 1,-4-31,-10-36,2 23,-11-88,24 113,2-1,3-50,1 57,-2-1,-1 0,-10-61,1 31,2-2,4 1,7-112,-1 47,-2 80,-1 12,1 0,2 0,14-73,-11 84,-1 0,0-40,-2 38,0 0,7-30,7-21,-9 42,1 0,24-66,-15 63,9-25,3 1,52-85,-37 74,-32 53,1 1,1 0,0 1,34-37,190-200,-227 246,1 0,1 1,25-17,22-20,-43 31,2 0,0 1,1 1,0 1,1 1,26-12,-156 34,74-7,0 0,-1-3,-52-6,83 6,0 1,0-1,0 0,0 0,0 0,1-1,-1 0,0 1,-5-5,11 6,-1-1,0 1,1-1,-1 1,1-1,-1 1,0-1,1 1,0-1,-1 1,1-1,-1 1,1 0,-1 0,1-1,0 1,-1 0,1 0,-1-1,1 1,0 0,-1 0,1 0,0 0,-1 0,1 0,0 0,-1 0,2 1,27-4,-11 2,0 1,0 1,0 0,0 2,0 0,0 1,29 10,-40-12,1 1,0-2,0 1,0-1,0-1,0 1,0-1,8-1,0 0,-16 1,1 0,-1 1,1-1,-1 0,0 0,1 0,-1 0,1 0,-1 0,0 1,1-1,-1 0,0 0,1 1,-1-1,0 0,1 1,-1-1,0 0,0 1,1-1,-1 0,0 1,0-1,0 0,1 1,-1-1,0 1,0-1,0 1,0-1,0 0,0 1,0-1,0 1,0-1,0 1,0-1,0 0,0 1,0-1,0 1,-1-1,1 0,0 1,0-1,-1 1,-10 27,7-19,-2 13,1 0,-4 43,-3 16,-22 47,34-128,-1 1,1-1,0 0,-1 0,1 1,0-1,-1 0,1 0,-1 0,1 1,0-1,-1 0,1 0,-1 0,1 0,0 0,-1 0,1 0,-1 0,1 0,-1 0,1 0,0 0,-1 0,1 0,-1 0,1 0,-1 0,1-1,0 1,-1 0,1 0,0-1,-1 1,1 0,0 0,-1-1,1 1,0 0,-1-1,1 1,0 0,0-1,-1 1,1-1,0 1,0-1,-17-18,8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00.980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45 0,'-4'0,"-7"0,0 0,0 0,3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3:44.251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1 0,'0'6822,"0"-6804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05.242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0 0,'1164'0,"-1141"0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17.662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0 0,'1235'0,"-1241"0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28.889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220 191,'0'-1,"-1"-1,1 1,-1 0,0-1,1 1,-1 0,0 0,0-1,0 1,0 0,0 0,0 0,0 0,0 0,-1 0,1 1,0-1,-2 0,-30-17,25 15,-8-7,1 1,0-2,0 0,1-1,0-1,1 0,0 0,1-1,-13-22,18 30,7 12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1-22T17:14:31.404"/>
    </inkml:context>
    <inkml:brush xml:id="br0">
      <inkml:brushProperty name="width" value="0.1" units="cm"/>
      <inkml:brushProperty name="height" value="0.1" units="cm"/>
      <inkml:brushProperty name="color" value="#008C3A"/>
      <inkml:brushProperty name="ignorePressure" value="1"/>
    </inkml:brush>
  </inkml:definitions>
  <inkml:trace contextRef="#ctx0" brushRef="#br0">202 0,'-1'5,"-1"0,0-1,0 1,0-1,0 0,-1 0,0 1,0-2,0 1,0 0,-1-1,1 1,-5 2,-19 24,-75 136,80-136,13-17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4/30/2025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4/30/2025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4/30/2025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.png"/><Relationship Id="rId15" Type="http://schemas.openxmlformats.org/officeDocument/2006/relationships/image" Target="../media/image7.png"/><Relationship Id="rId10" Type="http://schemas.openxmlformats.org/officeDocument/2006/relationships/customXml" Target="../ink/ink4.xml"/><Relationship Id="rId4" Type="http://schemas.openxmlformats.org/officeDocument/2006/relationships/customXml" Target="../ink/ink2.xml"/><Relationship Id="rId9" Type="http://schemas.openxmlformats.org/officeDocument/2006/relationships/image" Target="../media/image3.png"/><Relationship Id="rId1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+ Counted Loops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1A806-9AF5-4FE5-A6BA-1AC1D29A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17CED-584E-44FE-ADCE-BD2A9E04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Learn what a loop is</a:t>
            </a:r>
          </a:p>
          <a:p>
            <a:r>
              <a:rPr lang="en-CA" dirty="0"/>
              <a:t>Why we use loops</a:t>
            </a:r>
          </a:p>
          <a:p>
            <a:r>
              <a:rPr lang="en-CA" dirty="0"/>
              <a:t>What are the components of a loop</a:t>
            </a:r>
          </a:p>
          <a:p>
            <a:r>
              <a:rPr lang="en-CA" dirty="0"/>
              <a:t>What are the types of loops</a:t>
            </a:r>
          </a:p>
          <a:p>
            <a:r>
              <a:rPr lang="en-CA" dirty="0"/>
              <a:t>How to create a counted loop</a:t>
            </a:r>
          </a:p>
        </p:txBody>
      </p:sp>
    </p:spTree>
    <p:extLst>
      <p:ext uri="{BB962C8B-B14F-4D97-AF65-F5344CB8AC3E}">
        <p14:creationId xmlns:p14="http://schemas.microsoft.com/office/powerpoint/2010/main" val="165932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82777-6329-4E76-878F-7172F25A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91FEE-26F5-4763-A72A-7B17689ED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The verb </a:t>
            </a:r>
            <a:r>
              <a:rPr lang="en-CA" dirty="0">
                <a:solidFill>
                  <a:srgbClr val="92D050"/>
                </a:solidFill>
              </a:rPr>
              <a:t>loop</a:t>
            </a:r>
            <a:r>
              <a:rPr lang="en-CA" dirty="0"/>
              <a:t> simply means to </a:t>
            </a:r>
            <a:r>
              <a:rPr lang="en-CA" dirty="0">
                <a:solidFill>
                  <a:srgbClr val="92D050"/>
                </a:solidFill>
              </a:rPr>
              <a:t>repeat</a:t>
            </a:r>
            <a:r>
              <a:rPr lang="en-CA" dirty="0"/>
              <a:t> something</a:t>
            </a:r>
          </a:p>
          <a:p>
            <a:pPr lvl="1"/>
            <a:r>
              <a:rPr lang="en-CA" dirty="0"/>
              <a:t>For example, most people’s average day is in a loop:  Every day you…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Wake up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Go to the bathroom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Eat breakfast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Shower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Go to school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Come home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Eat dinner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Do Homework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Watch TV or Play Video games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CA" dirty="0"/>
              <a:t>Go to bed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6A658-D30F-4595-8777-89ED0364A795}"/>
              </a:ext>
            </a:extLst>
          </p:cNvPr>
          <p:cNvSpPr txBox="1"/>
          <p:nvPr/>
        </p:nvSpPr>
        <p:spPr>
          <a:xfrm>
            <a:off x="6399133" y="2780928"/>
            <a:ext cx="5108963" cy="267765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800" dirty="0"/>
              <a:t>And every day, you get up again</a:t>
            </a:r>
          </a:p>
          <a:p>
            <a:r>
              <a:rPr lang="en-CA" sz="2800" dirty="0"/>
              <a:t>and repeat the same actions in</a:t>
            </a:r>
          </a:p>
          <a:p>
            <a:r>
              <a:rPr lang="en-CA" sz="2800" dirty="0"/>
              <a:t>the exact same order…</a:t>
            </a:r>
          </a:p>
          <a:p>
            <a:endParaRPr lang="en-CA" sz="2800" dirty="0"/>
          </a:p>
          <a:p>
            <a:r>
              <a:rPr lang="en-CA" sz="2800" dirty="0">
                <a:solidFill>
                  <a:srgbClr val="0070C0"/>
                </a:solidFill>
              </a:rPr>
              <a:t>This daily repetition is a loop that</a:t>
            </a:r>
          </a:p>
          <a:p>
            <a:r>
              <a:rPr lang="en-CA" sz="2800" dirty="0">
                <a:solidFill>
                  <a:srgbClr val="0070C0"/>
                </a:solidFill>
              </a:rPr>
              <a:t>you repeat exactly 5 times a week</a:t>
            </a:r>
          </a:p>
        </p:txBody>
      </p:sp>
    </p:spTree>
    <p:extLst>
      <p:ext uri="{BB962C8B-B14F-4D97-AF65-F5344CB8AC3E}">
        <p14:creationId xmlns:p14="http://schemas.microsoft.com/office/powerpoint/2010/main" val="39100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4B87-E723-405A-B4FF-7CBF8F55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</p:spPr>
        <p:txBody>
          <a:bodyPr anchor="b">
            <a:normAutofit/>
          </a:bodyPr>
          <a:lstStyle/>
          <a:p>
            <a:r>
              <a:rPr lang="en-CA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D385-1C9A-4AF4-8F55-D0B3EEC72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/>
          <a:p>
            <a:r>
              <a:rPr lang="en-CA" sz="2400" dirty="0"/>
              <a:t>The purpose of computer programs is to automate and speed up the work of human beings</a:t>
            </a:r>
          </a:p>
          <a:p>
            <a:r>
              <a:rPr lang="en-CA" sz="2400" dirty="0"/>
              <a:t>We can do anything the computer can do, but slower and more prone to error</a:t>
            </a:r>
          </a:p>
          <a:p>
            <a:r>
              <a:rPr lang="en-CA" sz="2400" dirty="0"/>
              <a:t>The thing is, we don’t want to waste our time doing these things.</a:t>
            </a:r>
          </a:p>
          <a:p>
            <a:r>
              <a:rPr lang="en-CA" sz="2400" dirty="0"/>
              <a:t>Let’s ask Mark Zuckerberg why?</a:t>
            </a:r>
          </a:p>
        </p:txBody>
      </p:sp>
      <p:pic>
        <p:nvPicPr>
          <p:cNvPr id="4" name="01_REPEAT LOOPS">
            <a:hlinkClick r:id="" action="ppaction://media"/>
            <a:extLst>
              <a:ext uri="{FF2B5EF4-FFF2-40B4-BE49-F238E27FC236}">
                <a16:creationId xmlns:a16="http://schemas.microsoft.com/office/drawing/2014/main" id="{28F189D1-1CC9-4170-9EA2-1987161C6B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00707" y="2511162"/>
            <a:ext cx="5078677" cy="285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418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6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0337-5D24-4450-AD7A-5E19BE27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Let’s try an experiment…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5A0582D-863F-45F4-AC60-5F61A99D8C9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77673817"/>
              </p:ext>
            </p:extLst>
          </p:nvPr>
        </p:nvGraphicFramePr>
        <p:xfrm>
          <a:off x="1219200" y="1706563"/>
          <a:ext cx="408312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0391">
                  <a:extLst>
                    <a:ext uri="{9D8B030D-6E8A-4147-A177-3AD203B41FA5}">
                      <a16:colId xmlns:a16="http://schemas.microsoft.com/office/drawing/2014/main" val="1919376739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389309189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4081858389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462607164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758237615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2799785178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219040743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309432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535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472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15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74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282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0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94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681779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DAB40-7056-4C9B-9375-FD004FC83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78389" y="980728"/>
            <a:ext cx="5700996" cy="5191472"/>
          </a:xfrm>
        </p:spPr>
        <p:txBody>
          <a:bodyPr>
            <a:normAutofit lnSpcReduction="10000"/>
          </a:bodyPr>
          <a:lstStyle/>
          <a:p>
            <a:r>
              <a:rPr lang="en-CA" dirty="0"/>
              <a:t>In the grid on the left you see some green walls and a </a:t>
            </a:r>
            <a:r>
              <a:rPr lang="en-CA" dirty="0">
                <a:solidFill>
                  <a:srgbClr val="92D050"/>
                </a:solidFill>
              </a:rPr>
              <a:t>robot (R)</a:t>
            </a:r>
            <a:r>
              <a:rPr lang="en-CA" dirty="0"/>
              <a:t>, and some </a:t>
            </a:r>
            <a:r>
              <a:rPr lang="en-CA" dirty="0">
                <a:solidFill>
                  <a:srgbClr val="92D050"/>
                </a:solidFill>
              </a:rPr>
              <a:t>tools (T)</a:t>
            </a:r>
          </a:p>
          <a:p>
            <a:r>
              <a:rPr lang="en-CA" dirty="0">
                <a:solidFill>
                  <a:srgbClr val="0070C0"/>
                </a:solidFill>
              </a:rPr>
              <a:t>The robot is capable of 5 different instructions:</a:t>
            </a:r>
          </a:p>
          <a:p>
            <a:pPr lvl="1"/>
            <a:r>
              <a:rPr lang="en-CA" dirty="0"/>
              <a:t>Right (</a:t>
            </a:r>
            <a:r>
              <a:rPr lang="en-CA" dirty="0">
                <a:sym typeface="Wingdings" panose="05000000000000000000" pitchFamily="2" charset="2"/>
              </a:rPr>
              <a:t>), Left ()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Up (^), Down (v)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Collect (C)</a:t>
            </a:r>
          </a:p>
          <a:p>
            <a:r>
              <a:rPr lang="en-CA" dirty="0">
                <a:sym typeface="Wingdings" panose="05000000000000000000" pitchFamily="2" charset="2"/>
              </a:rPr>
              <a:t>Each movement moves 1 block</a:t>
            </a:r>
          </a:p>
          <a:p>
            <a:r>
              <a:rPr lang="en-CA" dirty="0">
                <a:sym typeface="Wingdings" panose="05000000000000000000" pitchFamily="2" charset="2"/>
              </a:rPr>
              <a:t>Your job is to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list the robot instructions</a:t>
            </a:r>
            <a:r>
              <a:rPr lang="en-CA" dirty="0">
                <a:sym typeface="Wingdings" panose="05000000000000000000" pitchFamily="2" charset="2"/>
              </a:rPr>
              <a:t> that would have it collect the tools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9623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E0337-5D24-4450-AD7A-5E19BE273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Let’s try an experiment…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5A0582D-863F-45F4-AC60-5F61A99D8C9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19200" y="1706563"/>
          <a:ext cx="4083128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0391">
                  <a:extLst>
                    <a:ext uri="{9D8B030D-6E8A-4147-A177-3AD203B41FA5}">
                      <a16:colId xmlns:a16="http://schemas.microsoft.com/office/drawing/2014/main" val="1919376739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389309189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4081858389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462607164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758237615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2799785178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219040743"/>
                    </a:ext>
                  </a:extLst>
                </a:gridCol>
                <a:gridCol w="510391">
                  <a:extLst>
                    <a:ext uri="{9D8B030D-6E8A-4147-A177-3AD203B41FA5}">
                      <a16:colId xmlns:a16="http://schemas.microsoft.com/office/drawing/2014/main" val="1309432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535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472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15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774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2282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04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94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681779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DAB40-7056-4C9B-9375-FD004FC83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18348" y="908720"/>
            <a:ext cx="2808312" cy="5616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Right (</a:t>
            </a:r>
            <a:r>
              <a:rPr lang="en-CA" sz="1800" dirty="0">
                <a:sym typeface="Wingdings" panose="05000000000000000000" pitchFamily="2" charset="2"/>
              </a:rPr>
              <a:t>), Left (), Up (^), </a:t>
            </a:r>
            <a:br>
              <a:rPr lang="en-CA" sz="1800" dirty="0">
                <a:sym typeface="Wingdings" panose="05000000000000000000" pitchFamily="2" charset="2"/>
              </a:rPr>
            </a:br>
            <a:r>
              <a:rPr lang="en-CA" sz="1800" dirty="0">
                <a:sym typeface="Wingdings" panose="05000000000000000000" pitchFamily="2" charset="2"/>
              </a:rPr>
              <a:t>Down (v), Collect (C)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0CB356E-2962-43C7-AB3B-D3DE7732C3AB}"/>
              </a:ext>
            </a:extLst>
          </p:cNvPr>
          <p:cNvSpPr txBox="1">
            <a:spLocks/>
          </p:cNvSpPr>
          <p:nvPr/>
        </p:nvSpPr>
        <p:spPr>
          <a:xfrm>
            <a:off x="8515915" y="908719"/>
            <a:ext cx="2808312" cy="5616625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CA" sz="1800" dirty="0"/>
              <a:t>Right (</a:t>
            </a:r>
            <a:r>
              <a:rPr lang="en-CA" sz="1800" dirty="0">
                <a:sym typeface="Wingdings" panose="05000000000000000000" pitchFamily="2" charset="2"/>
              </a:rPr>
              <a:t>), Left (), Up (^), </a:t>
            </a:r>
            <a:br>
              <a:rPr lang="en-CA" sz="1800" dirty="0">
                <a:sym typeface="Wingdings" panose="05000000000000000000" pitchFamily="2" charset="2"/>
              </a:rPr>
            </a:br>
            <a:r>
              <a:rPr lang="en-CA" sz="1800" dirty="0">
                <a:sym typeface="Wingdings" panose="05000000000000000000" pitchFamily="2" charset="2"/>
              </a:rPr>
              <a:t>Down (v), Collect (C)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CA" sz="1800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5E5244-F5B5-4AF0-90C0-B4BBCD9B647A}"/>
              </a:ext>
            </a:extLst>
          </p:cNvPr>
          <p:cNvSpPr txBox="1"/>
          <p:nvPr/>
        </p:nvSpPr>
        <p:spPr>
          <a:xfrm>
            <a:off x="8515915" y="447055"/>
            <a:ext cx="3097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With Repeat Command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2DDD1-556D-4BCB-A0B0-28D138833C6C}"/>
              </a:ext>
            </a:extLst>
          </p:cNvPr>
          <p:cNvSpPr txBox="1"/>
          <p:nvPr/>
        </p:nvSpPr>
        <p:spPr>
          <a:xfrm>
            <a:off x="161447" y="5733256"/>
            <a:ext cx="5262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/>
              <a:t>Now let’s add a new instruction: </a:t>
            </a:r>
            <a:r>
              <a:rPr lang="en-CA" sz="2000" dirty="0">
                <a:solidFill>
                  <a:srgbClr val="FFFF00"/>
                </a:solidFill>
              </a:rPr>
              <a:t>repeat(#)</a:t>
            </a:r>
          </a:p>
          <a:p>
            <a:r>
              <a:rPr lang="en-CA" sz="2000" dirty="0"/>
              <a:t>E.g. repeat(3) will repeat the </a:t>
            </a:r>
            <a:r>
              <a:rPr lang="en-CA" sz="2000" dirty="0">
                <a:solidFill>
                  <a:srgbClr val="FFFF00"/>
                </a:solidFill>
              </a:rPr>
              <a:t>next</a:t>
            </a:r>
            <a:r>
              <a:rPr lang="en-CA" sz="2000" dirty="0"/>
              <a:t> action 3 times </a:t>
            </a:r>
          </a:p>
        </p:txBody>
      </p:sp>
    </p:spTree>
    <p:extLst>
      <p:ext uri="{BB962C8B-B14F-4D97-AF65-F5344CB8AC3E}">
        <p14:creationId xmlns:p14="http://schemas.microsoft.com/office/powerpoint/2010/main" val="361172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B72F-87A4-491F-95A8-33164F77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Loop usefulness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CFFE-656F-4415-951A-C057EA27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Loops can be used to repeat any sequence of actions</a:t>
            </a:r>
          </a:p>
          <a:p>
            <a:endParaRPr lang="en-CA" dirty="0"/>
          </a:p>
          <a:p>
            <a:r>
              <a:rPr lang="en-CA" dirty="0"/>
              <a:t>That could be something as simple as displaying all the names of students stored in an array, or giving the user 3 tries to enter a password</a:t>
            </a:r>
          </a:p>
          <a:p>
            <a:r>
              <a:rPr lang="en-CA" dirty="0"/>
              <a:t>Or something as complicated as a game loop that carries out large complex commands within like:</a:t>
            </a:r>
          </a:p>
          <a:p>
            <a:pPr lvl="1"/>
            <a:r>
              <a:rPr lang="en-CA" dirty="0"/>
              <a:t>Get Input</a:t>
            </a:r>
          </a:p>
          <a:p>
            <a:pPr lvl="1"/>
            <a:r>
              <a:rPr lang="en-CA" dirty="0"/>
              <a:t>Update game objects</a:t>
            </a:r>
          </a:p>
          <a:p>
            <a:pPr lvl="1"/>
            <a:r>
              <a:rPr lang="en-CA" dirty="0"/>
              <a:t>Handle physics and collisions</a:t>
            </a:r>
          </a:p>
          <a:p>
            <a:pPr lvl="1"/>
            <a:r>
              <a:rPr lang="en-CA" dirty="0"/>
              <a:t>Redraw the screen</a:t>
            </a:r>
          </a:p>
        </p:txBody>
      </p:sp>
    </p:spTree>
    <p:extLst>
      <p:ext uri="{BB962C8B-B14F-4D97-AF65-F5344CB8AC3E}">
        <p14:creationId xmlns:p14="http://schemas.microsoft.com/office/powerpoint/2010/main" val="55614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C0718-6BBD-4D53-9654-7AEA3AE5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components of a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CA909-DB63-4B7C-8F3F-93CE06D3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B0F0"/>
                </a:solidFill>
              </a:rPr>
              <a:t>Every loop structure is made up of 3 parts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olidFill>
                  <a:srgbClr val="92D050"/>
                </a:solidFill>
              </a:rPr>
              <a:t>The Comparison variable </a:t>
            </a:r>
            <a:r>
              <a:rPr lang="en-CA" dirty="0"/>
              <a:t>[with a starting(initial) value]</a:t>
            </a:r>
          </a:p>
          <a:p>
            <a:pPr marL="819096" lvl="1" indent="-514350"/>
            <a:r>
              <a:rPr lang="en-CA" dirty="0"/>
              <a:t>This variable is used to decide whether to enter the loop or not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olidFill>
                  <a:srgbClr val="92D050"/>
                </a:solidFill>
              </a:rPr>
              <a:t>The Test Condition</a:t>
            </a:r>
          </a:p>
          <a:p>
            <a:pPr marL="819096" lvl="1" indent="-514350"/>
            <a:r>
              <a:rPr lang="en-CA" dirty="0"/>
              <a:t>Test the comparison variable against a </a:t>
            </a:r>
            <a:r>
              <a:rPr lang="en-CA" dirty="0">
                <a:solidFill>
                  <a:srgbClr val="FFFF00"/>
                </a:solidFill>
              </a:rPr>
              <a:t>target end value</a:t>
            </a:r>
            <a:r>
              <a:rPr lang="en-CA" dirty="0"/>
              <a:t> to decide whether to enter the loop or not</a:t>
            </a:r>
          </a:p>
          <a:p>
            <a:pPr marL="819096" lvl="1" indent="-514350"/>
            <a:r>
              <a:rPr lang="en-CA" dirty="0"/>
              <a:t>This is anything that results in a true/false value</a:t>
            </a:r>
          </a:p>
          <a:p>
            <a:pPr marL="514350" indent="-514350">
              <a:buFont typeface="+mj-lt"/>
              <a:buAutoNum type="arabicPeriod"/>
            </a:pPr>
            <a:r>
              <a:rPr lang="en-CA" dirty="0">
                <a:solidFill>
                  <a:srgbClr val="92D050"/>
                </a:solidFill>
              </a:rPr>
              <a:t>The Change</a:t>
            </a:r>
          </a:p>
          <a:p>
            <a:pPr marL="819096" lvl="1" indent="-514350"/>
            <a:r>
              <a:rPr lang="en-CA" dirty="0"/>
              <a:t>Change the comparison variable, working towards the </a:t>
            </a:r>
            <a:r>
              <a:rPr lang="en-CA" dirty="0">
                <a:solidFill>
                  <a:srgbClr val="FFFF00"/>
                </a:solidFill>
              </a:rPr>
              <a:t>end value </a:t>
            </a:r>
            <a:r>
              <a:rPr lang="en-CA" dirty="0"/>
              <a:t>to eventually end the loop</a:t>
            </a:r>
          </a:p>
        </p:txBody>
      </p:sp>
    </p:spTree>
    <p:extLst>
      <p:ext uri="{BB962C8B-B14F-4D97-AF65-F5344CB8AC3E}">
        <p14:creationId xmlns:p14="http://schemas.microsoft.com/office/powerpoint/2010/main" val="33701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CEE6-D0AF-4771-BFCA-18D69A636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There are two types of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C4CA8-08AE-4648-A53F-03FDA3C23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701797"/>
            <a:ext cx="10801199" cy="4462272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00B0F0"/>
                </a:solidFill>
              </a:rPr>
              <a:t>Counted Loop</a:t>
            </a:r>
          </a:p>
          <a:p>
            <a:pPr lvl="1"/>
            <a:r>
              <a:rPr lang="en-CA" dirty="0"/>
              <a:t>These loops </a:t>
            </a:r>
            <a:r>
              <a:rPr lang="en-CA" dirty="0">
                <a:solidFill>
                  <a:srgbClr val="FFFF00"/>
                </a:solidFill>
              </a:rPr>
              <a:t>iterate</a:t>
            </a:r>
            <a:r>
              <a:rPr lang="en-CA" dirty="0"/>
              <a:t> a specific number of times</a:t>
            </a:r>
          </a:p>
          <a:p>
            <a:pPr lvl="1"/>
            <a:r>
              <a:rPr lang="en-CA" dirty="0"/>
              <a:t>In these loops, the </a:t>
            </a:r>
            <a:r>
              <a:rPr lang="en-CA" dirty="0">
                <a:solidFill>
                  <a:srgbClr val="92D050"/>
                </a:solidFill>
              </a:rPr>
              <a:t>comparison variable </a:t>
            </a:r>
            <a:r>
              <a:rPr lang="en-CA" dirty="0"/>
              <a:t>is an integer that counts the iterations of the loop</a:t>
            </a:r>
          </a:p>
          <a:p>
            <a:pPr lvl="1"/>
            <a:r>
              <a:rPr lang="en-CA" dirty="0">
                <a:solidFill>
                  <a:srgbClr val="92D050"/>
                </a:solidFill>
              </a:rPr>
              <a:t>The Change</a:t>
            </a:r>
            <a:r>
              <a:rPr lang="en-CA" dirty="0"/>
              <a:t> moves the counter variable towards an end target value</a:t>
            </a:r>
          </a:p>
          <a:p>
            <a:pPr lvl="1"/>
            <a:r>
              <a:rPr lang="en-CA" dirty="0"/>
              <a:t>The loop ends when the counter variable reaches the end target value</a:t>
            </a:r>
          </a:p>
          <a:p>
            <a:pPr lvl="1"/>
            <a:endParaRPr lang="en-CA" dirty="0"/>
          </a:p>
          <a:p>
            <a:r>
              <a:rPr lang="en-CA" dirty="0">
                <a:solidFill>
                  <a:srgbClr val="00B0F0"/>
                </a:solidFill>
              </a:rPr>
              <a:t>Conditional Loop</a:t>
            </a:r>
          </a:p>
          <a:p>
            <a:pPr lvl="1"/>
            <a:r>
              <a:rPr lang="en-CA" dirty="0"/>
              <a:t>These loops iterate forever, or until the </a:t>
            </a:r>
            <a:r>
              <a:rPr lang="en-CA" dirty="0">
                <a:solidFill>
                  <a:srgbClr val="92D050"/>
                </a:solidFill>
              </a:rPr>
              <a:t>Test Condition </a:t>
            </a:r>
            <a:r>
              <a:rPr lang="en-CA" dirty="0"/>
              <a:t>is no longer true</a:t>
            </a:r>
          </a:p>
          <a:p>
            <a:pPr lvl="1"/>
            <a:r>
              <a:rPr lang="en-CA" dirty="0"/>
              <a:t>The comparison variable can be anything here, an integer, string, bool value,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CA132-5215-4F1D-BCB4-193C94D0CC9F}"/>
              </a:ext>
            </a:extLst>
          </p:cNvPr>
          <p:cNvSpPr txBox="1"/>
          <p:nvPr/>
        </p:nvSpPr>
        <p:spPr>
          <a:xfrm>
            <a:off x="7534572" y="378358"/>
            <a:ext cx="4320863" cy="132343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</a:rPr>
              <a:t>Iterate</a:t>
            </a:r>
            <a:r>
              <a:rPr lang="en-CA" sz="2000" dirty="0"/>
              <a:t> means go through one complete</a:t>
            </a:r>
            <a:br>
              <a:rPr lang="en-CA" sz="2000" dirty="0"/>
            </a:br>
            <a:r>
              <a:rPr lang="en-CA" sz="2000" dirty="0">
                <a:solidFill>
                  <a:srgbClr val="FFFF00"/>
                </a:solidFill>
              </a:rPr>
              <a:t>cycle</a:t>
            </a:r>
            <a:r>
              <a:rPr lang="en-CA" sz="2000" dirty="0"/>
              <a:t> of the loop.</a:t>
            </a:r>
          </a:p>
          <a:p>
            <a:r>
              <a:rPr lang="en-CA" sz="2000" dirty="0"/>
              <a:t>“The loop iterates 5 times”</a:t>
            </a:r>
          </a:p>
          <a:p>
            <a:r>
              <a:rPr lang="en-CA" sz="2000" dirty="0"/>
              <a:t>“How many iterations is the loop?”</a:t>
            </a:r>
          </a:p>
        </p:txBody>
      </p:sp>
    </p:spTree>
    <p:extLst>
      <p:ext uri="{BB962C8B-B14F-4D97-AF65-F5344CB8AC3E}">
        <p14:creationId xmlns:p14="http://schemas.microsoft.com/office/powerpoint/2010/main" val="325203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DE09-CA28-4ECA-AF99-FE005A17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Counted Loops (for loops)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F634-87FC-4CD1-B953-2A1AD6507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852" y="1701797"/>
            <a:ext cx="10657183" cy="4462272"/>
          </a:xfrm>
        </p:spPr>
        <p:txBody>
          <a:bodyPr/>
          <a:lstStyle/>
          <a:p>
            <a:r>
              <a:rPr lang="en-CA" dirty="0"/>
              <a:t>Most programming languages use a </a:t>
            </a:r>
            <a:r>
              <a:rPr lang="en-CA" dirty="0">
                <a:solidFill>
                  <a:srgbClr val="92D050"/>
                </a:solidFill>
              </a:rPr>
              <a:t>for loop</a:t>
            </a:r>
            <a:r>
              <a:rPr lang="en-CA" dirty="0"/>
              <a:t> for their counted loops</a:t>
            </a:r>
          </a:p>
          <a:p>
            <a:endParaRPr lang="en-CA" dirty="0"/>
          </a:p>
          <a:p>
            <a:r>
              <a:rPr lang="en-CA" dirty="0"/>
              <a:t>For Example, let’s say we want to output all the numbers from 1 to 10</a:t>
            </a:r>
          </a:p>
          <a:p>
            <a:pPr lvl="1"/>
            <a:r>
              <a:rPr lang="en-CA" dirty="0"/>
              <a:t>What is our comparison (counter) variable’s starting value</a:t>
            </a:r>
          </a:p>
          <a:p>
            <a:pPr lvl="2"/>
            <a:r>
              <a:rPr lang="en-CA" dirty="0"/>
              <a:t>1</a:t>
            </a:r>
          </a:p>
          <a:p>
            <a:pPr lvl="1"/>
            <a:r>
              <a:rPr lang="en-CA" dirty="0"/>
              <a:t>What is our target end value? We want to keep looping until count reaches this</a:t>
            </a:r>
          </a:p>
          <a:p>
            <a:pPr lvl="2"/>
            <a:r>
              <a:rPr lang="en-CA" dirty="0"/>
              <a:t>10</a:t>
            </a:r>
          </a:p>
          <a:p>
            <a:pPr lvl="1"/>
            <a:r>
              <a:rPr lang="en-CA" dirty="0"/>
              <a:t>How much are we going to change the counter variable by after each iteration?</a:t>
            </a:r>
          </a:p>
          <a:p>
            <a:pPr lvl="2"/>
            <a:r>
              <a:rPr lang="en-CA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B9D39-7DA6-4C38-8C41-DB2381E826B7}"/>
              </a:ext>
            </a:extLst>
          </p:cNvPr>
          <p:cNvSpPr txBox="1"/>
          <p:nvPr/>
        </p:nvSpPr>
        <p:spPr>
          <a:xfrm>
            <a:off x="2349996" y="3784507"/>
            <a:ext cx="2159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int count = 1;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61055-260C-4C98-9D6E-C5115E00669E}"/>
              </a:ext>
            </a:extLst>
          </p:cNvPr>
          <p:cNvSpPr txBox="1"/>
          <p:nvPr/>
        </p:nvSpPr>
        <p:spPr>
          <a:xfrm>
            <a:off x="2376636" y="4576595"/>
            <a:ext cx="890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count &lt;= 10</a:t>
            </a:r>
            <a:r>
              <a:rPr lang="en-CA" sz="2000" dirty="0" smtClean="0">
                <a:solidFill>
                  <a:srgbClr val="FFFF00"/>
                </a:solidFill>
                <a:latin typeface="Consolas" panose="020B0609020204030204" pitchFamily="49" charset="0"/>
              </a:rPr>
              <a:t>; </a:t>
            </a:r>
            <a:r>
              <a:rPr lang="en-CA" sz="2000" dirty="0" smtClean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Keep looping as long as this statement is TRUE</a:t>
            </a:r>
            <a:endParaRPr lang="en-CA" sz="20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D22457-F618-476D-B995-F3355B318896}"/>
              </a:ext>
            </a:extLst>
          </p:cNvPr>
          <p:cNvSpPr txBox="1"/>
          <p:nvPr/>
        </p:nvSpPr>
        <p:spPr>
          <a:xfrm>
            <a:off x="2376636" y="5421145"/>
            <a:ext cx="2723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count = count + 1;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11E97-C97A-4721-94FE-F5B59A0F2715}"/>
              </a:ext>
            </a:extLst>
          </p:cNvPr>
          <p:cNvSpPr txBox="1"/>
          <p:nvPr/>
        </p:nvSpPr>
        <p:spPr>
          <a:xfrm>
            <a:off x="2376636" y="5698297"/>
            <a:ext cx="1736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count += 1;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86DBA-A9BA-4B2A-B534-6B909C1F0008}"/>
              </a:ext>
            </a:extLst>
          </p:cNvPr>
          <p:cNvSpPr txBox="1"/>
          <p:nvPr/>
        </p:nvSpPr>
        <p:spPr>
          <a:xfrm>
            <a:off x="2376636" y="5981218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count++;</a:t>
            </a:r>
          </a:p>
        </p:txBody>
      </p:sp>
    </p:spTree>
    <p:extLst>
      <p:ext uri="{BB962C8B-B14F-4D97-AF65-F5344CB8AC3E}">
        <p14:creationId xmlns:p14="http://schemas.microsoft.com/office/powerpoint/2010/main" val="403942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8994F-869D-48A6-994C-A8D96A92D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Building our for loop, the syntax…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F9AAE-8DF8-4BC4-9DE0-FC2A08515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052736"/>
            <a:ext cx="6171673" cy="136815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for (int count = 1; count &lt;= 10; count++)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(count);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BC9E4-D4AD-489A-8933-1085D9A75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46540" y="1084362"/>
            <a:ext cx="4286589" cy="364078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>
                <a:solidFill>
                  <a:srgbClr val="00B0F0"/>
                </a:solidFill>
              </a:rPr>
              <a:t>Some quick points:</a:t>
            </a:r>
          </a:p>
          <a:p>
            <a:r>
              <a:rPr lang="en-CA" dirty="0"/>
              <a:t>There is NO ; at then end of a for loop statement</a:t>
            </a:r>
          </a:p>
          <a:p>
            <a:r>
              <a:rPr lang="en-CA" dirty="0"/>
              <a:t>count is defined as PART of the for loop here, so it is local to the loop and will be DELETED when the loop ends</a:t>
            </a:r>
          </a:p>
          <a:p>
            <a:r>
              <a:rPr lang="en-CA" dirty="0"/>
              <a:t>If you want to use count after, you would need to define it before the for loop statement</a:t>
            </a:r>
          </a:p>
          <a:p>
            <a:pPr marL="377886" lvl="1" indent="0">
              <a:buNone/>
            </a:pPr>
            <a:r>
              <a:rPr lang="en-CA" sz="1600" dirty="0">
                <a:latin typeface="Consolas" panose="020B0609020204030204" pitchFamily="49" charset="0"/>
              </a:rPr>
              <a:t>int count;</a:t>
            </a:r>
          </a:p>
          <a:p>
            <a:pPr marL="377886" lvl="1" indent="0">
              <a:buNone/>
            </a:pPr>
            <a:r>
              <a:rPr lang="en-CA" sz="1600" dirty="0">
                <a:latin typeface="Consolas" panose="020B0609020204030204" pitchFamily="49" charset="0"/>
              </a:rPr>
              <a:t>for (count = 1; count &lt;= 10; count++)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534192C-582A-4174-BB79-FC717DB45428}"/>
              </a:ext>
            </a:extLst>
          </p:cNvPr>
          <p:cNvSpPr txBox="1">
            <a:spLocks/>
          </p:cNvSpPr>
          <p:nvPr/>
        </p:nvSpPr>
        <p:spPr>
          <a:xfrm>
            <a:off x="1246987" y="2712418"/>
            <a:ext cx="5711522" cy="2448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CA" dirty="0">
                <a:solidFill>
                  <a:srgbClr val="FFFF00"/>
                </a:solidFill>
              </a:rPr>
              <a:t>Shortcut:</a:t>
            </a:r>
            <a:endParaRPr lang="en-CA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r>
              <a:rPr lang="en-CA" sz="2000" dirty="0"/>
              <a:t>Because for loops are one of the most common structures in programming we find ways to simplify them</a:t>
            </a:r>
          </a:p>
          <a:p>
            <a:r>
              <a:rPr lang="en-CA" sz="2000" dirty="0"/>
              <a:t>One simplification is to change the counter variable’s name to a simple single letter, usually </a:t>
            </a:r>
            <a:r>
              <a:rPr lang="en-CA" sz="2000" dirty="0" err="1">
                <a:solidFill>
                  <a:srgbClr val="FFFF00"/>
                </a:solidFill>
              </a:rPr>
              <a:t>i</a:t>
            </a:r>
            <a:endParaRPr lang="en-CA" sz="2000" dirty="0">
              <a:solidFill>
                <a:srgbClr val="FFFF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5FC45A-2769-40FC-A8E7-8B58881E7E54}"/>
              </a:ext>
            </a:extLst>
          </p:cNvPr>
          <p:cNvSpPr txBox="1">
            <a:spLocks/>
          </p:cNvSpPr>
          <p:nvPr/>
        </p:nvSpPr>
        <p:spPr>
          <a:xfrm>
            <a:off x="1218883" y="5160690"/>
            <a:ext cx="6171673" cy="144016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700" dirty="0">
                <a:latin typeface="Consolas" panose="020B0609020204030204" pitchFamily="49" charset="0"/>
              </a:rPr>
              <a:t>for (int </a:t>
            </a:r>
            <a:r>
              <a:rPr lang="en-CA" sz="1700" dirty="0" err="1">
                <a:latin typeface="Consolas" panose="020B0609020204030204" pitchFamily="49" charset="0"/>
              </a:rPr>
              <a:t>i</a:t>
            </a:r>
            <a:r>
              <a:rPr lang="en-CA" sz="1700" dirty="0">
                <a:latin typeface="Consolas" panose="020B0609020204030204" pitchFamily="49" charset="0"/>
              </a:rPr>
              <a:t> = 1; </a:t>
            </a:r>
            <a:r>
              <a:rPr lang="en-CA" sz="1700" dirty="0" err="1">
                <a:latin typeface="Consolas" panose="020B0609020204030204" pitchFamily="49" charset="0"/>
              </a:rPr>
              <a:t>i</a:t>
            </a:r>
            <a:r>
              <a:rPr lang="en-CA" sz="1700" dirty="0">
                <a:latin typeface="Consolas" panose="020B0609020204030204" pitchFamily="49" charset="0"/>
              </a:rPr>
              <a:t> &lt;= 10; </a:t>
            </a:r>
            <a:r>
              <a:rPr lang="en-CA" sz="1700" dirty="0" err="1">
                <a:latin typeface="Consolas" panose="020B0609020204030204" pitchFamily="49" charset="0"/>
              </a:rPr>
              <a:t>i</a:t>
            </a:r>
            <a:r>
              <a:rPr lang="en-CA" sz="1700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7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700" dirty="0">
                <a:latin typeface="Consolas" panose="020B0609020204030204" pitchFamily="49" charset="0"/>
              </a:rPr>
              <a:t>  </a:t>
            </a:r>
            <a:r>
              <a:rPr lang="en-CA" sz="1700" dirty="0" err="1">
                <a:latin typeface="Consolas" panose="020B0609020204030204" pitchFamily="49" charset="0"/>
              </a:rPr>
              <a:t>Console.WriteLine</a:t>
            </a:r>
            <a:r>
              <a:rPr lang="en-CA" sz="1700" dirty="0">
                <a:latin typeface="Consolas" panose="020B0609020204030204" pitchFamily="49" charset="0"/>
              </a:rPr>
              <a:t>(</a:t>
            </a:r>
            <a:r>
              <a:rPr lang="en-CA" sz="1700" dirty="0" err="1">
                <a:latin typeface="Consolas" panose="020B0609020204030204" pitchFamily="49" charset="0"/>
              </a:rPr>
              <a:t>i</a:t>
            </a:r>
            <a:r>
              <a:rPr lang="en-CA" sz="17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7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782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EADA-B7C7-435B-AB9F-E2FBD9D8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Loop Order of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0353-4121-40F9-A657-8022010C0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7179785" cy="4462272"/>
          </a:xfrm>
        </p:spPr>
        <p:txBody>
          <a:bodyPr/>
          <a:lstStyle/>
          <a:p>
            <a:pPr marL="0" indent="0">
              <a:buNone/>
            </a:pPr>
            <a:r>
              <a:rPr lang="en-CA" dirty="0">
                <a:solidFill>
                  <a:srgbClr val="00B0F0"/>
                </a:solidFill>
              </a:rPr>
              <a:t>Every loop follows the same sequence of events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latin typeface="Consolas" panose="020B0609020204030204" pitchFamily="49" charset="0"/>
              </a:rPr>
              <a:t>for (int </a:t>
            </a:r>
            <a:r>
              <a:rPr lang="en-CA" sz="2400" dirty="0" err="1">
                <a:latin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</a:rPr>
              <a:t> = 10; </a:t>
            </a:r>
            <a:r>
              <a:rPr lang="en-CA" sz="2400" dirty="0" err="1">
                <a:latin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</a:rPr>
              <a:t> &gt; 0; </a:t>
            </a:r>
            <a:r>
              <a:rPr lang="en-CA" sz="2400" dirty="0" err="1">
                <a:latin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</a:rPr>
              <a:t>--)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latin typeface="Consolas" panose="020B0609020204030204" pitchFamily="49" charset="0"/>
              </a:rPr>
              <a:t>   //Code to repeat each iteration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4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400" dirty="0">
                <a:latin typeface="Consolas" panose="020B0609020204030204" pitchFamily="49" charset="0"/>
              </a:rPr>
              <a:t>//Continue with the program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34C0A2-F017-4037-96FD-CE4464425509}"/>
              </a:ext>
            </a:extLst>
          </p:cNvPr>
          <p:cNvSpPr/>
          <p:nvPr/>
        </p:nvSpPr>
        <p:spPr>
          <a:xfrm>
            <a:off x="2638028" y="2420888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6B98DA-04EF-4542-9E7D-EC2902566EE6}"/>
              </a:ext>
            </a:extLst>
          </p:cNvPr>
          <p:cNvSpPr/>
          <p:nvPr/>
        </p:nvSpPr>
        <p:spPr>
          <a:xfrm>
            <a:off x="4366220" y="2420888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07827C-4AC0-4AE2-AE53-A0F63AA15B43}"/>
              </a:ext>
            </a:extLst>
          </p:cNvPr>
          <p:cNvSpPr/>
          <p:nvPr/>
        </p:nvSpPr>
        <p:spPr>
          <a:xfrm>
            <a:off x="7174532" y="3710001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63088F-EC67-49A3-9C3F-739491D3FB4E}"/>
              </a:ext>
            </a:extLst>
          </p:cNvPr>
          <p:cNvSpPr/>
          <p:nvPr/>
        </p:nvSpPr>
        <p:spPr>
          <a:xfrm>
            <a:off x="5446340" y="2420888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9660AE-A280-49FC-B976-DB72D34D94A0}"/>
              </a:ext>
            </a:extLst>
          </p:cNvPr>
          <p:cNvSpPr/>
          <p:nvPr/>
        </p:nvSpPr>
        <p:spPr>
          <a:xfrm>
            <a:off x="8657968" y="2306536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1DAB5E-EB4E-405F-87E7-A560AB9355D7}"/>
              </a:ext>
            </a:extLst>
          </p:cNvPr>
          <p:cNvSpPr/>
          <p:nvPr/>
        </p:nvSpPr>
        <p:spPr>
          <a:xfrm>
            <a:off x="8661713" y="3090570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211BFE-4699-4246-9570-4E8A556D6480}"/>
              </a:ext>
            </a:extLst>
          </p:cNvPr>
          <p:cNvSpPr/>
          <p:nvPr/>
        </p:nvSpPr>
        <p:spPr>
          <a:xfrm>
            <a:off x="8657968" y="3874604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8ECCE3-E59B-40B2-9781-794E433DFB4E}"/>
              </a:ext>
            </a:extLst>
          </p:cNvPr>
          <p:cNvSpPr/>
          <p:nvPr/>
        </p:nvSpPr>
        <p:spPr>
          <a:xfrm>
            <a:off x="8657968" y="4658638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16C7E0-7318-416E-A188-73AC0B08B8C1}"/>
              </a:ext>
            </a:extLst>
          </p:cNvPr>
          <p:cNvSpPr/>
          <p:nvPr/>
        </p:nvSpPr>
        <p:spPr>
          <a:xfrm>
            <a:off x="5967085" y="4805610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F9F959-98AD-40D0-8ECA-3AC2CD4EEAE5}"/>
              </a:ext>
            </a:extLst>
          </p:cNvPr>
          <p:cNvSpPr/>
          <p:nvPr/>
        </p:nvSpPr>
        <p:spPr>
          <a:xfrm>
            <a:off x="8657968" y="5442672"/>
            <a:ext cx="432048" cy="445864"/>
          </a:xfrm>
          <a:prstGeom prst="ellipse">
            <a:avLst/>
          </a:prstGeom>
          <a:solidFill>
            <a:srgbClr val="FFFF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333686-AF9A-47CF-9BCA-607E68FE0FC8}"/>
              </a:ext>
            </a:extLst>
          </p:cNvPr>
          <p:cNvSpPr txBox="1"/>
          <p:nvPr/>
        </p:nvSpPr>
        <p:spPr>
          <a:xfrm>
            <a:off x="9090016" y="2360191"/>
            <a:ext cx="27211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Setup the </a:t>
            </a:r>
            <a:r>
              <a:rPr lang="en-CA" sz="1600" dirty="0">
                <a:solidFill>
                  <a:srgbClr val="92D050"/>
                </a:solidFill>
              </a:rPr>
              <a:t>comparison variable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B8533E-467B-4BD4-AAF2-7E8B8C554A6F}"/>
              </a:ext>
            </a:extLst>
          </p:cNvPr>
          <p:cNvSpPr txBox="1"/>
          <p:nvPr/>
        </p:nvSpPr>
        <p:spPr>
          <a:xfrm>
            <a:off x="9090016" y="3144033"/>
            <a:ext cx="16900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The </a:t>
            </a:r>
            <a:r>
              <a:rPr lang="en-CA" sz="1600" dirty="0">
                <a:solidFill>
                  <a:srgbClr val="92D050"/>
                </a:solidFill>
              </a:rPr>
              <a:t>test condition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5505F2-73D8-442D-A01D-6EE959A89F18}"/>
              </a:ext>
            </a:extLst>
          </p:cNvPr>
          <p:cNvSpPr txBox="1"/>
          <p:nvPr/>
        </p:nvSpPr>
        <p:spPr>
          <a:xfrm>
            <a:off x="9090016" y="3804520"/>
            <a:ext cx="20106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Code to execute </a:t>
            </a:r>
            <a:r>
              <a:rPr lang="en-CA" sz="1600" dirty="0">
                <a:solidFill>
                  <a:srgbClr val="FFFF00"/>
                </a:solidFill>
              </a:rPr>
              <a:t>if</a:t>
            </a:r>
            <a:r>
              <a:rPr lang="en-CA" sz="1600" dirty="0"/>
              <a:t> the</a:t>
            </a:r>
          </a:p>
          <a:p>
            <a:r>
              <a:rPr lang="en-CA" sz="1600" dirty="0">
                <a:solidFill>
                  <a:srgbClr val="92D050"/>
                </a:solidFill>
              </a:rPr>
              <a:t>test condition </a:t>
            </a:r>
            <a:r>
              <a:rPr lang="en-CA" sz="1600" dirty="0"/>
              <a:t>is</a:t>
            </a:r>
            <a:r>
              <a:rPr lang="en-CA" sz="1600" dirty="0">
                <a:solidFill>
                  <a:srgbClr val="92D050"/>
                </a:solidFill>
              </a:rPr>
              <a:t> </a:t>
            </a:r>
            <a:r>
              <a:rPr lang="en-CA" sz="1600" dirty="0">
                <a:solidFill>
                  <a:srgbClr val="00B0F0"/>
                </a:solidFill>
              </a:rPr>
              <a:t>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949EB7-3575-4BC6-A05B-9B6F3AF9FEC0}"/>
              </a:ext>
            </a:extLst>
          </p:cNvPr>
          <p:cNvSpPr txBox="1"/>
          <p:nvPr/>
        </p:nvSpPr>
        <p:spPr>
          <a:xfrm>
            <a:off x="9090016" y="4593306"/>
            <a:ext cx="2653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Change the </a:t>
            </a:r>
            <a:r>
              <a:rPr lang="en-CA" sz="1600" dirty="0">
                <a:solidFill>
                  <a:srgbClr val="92D050"/>
                </a:solidFill>
              </a:rPr>
              <a:t>comparison</a:t>
            </a:r>
          </a:p>
          <a:p>
            <a:r>
              <a:rPr lang="en-CA" sz="1600" dirty="0">
                <a:solidFill>
                  <a:srgbClr val="92D050"/>
                </a:solidFill>
              </a:rPr>
              <a:t>variable</a:t>
            </a:r>
            <a:r>
              <a:rPr lang="en-CA" sz="1600" dirty="0"/>
              <a:t>,</a:t>
            </a:r>
            <a:r>
              <a:rPr lang="en-CA" sz="1600" dirty="0">
                <a:solidFill>
                  <a:srgbClr val="92D050"/>
                </a:solidFill>
              </a:rPr>
              <a:t> </a:t>
            </a:r>
            <a:r>
              <a:rPr lang="en-CA" sz="1600" dirty="0"/>
              <a:t>towards target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C76A4A-587D-4F51-BFFE-0DDA88FBDD07}"/>
              </a:ext>
            </a:extLst>
          </p:cNvPr>
          <p:cNvSpPr txBox="1"/>
          <p:nvPr/>
        </p:nvSpPr>
        <p:spPr>
          <a:xfrm>
            <a:off x="9090016" y="5293578"/>
            <a:ext cx="23770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/>
              <a:t>The test condition is </a:t>
            </a:r>
            <a:r>
              <a:rPr lang="en-CA" sz="1600" dirty="0">
                <a:solidFill>
                  <a:srgbClr val="00B0F0"/>
                </a:solidFill>
              </a:rPr>
              <a:t>False</a:t>
            </a:r>
            <a:r>
              <a:rPr lang="en-CA" sz="1600" dirty="0"/>
              <a:t>,</a:t>
            </a:r>
          </a:p>
          <a:p>
            <a:r>
              <a:rPr lang="en-CA" sz="1600" dirty="0"/>
              <a:t>continue with the rest of</a:t>
            </a:r>
          </a:p>
          <a:p>
            <a:r>
              <a:rPr lang="en-CA" sz="1600" dirty="0"/>
              <a:t>the program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099768-5C1E-4C79-9AC0-3B780DD42AC0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8873992" y="2752400"/>
            <a:ext cx="3745" cy="338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7ED3EE-4081-4189-9E62-7306C6F062CF}"/>
              </a:ext>
            </a:extLst>
          </p:cNvPr>
          <p:cNvCxnSpPr/>
          <p:nvPr/>
        </p:nvCxnSpPr>
        <p:spPr>
          <a:xfrm>
            <a:off x="8881507" y="3540916"/>
            <a:ext cx="3745" cy="338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46C687-8883-497E-9A83-3E2D302C8808}"/>
              </a:ext>
            </a:extLst>
          </p:cNvPr>
          <p:cNvCxnSpPr/>
          <p:nvPr/>
        </p:nvCxnSpPr>
        <p:spPr>
          <a:xfrm>
            <a:off x="8881507" y="4344549"/>
            <a:ext cx="3745" cy="3381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DC5528B-8710-4AD4-8C8D-EC924B9E461D}"/>
                  </a:ext>
                </a:extLst>
              </p14:cNvPr>
              <p14:cNvContentPartPr/>
              <p14:nvPr/>
            </p14:nvContentPartPr>
            <p14:xfrm>
              <a:off x="8303640" y="3323430"/>
              <a:ext cx="354600" cy="1533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DC5528B-8710-4AD4-8C8D-EC924B9E46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94640" y="3314790"/>
                <a:ext cx="372240" cy="15516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8F6E85F-E0D0-46BD-A002-14D7B5409A1A}"/>
              </a:ext>
            </a:extLst>
          </p:cNvPr>
          <p:cNvSpPr txBox="1"/>
          <p:nvPr/>
        </p:nvSpPr>
        <p:spPr>
          <a:xfrm>
            <a:off x="8830802" y="3537517"/>
            <a:ext cx="4604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rgbClr val="00B0F0"/>
                </a:solidFill>
              </a:rPr>
              <a:t>True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42AAC4A-D39E-4F39-94C1-91E4B0CB467D}"/>
                  </a:ext>
                </a:extLst>
              </p14:cNvPr>
              <p14:cNvContentPartPr/>
              <p14:nvPr/>
            </p14:nvContentPartPr>
            <p14:xfrm>
              <a:off x="8222640" y="5703030"/>
              <a:ext cx="165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42AAC4A-D39E-4F39-94C1-91E4B0CB46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04640" y="5685030"/>
                <a:ext cx="522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627FE888-1D6E-4D77-BFF6-6E209FF84345}"/>
              </a:ext>
            </a:extLst>
          </p:cNvPr>
          <p:cNvGrpSpPr/>
          <p:nvPr/>
        </p:nvGrpSpPr>
        <p:grpSpPr>
          <a:xfrm>
            <a:off x="8200680" y="3236310"/>
            <a:ext cx="444960" cy="2557800"/>
            <a:chOff x="8200680" y="3236310"/>
            <a:chExt cx="444960" cy="255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E4D70C-03FE-4CDE-B59B-F78DABEA2391}"/>
                    </a:ext>
                  </a:extLst>
                </p14:cNvPr>
                <p14:cNvContentPartPr/>
                <p14:nvPr/>
              </p14:nvContentPartPr>
              <p14:xfrm>
                <a:off x="8210400" y="3238110"/>
                <a:ext cx="360" cy="2462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E4D70C-03FE-4CDE-B59B-F78DABEA23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92400" y="3220113"/>
                  <a:ext cx="36000" cy="24980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C0CA82-0CBA-4BC4-8C1A-E41CDED9EE43}"/>
                    </a:ext>
                  </a:extLst>
                </p14:cNvPr>
                <p14:cNvContentPartPr/>
                <p14:nvPr/>
              </p14:nvContentPartPr>
              <p14:xfrm>
                <a:off x="8210400" y="5703030"/>
                <a:ext cx="42768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C0CA82-0CBA-4BC4-8C1A-E41CDED9EE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92400" y="5685030"/>
                  <a:ext cx="463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DFD35B-C898-4A97-B729-AC110322A146}"/>
                    </a:ext>
                  </a:extLst>
                </p14:cNvPr>
                <p14:cNvContentPartPr/>
                <p14:nvPr/>
              </p14:nvContentPartPr>
              <p14:xfrm>
                <a:off x="8200680" y="3236310"/>
                <a:ext cx="4449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DFD35B-C898-4A97-B729-AC110322A14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182680" y="3218310"/>
                  <a:ext cx="480600" cy="360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4C4BF63-3BAE-4358-898A-6862C226C7D5}"/>
                </a:ext>
              </a:extLst>
            </p:cNvPr>
            <p:cNvGrpSpPr/>
            <p:nvPr/>
          </p:nvGrpSpPr>
          <p:grpSpPr>
            <a:xfrm>
              <a:off x="8547360" y="5617350"/>
              <a:ext cx="92160" cy="176760"/>
              <a:chOff x="8547360" y="5617350"/>
              <a:chExt cx="92160" cy="1767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B05D34EE-09E6-48D2-84E5-7F52F0AD4AF3}"/>
                      </a:ext>
                    </a:extLst>
                  </p14:cNvPr>
                  <p14:cNvContentPartPr/>
                  <p14:nvPr/>
                </p14:nvContentPartPr>
                <p14:xfrm>
                  <a:off x="8559960" y="5617350"/>
                  <a:ext cx="79560" cy="6876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B05D34EE-09E6-48D2-84E5-7F52F0AD4AF3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8541878" y="5599350"/>
                    <a:ext cx="115362" cy="104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35" name="Ink 34">
                    <a:extLst>
                      <a:ext uri="{FF2B5EF4-FFF2-40B4-BE49-F238E27FC236}">
                        <a16:creationId xmlns:a16="http://schemas.microsoft.com/office/drawing/2014/main" id="{4DDD2D05-122A-4C80-A8AE-21FBE958B9D0}"/>
                      </a:ext>
                    </a:extLst>
                  </p14:cNvPr>
                  <p14:cNvContentPartPr/>
                  <p14:nvPr/>
                </p14:nvContentPartPr>
                <p14:xfrm>
                  <a:off x="8547360" y="5686110"/>
                  <a:ext cx="72720" cy="108000"/>
                </p14:xfrm>
              </p:contentPart>
            </mc:Choice>
            <mc:Fallback xmlns="">
              <p:pic>
                <p:nvPicPr>
                  <p:cNvPr id="35" name="Ink 34">
                    <a:extLst>
                      <a:ext uri="{FF2B5EF4-FFF2-40B4-BE49-F238E27FC236}">
                        <a16:creationId xmlns:a16="http://schemas.microsoft.com/office/drawing/2014/main" id="{4DDD2D05-122A-4C80-A8AE-21FBE958B9D0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8529360" y="5668110"/>
                    <a:ext cx="108360" cy="1436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DB6C853A-59F0-49A7-962D-5B3C0E37B52E}"/>
              </a:ext>
            </a:extLst>
          </p:cNvPr>
          <p:cNvSpPr txBox="1"/>
          <p:nvPr/>
        </p:nvSpPr>
        <p:spPr>
          <a:xfrm>
            <a:off x="7754115" y="4236635"/>
            <a:ext cx="497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rgbClr val="00B0F0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286069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27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6BB6-ABFF-4AB0-A5CE-FD68DC6E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Test your knowledge: What will be output?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2857-2713-4BD3-BE9D-FFF366609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052736"/>
            <a:ext cx="6891753" cy="23762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for (int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= 10;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&gt; 0;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--)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(“Iteration: ” +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81287-BB07-46FC-ABD8-FB56B5D90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0676" y="1052736"/>
            <a:ext cx="3108708" cy="2308902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10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EE5BA95-E6A4-4AD5-BD96-B9DAF828A5B6}"/>
              </a:ext>
            </a:extLst>
          </p:cNvPr>
          <p:cNvSpPr txBox="1">
            <a:spLocks/>
          </p:cNvSpPr>
          <p:nvPr/>
        </p:nvSpPr>
        <p:spPr>
          <a:xfrm>
            <a:off x="1218883" y="3793686"/>
            <a:ext cx="6891753" cy="144016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for (int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= 10;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&gt; 0;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-=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(“Iteration: ” +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A911CC3-6913-44BC-BA2E-93ACC221CC8B}"/>
              </a:ext>
            </a:extLst>
          </p:cNvPr>
          <p:cNvSpPr txBox="1">
            <a:spLocks/>
          </p:cNvSpPr>
          <p:nvPr/>
        </p:nvSpPr>
        <p:spPr>
          <a:xfrm>
            <a:off x="8470676" y="3793686"/>
            <a:ext cx="3108708" cy="122413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10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8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4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C2850-D9BC-452B-AEB6-E282FDA5CDAC}"/>
              </a:ext>
            </a:extLst>
          </p:cNvPr>
          <p:cNvSpPr txBox="1"/>
          <p:nvPr/>
        </p:nvSpPr>
        <p:spPr>
          <a:xfrm>
            <a:off x="4664759" y="3356992"/>
            <a:ext cx="3916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FFFF00"/>
                </a:solidFill>
              </a:rPr>
              <a:t>Recall:</a:t>
            </a:r>
            <a:r>
              <a:rPr lang="en-CA" sz="1800" dirty="0"/>
              <a:t> </a:t>
            </a:r>
            <a:r>
              <a:rPr lang="en-CA" sz="1800" dirty="0" err="1">
                <a:solidFill>
                  <a:srgbClr val="92D050"/>
                </a:solidFill>
                <a:latin typeface="Consolas" panose="020B0609020204030204" pitchFamily="49" charset="0"/>
              </a:rPr>
              <a:t>i</a:t>
            </a:r>
            <a:r>
              <a:rPr lang="en-CA" sz="1800" dirty="0">
                <a:solidFill>
                  <a:srgbClr val="92D050"/>
                </a:solidFill>
                <a:latin typeface="Consolas" panose="020B0609020204030204" pitchFamily="49" charset="0"/>
              </a:rPr>
              <a:t> -= 2</a:t>
            </a:r>
            <a:r>
              <a:rPr lang="en-CA" sz="1800" dirty="0">
                <a:solidFill>
                  <a:srgbClr val="92D050"/>
                </a:solidFill>
              </a:rPr>
              <a:t> </a:t>
            </a:r>
            <a:r>
              <a:rPr lang="en-CA" sz="1800" dirty="0"/>
              <a:t>is the same as </a:t>
            </a:r>
            <a:r>
              <a:rPr lang="en-CA" sz="1800" dirty="0" err="1">
                <a:solidFill>
                  <a:srgbClr val="92D050"/>
                </a:solidFill>
                <a:latin typeface="Consolas" panose="020B0609020204030204" pitchFamily="49" charset="0"/>
              </a:rPr>
              <a:t>i</a:t>
            </a:r>
            <a:r>
              <a:rPr lang="en-CA" sz="1800" dirty="0">
                <a:solidFill>
                  <a:srgbClr val="92D050"/>
                </a:solidFill>
                <a:latin typeface="Consolas" panose="020B0609020204030204" pitchFamily="49" charset="0"/>
              </a:rPr>
              <a:t> = i-2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165CB9-ED8D-4F43-9FBF-F17F384DB9FB}"/>
              </a:ext>
            </a:extLst>
          </p:cNvPr>
          <p:cNvSpPr txBox="1">
            <a:spLocks/>
          </p:cNvSpPr>
          <p:nvPr/>
        </p:nvSpPr>
        <p:spPr>
          <a:xfrm>
            <a:off x="1210449" y="5229200"/>
            <a:ext cx="6891753" cy="144016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for (int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= 3;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&lt;= 12;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 += 3)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 err="1"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latin typeface="Consolas" panose="020B0609020204030204" pitchFamily="49" charset="0"/>
              </a:rPr>
              <a:t>(“Iteration: ” + </a:t>
            </a:r>
            <a:r>
              <a:rPr lang="en-CA" sz="2000" dirty="0" err="1">
                <a:latin typeface="Consolas" panose="020B0609020204030204" pitchFamily="49" charset="0"/>
              </a:rPr>
              <a:t>i</a:t>
            </a:r>
            <a:r>
              <a:rPr lang="en-CA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4700714-BCB9-488A-8B6F-D7ACD74DCC18}"/>
              </a:ext>
            </a:extLst>
          </p:cNvPr>
          <p:cNvSpPr txBox="1">
            <a:spLocks/>
          </p:cNvSpPr>
          <p:nvPr/>
        </p:nvSpPr>
        <p:spPr>
          <a:xfrm>
            <a:off x="8470676" y="5445224"/>
            <a:ext cx="3108708" cy="10081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9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140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Iteration: 12</a:t>
            </a:r>
            <a:endParaRPr lang="en-CA" sz="1400" dirty="0">
              <a:solidFill>
                <a:schemeClr val="tx1">
                  <a:lumMod val="8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70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/>
      <p:bldP spid="6" grpId="0" animBg="1"/>
      <p:bldP spid="7" grpId="0"/>
      <p:bldP spid="10" grpId="0"/>
      <p:bldP spid="11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FC2D-8502-48C8-A658-1DE0423DB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Documenting </a:t>
            </a:r>
            <a:r>
              <a:rPr lang="en-CA"/>
              <a:t>a loop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EE8D6-8421-45AA-B932-4BB740723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 lnSpcReduction="10000"/>
          </a:bodyPr>
          <a:lstStyle/>
          <a:p>
            <a:r>
              <a:rPr lang="en-CA" dirty="0"/>
              <a:t>As was previously taught, all control structures are documented in the same manner</a:t>
            </a:r>
          </a:p>
          <a:p>
            <a:pPr lvl="1"/>
            <a:r>
              <a:rPr lang="en-CA" dirty="0"/>
              <a:t>One comment above the whole structure that </a:t>
            </a:r>
            <a:r>
              <a:rPr lang="en-CA"/>
              <a:t>discusses its </a:t>
            </a:r>
            <a:r>
              <a:rPr lang="en-CA" dirty="0"/>
              <a:t>purpose</a:t>
            </a:r>
          </a:p>
          <a:p>
            <a:pPr lvl="1"/>
            <a:r>
              <a:rPr lang="en-CA" dirty="0"/>
              <a:t>Code within is broken into blocks and documented as normal</a:t>
            </a:r>
          </a:p>
          <a:p>
            <a:pPr marL="0" indent="0">
              <a:buNone/>
            </a:pPr>
            <a:r>
              <a:rPr lang="en-CA" dirty="0"/>
              <a:t>For example: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//Loop through and display all the even numbers from 10 to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400" dirty="0">
                <a:latin typeface="Consolas" panose="020B0609020204030204" pitchFamily="49" charset="0"/>
              </a:rPr>
              <a:t>for (int </a:t>
            </a:r>
            <a:r>
              <a:rPr lang="en-CA" sz="2400" dirty="0" err="1">
                <a:latin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</a:rPr>
              <a:t> = 10; </a:t>
            </a:r>
            <a:r>
              <a:rPr lang="en-CA" sz="2400" dirty="0" err="1">
                <a:latin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</a:rPr>
              <a:t> &gt; 0; </a:t>
            </a:r>
            <a:r>
              <a:rPr lang="en-CA" sz="2400" dirty="0" err="1">
                <a:latin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</a:rPr>
              <a:t> -= 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400" dirty="0">
                <a:solidFill>
                  <a:srgbClr val="92D050"/>
                </a:solidFill>
                <a:latin typeface="Consolas" panose="020B0609020204030204" pitchFamily="49" charset="0"/>
              </a:rPr>
              <a:t>  //Display the current value of </a:t>
            </a:r>
            <a:r>
              <a:rPr lang="en-CA" sz="2400" dirty="0" err="1">
                <a:solidFill>
                  <a:srgbClr val="92D050"/>
                </a:solidFill>
                <a:latin typeface="Consolas" panose="020B0609020204030204" pitchFamily="49" charset="0"/>
              </a:rPr>
              <a:t>i</a:t>
            </a:r>
            <a:endParaRPr lang="en-CA" sz="2400" dirty="0">
              <a:solidFill>
                <a:srgbClr val="92D05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400" dirty="0">
                <a:latin typeface="Consolas" panose="020B0609020204030204" pitchFamily="49" charset="0"/>
              </a:rPr>
              <a:t>  </a:t>
            </a:r>
            <a:r>
              <a:rPr lang="en-CA" sz="2400" dirty="0" err="1">
                <a:latin typeface="Consolas" panose="020B0609020204030204" pitchFamily="49" charset="0"/>
              </a:rPr>
              <a:t>Console.WriteLine</a:t>
            </a:r>
            <a:r>
              <a:rPr lang="en-CA" sz="2400" dirty="0">
                <a:latin typeface="Consolas" panose="020B0609020204030204" pitchFamily="49" charset="0"/>
              </a:rPr>
              <a:t>(“Iteration: ” + </a:t>
            </a:r>
            <a:r>
              <a:rPr lang="en-CA" sz="2400" dirty="0" err="1">
                <a:latin typeface="Consolas" panose="020B0609020204030204" pitchFamily="49" charset="0"/>
              </a:rPr>
              <a:t>i</a:t>
            </a:r>
            <a:r>
              <a:rPr lang="en-CA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</a:pPr>
            <a:r>
              <a:rPr lang="en-CA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7439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1222</Words>
  <Application>Microsoft Office PowerPoint</Application>
  <PresentationFormat>Custom</PresentationFormat>
  <Paragraphs>230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Wingdings</vt:lpstr>
      <vt:lpstr>Tech 16x9</vt:lpstr>
      <vt:lpstr>Loops</vt:lpstr>
      <vt:lpstr>Objectives</vt:lpstr>
      <vt:lpstr>Loop</vt:lpstr>
      <vt:lpstr>Loop</vt:lpstr>
      <vt:lpstr>Let’s try an experiment…</vt:lpstr>
      <vt:lpstr>Let’s try an experiment…</vt:lpstr>
      <vt:lpstr>Loop usefulness</vt:lpstr>
      <vt:lpstr>The components of a loop</vt:lpstr>
      <vt:lpstr>There are two types of Loops</vt:lpstr>
      <vt:lpstr>Counted Loops (for loops)</vt:lpstr>
      <vt:lpstr>Building our for loop, the syntax…</vt:lpstr>
      <vt:lpstr>Loop Order of Operation</vt:lpstr>
      <vt:lpstr>Test your knowledge: What will be output?</vt:lpstr>
      <vt:lpstr>Documenting a loop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</dc:title>
  <dc:creator>Trevor Lane</dc:creator>
  <cp:lastModifiedBy>Lane, Trevor</cp:lastModifiedBy>
  <cp:revision>21</cp:revision>
  <dcterms:created xsi:type="dcterms:W3CDTF">2020-11-22T15:43:15Z</dcterms:created>
  <dcterms:modified xsi:type="dcterms:W3CDTF">2025-04-30T12:02:53Z</dcterms:modified>
</cp:coreProperties>
</file>