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5"/>
  </p:notesMasterIdLst>
  <p:handoutMasterIdLst>
    <p:handoutMasterId r:id="rId16"/>
  </p:handoutMasterIdLst>
  <p:sldIdLst>
    <p:sldId id="257" r:id="rId5"/>
    <p:sldId id="287" r:id="rId6"/>
    <p:sldId id="269" r:id="rId7"/>
    <p:sldId id="270" r:id="rId8"/>
    <p:sldId id="271" r:id="rId9"/>
    <p:sldId id="277" r:id="rId10"/>
    <p:sldId id="278" r:id="rId11"/>
    <p:sldId id="279" r:id="rId12"/>
    <p:sldId id="283" r:id="rId13"/>
    <p:sldId id="284" r:id="rId14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>
      <p:cViewPr varScale="1">
        <p:scale>
          <a:sx n="123" d="100"/>
          <a:sy n="123" d="100"/>
        </p:scale>
        <p:origin x="108" y="288"/>
      </p:cViewPr>
      <p:guideLst>
        <p:guide orient="horz" pos="2160"/>
        <p:guide pos="383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5/6/2026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5/6/2026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 altLang="en-US"/>
          </a:p>
        </p:txBody>
      </p:sp>
      <p:sp>
        <p:nvSpPr>
          <p:cNvPr id="522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5DAC0739-7C9D-4D7E-8286-EFBAD179250E}" type="slidenum">
              <a:rPr lang="en-CA" altLang="en-US">
                <a:latin typeface="Calibri" panose="020F0502020204030204" pitchFamily="34" charset="0"/>
              </a:rPr>
              <a:pPr/>
              <a:t>3</a:t>
            </a:fld>
            <a:endParaRPr lang="en-CA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91917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 altLang="en-US"/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1736800C-5085-40CB-B226-CDF75E344D86}" type="slidenum">
              <a:rPr lang="en-CA" altLang="en-US">
                <a:latin typeface="Calibri" panose="020F0502020204030204" pitchFamily="34" charset="0"/>
              </a:rPr>
              <a:pPr/>
              <a:t>4</a:t>
            </a:fld>
            <a:endParaRPr lang="en-CA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62779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 altLang="en-US"/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09B81670-2CB3-43D6-A0BF-A00B553D0C01}" type="slidenum">
              <a:rPr lang="en-CA" altLang="en-US">
                <a:latin typeface="Calibri" panose="020F0502020204030204" pitchFamily="34" charset="0"/>
              </a:rPr>
              <a:pPr/>
              <a:t>5</a:t>
            </a:fld>
            <a:endParaRPr lang="en-CA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34111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 altLang="en-US"/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14934C7-07C7-4D69-AFBE-9E56BCD35A30}" type="slidenum">
              <a:rPr lang="en-CA" altLang="en-US">
                <a:latin typeface="Calibri" panose="020F0502020204030204" pitchFamily="34" charset="0"/>
              </a:rPr>
              <a:pPr/>
              <a:t>6</a:t>
            </a:fld>
            <a:endParaRPr lang="en-CA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49015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 altLang="en-US"/>
          </a:p>
        </p:txBody>
      </p:sp>
      <p:sp>
        <p:nvSpPr>
          <p:cNvPr id="563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32ED3C0-B22A-419F-9E38-C68A9D7DC017}" type="slidenum">
              <a:rPr lang="en-CA" altLang="en-US">
                <a:latin typeface="Calibri" panose="020F0502020204030204" pitchFamily="34" charset="0"/>
              </a:rPr>
              <a:pPr/>
              <a:t>7</a:t>
            </a:fld>
            <a:endParaRPr lang="en-CA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42258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 altLang="en-US"/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9CBD7206-0C26-43B2-A915-F15B002CCB11}" type="slidenum">
              <a:rPr lang="en-CA" altLang="en-US">
                <a:latin typeface="Calibri" panose="020F0502020204030204" pitchFamily="34" charset="0"/>
              </a:rPr>
              <a:pPr/>
              <a:t>8</a:t>
            </a:fld>
            <a:endParaRPr lang="en-CA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18507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 altLang="en-US"/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F2471D1-FEF9-493A-B727-89B8E423B9E4}" type="slidenum">
              <a:rPr lang="en-CA" altLang="en-US">
                <a:latin typeface="Calibri" panose="020F0502020204030204" pitchFamily="34" charset="0"/>
              </a:rPr>
              <a:pPr/>
              <a:t>9</a:t>
            </a:fld>
            <a:endParaRPr lang="en-CA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17651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 altLang="en-US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5548BF6A-4FF7-4A33-BC7B-FC674853915E}" type="slidenum">
              <a:rPr lang="en-CA" altLang="en-US">
                <a:latin typeface="Calibri" panose="020F0502020204030204" pitchFamily="34" charset="0"/>
              </a:rPr>
              <a:pPr/>
              <a:t>10</a:t>
            </a:fld>
            <a:endParaRPr lang="en-CA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51297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5/6/2026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5/6/2026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5/6/2026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5/6/2026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5/6/2026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5/6/2026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5/6/2026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5/6/2026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5/6/2026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5/6/2026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5/6/2026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5/6/2026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Pseudocode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Design 2.0 – Lesson 2</a:t>
            </a:r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CE355-4BAD-46B8-BB2A-63DB46946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9612" y="533400"/>
            <a:ext cx="8229600" cy="951384"/>
          </a:xfrm>
        </p:spPr>
        <p:txBody>
          <a:bodyPr/>
          <a:lstStyle/>
          <a:p>
            <a:r>
              <a:rPr lang="en-CA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879270-9961-4BBD-A517-89A000D70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3892" y="1700808"/>
            <a:ext cx="9865096" cy="4812544"/>
          </a:xfrm>
        </p:spPr>
        <p:txBody>
          <a:bodyPr>
            <a:normAutofit/>
          </a:bodyPr>
          <a:lstStyle/>
          <a:p>
            <a:r>
              <a:rPr lang="en-CA" dirty="0"/>
              <a:t>Be able to design programs consisting of counted or conditional loop</a:t>
            </a:r>
          </a:p>
          <a:p>
            <a:endParaRPr lang="en-CA" dirty="0"/>
          </a:p>
          <a:p>
            <a:r>
              <a:rPr lang="en-CA" dirty="0"/>
              <a:t>Apply design knowledge to solve more complex problems</a:t>
            </a:r>
          </a:p>
        </p:txBody>
      </p:sp>
    </p:spTree>
    <p:extLst>
      <p:ext uri="{BB962C8B-B14F-4D97-AF65-F5344CB8AC3E}">
        <p14:creationId xmlns:p14="http://schemas.microsoft.com/office/powerpoint/2010/main" val="2942526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CA" dirty="0">
                <a:solidFill>
                  <a:schemeClr val="tx2">
                    <a:tint val="100000"/>
                    <a:satMod val="250000"/>
                  </a:schemeClr>
                </a:solidFill>
              </a:rPr>
              <a:t>WHILE (</a:t>
            </a:r>
            <a:r>
              <a:rPr lang="en-CA" dirty="0" smtClean="0">
                <a:solidFill>
                  <a:schemeClr val="tx2">
                    <a:tint val="100000"/>
                    <a:satMod val="250000"/>
                  </a:schemeClr>
                </a:solidFill>
              </a:rPr>
              <a:t>Used </a:t>
            </a:r>
            <a:r>
              <a:rPr lang="en-CA" dirty="0">
                <a:solidFill>
                  <a:schemeClr val="tx2">
                    <a:tint val="100000"/>
                    <a:satMod val="250000"/>
                  </a:schemeClr>
                </a:solidFill>
              </a:rPr>
              <a:t>for Conditional Loops)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CA" altLang="en-US" dirty="0"/>
              <a:t>The </a:t>
            </a:r>
            <a:r>
              <a:rPr lang="en-CA" altLang="en-US" dirty="0">
                <a:solidFill>
                  <a:srgbClr val="00B0F0"/>
                </a:solidFill>
              </a:rPr>
              <a:t>WHILE</a:t>
            </a:r>
            <a:r>
              <a:rPr lang="en-CA" altLang="en-US" dirty="0"/>
              <a:t> construct is used to specify a loop with a test at the top</a:t>
            </a:r>
          </a:p>
          <a:p>
            <a:pPr eaLnBrk="1" hangingPunct="1"/>
            <a:endParaRPr lang="en-CA" altLang="en-US" dirty="0"/>
          </a:p>
          <a:p>
            <a:pPr eaLnBrk="1" hangingPunct="1"/>
            <a:r>
              <a:rPr lang="en-CA" altLang="en-US" dirty="0"/>
              <a:t>The beginning and ending of the loop are indicated by two keywords</a:t>
            </a:r>
          </a:p>
          <a:p>
            <a:pPr lvl="1" eaLnBrk="1" hangingPunct="1"/>
            <a:r>
              <a:rPr lang="en-CA" altLang="en-US" dirty="0">
                <a:solidFill>
                  <a:srgbClr val="00B0F0"/>
                </a:solidFill>
              </a:rPr>
              <a:t>WHILE</a:t>
            </a:r>
          </a:p>
          <a:p>
            <a:pPr lvl="1" eaLnBrk="1" hangingPunct="1"/>
            <a:r>
              <a:rPr lang="en-CA" altLang="en-US" dirty="0">
                <a:solidFill>
                  <a:srgbClr val="00B0F0"/>
                </a:solidFill>
              </a:rPr>
              <a:t>ENDWHILE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800" decel="100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800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800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800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8883" y="1196752"/>
            <a:ext cx="10360501" cy="5112567"/>
          </a:xfrm>
        </p:spPr>
        <p:txBody>
          <a:bodyPr>
            <a:normAutofit/>
          </a:bodyPr>
          <a:lstStyle/>
          <a:p>
            <a:pPr marL="320040" indent="-320040">
              <a:buFont typeface="Wingdings 2"/>
              <a:buChar char=""/>
              <a:defRPr/>
            </a:pPr>
            <a:r>
              <a:rPr lang="en-CA" dirty="0"/>
              <a:t>The general form is:</a:t>
            </a:r>
          </a:p>
          <a:p>
            <a:pPr marL="320040" indent="-320040">
              <a:buNone/>
              <a:defRPr/>
            </a:pPr>
            <a:endParaRPr lang="en-CA" dirty="0"/>
          </a:p>
          <a:p>
            <a:pPr marL="320040" indent="-320040">
              <a:buNone/>
              <a:defRPr/>
            </a:pPr>
            <a:endParaRPr lang="en-CA" dirty="0"/>
          </a:p>
          <a:p>
            <a:pPr marL="320040" indent="-320040">
              <a:buNone/>
              <a:defRPr/>
            </a:pPr>
            <a:endParaRPr lang="en-CA" dirty="0"/>
          </a:p>
          <a:p>
            <a:pPr marL="320040" indent="-320040">
              <a:buFont typeface="Wingdings 2"/>
              <a:buChar char=""/>
              <a:defRPr/>
            </a:pPr>
            <a:endParaRPr lang="en-CA" dirty="0"/>
          </a:p>
          <a:p>
            <a:pPr marL="320040" indent="-320040">
              <a:buFont typeface="Wingdings 2"/>
              <a:buChar char=""/>
              <a:defRPr/>
            </a:pPr>
            <a:r>
              <a:rPr lang="en-CA" dirty="0"/>
              <a:t>The loop is entered only if the condition is true</a:t>
            </a:r>
          </a:p>
          <a:p>
            <a:pPr marL="320040" indent="-320040">
              <a:buFont typeface="Wingdings 2"/>
              <a:buChar char=""/>
              <a:defRPr/>
            </a:pPr>
            <a:r>
              <a:rPr lang="en-CA" dirty="0"/>
              <a:t>The "</a:t>
            </a:r>
            <a:r>
              <a:rPr lang="en-CA" dirty="0">
                <a:solidFill>
                  <a:srgbClr val="00B0F0"/>
                </a:solidFill>
              </a:rPr>
              <a:t>sequence</a:t>
            </a:r>
            <a:r>
              <a:rPr lang="en-CA" dirty="0"/>
              <a:t>" is performed for </a:t>
            </a:r>
            <a:r>
              <a:rPr lang="en-CA" dirty="0">
                <a:solidFill>
                  <a:srgbClr val="FFFF00"/>
                </a:solidFill>
              </a:rPr>
              <a:t>EACH</a:t>
            </a:r>
            <a:r>
              <a:rPr lang="en-CA" dirty="0"/>
              <a:t> iteration</a:t>
            </a:r>
          </a:p>
          <a:p>
            <a:pPr marL="320040" indent="-320040">
              <a:buFont typeface="Wingdings 2"/>
              <a:buChar char=""/>
              <a:defRPr/>
            </a:pPr>
            <a:r>
              <a:rPr lang="en-CA" dirty="0"/>
              <a:t>At the conclusion of each iteration, the condition is evaluated and the loop continues as long as the condition is true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850107"/>
          </a:xfrm>
        </p:spPr>
        <p:txBody>
          <a:bodyPr/>
          <a:lstStyle/>
          <a:p>
            <a:pPr>
              <a:defRPr/>
            </a:pPr>
            <a:r>
              <a:rPr lang="en-CA" dirty="0">
                <a:solidFill>
                  <a:schemeClr val="tx2">
                    <a:tint val="100000"/>
                    <a:satMod val="250000"/>
                  </a:schemeClr>
                </a:solidFill>
              </a:rPr>
              <a:t>WHILE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0337DE-2802-44C8-8A40-1C5E5F6158C4}"/>
              </a:ext>
            </a:extLst>
          </p:cNvPr>
          <p:cNvSpPr txBox="1"/>
          <p:nvPr/>
        </p:nvSpPr>
        <p:spPr>
          <a:xfrm>
            <a:off x="1413892" y="2044005"/>
            <a:ext cx="2816797" cy="138499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marL="320040" indent="-320040">
              <a:buNone/>
              <a:defRPr/>
            </a:pPr>
            <a:r>
              <a:rPr lang="en-CA" sz="2800" dirty="0">
                <a:solidFill>
                  <a:schemeClr val="tx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WHILE condition</a:t>
            </a:r>
          </a:p>
          <a:p>
            <a:pPr marL="320040" indent="-320040">
              <a:buNone/>
              <a:defRPr/>
            </a:pPr>
            <a:r>
              <a:rPr lang="en-CA" sz="2800" dirty="0">
                <a:solidFill>
                  <a:schemeClr val="tx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	  sequence</a:t>
            </a:r>
          </a:p>
          <a:p>
            <a:pPr marL="320040" indent="-320040">
              <a:buNone/>
              <a:defRPr/>
            </a:pPr>
            <a:r>
              <a:rPr lang="en-CA" sz="2800" dirty="0">
                <a:solidFill>
                  <a:schemeClr val="tx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ENDWHILE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CA" dirty="0">
                <a:solidFill>
                  <a:schemeClr val="tx2">
                    <a:tint val="100000"/>
                    <a:satMod val="250000"/>
                  </a:schemeClr>
                </a:solidFill>
              </a:rPr>
              <a:t>WHILE</a:t>
            </a:r>
          </a:p>
        </p:txBody>
      </p:sp>
      <p:sp>
        <p:nvSpPr>
          <p:cNvPr id="24580" name="Content Placeholder 2"/>
          <p:cNvSpPr>
            <a:spLocks noGrp="1"/>
          </p:cNvSpPr>
          <p:nvPr>
            <p:ph idx="1"/>
          </p:nvPr>
        </p:nvSpPr>
        <p:spPr>
          <a:xfrm>
            <a:off x="1218883" y="1701797"/>
            <a:ext cx="10360501" cy="575075"/>
          </a:xfrm>
        </p:spPr>
        <p:txBody>
          <a:bodyPr>
            <a:normAutofit/>
          </a:bodyPr>
          <a:lstStyle/>
          <a:p>
            <a:pPr marL="0" indent="0" eaLnBrk="1" hangingPunct="1">
              <a:buNone/>
            </a:pPr>
            <a:r>
              <a:rPr lang="en-CA" altLang="en-US" dirty="0">
                <a:solidFill>
                  <a:srgbClr val="FF0000"/>
                </a:solidFill>
              </a:rPr>
              <a:t>Example: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8CB922-D347-4775-BF8E-7FEB7C61231D}"/>
              </a:ext>
            </a:extLst>
          </p:cNvPr>
          <p:cNvSpPr txBox="1"/>
          <p:nvPr/>
        </p:nvSpPr>
        <p:spPr>
          <a:xfrm>
            <a:off x="1218882" y="2276872"/>
            <a:ext cx="9916089" cy="224676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eaLnBrk="1" hangingPunct="1">
              <a:buFont typeface="Wingdings 2" panose="05020102010507070707" pitchFamily="18" charset="2"/>
              <a:buNone/>
            </a:pPr>
            <a:r>
              <a:rPr lang="en-CA" altLang="en-US" sz="2800" dirty="0">
                <a:solidFill>
                  <a:schemeClr val="tx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WHILE </a:t>
            </a:r>
            <a:r>
              <a:rPr lang="en-CA" altLang="en-US" sz="2800" dirty="0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population</a:t>
            </a:r>
            <a:r>
              <a:rPr lang="en-CA" altLang="en-US" sz="2800" dirty="0">
                <a:solidFill>
                  <a:schemeClr val="tx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&lt; </a:t>
            </a:r>
            <a:r>
              <a:rPr lang="en-CA" altLang="en-US" sz="280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maxPeople</a:t>
            </a:r>
            <a:endParaRPr lang="en-CA" altLang="en-US" sz="2800" dirty="0">
              <a:solidFill>
                <a:schemeClr val="bg2">
                  <a:lumMod val="60000"/>
                  <a:lumOff val="4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CA" altLang="en-US" sz="2800" dirty="0">
                <a:solidFill>
                  <a:schemeClr val="tx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  COMPUTE </a:t>
            </a:r>
            <a:r>
              <a:rPr lang="en-CA" altLang="en-US" sz="2800" dirty="0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population</a:t>
            </a:r>
            <a:r>
              <a:rPr lang="en-CA" altLang="en-US" sz="2800" dirty="0">
                <a:solidFill>
                  <a:schemeClr val="tx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= </a:t>
            </a:r>
            <a:r>
              <a:rPr lang="en-CA" altLang="en-US" sz="2800" dirty="0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population</a:t>
            </a:r>
            <a:r>
              <a:rPr lang="en-CA" altLang="en-US" sz="2800" dirty="0">
                <a:solidFill>
                  <a:schemeClr val="tx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+ </a:t>
            </a:r>
            <a:r>
              <a:rPr lang="en-CA" altLang="en-US" sz="2800" dirty="0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births</a:t>
            </a:r>
            <a:r>
              <a:rPr lang="en-CA" altLang="en-US" sz="2800" dirty="0">
                <a:solidFill>
                  <a:schemeClr val="tx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– </a:t>
            </a:r>
            <a:r>
              <a:rPr lang="en-CA" altLang="en-US" sz="2800" dirty="0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deaths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CA" altLang="en-US" sz="2800" dirty="0">
                <a:solidFill>
                  <a:schemeClr val="tx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ENDWHILE</a:t>
            </a:r>
          </a:p>
          <a:p>
            <a:pPr eaLnBrk="1" hangingPunct="1">
              <a:buFont typeface="Wingdings 2" panose="05020102010507070707" pitchFamily="18" charset="2"/>
              <a:buNone/>
            </a:pPr>
            <a:endParaRPr lang="en-CA" altLang="en-US" sz="2800" dirty="0">
              <a:solidFill>
                <a:schemeClr val="tx1">
                  <a:lumMod val="9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CA" altLang="en-US" sz="2800" dirty="0">
                <a:solidFill>
                  <a:schemeClr val="tx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DISPLAY “The world is full, time to go off world”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CA" dirty="0">
                <a:solidFill>
                  <a:schemeClr val="tx2">
                    <a:tint val="100000"/>
                    <a:satMod val="250000"/>
                  </a:schemeClr>
                </a:solidFill>
              </a:rPr>
              <a:t>FOR (Used for counted loops)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CA" altLang="en-US" dirty="0"/>
              <a:t>This loop is a specialized construct for iterating a specific number of times</a:t>
            </a:r>
          </a:p>
          <a:p>
            <a:pPr eaLnBrk="1" hangingPunct="1"/>
            <a:endParaRPr lang="en-CA" altLang="en-US" dirty="0"/>
          </a:p>
          <a:p>
            <a:pPr eaLnBrk="1" hangingPunct="1"/>
            <a:r>
              <a:rPr lang="en-CA" altLang="en-US" dirty="0"/>
              <a:t>Two keywords:</a:t>
            </a:r>
          </a:p>
          <a:p>
            <a:pPr lvl="1" eaLnBrk="1" hangingPunct="1"/>
            <a:r>
              <a:rPr lang="en-CA" altLang="en-US" dirty="0">
                <a:solidFill>
                  <a:srgbClr val="00B0F0"/>
                </a:solidFill>
              </a:rPr>
              <a:t>FOR</a:t>
            </a:r>
          </a:p>
          <a:p>
            <a:pPr lvl="1" eaLnBrk="1" hangingPunct="1"/>
            <a:r>
              <a:rPr lang="en-CA" altLang="en-US" dirty="0">
                <a:solidFill>
                  <a:srgbClr val="00B0F0"/>
                </a:solidFill>
              </a:rPr>
              <a:t>ENDFOR</a:t>
            </a:r>
          </a:p>
          <a:p>
            <a:pPr lvl="1" eaLnBrk="1" hangingPunct="1"/>
            <a:r>
              <a:rPr lang="en-CA" altLang="en-US" dirty="0">
                <a:solidFill>
                  <a:srgbClr val="00B0F0"/>
                </a:solidFill>
              </a:rPr>
              <a:t>BY</a:t>
            </a:r>
            <a:r>
              <a:rPr lang="en-CA" altLang="en-US" dirty="0"/>
              <a:t> </a:t>
            </a:r>
            <a:r>
              <a:rPr lang="en-CA" altLang="en-US" dirty="0">
                <a:sym typeface="Wingdings" panose="05000000000000000000" pitchFamily="2" charset="2"/>
              </a:rPr>
              <a:t> </a:t>
            </a:r>
            <a:r>
              <a:rPr lang="en-CA" altLang="en-US" dirty="0">
                <a:solidFill>
                  <a:srgbClr val="FFFF00"/>
                </a:solidFill>
                <a:sym typeface="Wingdings" panose="05000000000000000000" pitchFamily="2" charset="2"/>
              </a:rPr>
              <a:t>Optional keyword</a:t>
            </a:r>
            <a:endParaRPr lang="en-CA" altLang="en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800" decel="100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800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800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800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Content Placeholder 2"/>
          <p:cNvSpPr>
            <a:spLocks noGrp="1"/>
          </p:cNvSpPr>
          <p:nvPr>
            <p:ph idx="1"/>
          </p:nvPr>
        </p:nvSpPr>
        <p:spPr>
          <a:xfrm>
            <a:off x="1218883" y="1701797"/>
            <a:ext cx="10360501" cy="3311379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CA" altLang="en-US" dirty="0"/>
              <a:t>The general form is:</a:t>
            </a:r>
          </a:p>
          <a:p>
            <a:pPr eaLnBrk="1" hangingPunct="1"/>
            <a:endParaRPr lang="en-CA" altLang="en-US" dirty="0"/>
          </a:p>
          <a:p>
            <a:pPr eaLnBrk="1" hangingPunct="1"/>
            <a:endParaRPr lang="en-CA" altLang="en-US" dirty="0"/>
          </a:p>
          <a:p>
            <a:pPr eaLnBrk="1" hangingPunct="1"/>
            <a:endParaRPr lang="en-CA" altLang="en-US" dirty="0"/>
          </a:p>
          <a:p>
            <a:pPr eaLnBrk="1" hangingPunct="1"/>
            <a:r>
              <a:rPr lang="en-CA" altLang="en-US" dirty="0"/>
              <a:t>The </a:t>
            </a:r>
            <a:r>
              <a:rPr lang="en-CA" altLang="en-US" dirty="0">
                <a:solidFill>
                  <a:srgbClr val="00B0F0"/>
                </a:solidFill>
              </a:rPr>
              <a:t>BY</a:t>
            </a:r>
            <a:r>
              <a:rPr lang="en-CA" altLang="en-US" dirty="0"/>
              <a:t> section is in square brackets to show it is optional</a:t>
            </a:r>
          </a:p>
          <a:p>
            <a:pPr eaLnBrk="1" hangingPunct="1"/>
            <a:r>
              <a:rPr lang="en-CA" altLang="en-US" dirty="0"/>
              <a:t>Leaving it out implies a change of </a:t>
            </a:r>
            <a:r>
              <a:rPr lang="en-CA" altLang="en-US" dirty="0" smtClean="0"/>
              <a:t>1</a:t>
            </a:r>
            <a:endParaRPr lang="en-CA" alt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CA" dirty="0">
                <a:solidFill>
                  <a:schemeClr val="tx2">
                    <a:tint val="100000"/>
                    <a:satMod val="250000"/>
                  </a:schemeClr>
                </a:solidFill>
              </a:rPr>
              <a:t>FOR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FF11BB-8FE8-44B6-B6FD-001FF752FEF9}"/>
              </a:ext>
            </a:extLst>
          </p:cNvPr>
          <p:cNvSpPr txBox="1"/>
          <p:nvPr/>
        </p:nvSpPr>
        <p:spPr>
          <a:xfrm>
            <a:off x="1341884" y="2348880"/>
            <a:ext cx="6624955" cy="138499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eaLnBrk="1" hangingPunct="1">
              <a:buFont typeface="Wingdings 2" panose="05020102010507070707" pitchFamily="18" charset="2"/>
              <a:buNone/>
            </a:pPr>
            <a:r>
              <a:rPr lang="en-CA" altLang="en-US" sz="2800" dirty="0">
                <a:solidFill>
                  <a:schemeClr val="tx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FOR iteration bounds [BY change amount]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CA" altLang="en-US" sz="2800" dirty="0">
                <a:solidFill>
                  <a:schemeClr val="tx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 Sequence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CA" altLang="en-US" sz="2800" dirty="0">
                <a:solidFill>
                  <a:schemeClr val="tx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ENDFOR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CA" dirty="0">
                <a:solidFill>
                  <a:schemeClr val="tx2">
                    <a:tint val="100000"/>
                    <a:satMod val="250000"/>
                  </a:schemeClr>
                </a:solidFill>
              </a:rPr>
              <a:t>FOR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1773932" y="1557235"/>
            <a:ext cx="4040188" cy="503238"/>
          </a:xfrm>
        </p:spPr>
        <p:txBody>
          <a:bodyPr>
            <a:normAutofit lnSpcReduction="10000"/>
          </a:bodyPr>
          <a:lstStyle/>
          <a:p>
            <a:pPr marL="320040" indent="-320040">
              <a:defRPr/>
            </a:pPr>
            <a:r>
              <a:rPr lang="en-CA" dirty="0">
                <a:solidFill>
                  <a:srgbClr val="FF0000"/>
                </a:solidFill>
              </a:rPr>
              <a:t>Example: Good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half" idx="3"/>
          </p:nvPr>
        </p:nvSpPr>
        <p:spPr>
          <a:xfrm>
            <a:off x="6297016" y="1557235"/>
            <a:ext cx="4041775" cy="503238"/>
          </a:xfrm>
        </p:spPr>
        <p:txBody>
          <a:bodyPr>
            <a:normAutofit fontScale="77500" lnSpcReduction="20000"/>
          </a:bodyPr>
          <a:lstStyle/>
          <a:p>
            <a:pPr marL="320040" indent="-320040">
              <a:defRPr/>
            </a:pPr>
            <a:r>
              <a:rPr lang="en-CA" dirty="0">
                <a:solidFill>
                  <a:srgbClr val="FF0000"/>
                </a:solidFill>
              </a:rPr>
              <a:t>Example: Not so good...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4EE9D4-2472-4FAA-9CD3-AD6BC3E18D50}"/>
              </a:ext>
            </a:extLst>
          </p:cNvPr>
          <p:cNvSpPr txBox="1"/>
          <p:nvPr/>
        </p:nvSpPr>
        <p:spPr>
          <a:xfrm>
            <a:off x="1032128" y="2348880"/>
            <a:ext cx="4679038" cy="138499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eaLnBrk="1" hangingPunct="1">
              <a:buFont typeface="Wingdings 2" panose="05020102010507070707" pitchFamily="18" charset="2"/>
              <a:buNone/>
            </a:pPr>
            <a:r>
              <a:rPr lang="en-CA" altLang="en-US" sz="2800" dirty="0">
                <a:solidFill>
                  <a:schemeClr val="tx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FOR each month of the year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CA" altLang="en-US" sz="2800" dirty="0">
                <a:solidFill>
                  <a:schemeClr val="tx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 DISPLAY </a:t>
            </a:r>
            <a:r>
              <a:rPr lang="en-CA" altLang="en-US" sz="280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monthName</a:t>
            </a:r>
            <a:endParaRPr lang="en-CA" altLang="en-US" sz="2800" dirty="0">
              <a:solidFill>
                <a:schemeClr val="bg2">
                  <a:lumMod val="60000"/>
                  <a:lumOff val="4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CA" altLang="en-US" sz="2800" dirty="0">
                <a:solidFill>
                  <a:schemeClr val="tx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ENDFOR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2FBB22-7834-4DCE-A2D8-A25E76FEB65D}"/>
              </a:ext>
            </a:extLst>
          </p:cNvPr>
          <p:cNvSpPr txBox="1"/>
          <p:nvPr/>
        </p:nvSpPr>
        <p:spPr>
          <a:xfrm>
            <a:off x="6470671" y="2348880"/>
            <a:ext cx="5391733" cy="138499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eaLnBrk="1" hangingPunct="1">
              <a:buFont typeface="Wingdings 2" panose="05020102010507070707" pitchFamily="18" charset="2"/>
              <a:buNone/>
            </a:pPr>
            <a:r>
              <a:rPr lang="en-CA" altLang="en-US" sz="2800" dirty="0">
                <a:solidFill>
                  <a:schemeClr val="tx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FOR </a:t>
            </a:r>
            <a:r>
              <a:rPr lang="en-CA" altLang="en-US" sz="2800" dirty="0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month</a:t>
            </a:r>
            <a:r>
              <a:rPr lang="en-CA" altLang="en-US" sz="2800" dirty="0">
                <a:solidFill>
                  <a:schemeClr val="tx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= 1 to 12 BY 1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CA" altLang="en-US" sz="2800" dirty="0">
                <a:solidFill>
                  <a:schemeClr val="tx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 DISPLAY </a:t>
            </a:r>
            <a:r>
              <a:rPr lang="en-CA" altLang="en-US" sz="2800" dirty="0" err="1" smtClean="0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monthName</a:t>
            </a:r>
            <a:r>
              <a:rPr lang="en-CA" altLang="en-US" sz="2800" dirty="0" smtClean="0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[month]</a:t>
            </a:r>
            <a:endParaRPr lang="en-CA" altLang="en-US" sz="2800" dirty="0">
              <a:solidFill>
                <a:schemeClr val="bg2">
                  <a:lumMod val="60000"/>
                  <a:lumOff val="4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CA" altLang="en-US" sz="2800" dirty="0">
                <a:solidFill>
                  <a:schemeClr val="tx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ENDFOR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1FB510-701F-41DF-A554-22DFA6B3B51A}"/>
              </a:ext>
            </a:extLst>
          </p:cNvPr>
          <p:cNvSpPr txBox="1"/>
          <p:nvPr/>
        </p:nvSpPr>
        <p:spPr>
          <a:xfrm>
            <a:off x="1032128" y="4140544"/>
            <a:ext cx="4679038" cy="138499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eaLnBrk="1" hangingPunct="1">
              <a:buFont typeface="Wingdings 2" panose="05020102010507070707" pitchFamily="18" charset="2"/>
              <a:buNone/>
            </a:pPr>
            <a:r>
              <a:rPr lang="en-CA" altLang="en-US" sz="2800" dirty="0">
                <a:solidFill>
                  <a:schemeClr val="tx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FOR each employee in the list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CA" altLang="en-US" sz="2800" dirty="0">
                <a:solidFill>
                  <a:schemeClr val="tx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 DISPLAY </a:t>
            </a:r>
            <a:r>
              <a:rPr lang="en-CA" altLang="en-US" sz="280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employeeName</a:t>
            </a:r>
            <a:endParaRPr lang="en-CA" altLang="en-US" sz="2800" dirty="0">
              <a:solidFill>
                <a:schemeClr val="bg2">
                  <a:lumMod val="60000"/>
                  <a:lumOff val="4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CA" altLang="en-US" sz="2800" dirty="0">
                <a:solidFill>
                  <a:schemeClr val="tx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ENDFOR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AEE21C-E037-4F8D-82C1-B2DE93DC3136}"/>
              </a:ext>
            </a:extLst>
          </p:cNvPr>
          <p:cNvSpPr txBox="1"/>
          <p:nvPr/>
        </p:nvSpPr>
        <p:spPr>
          <a:xfrm>
            <a:off x="6477660" y="4140543"/>
            <a:ext cx="5384744" cy="129266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eaLnBrk="1" hangingPunct="1">
              <a:buFont typeface="Wingdings 2" panose="05020102010507070707" pitchFamily="18" charset="2"/>
              <a:buNone/>
            </a:pPr>
            <a:r>
              <a:rPr lang="en-CA" altLang="en-US" sz="2600" dirty="0">
                <a:solidFill>
                  <a:schemeClr val="tx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FOR </a:t>
            </a:r>
            <a:r>
              <a:rPr lang="en-CA" altLang="en-US" sz="260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empNum</a:t>
            </a:r>
            <a:r>
              <a:rPr lang="en-CA" altLang="en-US" sz="2600" dirty="0">
                <a:solidFill>
                  <a:schemeClr val="tx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= 1 to </a:t>
            </a:r>
            <a:r>
              <a:rPr lang="en-CA" altLang="en-US" sz="260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listSize</a:t>
            </a:r>
            <a:endParaRPr lang="en-CA" altLang="en-US" sz="2600" dirty="0">
              <a:solidFill>
                <a:schemeClr val="bg2">
                  <a:lumMod val="60000"/>
                  <a:lumOff val="4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CA" altLang="en-US" sz="2600" dirty="0">
                <a:solidFill>
                  <a:schemeClr val="tx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 DISPLAY </a:t>
            </a:r>
            <a:r>
              <a:rPr lang="en-CA" altLang="en-US" sz="2600" dirty="0" err="1" smtClean="0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empName</a:t>
            </a:r>
            <a:r>
              <a:rPr lang="en-CA" altLang="en-US" sz="2600" dirty="0" smtClean="0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[</a:t>
            </a:r>
            <a:r>
              <a:rPr lang="en-CA" altLang="en-US" sz="2600" dirty="0" err="1" smtClean="0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empNum</a:t>
            </a:r>
            <a:r>
              <a:rPr lang="en-CA" altLang="en-US" sz="2600" dirty="0" smtClean="0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- 1]</a:t>
            </a:r>
            <a:endParaRPr lang="en-CA" altLang="en-US" sz="2600" dirty="0">
              <a:solidFill>
                <a:schemeClr val="bg2">
                  <a:lumMod val="60000"/>
                  <a:lumOff val="4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CA" altLang="en-US" sz="2600" dirty="0">
                <a:solidFill>
                  <a:schemeClr val="tx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ENDFOR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0952" y="5852598"/>
            <a:ext cx="102340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rgbClr val="FFFF00"/>
                </a:solidFill>
              </a:rPr>
              <a:t>Remember</a:t>
            </a:r>
            <a:r>
              <a:rPr lang="en-US" sz="2800" dirty="0" smtClean="0"/>
              <a:t>: The goal of a design is to convey logic and understanding</a:t>
            </a:r>
            <a:endParaRPr lang="en-US" sz="28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2" grpId="0" animBg="1"/>
      <p:bldP spid="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9836" y="428604"/>
            <a:ext cx="10873208" cy="77154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CA" dirty="0">
                <a:solidFill>
                  <a:schemeClr val="tx2">
                    <a:tint val="100000"/>
                    <a:satMod val="250000"/>
                  </a:schemeClr>
                </a:solidFill>
              </a:rPr>
              <a:t>Pseudo code </a:t>
            </a:r>
            <a:r>
              <a:rPr lang="en-CA" dirty="0" smtClean="0">
                <a:solidFill>
                  <a:schemeClr val="tx2">
                    <a:tint val="100000"/>
                    <a:satMod val="250000"/>
                  </a:schemeClr>
                </a:solidFill>
              </a:rPr>
              <a:t>Examples: How many pieces have moves available?</a:t>
            </a:r>
            <a:endParaRPr lang="en-CA" dirty="0">
              <a:solidFill>
                <a:schemeClr val="tx2">
                  <a:tint val="100000"/>
                  <a:satMod val="2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514656-4E30-48C1-B026-7702FF46DAA7}"/>
              </a:ext>
            </a:extLst>
          </p:cNvPr>
          <p:cNvSpPr txBox="1"/>
          <p:nvPr/>
        </p:nvSpPr>
        <p:spPr>
          <a:xfrm>
            <a:off x="277691" y="1200144"/>
            <a:ext cx="11633441" cy="489364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eaLnBrk="1" hangingPunct="1">
              <a:buFont typeface="Wingdings 2" panose="05020102010507070707" pitchFamily="18" charset="2"/>
              <a:buNone/>
            </a:pPr>
            <a:r>
              <a:rPr lang="en-CA" altLang="en-US" sz="2600" dirty="0">
                <a:solidFill>
                  <a:schemeClr val="tx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SET </a:t>
            </a:r>
            <a:r>
              <a:rPr lang="en-CA" altLang="en-US" sz="260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moveCount</a:t>
            </a:r>
            <a:r>
              <a:rPr lang="en-CA" altLang="en-US" sz="2600" dirty="0">
                <a:solidFill>
                  <a:schemeClr val="tx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to 0</a:t>
            </a:r>
          </a:p>
          <a:p>
            <a:pPr eaLnBrk="1" hangingPunct="1">
              <a:buFont typeface="Wingdings 2" panose="05020102010507070707" pitchFamily="18" charset="2"/>
              <a:buNone/>
            </a:pPr>
            <a:endParaRPr lang="en-CA" altLang="en-US" sz="2600" dirty="0">
              <a:solidFill>
                <a:schemeClr val="tx1">
                  <a:lumMod val="9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CA" altLang="en-US" sz="2600" dirty="0">
                <a:solidFill>
                  <a:schemeClr val="tx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FOR each </a:t>
            </a:r>
            <a:r>
              <a:rPr lang="en-CA" altLang="en-US" sz="2600" dirty="0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row</a:t>
            </a:r>
            <a:r>
              <a:rPr lang="en-CA" altLang="en-US" sz="2600" dirty="0">
                <a:solidFill>
                  <a:schemeClr val="tx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on the board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CA" altLang="en-US" sz="2600" dirty="0">
                <a:solidFill>
                  <a:schemeClr val="tx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   FOR each </a:t>
            </a:r>
            <a:r>
              <a:rPr lang="en-CA" altLang="en-US" sz="2600" dirty="0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column</a:t>
            </a:r>
            <a:r>
              <a:rPr lang="en-CA" altLang="en-US" sz="2600" dirty="0">
                <a:solidFill>
                  <a:schemeClr val="tx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on the board 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CA" altLang="en-US" sz="2600" dirty="0">
                <a:solidFill>
                  <a:schemeClr val="tx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           IF </a:t>
            </a:r>
            <a:r>
              <a:rPr lang="en-CA" altLang="en-US" sz="260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gameBoardPosition</a:t>
            </a:r>
            <a:r>
              <a:rPr lang="en-CA" altLang="en-US" sz="2600" dirty="0">
                <a:solidFill>
                  <a:schemeClr val="tx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CA" altLang="en-US" sz="2600" dirty="0" smtClean="0">
                <a:solidFill>
                  <a:schemeClr val="tx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[</a:t>
            </a:r>
            <a:r>
              <a:rPr lang="en-CA" altLang="en-US" sz="2600" dirty="0" smtClean="0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row</a:t>
            </a:r>
            <a:r>
              <a:rPr lang="en-CA" altLang="en-US" sz="2600" dirty="0">
                <a:solidFill>
                  <a:schemeClr val="tx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CA" altLang="en-US" sz="2600" dirty="0" smtClean="0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column</a:t>
            </a:r>
            <a:r>
              <a:rPr lang="en-CA" altLang="en-US" sz="2600" dirty="0" smtClean="0">
                <a:solidFill>
                  <a:schemeClr val="tx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] </a:t>
            </a:r>
            <a:r>
              <a:rPr lang="en-CA" altLang="en-US" sz="2600" dirty="0">
                <a:solidFill>
                  <a:schemeClr val="tx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is occupied THEN 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CA" altLang="en-US" sz="2600" dirty="0">
                <a:solidFill>
                  <a:schemeClr val="tx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                  CALL </a:t>
            </a:r>
            <a:r>
              <a:rPr lang="en-CA" altLang="en-US" sz="2600" dirty="0" err="1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FindEmptyAdjacentTiles</a:t>
            </a:r>
            <a:r>
              <a:rPr lang="en-CA" altLang="en-US" sz="2600" dirty="0" smtClean="0">
                <a:solidFill>
                  <a:schemeClr val="tx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CA" altLang="en-US" sz="2600" dirty="0">
                <a:solidFill>
                  <a:schemeClr val="tx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WITH </a:t>
            </a:r>
            <a:r>
              <a:rPr lang="en-CA" altLang="en-US" sz="2600" dirty="0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row</a:t>
            </a:r>
            <a:r>
              <a:rPr lang="en-CA" altLang="en-US" sz="2600" dirty="0">
                <a:solidFill>
                  <a:schemeClr val="tx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CA" altLang="en-US" sz="2600" dirty="0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column</a:t>
            </a:r>
            <a:r>
              <a:rPr lang="en-CA" altLang="en-US" sz="2600" dirty="0">
                <a:solidFill>
                  <a:schemeClr val="tx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RETURN </a:t>
            </a:r>
            <a:r>
              <a:rPr lang="en-CA" altLang="en-US" sz="260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adjCount</a:t>
            </a:r>
            <a:endParaRPr lang="en-CA" altLang="en-US" sz="2600" dirty="0">
              <a:solidFill>
                <a:schemeClr val="bg2">
                  <a:lumMod val="60000"/>
                  <a:lumOff val="4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CA" altLang="en-US" sz="2600" dirty="0">
                <a:solidFill>
                  <a:schemeClr val="tx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	       IF </a:t>
            </a:r>
            <a:r>
              <a:rPr lang="en-CA" altLang="en-US" sz="260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adjCount</a:t>
            </a:r>
            <a:r>
              <a:rPr lang="en-CA" altLang="en-US" sz="2600" dirty="0">
                <a:solidFill>
                  <a:schemeClr val="tx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&gt; 0 THEN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CA" altLang="en-US" sz="2600" dirty="0">
                <a:solidFill>
                  <a:schemeClr val="tx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		INCREMENT </a:t>
            </a:r>
            <a:r>
              <a:rPr lang="en-CA" altLang="en-US" sz="260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moveCount</a:t>
            </a:r>
            <a:endParaRPr lang="en-CA" altLang="en-US" sz="2600" dirty="0">
              <a:solidFill>
                <a:schemeClr val="bg2">
                  <a:lumMod val="60000"/>
                  <a:lumOff val="4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CA" altLang="en-US" sz="2600" dirty="0">
                <a:solidFill>
                  <a:schemeClr val="tx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                   ENDIF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CA" altLang="en-US" sz="2600" dirty="0">
                <a:solidFill>
                  <a:schemeClr val="tx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	END IF 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CA" altLang="en-US" sz="2600" dirty="0">
                <a:solidFill>
                  <a:schemeClr val="tx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    ENDFOR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CA" altLang="en-US" sz="2600" dirty="0">
                <a:solidFill>
                  <a:schemeClr val="tx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ENDFOR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9612" y="371444"/>
            <a:ext cx="8229600" cy="70010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CA" dirty="0">
                <a:solidFill>
                  <a:schemeClr val="tx2">
                    <a:tint val="100000"/>
                    <a:satMod val="250000"/>
                  </a:schemeClr>
                </a:solidFill>
              </a:rPr>
              <a:t>Pseudo code </a:t>
            </a:r>
            <a:r>
              <a:rPr lang="en-CA" dirty="0" smtClean="0">
                <a:solidFill>
                  <a:schemeClr val="tx2">
                    <a:tint val="100000"/>
                    <a:satMod val="250000"/>
                  </a:schemeClr>
                </a:solidFill>
              </a:rPr>
              <a:t>Examples: Calculate class average</a:t>
            </a:r>
            <a:endParaRPr lang="en-CA" dirty="0">
              <a:solidFill>
                <a:schemeClr val="tx2">
                  <a:tint val="100000"/>
                  <a:satMod val="2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50BF7C-E3C1-41DF-9AC6-4A77C5C04521}"/>
              </a:ext>
            </a:extLst>
          </p:cNvPr>
          <p:cNvSpPr txBox="1"/>
          <p:nvPr/>
        </p:nvSpPr>
        <p:spPr>
          <a:xfrm>
            <a:off x="1197868" y="1071546"/>
            <a:ext cx="10009112" cy="526297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eaLnBrk="1" hangingPunct="1">
              <a:buFont typeface="Wingdings 2" panose="05020102010507070707" pitchFamily="18" charset="2"/>
              <a:buNone/>
            </a:pPr>
            <a:r>
              <a:rPr lang="en-CA" altLang="en-US" sz="2800" dirty="0">
                <a:solidFill>
                  <a:schemeClr val="tx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SET </a:t>
            </a:r>
            <a:r>
              <a:rPr lang="en-CA" altLang="en-US" sz="2800" dirty="0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total</a:t>
            </a:r>
            <a:r>
              <a:rPr lang="en-CA" altLang="en-US" sz="2800" dirty="0">
                <a:solidFill>
                  <a:schemeClr val="tx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= 0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CA" altLang="en-US" sz="2800" dirty="0">
                <a:solidFill>
                  <a:schemeClr val="tx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SET </a:t>
            </a:r>
            <a:r>
              <a:rPr lang="en-CA" altLang="en-US" sz="280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gradeCounter</a:t>
            </a:r>
            <a:r>
              <a:rPr lang="en-CA" altLang="en-US" sz="2800" dirty="0">
                <a:solidFill>
                  <a:schemeClr val="tx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= 0</a:t>
            </a:r>
          </a:p>
          <a:p>
            <a:pPr eaLnBrk="1" hangingPunct="1">
              <a:buFont typeface="Wingdings 2" panose="05020102010507070707" pitchFamily="18" charset="2"/>
              <a:buNone/>
            </a:pPr>
            <a:endParaRPr lang="en-CA" altLang="en-US" sz="2800" dirty="0">
              <a:solidFill>
                <a:schemeClr val="tx1">
                  <a:lumMod val="9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CA" altLang="en-US" sz="2800" dirty="0">
                <a:solidFill>
                  <a:schemeClr val="tx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WHILE </a:t>
            </a:r>
            <a:r>
              <a:rPr lang="en-CA" altLang="en-US" sz="280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gradeCounter</a:t>
            </a:r>
            <a:r>
              <a:rPr lang="en-CA" altLang="en-US" sz="2800" dirty="0">
                <a:solidFill>
                  <a:schemeClr val="tx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&lt; 10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CA" altLang="en-US" sz="2800" dirty="0">
                <a:solidFill>
                  <a:schemeClr val="tx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    DISPLAY “Please enter the next grade”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CA" altLang="en-US" sz="2800" dirty="0">
                <a:solidFill>
                  <a:schemeClr val="tx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    READ </a:t>
            </a:r>
            <a:r>
              <a:rPr lang="en-CA" altLang="en-US" sz="2800" dirty="0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grade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CA" altLang="en-US" sz="2800" dirty="0">
                <a:solidFill>
                  <a:schemeClr val="tx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    COMPUTE </a:t>
            </a:r>
            <a:r>
              <a:rPr lang="en-CA" altLang="en-US" sz="2800" dirty="0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total</a:t>
            </a:r>
            <a:r>
              <a:rPr lang="en-CA" altLang="en-US" sz="2800" dirty="0">
                <a:solidFill>
                  <a:schemeClr val="tx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= </a:t>
            </a:r>
            <a:r>
              <a:rPr lang="en-CA" altLang="en-US" sz="2800" dirty="0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total</a:t>
            </a:r>
            <a:r>
              <a:rPr lang="en-CA" altLang="en-US" sz="2800" dirty="0">
                <a:solidFill>
                  <a:schemeClr val="tx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+ </a:t>
            </a:r>
            <a:r>
              <a:rPr lang="en-CA" altLang="en-US" sz="2800" dirty="0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grade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CA" altLang="en-US" sz="2800" dirty="0">
                <a:solidFill>
                  <a:schemeClr val="tx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    INCREMENT </a:t>
            </a:r>
            <a:r>
              <a:rPr lang="en-CA" altLang="en-US" sz="280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gradeCounter</a:t>
            </a:r>
            <a:endParaRPr lang="en-CA" altLang="en-US" sz="2800" dirty="0">
              <a:solidFill>
                <a:schemeClr val="bg2">
                  <a:lumMod val="60000"/>
                  <a:lumOff val="4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CA" altLang="en-US" sz="2800" dirty="0">
                <a:solidFill>
                  <a:schemeClr val="tx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ENDWHILE</a:t>
            </a:r>
          </a:p>
          <a:p>
            <a:pPr eaLnBrk="1" hangingPunct="1">
              <a:buFont typeface="Wingdings 2" panose="05020102010507070707" pitchFamily="18" charset="2"/>
              <a:buNone/>
            </a:pPr>
            <a:endParaRPr lang="en-CA" altLang="en-US" sz="2800" dirty="0">
              <a:solidFill>
                <a:schemeClr val="tx1">
                  <a:lumMod val="9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CA" altLang="en-US" sz="2800" dirty="0">
                <a:solidFill>
                  <a:schemeClr val="tx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COMPUTE </a:t>
            </a:r>
            <a:r>
              <a:rPr lang="en-CA" altLang="en-US" sz="280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classAverage</a:t>
            </a:r>
            <a:r>
              <a:rPr lang="en-CA" altLang="en-US" sz="2800" dirty="0">
                <a:solidFill>
                  <a:schemeClr val="tx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= </a:t>
            </a:r>
            <a:r>
              <a:rPr lang="en-CA" altLang="en-US" sz="2800" dirty="0" smtClean="0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total</a:t>
            </a:r>
            <a:r>
              <a:rPr lang="en-CA" altLang="en-US" sz="2800" dirty="0" smtClean="0">
                <a:solidFill>
                  <a:schemeClr val="tx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/</a:t>
            </a:r>
            <a:r>
              <a:rPr lang="en-CA" altLang="en-US" sz="2800" dirty="0" err="1" smtClean="0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gradeCounter</a:t>
            </a:r>
            <a:endParaRPr lang="en-CA" altLang="en-US" sz="2800" dirty="0">
              <a:solidFill>
                <a:schemeClr val="tx1">
                  <a:lumMod val="9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CA" altLang="en-US" sz="2800" dirty="0">
                <a:solidFill>
                  <a:schemeClr val="tx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DISPLAY “The class average is “ + </a:t>
            </a:r>
            <a:r>
              <a:rPr lang="en-CA" altLang="en-US" sz="280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classAverage</a:t>
            </a:r>
            <a:r>
              <a:rPr lang="en-CA" altLang="en-US" sz="2800" dirty="0">
                <a:solidFill>
                  <a:schemeClr val="tx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+ “%”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223</TotalTime>
  <Words>415</Words>
  <Application>Microsoft Office PowerPoint</Application>
  <PresentationFormat>Custom</PresentationFormat>
  <Paragraphs>98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Cambria</vt:lpstr>
      <vt:lpstr>Wingdings</vt:lpstr>
      <vt:lpstr>Wingdings 2</vt:lpstr>
      <vt:lpstr>Tech 16x9</vt:lpstr>
      <vt:lpstr>Pseudocode</vt:lpstr>
      <vt:lpstr>Objectives</vt:lpstr>
      <vt:lpstr>WHILE (Used for Conditional Loops)</vt:lpstr>
      <vt:lpstr>WHILE</vt:lpstr>
      <vt:lpstr>WHILE</vt:lpstr>
      <vt:lpstr>FOR (Used for counted loops)</vt:lpstr>
      <vt:lpstr>FOR</vt:lpstr>
      <vt:lpstr>FOR</vt:lpstr>
      <vt:lpstr>Pseudo code Examples: How many pieces have moves available?</vt:lpstr>
      <vt:lpstr>Pseudo code Examples: Calculate class average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Loops</dc:title>
  <dc:creator>Trevor Lane</dc:creator>
  <cp:lastModifiedBy>Lane, Trevor</cp:lastModifiedBy>
  <cp:revision>19</cp:revision>
  <dcterms:created xsi:type="dcterms:W3CDTF">2020-11-23T02:16:33Z</dcterms:created>
  <dcterms:modified xsi:type="dcterms:W3CDTF">2026-05-06T11:46:30Z</dcterms:modified>
</cp:coreProperties>
</file>