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2" r:id="rId1"/>
    <p:sldMasterId id="2147483734" r:id="rId2"/>
  </p:sldMasterIdLst>
  <p:notesMasterIdLst>
    <p:notesMasterId r:id="rId11"/>
  </p:notesMasterIdLst>
  <p:sldIdLst>
    <p:sldId id="256" r:id="rId3"/>
    <p:sldId id="257" r:id="rId4"/>
    <p:sldId id="258" r:id="rId5"/>
    <p:sldId id="259" r:id="rId6"/>
    <p:sldId id="260" r:id="rId7"/>
    <p:sldId id="261" r:id="rId8"/>
    <p:sldId id="262" r:id="rId9"/>
    <p:sldId id="263" r:id="rId10"/>
  </p:sldIdLst>
  <p:sldSz cx="9144000" cy="6858000" type="screen4x3"/>
  <p:notesSz cx="6858000" cy="9144000"/>
  <p:embeddedFontLst>
    <p:embeddedFont>
      <p:font typeface="Century Schoolbook" panose="02040604050505020304" pitchFamily="18" charset="0"/>
      <p:regular r:id="rId12"/>
      <p:bold r:id="rId13"/>
      <p:italic r:id="rId14"/>
      <p:boldItalic r:id="rId15"/>
    </p:embeddedFont>
    <p:embeddedFont>
      <p:font typeface="Consolas" panose="020B0609020204030204" pitchFamily="49" charset="0"/>
      <p:regular r:id="rId16"/>
      <p:bold r:id="rId17"/>
      <p:italic r:id="rId18"/>
      <p:boldItalic r:id="rId19"/>
    </p:embeddedFont>
    <p:embeddedFont>
      <p:font typeface="Wingdings 2" panose="05020102010507070707" pitchFamily="18" charset="2"/>
      <p:regular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iryVV6svStkf3PH0xG0Fu52pTZV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32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1.xml"/><Relationship Id="rId21" Type="http://customschemas.google.com/relationships/presentationmetadata" Target="metadata"/><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font" Target="fonts/font4.fntdata"/><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8418195" y="0"/>
            <a:ext cx="73152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946404" y="758952"/>
            <a:ext cx="7063740" cy="4041648"/>
          </a:xfrm>
        </p:spPr>
        <p:txBody>
          <a:bodyPr anchor="b">
            <a:normAutofit/>
          </a:bodyPr>
          <a:lstStyle>
            <a:lvl1pPr algn="l">
              <a:lnSpc>
                <a:spcPct val="85000"/>
              </a:lnSpc>
              <a:defRPr sz="66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946404" y="4800600"/>
            <a:ext cx="7063740" cy="1691640"/>
          </a:xfrm>
        </p:spPr>
        <p:txBody>
          <a:bodyPr>
            <a:normAutofit/>
          </a:bodyPr>
          <a:lstStyle>
            <a:lvl1pPr marL="0" indent="0" algn="l">
              <a:buNone/>
              <a:defRPr sz="2000" baseline="0">
                <a:solidFill>
                  <a:schemeClr val="tx1">
                    <a:lumMod val="65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Rectangle 6"/>
          <p:cNvSpPr/>
          <p:nvPr/>
        </p:nvSpPr>
        <p:spPr>
          <a:xfrm>
            <a:off x="0" y="0"/>
            <a:ext cx="3429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3"/>
          <p:cNvSpPr>
            <a:spLocks noGrp="1"/>
          </p:cNvSpPr>
          <p:nvPr>
            <p:ph type="dt" sz="half" idx="10"/>
          </p:nvPr>
        </p:nvSpPr>
        <p:spPr/>
        <p:txBody>
          <a:bodyPr/>
          <a:lstStyle/>
          <a:p>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CA" smtClean="0"/>
              <a:t>‹#›</a:t>
            </a:fld>
            <a:endParaRPr lang="en-CA"/>
          </a:p>
        </p:txBody>
      </p:sp>
    </p:spTree>
    <p:extLst>
      <p:ext uri="{BB962C8B-B14F-4D97-AF65-F5344CB8AC3E}">
        <p14:creationId xmlns:p14="http://schemas.microsoft.com/office/powerpoint/2010/main" val="1298234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CA" smtClean="0"/>
              <a:t>‹#›</a:t>
            </a:fld>
            <a:endParaRPr lang="en-CA"/>
          </a:p>
        </p:txBody>
      </p:sp>
    </p:spTree>
    <p:extLst>
      <p:ext uri="{BB962C8B-B14F-4D97-AF65-F5344CB8AC3E}">
        <p14:creationId xmlns:p14="http://schemas.microsoft.com/office/powerpoint/2010/main" val="170769545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46404" y="758952"/>
            <a:ext cx="7063740" cy="4041648"/>
          </a:xfrm>
        </p:spPr>
        <p:txBody>
          <a:bodyPr anchor="b">
            <a:normAutofit/>
          </a:bodyPr>
          <a:lstStyle>
            <a:lvl1pPr>
              <a:lnSpc>
                <a:spcPct val="85000"/>
              </a:lnSpc>
              <a:defRPr sz="6600" b="0"/>
            </a:lvl1pPr>
          </a:lstStyle>
          <a:p>
            <a:r>
              <a:rPr lang="en-US"/>
              <a:t>Click to edit Master title style</a:t>
            </a:r>
            <a:endParaRPr lang="en-US" dirty="0"/>
          </a:p>
        </p:txBody>
      </p:sp>
      <p:sp>
        <p:nvSpPr>
          <p:cNvPr id="3" name="Text Placeholder 2"/>
          <p:cNvSpPr>
            <a:spLocks noGrp="1"/>
          </p:cNvSpPr>
          <p:nvPr>
            <p:ph type="body" idx="1"/>
          </p:nvPr>
        </p:nvSpPr>
        <p:spPr>
          <a:xfrm>
            <a:off x="946404" y="4800600"/>
            <a:ext cx="7063740" cy="1691640"/>
          </a:xfrm>
        </p:spPr>
        <p:txBody>
          <a:bodyPr anchor="t">
            <a:normAutofit/>
          </a:bodyPr>
          <a:lstStyle>
            <a:lvl1pPr marL="0" indent="0">
              <a:buNone/>
              <a:defRPr sz="2000">
                <a:solidFill>
                  <a:schemeClr val="tx1">
                    <a:lumMod val="6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CA" smtClean="0"/>
              <a:t>‹#›</a:t>
            </a:fld>
            <a:endParaRPr lang="en-CA"/>
          </a:p>
        </p:txBody>
      </p:sp>
      <p:sp>
        <p:nvSpPr>
          <p:cNvPr id="7" name="Rectangle 6"/>
          <p:cNvSpPr/>
          <p:nvPr/>
        </p:nvSpPr>
        <p:spPr>
          <a:xfrm>
            <a:off x="0" y="0"/>
            <a:ext cx="3429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7093468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46404"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94860"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CA" smtClean="0"/>
              <a:t>‹#›</a:t>
            </a:fld>
            <a:endParaRPr lang="en-CA"/>
          </a:p>
        </p:txBody>
      </p:sp>
    </p:spTree>
    <p:extLst>
      <p:ext uri="{BB962C8B-B14F-4D97-AF65-F5344CB8AC3E}">
        <p14:creationId xmlns:p14="http://schemas.microsoft.com/office/powerpoint/2010/main" val="51348653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946404" y="1717185"/>
            <a:ext cx="3360420" cy="731520"/>
          </a:xfrm>
        </p:spPr>
        <p:txBody>
          <a:bodyPr anchor="b">
            <a:normAutofit/>
          </a:bodyPr>
          <a:lstStyle>
            <a:lvl1pPr marL="0" indent="0">
              <a:spcBef>
                <a:spcPts val="0"/>
              </a:spcBef>
              <a:buNone/>
              <a:defRPr sz="1800" b="0">
                <a:solidFill>
                  <a:schemeClr val="tx1">
                    <a:lumMod val="65000"/>
                  </a:schemeClr>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46404"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p:cNvSpPr>
            <a:spLocks noGrp="1"/>
          </p:cNvSpPr>
          <p:nvPr>
            <p:ph type="body" sz="quarter" idx="13"/>
          </p:nvPr>
        </p:nvSpPr>
        <p:spPr>
          <a:xfrm>
            <a:off x="4599432" y="1717185"/>
            <a:ext cx="3364992" cy="731520"/>
          </a:xfrm>
        </p:spPr>
        <p:txBody>
          <a:bodyPr anchor="b">
            <a:normAutofit/>
          </a:bodyPr>
          <a:lstStyle>
            <a:lvl1pPr marL="0" indent="0">
              <a:spcBef>
                <a:spcPts val="0"/>
              </a:spcBef>
              <a:buFontTx/>
              <a:buNone/>
              <a:defRPr sz="1800">
                <a:solidFill>
                  <a:schemeClr val="tx1">
                    <a:lumMod val="65000"/>
                  </a:schemeClr>
                </a:solidFill>
              </a:defRPr>
            </a:lvl1pPr>
          </a:lstStyle>
          <a:p>
            <a:pPr lvl="0"/>
            <a:r>
              <a:rPr lang="en-US"/>
              <a:t>Click to edit Master text styles</a:t>
            </a:r>
          </a:p>
        </p:txBody>
      </p:sp>
      <p:sp>
        <p:nvSpPr>
          <p:cNvPr id="6" name="Content Placeholder 5"/>
          <p:cNvSpPr>
            <a:spLocks noGrp="1"/>
          </p:cNvSpPr>
          <p:nvPr>
            <p:ph sz="quarter" idx="4"/>
          </p:nvPr>
        </p:nvSpPr>
        <p:spPr>
          <a:xfrm>
            <a:off x="4594860"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CA" smtClean="0"/>
              <a:t>‹#›</a:t>
            </a:fld>
            <a:endParaRPr lang="en-CA"/>
          </a:p>
        </p:txBody>
      </p:sp>
    </p:spTree>
    <p:extLst>
      <p:ext uri="{BB962C8B-B14F-4D97-AF65-F5344CB8AC3E}">
        <p14:creationId xmlns:p14="http://schemas.microsoft.com/office/powerpoint/2010/main" val="188045620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CA" smtClean="0"/>
              <a:t>‹#›</a:t>
            </a:fld>
            <a:endParaRPr lang="en-CA"/>
          </a:p>
        </p:txBody>
      </p:sp>
    </p:spTree>
    <p:extLst>
      <p:ext uri="{BB962C8B-B14F-4D97-AF65-F5344CB8AC3E}">
        <p14:creationId xmlns:p14="http://schemas.microsoft.com/office/powerpoint/2010/main" val="398979436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CA" smtClean="0"/>
              <a:t>‹#›</a:t>
            </a:fld>
            <a:endParaRPr lang="en-CA"/>
          </a:p>
        </p:txBody>
      </p:sp>
    </p:spTree>
    <p:extLst>
      <p:ext uri="{BB962C8B-B14F-4D97-AF65-F5344CB8AC3E}">
        <p14:creationId xmlns:p14="http://schemas.microsoft.com/office/powerpoint/2010/main" val="115801852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400300" cy="1600197"/>
          </a:xfrm>
        </p:spPr>
        <p:txBody>
          <a:bodyPr anchor="b">
            <a:normAutofit/>
          </a:bodyPr>
          <a:lstStyle>
            <a:lvl1pPr>
              <a:defRPr sz="2800" b="0" baseline="0"/>
            </a:lvl1pPr>
          </a:lstStyle>
          <a:p>
            <a:r>
              <a:rPr lang="en-US"/>
              <a:t>Click to edit Master title style</a:t>
            </a:r>
            <a:endParaRPr lang="en-US" dirty="0"/>
          </a:p>
        </p:txBody>
      </p:sp>
      <p:sp>
        <p:nvSpPr>
          <p:cNvPr id="3" name="Content Placeholder 2"/>
          <p:cNvSpPr>
            <a:spLocks noGrp="1"/>
          </p:cNvSpPr>
          <p:nvPr>
            <p:ph idx="1"/>
          </p:nvPr>
        </p:nvSpPr>
        <p:spPr>
          <a:xfrm>
            <a:off x="3378200" y="685800"/>
            <a:ext cx="4559300" cy="5486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0936" y="2099735"/>
            <a:ext cx="24003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CA" smtClean="0"/>
              <a:t>‹#›</a:t>
            </a:fld>
            <a:endParaRPr lang="en-CA"/>
          </a:p>
        </p:txBody>
      </p:sp>
    </p:spTree>
    <p:extLst>
      <p:ext uri="{BB962C8B-B14F-4D97-AF65-F5344CB8AC3E}">
        <p14:creationId xmlns:p14="http://schemas.microsoft.com/office/powerpoint/2010/main" val="289007078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846963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5800" y="5257800"/>
            <a:ext cx="7486650" cy="914400"/>
          </a:xfrm>
        </p:spPr>
        <p:txBody>
          <a:bodyPr anchor="b">
            <a:normAutofit/>
          </a:bodyPr>
          <a:lstStyle>
            <a:lvl1pPr>
              <a:defRPr sz="28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846963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6108590"/>
            <a:ext cx="7486650" cy="597011"/>
          </a:xfrm>
        </p:spPr>
        <p:txBody>
          <a:bodyPr>
            <a:normAutofit/>
          </a:bodyPr>
          <a:lstStyle>
            <a:lvl1pPr marL="0" indent="0">
              <a:lnSpc>
                <a:spcPct val="100000"/>
              </a:lnSpc>
              <a:spcBef>
                <a:spcPts val="800"/>
              </a:spcBef>
              <a:buNone/>
              <a:defRPr sz="1300">
                <a:solidFill>
                  <a:schemeClr val="tx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CA" smtClean="0"/>
              <a:t>‹#›</a:t>
            </a:fld>
            <a:endParaRPr lang="en-CA"/>
          </a:p>
        </p:txBody>
      </p:sp>
    </p:spTree>
    <p:extLst>
      <p:ext uri="{BB962C8B-B14F-4D97-AF65-F5344CB8AC3E}">
        <p14:creationId xmlns:p14="http://schemas.microsoft.com/office/powerpoint/2010/main" val="343726649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CA" smtClean="0"/>
              <a:t>‹#›</a:t>
            </a:fld>
            <a:endParaRPr lang="en-CA"/>
          </a:p>
        </p:txBody>
      </p:sp>
    </p:spTree>
    <p:extLst>
      <p:ext uri="{BB962C8B-B14F-4D97-AF65-F5344CB8AC3E}">
        <p14:creationId xmlns:p14="http://schemas.microsoft.com/office/powerpoint/2010/main" val="329602648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6525" y="381000"/>
            <a:ext cx="1857375"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1500" y="381000"/>
            <a:ext cx="5800725"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CA" smtClean="0"/>
              <a:t>‹#›</a:t>
            </a:fld>
            <a:endParaRPr lang="en-CA"/>
          </a:p>
        </p:txBody>
      </p:sp>
    </p:spTree>
    <p:extLst>
      <p:ext uri="{BB962C8B-B14F-4D97-AF65-F5344CB8AC3E}">
        <p14:creationId xmlns:p14="http://schemas.microsoft.com/office/powerpoint/2010/main" val="7731883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8418195" y="0"/>
            <a:ext cx="73152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946404" y="758952"/>
            <a:ext cx="7063740" cy="4041648"/>
          </a:xfrm>
        </p:spPr>
        <p:txBody>
          <a:bodyPr anchor="b">
            <a:normAutofit/>
          </a:bodyPr>
          <a:lstStyle>
            <a:lvl1pPr algn="l">
              <a:lnSpc>
                <a:spcPct val="85000"/>
              </a:lnSpc>
              <a:defRPr sz="66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946404" y="4800600"/>
            <a:ext cx="7063740" cy="1691640"/>
          </a:xfrm>
        </p:spPr>
        <p:txBody>
          <a:bodyPr>
            <a:normAutofit/>
          </a:bodyPr>
          <a:lstStyle>
            <a:lvl1pPr marL="0" indent="0" algn="l">
              <a:buNone/>
              <a:defRPr sz="2000" baseline="0">
                <a:solidFill>
                  <a:schemeClr val="tx1">
                    <a:lumMod val="65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Rectangle 6"/>
          <p:cNvSpPr/>
          <p:nvPr/>
        </p:nvSpPr>
        <p:spPr>
          <a:xfrm>
            <a:off x="0" y="0"/>
            <a:ext cx="3429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3"/>
          <p:cNvSpPr>
            <a:spLocks noGrp="1"/>
          </p:cNvSpPr>
          <p:nvPr>
            <p:ph type="dt" sz="half" idx="10"/>
          </p:nvPr>
        </p:nvSpPr>
        <p:spPr/>
        <p:txBody>
          <a:bodyPr/>
          <a:lstStyle/>
          <a:p>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CA" smtClean="0"/>
              <a:t>‹#›</a:t>
            </a:fld>
            <a:endParaRPr lang="en-CA"/>
          </a:p>
        </p:txBody>
      </p:sp>
    </p:spTree>
    <p:extLst>
      <p:ext uri="{BB962C8B-B14F-4D97-AF65-F5344CB8AC3E}">
        <p14:creationId xmlns:p14="http://schemas.microsoft.com/office/powerpoint/2010/main" val="22442057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CA" smtClean="0"/>
              <a:t>‹#›</a:t>
            </a:fld>
            <a:endParaRPr lang="en-CA"/>
          </a:p>
        </p:txBody>
      </p:sp>
    </p:spTree>
    <p:extLst>
      <p:ext uri="{BB962C8B-B14F-4D97-AF65-F5344CB8AC3E}">
        <p14:creationId xmlns:p14="http://schemas.microsoft.com/office/powerpoint/2010/main" val="21377204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46404" y="758952"/>
            <a:ext cx="7063740" cy="4041648"/>
          </a:xfrm>
        </p:spPr>
        <p:txBody>
          <a:bodyPr anchor="b">
            <a:normAutofit/>
          </a:bodyPr>
          <a:lstStyle>
            <a:lvl1pPr>
              <a:lnSpc>
                <a:spcPct val="85000"/>
              </a:lnSpc>
              <a:defRPr sz="6600" b="0"/>
            </a:lvl1pPr>
          </a:lstStyle>
          <a:p>
            <a:r>
              <a:rPr lang="en-US"/>
              <a:t>Click to edit Master title style</a:t>
            </a:r>
            <a:endParaRPr lang="en-US" dirty="0"/>
          </a:p>
        </p:txBody>
      </p:sp>
      <p:sp>
        <p:nvSpPr>
          <p:cNvPr id="3" name="Text Placeholder 2"/>
          <p:cNvSpPr>
            <a:spLocks noGrp="1"/>
          </p:cNvSpPr>
          <p:nvPr>
            <p:ph type="body" idx="1"/>
          </p:nvPr>
        </p:nvSpPr>
        <p:spPr>
          <a:xfrm>
            <a:off x="946404" y="4800600"/>
            <a:ext cx="7063740" cy="1691640"/>
          </a:xfrm>
        </p:spPr>
        <p:txBody>
          <a:bodyPr anchor="t">
            <a:normAutofit/>
          </a:bodyPr>
          <a:lstStyle>
            <a:lvl1pPr marL="0" indent="0">
              <a:buNone/>
              <a:defRPr sz="2000">
                <a:solidFill>
                  <a:schemeClr val="tx1">
                    <a:lumMod val="6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CA" smtClean="0"/>
              <a:t>‹#›</a:t>
            </a:fld>
            <a:endParaRPr lang="en-CA"/>
          </a:p>
        </p:txBody>
      </p:sp>
      <p:sp>
        <p:nvSpPr>
          <p:cNvPr id="7" name="Rectangle 6"/>
          <p:cNvSpPr/>
          <p:nvPr/>
        </p:nvSpPr>
        <p:spPr>
          <a:xfrm>
            <a:off x="0" y="0"/>
            <a:ext cx="3429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986852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46404"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94860"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CA" smtClean="0"/>
              <a:t>‹#›</a:t>
            </a:fld>
            <a:endParaRPr lang="en-CA"/>
          </a:p>
        </p:txBody>
      </p:sp>
    </p:spTree>
    <p:extLst>
      <p:ext uri="{BB962C8B-B14F-4D97-AF65-F5344CB8AC3E}">
        <p14:creationId xmlns:p14="http://schemas.microsoft.com/office/powerpoint/2010/main" val="26709224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946404" y="1717185"/>
            <a:ext cx="3360420" cy="731520"/>
          </a:xfrm>
        </p:spPr>
        <p:txBody>
          <a:bodyPr anchor="b">
            <a:normAutofit/>
          </a:bodyPr>
          <a:lstStyle>
            <a:lvl1pPr marL="0" indent="0">
              <a:spcBef>
                <a:spcPts val="0"/>
              </a:spcBef>
              <a:buNone/>
              <a:defRPr sz="1800" b="0">
                <a:solidFill>
                  <a:schemeClr val="tx1">
                    <a:lumMod val="65000"/>
                  </a:schemeClr>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46404"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p:cNvSpPr>
            <a:spLocks noGrp="1"/>
          </p:cNvSpPr>
          <p:nvPr>
            <p:ph type="body" sz="quarter" idx="13"/>
          </p:nvPr>
        </p:nvSpPr>
        <p:spPr>
          <a:xfrm>
            <a:off x="4599432" y="1717185"/>
            <a:ext cx="3364992" cy="731520"/>
          </a:xfrm>
        </p:spPr>
        <p:txBody>
          <a:bodyPr anchor="b">
            <a:normAutofit/>
          </a:bodyPr>
          <a:lstStyle>
            <a:lvl1pPr marL="0" indent="0">
              <a:spcBef>
                <a:spcPts val="0"/>
              </a:spcBef>
              <a:buFontTx/>
              <a:buNone/>
              <a:defRPr sz="1800">
                <a:solidFill>
                  <a:schemeClr val="tx1">
                    <a:lumMod val="65000"/>
                  </a:schemeClr>
                </a:solidFill>
              </a:defRPr>
            </a:lvl1pPr>
          </a:lstStyle>
          <a:p>
            <a:pPr lvl="0"/>
            <a:r>
              <a:rPr lang="en-US"/>
              <a:t>Click to edit Master text styles</a:t>
            </a:r>
          </a:p>
        </p:txBody>
      </p:sp>
      <p:sp>
        <p:nvSpPr>
          <p:cNvPr id="6" name="Content Placeholder 5"/>
          <p:cNvSpPr>
            <a:spLocks noGrp="1"/>
          </p:cNvSpPr>
          <p:nvPr>
            <p:ph sz="quarter" idx="4"/>
          </p:nvPr>
        </p:nvSpPr>
        <p:spPr>
          <a:xfrm>
            <a:off x="4594860"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CA" smtClean="0"/>
              <a:t>‹#›</a:t>
            </a:fld>
            <a:endParaRPr lang="en-CA"/>
          </a:p>
        </p:txBody>
      </p:sp>
    </p:spTree>
    <p:extLst>
      <p:ext uri="{BB962C8B-B14F-4D97-AF65-F5344CB8AC3E}">
        <p14:creationId xmlns:p14="http://schemas.microsoft.com/office/powerpoint/2010/main" val="2146151597"/>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CA" smtClean="0"/>
              <a:t>‹#›</a:t>
            </a:fld>
            <a:endParaRPr lang="en-CA"/>
          </a:p>
        </p:txBody>
      </p:sp>
    </p:spTree>
    <p:extLst>
      <p:ext uri="{BB962C8B-B14F-4D97-AF65-F5344CB8AC3E}">
        <p14:creationId xmlns:p14="http://schemas.microsoft.com/office/powerpoint/2010/main" val="3789223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CA" smtClean="0"/>
              <a:t>‹#›</a:t>
            </a:fld>
            <a:endParaRPr lang="en-CA"/>
          </a:p>
        </p:txBody>
      </p:sp>
    </p:spTree>
    <p:extLst>
      <p:ext uri="{BB962C8B-B14F-4D97-AF65-F5344CB8AC3E}">
        <p14:creationId xmlns:p14="http://schemas.microsoft.com/office/powerpoint/2010/main" val="41444397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400300" cy="1600197"/>
          </a:xfrm>
        </p:spPr>
        <p:txBody>
          <a:bodyPr anchor="b">
            <a:normAutofit/>
          </a:bodyPr>
          <a:lstStyle>
            <a:lvl1pPr>
              <a:defRPr sz="2800" b="0" baseline="0"/>
            </a:lvl1pPr>
          </a:lstStyle>
          <a:p>
            <a:r>
              <a:rPr lang="en-US"/>
              <a:t>Click to edit Master title style</a:t>
            </a:r>
            <a:endParaRPr lang="en-US" dirty="0"/>
          </a:p>
        </p:txBody>
      </p:sp>
      <p:sp>
        <p:nvSpPr>
          <p:cNvPr id="3" name="Content Placeholder 2"/>
          <p:cNvSpPr>
            <a:spLocks noGrp="1"/>
          </p:cNvSpPr>
          <p:nvPr>
            <p:ph idx="1"/>
          </p:nvPr>
        </p:nvSpPr>
        <p:spPr>
          <a:xfrm>
            <a:off x="3378200" y="685800"/>
            <a:ext cx="4559300" cy="5486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0936" y="2099735"/>
            <a:ext cx="24003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CA" smtClean="0"/>
              <a:t>‹#›</a:t>
            </a:fld>
            <a:endParaRPr lang="en-CA"/>
          </a:p>
        </p:txBody>
      </p:sp>
    </p:spTree>
    <p:extLst>
      <p:ext uri="{BB962C8B-B14F-4D97-AF65-F5344CB8AC3E}">
        <p14:creationId xmlns:p14="http://schemas.microsoft.com/office/powerpoint/2010/main" val="10233487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846963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5800" y="5257800"/>
            <a:ext cx="7486650" cy="914400"/>
          </a:xfrm>
        </p:spPr>
        <p:txBody>
          <a:bodyPr anchor="b">
            <a:normAutofit/>
          </a:bodyPr>
          <a:lstStyle>
            <a:lvl1pPr>
              <a:defRPr sz="28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846963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6108590"/>
            <a:ext cx="7486650" cy="597011"/>
          </a:xfrm>
        </p:spPr>
        <p:txBody>
          <a:bodyPr>
            <a:normAutofit/>
          </a:bodyPr>
          <a:lstStyle>
            <a:lvl1pPr marL="0" indent="0">
              <a:lnSpc>
                <a:spcPct val="100000"/>
              </a:lnSpc>
              <a:spcBef>
                <a:spcPts val="800"/>
              </a:spcBef>
              <a:buNone/>
              <a:defRPr sz="1300">
                <a:solidFill>
                  <a:schemeClr val="tx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CA" smtClean="0"/>
              <a:t>‹#›</a:t>
            </a:fld>
            <a:endParaRPr lang="en-CA"/>
          </a:p>
        </p:txBody>
      </p:sp>
    </p:spTree>
    <p:extLst>
      <p:ext uri="{BB962C8B-B14F-4D97-AF65-F5344CB8AC3E}">
        <p14:creationId xmlns:p14="http://schemas.microsoft.com/office/powerpoint/2010/main" val="288423358"/>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CA" smtClean="0"/>
              <a:t>‹#›</a:t>
            </a:fld>
            <a:endParaRPr lang="en-CA"/>
          </a:p>
        </p:txBody>
      </p:sp>
    </p:spTree>
    <p:extLst>
      <p:ext uri="{BB962C8B-B14F-4D97-AF65-F5344CB8AC3E}">
        <p14:creationId xmlns:p14="http://schemas.microsoft.com/office/powerpoint/2010/main" val="22285598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6525" y="381000"/>
            <a:ext cx="1857375"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1500" y="381000"/>
            <a:ext cx="5800725"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CA" smtClean="0"/>
              <a:t>‹#›</a:t>
            </a:fld>
            <a:endParaRPr lang="en-CA"/>
          </a:p>
        </p:txBody>
      </p:sp>
    </p:spTree>
    <p:extLst>
      <p:ext uri="{BB962C8B-B14F-4D97-AF65-F5344CB8AC3E}">
        <p14:creationId xmlns:p14="http://schemas.microsoft.com/office/powerpoint/2010/main" val="4180292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8418195" y="0"/>
            <a:ext cx="73152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946404" y="365760"/>
            <a:ext cx="726948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46404" y="1828801"/>
            <a:ext cx="644652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7831456" y="1044178"/>
            <a:ext cx="1904999" cy="273844"/>
          </a:xfrm>
          <a:prstGeom prst="rect">
            <a:avLst/>
          </a:prstGeom>
        </p:spPr>
        <p:txBody>
          <a:bodyPr vert="horz" lIns="91440" tIns="45720" rIns="91440" bIns="45720" rtlCol="0" anchor="ctr"/>
          <a:lstStyle>
            <a:lvl1pPr algn="r">
              <a:defRPr sz="1050" b="0">
                <a:solidFill>
                  <a:srgbClr val="969696"/>
                </a:solidFill>
              </a:defRPr>
            </a:lvl1pPr>
          </a:lstStyle>
          <a:p>
            <a:endParaRPr lang="en-CA"/>
          </a:p>
        </p:txBody>
      </p:sp>
      <p:sp>
        <p:nvSpPr>
          <p:cNvPr id="5" name="Footer Placeholder 4"/>
          <p:cNvSpPr>
            <a:spLocks noGrp="1"/>
          </p:cNvSpPr>
          <p:nvPr>
            <p:ph type="ftr" sz="quarter" idx="3"/>
          </p:nvPr>
        </p:nvSpPr>
        <p:spPr>
          <a:xfrm rot="16200000">
            <a:off x="6993255" y="4092178"/>
            <a:ext cx="3581400" cy="273844"/>
          </a:xfrm>
          <a:prstGeom prst="rect">
            <a:avLst/>
          </a:prstGeom>
        </p:spPr>
        <p:txBody>
          <a:bodyPr vert="horz" lIns="91440" tIns="45720" rIns="91440" bIns="45720" rtlCol="0" anchor="ctr"/>
          <a:lstStyle>
            <a:lvl1pPr algn="l">
              <a:defRPr sz="1050">
                <a:solidFill>
                  <a:schemeClr val="tx1">
                    <a:lumMod val="65000"/>
                  </a:schemeClr>
                </a:solidFill>
              </a:defRPr>
            </a:lvl1pPr>
          </a:lstStyle>
          <a:p>
            <a:endParaRPr lang="en-CA"/>
          </a:p>
        </p:txBody>
      </p:sp>
      <p:sp>
        <p:nvSpPr>
          <p:cNvPr id="6" name="Slide Number Placeholder 5"/>
          <p:cNvSpPr>
            <a:spLocks noGrp="1"/>
          </p:cNvSpPr>
          <p:nvPr>
            <p:ph type="sldNum" sz="quarter" idx="4"/>
          </p:nvPr>
        </p:nvSpPr>
        <p:spPr>
          <a:xfrm>
            <a:off x="8441055" y="6172201"/>
            <a:ext cx="685800" cy="593725"/>
          </a:xfrm>
          <a:prstGeom prst="rect">
            <a:avLst/>
          </a:prstGeom>
        </p:spPr>
        <p:txBody>
          <a:bodyPr vert="horz" lIns="27432" tIns="45720" rIns="27432" bIns="45720" rtlCol="0" anchor="ctr">
            <a:normAutofit/>
          </a:bodyPr>
          <a:lstStyle>
            <a:lvl1pPr algn="ctr">
              <a:defRPr sz="3200">
                <a:solidFill>
                  <a:srgbClr val="777777"/>
                </a:solidFill>
              </a:defRPr>
            </a:lvl1pPr>
          </a:lstStyle>
          <a:p>
            <a:pPr marL="0" lvl="0" indent="0" algn="ctr" rtl="0">
              <a:spcBef>
                <a:spcPts val="0"/>
              </a:spcBef>
              <a:spcAft>
                <a:spcPts val="0"/>
              </a:spcAft>
              <a:buNone/>
            </a:pPr>
            <a:fld id="{00000000-1234-1234-1234-123412341234}" type="slidenum">
              <a:rPr lang="en-CA" smtClean="0"/>
              <a:t>‹#›</a:t>
            </a:fld>
            <a:endParaRPr lang="en-CA"/>
          </a:p>
        </p:txBody>
      </p:sp>
    </p:spTree>
    <p:extLst>
      <p:ext uri="{BB962C8B-B14F-4D97-AF65-F5344CB8AC3E}">
        <p14:creationId xmlns:p14="http://schemas.microsoft.com/office/powerpoint/2010/main" val="2627027459"/>
      </p:ext>
    </p:extLst>
  </p:cSld>
  <p:clrMap bg1="dk1" tx1="lt1" bg2="dk2" tx2="lt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sldNum="0" hdr="0" ftr="0" dt="0"/>
  <p:txStyles>
    <p:titleStyle>
      <a:lvl1pPr algn="l" defTabSz="914400" rtl="0" eaLnBrk="1" latinLnBrk="0" hangingPunct="1">
        <a:lnSpc>
          <a:spcPct val="90000"/>
        </a:lnSpc>
        <a:spcBef>
          <a:spcPct val="0"/>
        </a:spcBef>
        <a:buNone/>
        <a:defRPr sz="40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8418195" y="0"/>
            <a:ext cx="73152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946404" y="365760"/>
            <a:ext cx="726948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46404" y="1828801"/>
            <a:ext cx="644652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7831456" y="1044178"/>
            <a:ext cx="1904999" cy="273844"/>
          </a:xfrm>
          <a:prstGeom prst="rect">
            <a:avLst/>
          </a:prstGeom>
        </p:spPr>
        <p:txBody>
          <a:bodyPr vert="horz" lIns="91440" tIns="45720" rIns="91440" bIns="45720" rtlCol="0" anchor="ctr"/>
          <a:lstStyle>
            <a:lvl1pPr algn="r">
              <a:defRPr sz="1050" b="0">
                <a:solidFill>
                  <a:srgbClr val="969696"/>
                </a:solidFill>
              </a:defRPr>
            </a:lvl1pPr>
          </a:lstStyle>
          <a:p>
            <a:endParaRPr lang="en-CA"/>
          </a:p>
        </p:txBody>
      </p:sp>
      <p:sp>
        <p:nvSpPr>
          <p:cNvPr id="5" name="Footer Placeholder 4"/>
          <p:cNvSpPr>
            <a:spLocks noGrp="1"/>
          </p:cNvSpPr>
          <p:nvPr>
            <p:ph type="ftr" sz="quarter" idx="3"/>
          </p:nvPr>
        </p:nvSpPr>
        <p:spPr>
          <a:xfrm rot="16200000">
            <a:off x="6993255" y="4092178"/>
            <a:ext cx="3581400" cy="273844"/>
          </a:xfrm>
          <a:prstGeom prst="rect">
            <a:avLst/>
          </a:prstGeom>
        </p:spPr>
        <p:txBody>
          <a:bodyPr vert="horz" lIns="91440" tIns="45720" rIns="91440" bIns="45720" rtlCol="0" anchor="ctr"/>
          <a:lstStyle>
            <a:lvl1pPr algn="l">
              <a:defRPr sz="1050">
                <a:solidFill>
                  <a:schemeClr val="tx1">
                    <a:lumMod val="65000"/>
                  </a:schemeClr>
                </a:solidFill>
              </a:defRPr>
            </a:lvl1pPr>
          </a:lstStyle>
          <a:p>
            <a:endParaRPr lang="en-CA"/>
          </a:p>
        </p:txBody>
      </p:sp>
      <p:sp>
        <p:nvSpPr>
          <p:cNvPr id="6" name="Slide Number Placeholder 5"/>
          <p:cNvSpPr>
            <a:spLocks noGrp="1"/>
          </p:cNvSpPr>
          <p:nvPr>
            <p:ph type="sldNum" sz="quarter" idx="4"/>
          </p:nvPr>
        </p:nvSpPr>
        <p:spPr>
          <a:xfrm>
            <a:off x="8441055" y="6172201"/>
            <a:ext cx="685800" cy="593725"/>
          </a:xfrm>
          <a:prstGeom prst="rect">
            <a:avLst/>
          </a:prstGeom>
        </p:spPr>
        <p:txBody>
          <a:bodyPr vert="horz" lIns="27432" tIns="45720" rIns="27432" bIns="45720" rtlCol="0" anchor="ctr">
            <a:normAutofit/>
          </a:bodyPr>
          <a:lstStyle>
            <a:lvl1pPr algn="ctr">
              <a:defRPr sz="3200">
                <a:solidFill>
                  <a:srgbClr val="777777"/>
                </a:solidFill>
              </a:defRPr>
            </a:lvl1pPr>
          </a:lstStyle>
          <a:p>
            <a:pPr marL="0" lvl="0" indent="0" algn="ctr" rtl="0">
              <a:spcBef>
                <a:spcPts val="0"/>
              </a:spcBef>
              <a:spcAft>
                <a:spcPts val="0"/>
              </a:spcAft>
              <a:buNone/>
            </a:pPr>
            <a:fld id="{00000000-1234-1234-1234-123412341234}" type="slidenum">
              <a:rPr lang="en-CA" smtClean="0"/>
              <a:t>‹#›</a:t>
            </a:fld>
            <a:endParaRPr lang="en-CA"/>
          </a:p>
        </p:txBody>
      </p:sp>
    </p:spTree>
    <p:extLst>
      <p:ext uri="{BB962C8B-B14F-4D97-AF65-F5344CB8AC3E}">
        <p14:creationId xmlns:p14="http://schemas.microsoft.com/office/powerpoint/2010/main" val="2764309134"/>
      </p:ext>
    </p:extLst>
  </p:cSld>
  <p:clrMap bg1="dk1" tx1="lt1" bg2="dk2" tx2="lt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hf sldNum="0" hdr="0" ftr="0" dt="0"/>
  <p:txStyles>
    <p:titleStyle>
      <a:lvl1pPr algn="l" defTabSz="914400" rtl="0" eaLnBrk="1" latinLnBrk="0" hangingPunct="1">
        <a:lnSpc>
          <a:spcPct val="90000"/>
        </a:lnSpc>
        <a:spcBef>
          <a:spcPct val="0"/>
        </a:spcBef>
        <a:buNone/>
        <a:defRPr sz="40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
          <p:cNvSpPr txBox="1">
            <a:spLocks noGrp="1"/>
          </p:cNvSpPr>
          <p:nvPr>
            <p:ph type="ctr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chemeClr val="lt1"/>
              </a:buClr>
              <a:buSzPts val="6600"/>
              <a:buFont typeface="Century Schoolbook"/>
              <a:buNone/>
            </a:pPr>
            <a:r>
              <a:rPr lang="en-CA"/>
              <a:t>Collision Detection</a:t>
            </a:r>
            <a:endParaRPr/>
          </a:p>
        </p:txBody>
      </p:sp>
      <p:sp>
        <p:nvSpPr>
          <p:cNvPr id="103" name="Google Shape;103;p1"/>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marL="0" lvl="0" indent="0" algn="l" rtl="0">
              <a:lnSpc>
                <a:spcPct val="95000"/>
              </a:lnSpc>
              <a:spcBef>
                <a:spcPts val="0"/>
              </a:spcBef>
              <a:spcAft>
                <a:spcPts val="0"/>
              </a:spcAft>
              <a:buSzPts val="1600"/>
              <a:buNone/>
            </a:pPr>
            <a:r>
              <a:rPr lang="en-CA"/>
              <a:t>Platforms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000"/>
              <a:buFont typeface="Century Schoolbook"/>
              <a:buNone/>
            </a:pPr>
            <a:r>
              <a:rPr lang="en-CA"/>
              <a:t>Introduction</a:t>
            </a:r>
            <a:endParaRPr/>
          </a:p>
        </p:txBody>
      </p:sp>
      <p:sp>
        <p:nvSpPr>
          <p:cNvPr id="109" name="Google Shape;109;p2"/>
          <p:cNvSpPr txBox="1">
            <a:spLocks noGrp="1"/>
          </p:cNvSpPr>
          <p:nvPr>
            <p:ph idx="1"/>
          </p:nvPr>
        </p:nvSpPr>
        <p:spPr>
          <a:xfrm>
            <a:off x="537881" y="1828801"/>
            <a:ext cx="7269480" cy="4351337"/>
          </a:xfrm>
          <a:prstGeom prst="rect">
            <a:avLst/>
          </a:prstGeom>
          <a:noFill/>
          <a:ln>
            <a:noFill/>
          </a:ln>
        </p:spPr>
        <p:txBody>
          <a:bodyPr spcFirstLastPara="1" wrap="square" lIns="91425" tIns="45700" rIns="91425" bIns="45700" anchor="t" anchorCtr="0">
            <a:normAutofit/>
          </a:bodyPr>
          <a:lstStyle/>
          <a:p>
            <a:pPr marL="182880" lvl="0" indent="-182880" algn="l" rtl="0">
              <a:lnSpc>
                <a:spcPct val="95000"/>
              </a:lnSpc>
              <a:spcBef>
                <a:spcPts val="0"/>
              </a:spcBef>
              <a:spcAft>
                <a:spcPts val="0"/>
              </a:spcAft>
              <a:buSzPts val="1440"/>
              <a:buChar char="•"/>
            </a:pPr>
            <a:r>
              <a:rPr lang="en-CA" dirty="0"/>
              <a:t>When it comes to 2D games, one of the most common game mechanics is the ability to jump on and interact with platforms.</a:t>
            </a:r>
            <a:endParaRPr dirty="0"/>
          </a:p>
          <a:p>
            <a:pPr marL="182880" lvl="0" indent="-182880" algn="l" rtl="0">
              <a:lnSpc>
                <a:spcPct val="95000"/>
              </a:lnSpc>
              <a:spcBef>
                <a:spcPts val="1600"/>
              </a:spcBef>
              <a:spcAft>
                <a:spcPts val="0"/>
              </a:spcAft>
              <a:buSzPts val="1440"/>
              <a:buChar char="•"/>
            </a:pPr>
            <a:r>
              <a:rPr lang="en-CA" dirty="0"/>
              <a:t>For example, in Super Mario Bros. 1, you could:</a:t>
            </a:r>
            <a:endParaRPr dirty="0"/>
          </a:p>
          <a:p>
            <a:pPr lvl="1" algn="l" rtl="0">
              <a:lnSpc>
                <a:spcPct val="90000"/>
              </a:lnSpc>
              <a:spcBef>
                <a:spcPts val="500"/>
              </a:spcBef>
              <a:spcAft>
                <a:spcPts val="0"/>
              </a:spcAft>
              <a:buSzPts val="1600"/>
              <a:buFont typeface="Wingdings" panose="05000000000000000000" pitchFamily="2" charset="2"/>
              <a:buChar char="§"/>
            </a:pPr>
            <a:r>
              <a:rPr lang="en-CA" dirty="0"/>
              <a:t>Jump on top of them</a:t>
            </a:r>
            <a:endParaRPr dirty="0"/>
          </a:p>
          <a:p>
            <a:pPr lvl="1" algn="l" rtl="0">
              <a:lnSpc>
                <a:spcPct val="90000"/>
              </a:lnSpc>
              <a:spcBef>
                <a:spcPts val="600"/>
              </a:spcBef>
              <a:spcAft>
                <a:spcPts val="0"/>
              </a:spcAft>
              <a:buSzPts val="1600"/>
              <a:buFont typeface="Wingdings" panose="05000000000000000000" pitchFamily="2" charset="2"/>
              <a:buChar char="§"/>
            </a:pPr>
            <a:r>
              <a:rPr lang="en-CA" dirty="0"/>
              <a:t>Break some from underneath (as well as kill/stun the enemies directly overhead)</a:t>
            </a:r>
            <a:endParaRPr dirty="0"/>
          </a:p>
          <a:p>
            <a:pPr lvl="1" algn="l" rtl="0">
              <a:lnSpc>
                <a:spcPct val="90000"/>
              </a:lnSpc>
              <a:spcBef>
                <a:spcPts val="600"/>
              </a:spcBef>
              <a:spcAft>
                <a:spcPts val="0"/>
              </a:spcAft>
              <a:buSzPts val="1600"/>
              <a:buFont typeface="Wingdings" panose="05000000000000000000" pitchFamily="2" charset="2"/>
              <a:buChar char="§"/>
            </a:pPr>
            <a:r>
              <a:rPr lang="en-CA" dirty="0"/>
              <a:t>You could bounce off the sides</a:t>
            </a:r>
            <a:endParaRPr dirty="0"/>
          </a:p>
          <a:p>
            <a:pPr lvl="1" algn="l" rtl="0">
              <a:lnSpc>
                <a:spcPct val="90000"/>
              </a:lnSpc>
              <a:spcBef>
                <a:spcPts val="600"/>
              </a:spcBef>
              <a:spcAft>
                <a:spcPts val="0"/>
              </a:spcAft>
              <a:buSzPts val="1600"/>
              <a:buFont typeface="Wingdings" panose="05000000000000000000" pitchFamily="2" charset="2"/>
              <a:buChar char="§"/>
            </a:pPr>
            <a:r>
              <a:rPr lang="en-CA" dirty="0"/>
              <a:t>Some platforms moved with the player on top, etc.</a:t>
            </a:r>
            <a:endParaRPr dirty="0"/>
          </a:p>
          <a:p>
            <a:pPr marL="457200" lvl="1" indent="-81279" algn="l" rtl="0">
              <a:lnSpc>
                <a:spcPct val="90000"/>
              </a:lnSpc>
              <a:spcBef>
                <a:spcPts val="600"/>
              </a:spcBef>
              <a:spcAft>
                <a:spcPts val="0"/>
              </a:spcAft>
              <a:buSzPts val="1600"/>
              <a:buNone/>
            </a:pPr>
            <a:endParaRPr dirty="0"/>
          </a:p>
          <a:p>
            <a:pPr marL="182880" lvl="0" indent="-182880" algn="l" rtl="0">
              <a:lnSpc>
                <a:spcPct val="95000"/>
              </a:lnSpc>
              <a:spcBef>
                <a:spcPts val="1700"/>
              </a:spcBef>
              <a:spcAft>
                <a:spcPts val="0"/>
              </a:spcAft>
              <a:buSzPts val="1440"/>
              <a:buChar char="•"/>
            </a:pPr>
            <a:r>
              <a:rPr lang="en-CA" dirty="0"/>
              <a:t>So, what’s the big deal, can’t we just use Rectangle-to-Rectangle collision?</a:t>
            </a:r>
            <a:endParaRPr dirty="0"/>
          </a:p>
          <a:p>
            <a:pPr lvl="1" algn="l" rtl="0">
              <a:lnSpc>
                <a:spcPct val="90000"/>
              </a:lnSpc>
              <a:spcBef>
                <a:spcPts val="500"/>
              </a:spcBef>
              <a:spcAft>
                <a:spcPts val="0"/>
              </a:spcAft>
              <a:buSzPts val="1600"/>
              <a:buFont typeface="Wingdings" panose="05000000000000000000" pitchFamily="2" charset="2"/>
              <a:buChar char="§"/>
            </a:pPr>
            <a:r>
              <a:rPr lang="en-CA" dirty="0"/>
              <a:t>Yes…and no.</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000"/>
              <a:buFont typeface="Century Schoolbook"/>
              <a:buNone/>
            </a:pPr>
            <a:r>
              <a:rPr lang="en-CA"/>
              <a:t>What’s the Problem?</a:t>
            </a:r>
            <a:endParaRPr/>
          </a:p>
        </p:txBody>
      </p:sp>
      <p:sp>
        <p:nvSpPr>
          <p:cNvPr id="115" name="Google Shape;115;p3"/>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182880" lvl="0" indent="-182880" algn="l" rtl="0">
              <a:lnSpc>
                <a:spcPct val="95000"/>
              </a:lnSpc>
              <a:spcBef>
                <a:spcPts val="0"/>
              </a:spcBef>
              <a:spcAft>
                <a:spcPts val="0"/>
              </a:spcAft>
              <a:buSzPts val="1440"/>
              <a:buChar char="•"/>
            </a:pPr>
            <a:r>
              <a:rPr lang="en-CA" dirty="0"/>
              <a:t>The problem with testing the bounding box is simply that it is not accurate enough.</a:t>
            </a:r>
            <a:endParaRPr dirty="0"/>
          </a:p>
          <a:p>
            <a:pPr marL="182880" lvl="0" indent="-182880" algn="l" rtl="0">
              <a:lnSpc>
                <a:spcPct val="95000"/>
              </a:lnSpc>
              <a:spcBef>
                <a:spcPts val="1600"/>
              </a:spcBef>
              <a:spcAft>
                <a:spcPts val="0"/>
              </a:spcAft>
              <a:buSzPts val="1440"/>
              <a:buChar char="•"/>
            </a:pPr>
            <a:r>
              <a:rPr lang="en-CA" dirty="0"/>
              <a:t>You need to know what part of the player is hitting the platform.  One box cannot do that.</a:t>
            </a:r>
            <a:endParaRPr dirty="0"/>
          </a:p>
          <a:p>
            <a:pPr marL="182880" lvl="0" indent="-91440" algn="l" rtl="0">
              <a:lnSpc>
                <a:spcPct val="95000"/>
              </a:lnSpc>
              <a:spcBef>
                <a:spcPts val="1600"/>
              </a:spcBef>
              <a:spcAft>
                <a:spcPts val="0"/>
              </a:spcAft>
              <a:buSzPts val="1440"/>
              <a:buNone/>
            </a:pPr>
            <a:endParaRPr dirty="0"/>
          </a:p>
          <a:p>
            <a:pPr marL="182880" lvl="0" indent="-182880" algn="l" rtl="0">
              <a:lnSpc>
                <a:spcPct val="95000"/>
              </a:lnSpc>
              <a:spcBef>
                <a:spcPts val="1600"/>
              </a:spcBef>
              <a:spcAft>
                <a:spcPts val="0"/>
              </a:spcAft>
              <a:buSzPts val="1440"/>
              <a:buChar char="•"/>
            </a:pPr>
            <a:r>
              <a:rPr lang="en-CA" dirty="0"/>
              <a:t>The solution: Use 2 stage collision detection</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4"/>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000"/>
              <a:buFont typeface="Century Schoolbook"/>
              <a:buNone/>
            </a:pPr>
            <a:r>
              <a:rPr lang="en-CA"/>
              <a:t>The Idea…</a:t>
            </a:r>
            <a:endParaRPr/>
          </a:p>
        </p:txBody>
      </p:sp>
      <p:sp>
        <p:nvSpPr>
          <p:cNvPr id="121" name="Google Shape;121;p4"/>
          <p:cNvSpPr txBox="1">
            <a:spLocks noGrp="1"/>
          </p:cNvSpPr>
          <p:nvPr>
            <p:ph idx="1"/>
          </p:nvPr>
        </p:nvSpPr>
        <p:spPr>
          <a:xfrm>
            <a:off x="568411" y="1828802"/>
            <a:ext cx="7257535" cy="2380734"/>
          </a:xfrm>
          <a:prstGeom prst="rect">
            <a:avLst/>
          </a:prstGeom>
          <a:noFill/>
          <a:ln>
            <a:noFill/>
          </a:ln>
        </p:spPr>
        <p:txBody>
          <a:bodyPr spcFirstLastPara="1" wrap="square" lIns="91425" tIns="45700" rIns="91425" bIns="45700" anchor="t" anchorCtr="0">
            <a:normAutofit/>
          </a:bodyPr>
          <a:lstStyle/>
          <a:p>
            <a:pPr marL="182880" lvl="0" indent="-182880" algn="l" rtl="0">
              <a:lnSpc>
                <a:spcPct val="95000"/>
              </a:lnSpc>
              <a:spcBef>
                <a:spcPts val="0"/>
              </a:spcBef>
              <a:spcAft>
                <a:spcPts val="0"/>
              </a:spcAft>
              <a:buSzPts val="1440"/>
              <a:buChar char="•"/>
            </a:pPr>
            <a:r>
              <a:rPr lang="en-CA" dirty="0"/>
              <a:t>Imagine Mario in his bounding box, as shown below</a:t>
            </a:r>
            <a:endParaRPr dirty="0"/>
          </a:p>
          <a:p>
            <a:pPr marL="182880" lvl="0" indent="-182880" algn="l" rtl="0">
              <a:lnSpc>
                <a:spcPct val="95000"/>
              </a:lnSpc>
              <a:spcBef>
                <a:spcPts val="1600"/>
              </a:spcBef>
              <a:spcAft>
                <a:spcPts val="0"/>
              </a:spcAft>
              <a:buSzPts val="1440"/>
              <a:buChar char="•"/>
            </a:pPr>
            <a:r>
              <a:rPr lang="en-CA" dirty="0"/>
              <a:t>We need to break him up based on how he may potentially interact with the platforms</a:t>
            </a:r>
            <a:endParaRPr dirty="0"/>
          </a:p>
          <a:p>
            <a:pPr lvl="1" algn="l" rtl="0">
              <a:lnSpc>
                <a:spcPct val="90000"/>
              </a:lnSpc>
              <a:spcBef>
                <a:spcPts val="500"/>
              </a:spcBef>
              <a:spcAft>
                <a:spcPts val="0"/>
              </a:spcAft>
              <a:buSzPts val="1600"/>
              <a:buFont typeface="Wingdings" panose="05000000000000000000" pitchFamily="2" charset="2"/>
              <a:buChar char="§"/>
            </a:pPr>
            <a:r>
              <a:rPr lang="en-CA" dirty="0"/>
              <a:t>Feet (land on top of platform)</a:t>
            </a:r>
            <a:endParaRPr dirty="0"/>
          </a:p>
          <a:p>
            <a:pPr lvl="1" algn="l" rtl="0">
              <a:lnSpc>
                <a:spcPct val="90000"/>
              </a:lnSpc>
              <a:spcBef>
                <a:spcPts val="600"/>
              </a:spcBef>
              <a:spcAft>
                <a:spcPts val="0"/>
              </a:spcAft>
              <a:buSzPts val="1600"/>
              <a:buFont typeface="Wingdings" panose="05000000000000000000" pitchFamily="2" charset="2"/>
              <a:buChar char="§"/>
            </a:pPr>
            <a:r>
              <a:rPr lang="en-CA" dirty="0"/>
              <a:t>Head (Hit platform from below)</a:t>
            </a:r>
            <a:endParaRPr dirty="0"/>
          </a:p>
          <a:p>
            <a:pPr lvl="1" algn="l" rtl="0">
              <a:lnSpc>
                <a:spcPct val="90000"/>
              </a:lnSpc>
              <a:spcBef>
                <a:spcPts val="600"/>
              </a:spcBef>
              <a:spcAft>
                <a:spcPts val="0"/>
              </a:spcAft>
              <a:buSzPts val="1600"/>
              <a:buFont typeface="Wingdings" panose="05000000000000000000" pitchFamily="2" charset="2"/>
              <a:buChar char="§"/>
            </a:pPr>
            <a:r>
              <a:rPr lang="en-CA" dirty="0"/>
              <a:t>Right side (bounce off a platform, or zero horizontal positive speed)</a:t>
            </a:r>
            <a:endParaRPr dirty="0"/>
          </a:p>
          <a:p>
            <a:pPr lvl="1" algn="l" rtl="0">
              <a:lnSpc>
                <a:spcPct val="90000"/>
              </a:lnSpc>
              <a:spcBef>
                <a:spcPts val="600"/>
              </a:spcBef>
              <a:spcAft>
                <a:spcPts val="0"/>
              </a:spcAft>
              <a:buSzPts val="1600"/>
              <a:buFont typeface="Wingdings" panose="05000000000000000000" pitchFamily="2" charset="2"/>
              <a:buChar char="§"/>
            </a:pPr>
            <a:r>
              <a:rPr lang="en-CA" dirty="0"/>
              <a:t>Left side (bounce off a platform, or zero horizontal negative speed)</a:t>
            </a:r>
            <a:endParaRPr dirty="0"/>
          </a:p>
        </p:txBody>
      </p:sp>
      <p:grpSp>
        <p:nvGrpSpPr>
          <p:cNvPr id="122" name="Google Shape;122;p4"/>
          <p:cNvGrpSpPr/>
          <p:nvPr/>
        </p:nvGrpSpPr>
        <p:grpSpPr>
          <a:xfrm>
            <a:off x="3491016" y="4209536"/>
            <a:ext cx="1090128" cy="2180251"/>
            <a:chOff x="3491016" y="4209536"/>
            <a:chExt cx="1090128" cy="2180251"/>
          </a:xfrm>
        </p:grpSpPr>
        <p:pic>
          <p:nvPicPr>
            <p:cNvPr id="123" name="Google Shape;123;p4"/>
            <p:cNvPicPr preferRelativeResize="0"/>
            <p:nvPr/>
          </p:nvPicPr>
          <p:blipFill rotWithShape="1">
            <a:blip r:embed="rId3">
              <a:alphaModFix/>
            </a:blip>
            <a:srcRect/>
            <a:stretch/>
          </p:blipFill>
          <p:spPr>
            <a:xfrm>
              <a:off x="3491016" y="4209536"/>
              <a:ext cx="1090128" cy="2180251"/>
            </a:xfrm>
            <a:prstGeom prst="rect">
              <a:avLst/>
            </a:prstGeom>
            <a:noFill/>
            <a:ln>
              <a:noFill/>
            </a:ln>
          </p:spPr>
        </p:pic>
        <p:sp>
          <p:nvSpPr>
            <p:cNvPr id="124" name="Google Shape;124;p4"/>
            <p:cNvSpPr/>
            <p:nvPr/>
          </p:nvSpPr>
          <p:spPr>
            <a:xfrm>
              <a:off x="3491016" y="4209536"/>
              <a:ext cx="1090128" cy="2180251"/>
            </a:xfrm>
            <a:prstGeom prst="rect">
              <a:avLst/>
            </a:prstGeom>
            <a:noFill/>
            <a:ln w="139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entury Schoolbook"/>
                <a:ea typeface="Century Schoolbook"/>
                <a:cs typeface="Century Schoolbook"/>
                <a:sym typeface="Century Schoolbook"/>
              </a:endParaRPr>
            </a:p>
          </p:txBody>
        </p:sp>
        <p:sp>
          <p:nvSpPr>
            <p:cNvPr id="125" name="Google Shape;125;p4"/>
            <p:cNvSpPr/>
            <p:nvPr/>
          </p:nvSpPr>
          <p:spPr>
            <a:xfrm>
              <a:off x="3624649" y="5898292"/>
              <a:ext cx="823783" cy="491495"/>
            </a:xfrm>
            <a:prstGeom prst="rect">
              <a:avLst/>
            </a:prstGeom>
            <a:solidFill>
              <a:schemeClr val="accent1">
                <a:alpha val="69803"/>
              </a:schemeClr>
            </a:solidFill>
            <a:ln w="139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entury Schoolbook"/>
                <a:ea typeface="Century Schoolbook"/>
                <a:cs typeface="Century Schoolbook"/>
                <a:sym typeface="Century Schoolbook"/>
              </a:endParaRPr>
            </a:p>
          </p:txBody>
        </p:sp>
        <p:sp>
          <p:nvSpPr>
            <p:cNvPr id="126" name="Google Shape;126;p4"/>
            <p:cNvSpPr/>
            <p:nvPr/>
          </p:nvSpPr>
          <p:spPr>
            <a:xfrm>
              <a:off x="3491016" y="4761471"/>
              <a:ext cx="545064" cy="1136821"/>
            </a:xfrm>
            <a:prstGeom prst="rect">
              <a:avLst/>
            </a:prstGeom>
            <a:solidFill>
              <a:srgbClr val="FFC000">
                <a:alpha val="69803"/>
              </a:srgbClr>
            </a:solidFill>
            <a:ln w="1395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entury Schoolbook"/>
                <a:ea typeface="Century Schoolbook"/>
                <a:cs typeface="Century Schoolbook"/>
                <a:sym typeface="Century Schoolbook"/>
              </a:endParaRPr>
            </a:p>
          </p:txBody>
        </p:sp>
        <p:sp>
          <p:nvSpPr>
            <p:cNvPr id="127" name="Google Shape;127;p4"/>
            <p:cNvSpPr/>
            <p:nvPr/>
          </p:nvSpPr>
          <p:spPr>
            <a:xfrm>
              <a:off x="4036080" y="4761471"/>
              <a:ext cx="545064" cy="1135478"/>
            </a:xfrm>
            <a:prstGeom prst="rect">
              <a:avLst/>
            </a:prstGeom>
            <a:solidFill>
              <a:srgbClr val="00B050">
                <a:alpha val="69803"/>
              </a:srgbClr>
            </a:solidFill>
            <a:ln w="1395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entury Schoolbook"/>
                <a:ea typeface="Century Schoolbook"/>
                <a:cs typeface="Century Schoolbook"/>
                <a:sym typeface="Century Schoolbook"/>
              </a:endParaRPr>
            </a:p>
          </p:txBody>
        </p:sp>
        <p:sp>
          <p:nvSpPr>
            <p:cNvPr id="128" name="Google Shape;128;p4"/>
            <p:cNvSpPr/>
            <p:nvPr/>
          </p:nvSpPr>
          <p:spPr>
            <a:xfrm>
              <a:off x="3698789" y="4209537"/>
              <a:ext cx="683741" cy="551934"/>
            </a:xfrm>
            <a:prstGeom prst="rect">
              <a:avLst/>
            </a:prstGeom>
            <a:solidFill>
              <a:srgbClr val="FF0000">
                <a:alpha val="69803"/>
              </a:srgbClr>
            </a:solidFill>
            <a:ln w="139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entury Schoolbook"/>
                <a:ea typeface="Century Schoolbook"/>
                <a:cs typeface="Century Schoolbook"/>
                <a:sym typeface="Century Schoolbook"/>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1">
                                            <p:txEl>
                                              <p:pRg st="0" end="0"/>
                                            </p:txEl>
                                          </p:spTgt>
                                        </p:tgtEl>
                                        <p:attrNameLst>
                                          <p:attrName>style.visibility</p:attrName>
                                        </p:attrNameLst>
                                      </p:cBhvr>
                                      <p:to>
                                        <p:strVal val="visible"/>
                                      </p:to>
                                    </p:set>
                                    <p:anim calcmode="lin" valueType="num">
                                      <p:cBhvr additive="base">
                                        <p:cTn id="7" dur="500"/>
                                        <p:tgtEl>
                                          <p:spTgt spid="12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21">
                                            <p:txEl>
                                              <p:pRg st="1" end="1"/>
                                            </p:txEl>
                                          </p:spTgt>
                                        </p:tgtEl>
                                        <p:attrNameLst>
                                          <p:attrName>style.visibility</p:attrName>
                                        </p:attrNameLst>
                                      </p:cBhvr>
                                      <p:to>
                                        <p:strVal val="visible"/>
                                      </p:to>
                                    </p:set>
                                    <p:anim calcmode="lin" valueType="num">
                                      <p:cBhvr additive="base">
                                        <p:cTn id="12" dur="500"/>
                                        <p:tgtEl>
                                          <p:spTgt spid="12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21">
                                            <p:txEl>
                                              <p:pRg st="2" end="2"/>
                                            </p:txEl>
                                          </p:spTgt>
                                        </p:tgtEl>
                                        <p:attrNameLst>
                                          <p:attrName>style.visibility</p:attrName>
                                        </p:attrNameLst>
                                      </p:cBhvr>
                                      <p:to>
                                        <p:strVal val="visible"/>
                                      </p:to>
                                    </p:set>
                                    <p:anim calcmode="lin" valueType="num">
                                      <p:cBhvr additive="base">
                                        <p:cTn id="17" dur="500"/>
                                        <p:tgtEl>
                                          <p:spTgt spid="121">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21">
                                            <p:txEl>
                                              <p:pRg st="3" end="3"/>
                                            </p:txEl>
                                          </p:spTgt>
                                        </p:tgtEl>
                                        <p:attrNameLst>
                                          <p:attrName>style.visibility</p:attrName>
                                        </p:attrNameLst>
                                      </p:cBhvr>
                                      <p:to>
                                        <p:strVal val="visible"/>
                                      </p:to>
                                    </p:set>
                                    <p:anim calcmode="lin" valueType="num">
                                      <p:cBhvr additive="base">
                                        <p:cTn id="22" dur="500"/>
                                        <p:tgtEl>
                                          <p:spTgt spid="121">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21">
                                            <p:txEl>
                                              <p:pRg st="4" end="4"/>
                                            </p:txEl>
                                          </p:spTgt>
                                        </p:tgtEl>
                                        <p:attrNameLst>
                                          <p:attrName>style.visibility</p:attrName>
                                        </p:attrNameLst>
                                      </p:cBhvr>
                                      <p:to>
                                        <p:strVal val="visible"/>
                                      </p:to>
                                    </p:set>
                                    <p:anim calcmode="lin" valueType="num">
                                      <p:cBhvr additive="base">
                                        <p:cTn id="27" dur="500"/>
                                        <p:tgtEl>
                                          <p:spTgt spid="121">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121">
                                            <p:txEl>
                                              <p:pRg st="5" end="5"/>
                                            </p:txEl>
                                          </p:spTgt>
                                        </p:tgtEl>
                                        <p:attrNameLst>
                                          <p:attrName>style.visibility</p:attrName>
                                        </p:attrNameLst>
                                      </p:cBhvr>
                                      <p:to>
                                        <p:strVal val="visible"/>
                                      </p:to>
                                    </p:set>
                                    <p:anim calcmode="lin" valueType="num">
                                      <p:cBhvr additive="base">
                                        <p:cTn id="32" dur="500"/>
                                        <p:tgtEl>
                                          <p:spTgt spid="121">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5"/>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000"/>
              <a:buFont typeface="Century Schoolbook"/>
              <a:buNone/>
            </a:pPr>
            <a:r>
              <a:rPr lang="en-CA"/>
              <a:t>The Strategy</a:t>
            </a:r>
            <a:endParaRPr/>
          </a:p>
        </p:txBody>
      </p:sp>
      <p:sp>
        <p:nvSpPr>
          <p:cNvPr id="134" name="Google Shape;134;p5"/>
          <p:cNvSpPr txBox="1">
            <a:spLocks noGrp="1"/>
          </p:cNvSpPr>
          <p:nvPr>
            <p:ph idx="1"/>
          </p:nvPr>
        </p:nvSpPr>
        <p:spPr>
          <a:xfrm>
            <a:off x="651933" y="1828801"/>
            <a:ext cx="7563949" cy="4351337"/>
          </a:xfrm>
          <a:prstGeom prst="rect">
            <a:avLst/>
          </a:prstGeom>
          <a:noFill/>
          <a:ln>
            <a:noFill/>
          </a:ln>
        </p:spPr>
        <p:txBody>
          <a:bodyPr spcFirstLastPara="1" wrap="square" lIns="91425" tIns="45700" rIns="91425" bIns="45700" anchor="t" anchorCtr="0">
            <a:normAutofit/>
          </a:bodyPr>
          <a:lstStyle/>
          <a:p>
            <a:pPr marL="182880" lvl="0" indent="-182880" rtl="0">
              <a:lnSpc>
                <a:spcPct val="95000"/>
              </a:lnSpc>
              <a:spcBef>
                <a:spcPts val="0"/>
              </a:spcBef>
              <a:spcAft>
                <a:spcPts val="0"/>
              </a:spcAft>
              <a:buSzPts val="1440"/>
              <a:buChar char="•"/>
            </a:pPr>
            <a:r>
              <a:rPr lang="en-CA" dirty="0"/>
              <a:t>We know that we will be doing this collision test a lot</a:t>
            </a:r>
            <a:endParaRPr dirty="0"/>
          </a:p>
          <a:p>
            <a:pPr marL="182880" lvl="0" indent="-182880" rtl="0">
              <a:lnSpc>
                <a:spcPct val="95000"/>
              </a:lnSpc>
              <a:spcBef>
                <a:spcPts val="1600"/>
              </a:spcBef>
              <a:spcAft>
                <a:spcPts val="0"/>
              </a:spcAft>
              <a:buSzPts val="1440"/>
              <a:buChar char="•"/>
            </a:pPr>
            <a:r>
              <a:rPr lang="en-CA" dirty="0"/>
              <a:t>We want to reduce the work as much as possible, which is why we use the 2-stage process.</a:t>
            </a:r>
            <a:endParaRPr dirty="0"/>
          </a:p>
          <a:p>
            <a:pPr lvl="1" rtl="0">
              <a:lnSpc>
                <a:spcPct val="90000"/>
              </a:lnSpc>
              <a:spcBef>
                <a:spcPts val="500"/>
              </a:spcBef>
              <a:spcAft>
                <a:spcPts val="0"/>
              </a:spcAft>
              <a:buSzPts val="1600"/>
              <a:buFont typeface="Wingdings" panose="05000000000000000000" pitchFamily="2" charset="2"/>
              <a:buChar char="§"/>
            </a:pPr>
            <a:r>
              <a:rPr lang="en-CA" dirty="0"/>
              <a:t>The four sub rectangles are ONLY tested for collision if there is a collision with the bounding box</a:t>
            </a:r>
          </a:p>
          <a:p>
            <a:pPr lvl="1" rtl="0">
              <a:lnSpc>
                <a:spcPct val="90000"/>
              </a:lnSpc>
              <a:spcBef>
                <a:spcPts val="500"/>
              </a:spcBef>
              <a:spcAft>
                <a:spcPts val="0"/>
              </a:spcAft>
              <a:buSzPts val="1600"/>
              <a:buFont typeface="Wingdings" panose="05000000000000000000" pitchFamily="2" charset="2"/>
              <a:buChar char="§"/>
            </a:pPr>
            <a:endParaRPr dirty="0"/>
          </a:p>
          <a:p>
            <a:pPr marL="182880" lvl="0" indent="-182880" rtl="0">
              <a:lnSpc>
                <a:spcPct val="95000"/>
              </a:lnSpc>
              <a:spcBef>
                <a:spcPts val="1700"/>
              </a:spcBef>
              <a:spcAft>
                <a:spcPts val="0"/>
              </a:spcAft>
              <a:buSzPts val="1440"/>
              <a:buChar char="•"/>
            </a:pPr>
            <a:r>
              <a:rPr lang="en-CA" dirty="0"/>
              <a:t>We can set up the rectangles at two points:</a:t>
            </a:r>
            <a:endParaRPr dirty="0"/>
          </a:p>
          <a:p>
            <a:pPr marL="617220" lvl="1" rtl="0">
              <a:lnSpc>
                <a:spcPct val="90000"/>
              </a:lnSpc>
              <a:spcBef>
                <a:spcPts val="500"/>
              </a:spcBef>
              <a:spcAft>
                <a:spcPts val="0"/>
              </a:spcAft>
              <a:buSzPts val="1600"/>
              <a:buFont typeface="+mj-lt"/>
              <a:buAutoNum type="arabicPeriod"/>
            </a:pPr>
            <a:r>
              <a:rPr lang="en-CA" dirty="0"/>
              <a:t>We set them up when the image is loaded, but we will need to maintain their locations by moving them whenever we move the player</a:t>
            </a:r>
            <a:endParaRPr dirty="0"/>
          </a:p>
          <a:p>
            <a:pPr marL="617220" lvl="1" rtl="0">
              <a:lnSpc>
                <a:spcPct val="90000"/>
              </a:lnSpc>
              <a:spcBef>
                <a:spcPts val="600"/>
              </a:spcBef>
              <a:spcAft>
                <a:spcPts val="0"/>
              </a:spcAft>
              <a:buSzPts val="1600"/>
              <a:buFont typeface="+mj-lt"/>
              <a:buAutoNum type="arabicPeriod"/>
            </a:pPr>
            <a:r>
              <a:rPr lang="en-CA" dirty="0"/>
              <a:t>We set them up when a collision with the bounding box has been found.  This requires no maintenance, but does require calculations and variable declaration every update</a:t>
            </a:r>
            <a:endParaRPr dirty="0"/>
          </a:p>
          <a:p>
            <a:pPr marL="182880" lvl="0" indent="-182880" rtl="0">
              <a:lnSpc>
                <a:spcPct val="95000"/>
              </a:lnSpc>
              <a:spcBef>
                <a:spcPts val="1700"/>
              </a:spcBef>
              <a:spcAft>
                <a:spcPts val="0"/>
              </a:spcAft>
              <a:buSzPts val="1440"/>
              <a:buChar char="•"/>
            </a:pPr>
            <a:r>
              <a:rPr lang="en-CA" dirty="0"/>
              <a:t>The option you choose is up to you.</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6"/>
          <p:cNvSpPr txBox="1">
            <a:spLocks noGrp="1"/>
          </p:cNvSpPr>
          <p:nvPr>
            <p:ph type="title"/>
          </p:nvPr>
        </p:nvSpPr>
        <p:spPr>
          <a:xfrm>
            <a:off x="946404" y="365760"/>
            <a:ext cx="7269480" cy="688683"/>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000"/>
              <a:buFont typeface="Century Schoolbook"/>
              <a:buNone/>
            </a:pPr>
            <a:r>
              <a:rPr lang="en-CA"/>
              <a:t>The Strategy</a:t>
            </a:r>
            <a:endParaRPr/>
          </a:p>
        </p:txBody>
      </p:sp>
      <p:sp>
        <p:nvSpPr>
          <p:cNvPr id="140" name="Google Shape;140;p6"/>
          <p:cNvSpPr txBox="1">
            <a:spLocks noGrp="1"/>
          </p:cNvSpPr>
          <p:nvPr>
            <p:ph idx="1"/>
          </p:nvPr>
        </p:nvSpPr>
        <p:spPr>
          <a:xfrm>
            <a:off x="354227" y="1136823"/>
            <a:ext cx="7661189" cy="2669058"/>
          </a:xfrm>
          <a:prstGeom prst="rect">
            <a:avLst/>
          </a:prstGeom>
          <a:noFill/>
          <a:ln>
            <a:noFill/>
          </a:ln>
        </p:spPr>
        <p:txBody>
          <a:bodyPr spcFirstLastPara="1" wrap="square" lIns="91425" tIns="45700" rIns="91425" bIns="45700" anchor="t" anchorCtr="0">
            <a:normAutofit/>
          </a:bodyPr>
          <a:lstStyle/>
          <a:p>
            <a:pPr marL="182880" lvl="0" indent="-182880" algn="l" rtl="0">
              <a:lnSpc>
                <a:spcPct val="95000"/>
              </a:lnSpc>
              <a:spcBef>
                <a:spcPts val="0"/>
              </a:spcBef>
              <a:spcAft>
                <a:spcPts val="0"/>
              </a:spcAft>
              <a:buSzPts val="1440"/>
              <a:buChar char="•"/>
            </a:pPr>
            <a:r>
              <a:rPr lang="en-CA" dirty="0"/>
              <a:t>The size and location of each sub rectangle require thought as well as trial and error.</a:t>
            </a:r>
            <a:endParaRPr dirty="0"/>
          </a:p>
          <a:p>
            <a:pPr marL="182880" lvl="0" indent="-182880" algn="l" rtl="0">
              <a:lnSpc>
                <a:spcPct val="95000"/>
              </a:lnSpc>
              <a:spcBef>
                <a:spcPts val="1600"/>
              </a:spcBef>
              <a:spcAft>
                <a:spcPts val="0"/>
              </a:spcAft>
              <a:buSzPts val="1440"/>
              <a:buChar char="•"/>
            </a:pPr>
            <a:r>
              <a:rPr lang="en-CA" dirty="0"/>
              <a:t>In the image below you can see that the head and feet boxes are not the entire width, this is to allow for angled falls and jumps that seem more realistic as oppose to having a toe stop a fall.</a:t>
            </a:r>
            <a:endParaRPr dirty="0"/>
          </a:p>
          <a:p>
            <a:pPr marL="182880" lvl="0" indent="-182880" algn="l" rtl="0">
              <a:lnSpc>
                <a:spcPct val="95000"/>
              </a:lnSpc>
              <a:spcBef>
                <a:spcPts val="1600"/>
              </a:spcBef>
              <a:spcAft>
                <a:spcPts val="0"/>
              </a:spcAft>
              <a:buSzPts val="1440"/>
              <a:buChar char="•"/>
            </a:pPr>
            <a:r>
              <a:rPr lang="en-CA" dirty="0"/>
              <a:t>You can play with the numbers to find what works for you, but the rectangles must be relative to the (</a:t>
            </a:r>
            <a:r>
              <a:rPr lang="en-CA" dirty="0" err="1"/>
              <a:t>x,y</a:t>
            </a:r>
            <a:r>
              <a:rPr lang="en-CA" dirty="0"/>
              <a:t>) of the bounding box as well as its width and height.</a:t>
            </a:r>
            <a:endParaRPr dirty="0"/>
          </a:p>
        </p:txBody>
      </p:sp>
      <p:grpSp>
        <p:nvGrpSpPr>
          <p:cNvPr id="141" name="Google Shape;141;p6"/>
          <p:cNvGrpSpPr/>
          <p:nvPr/>
        </p:nvGrpSpPr>
        <p:grpSpPr>
          <a:xfrm>
            <a:off x="3639757" y="4143635"/>
            <a:ext cx="1090128" cy="2180251"/>
            <a:chOff x="3491016" y="4209536"/>
            <a:chExt cx="1090128" cy="2180251"/>
          </a:xfrm>
        </p:grpSpPr>
        <p:pic>
          <p:nvPicPr>
            <p:cNvPr id="142" name="Google Shape;142;p6"/>
            <p:cNvPicPr preferRelativeResize="0"/>
            <p:nvPr/>
          </p:nvPicPr>
          <p:blipFill rotWithShape="1">
            <a:blip r:embed="rId3">
              <a:alphaModFix/>
            </a:blip>
            <a:srcRect/>
            <a:stretch/>
          </p:blipFill>
          <p:spPr>
            <a:xfrm>
              <a:off x="3491016" y="4209536"/>
              <a:ext cx="1090128" cy="2180251"/>
            </a:xfrm>
            <a:prstGeom prst="rect">
              <a:avLst/>
            </a:prstGeom>
            <a:noFill/>
            <a:ln>
              <a:noFill/>
            </a:ln>
          </p:spPr>
        </p:pic>
        <p:sp>
          <p:nvSpPr>
            <p:cNvPr id="143" name="Google Shape;143;p6"/>
            <p:cNvSpPr/>
            <p:nvPr/>
          </p:nvSpPr>
          <p:spPr>
            <a:xfrm>
              <a:off x="3491016" y="4209536"/>
              <a:ext cx="1090128" cy="2180251"/>
            </a:xfrm>
            <a:prstGeom prst="rect">
              <a:avLst/>
            </a:prstGeom>
            <a:noFill/>
            <a:ln w="139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entury Schoolbook"/>
                <a:ea typeface="Century Schoolbook"/>
                <a:cs typeface="Century Schoolbook"/>
                <a:sym typeface="Century Schoolbook"/>
              </a:endParaRPr>
            </a:p>
          </p:txBody>
        </p:sp>
        <p:sp>
          <p:nvSpPr>
            <p:cNvPr id="144" name="Google Shape;144;p6"/>
            <p:cNvSpPr/>
            <p:nvPr/>
          </p:nvSpPr>
          <p:spPr>
            <a:xfrm>
              <a:off x="3624649" y="5898292"/>
              <a:ext cx="823783" cy="491495"/>
            </a:xfrm>
            <a:prstGeom prst="rect">
              <a:avLst/>
            </a:prstGeom>
            <a:solidFill>
              <a:schemeClr val="accent1">
                <a:alpha val="69803"/>
              </a:schemeClr>
            </a:solidFill>
            <a:ln w="139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entury Schoolbook"/>
                <a:ea typeface="Century Schoolbook"/>
                <a:cs typeface="Century Schoolbook"/>
                <a:sym typeface="Century Schoolbook"/>
              </a:endParaRPr>
            </a:p>
          </p:txBody>
        </p:sp>
        <p:sp>
          <p:nvSpPr>
            <p:cNvPr id="145" name="Google Shape;145;p6"/>
            <p:cNvSpPr/>
            <p:nvPr/>
          </p:nvSpPr>
          <p:spPr>
            <a:xfrm>
              <a:off x="3491016" y="4761471"/>
              <a:ext cx="545064" cy="1136821"/>
            </a:xfrm>
            <a:prstGeom prst="rect">
              <a:avLst/>
            </a:prstGeom>
            <a:solidFill>
              <a:srgbClr val="FFC000">
                <a:alpha val="69803"/>
              </a:srgbClr>
            </a:solidFill>
            <a:ln w="1395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entury Schoolbook"/>
                <a:ea typeface="Century Schoolbook"/>
                <a:cs typeface="Century Schoolbook"/>
                <a:sym typeface="Century Schoolbook"/>
              </a:endParaRPr>
            </a:p>
          </p:txBody>
        </p:sp>
        <p:sp>
          <p:nvSpPr>
            <p:cNvPr id="146" name="Google Shape;146;p6"/>
            <p:cNvSpPr/>
            <p:nvPr/>
          </p:nvSpPr>
          <p:spPr>
            <a:xfrm>
              <a:off x="4036080" y="4761471"/>
              <a:ext cx="545064" cy="1135478"/>
            </a:xfrm>
            <a:prstGeom prst="rect">
              <a:avLst/>
            </a:prstGeom>
            <a:solidFill>
              <a:srgbClr val="00B050">
                <a:alpha val="69803"/>
              </a:srgbClr>
            </a:solidFill>
            <a:ln w="1395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entury Schoolbook"/>
                <a:ea typeface="Century Schoolbook"/>
                <a:cs typeface="Century Schoolbook"/>
                <a:sym typeface="Century Schoolbook"/>
              </a:endParaRPr>
            </a:p>
          </p:txBody>
        </p:sp>
        <p:sp>
          <p:nvSpPr>
            <p:cNvPr id="147" name="Google Shape;147;p6"/>
            <p:cNvSpPr/>
            <p:nvPr/>
          </p:nvSpPr>
          <p:spPr>
            <a:xfrm>
              <a:off x="3698789" y="4209537"/>
              <a:ext cx="683741" cy="551934"/>
            </a:xfrm>
            <a:prstGeom prst="rect">
              <a:avLst/>
            </a:prstGeom>
            <a:solidFill>
              <a:srgbClr val="FF0000">
                <a:alpha val="69803"/>
              </a:srgbClr>
            </a:solidFill>
            <a:ln w="139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entury Schoolbook"/>
                <a:ea typeface="Century Schoolbook"/>
                <a:cs typeface="Century Schoolbook"/>
                <a:sym typeface="Century Schoolbook"/>
              </a:endParaRPr>
            </a:p>
          </p:txBody>
        </p:sp>
      </p:grpSp>
      <p:sp>
        <p:nvSpPr>
          <p:cNvPr id="148" name="Google Shape;148;p6"/>
          <p:cNvSpPr txBox="1"/>
          <p:nvPr/>
        </p:nvSpPr>
        <p:spPr>
          <a:xfrm>
            <a:off x="3094106" y="3814166"/>
            <a:ext cx="64953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1800" b="0" i="0" u="none" strike="noStrike" cap="none">
                <a:solidFill>
                  <a:schemeClr val="dk1"/>
                </a:solidFill>
                <a:latin typeface="Century Schoolbook"/>
                <a:ea typeface="Century Schoolbook"/>
                <a:cs typeface="Century Schoolbook"/>
                <a:sym typeface="Century Schoolbook"/>
              </a:rPr>
              <a:t>(x,y)</a:t>
            </a:r>
            <a:endParaRPr sz="1800">
              <a:solidFill>
                <a:schemeClr val="dk1"/>
              </a:solidFill>
              <a:latin typeface="Century Schoolbook"/>
              <a:ea typeface="Century Schoolbook"/>
              <a:cs typeface="Century Schoolbook"/>
              <a:sym typeface="Century Schoolbook"/>
            </a:endParaRPr>
          </a:p>
        </p:txBody>
      </p:sp>
      <p:sp>
        <p:nvSpPr>
          <p:cNvPr id="149" name="Google Shape;149;p6"/>
          <p:cNvSpPr txBox="1"/>
          <p:nvPr/>
        </p:nvSpPr>
        <p:spPr>
          <a:xfrm>
            <a:off x="3781385" y="3790092"/>
            <a:ext cx="80021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1800">
                <a:solidFill>
                  <a:schemeClr val="dk1"/>
                </a:solidFill>
                <a:latin typeface="Century Schoolbook"/>
                <a:ea typeface="Century Schoolbook"/>
                <a:cs typeface="Century Schoolbook"/>
                <a:sym typeface="Century Schoolbook"/>
              </a:rPr>
              <a:t>width</a:t>
            </a:r>
            <a:endParaRPr sz="1800">
              <a:solidFill>
                <a:schemeClr val="dk1"/>
              </a:solidFill>
              <a:latin typeface="Century Schoolbook"/>
              <a:ea typeface="Century Schoolbook"/>
              <a:cs typeface="Century Schoolbook"/>
              <a:sym typeface="Century Schoolbook"/>
            </a:endParaRPr>
          </a:p>
        </p:txBody>
      </p:sp>
      <p:sp>
        <p:nvSpPr>
          <p:cNvPr id="150" name="Google Shape;150;p6"/>
          <p:cNvSpPr txBox="1"/>
          <p:nvPr/>
        </p:nvSpPr>
        <p:spPr>
          <a:xfrm rot="5400000">
            <a:off x="4469337" y="5078643"/>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1800">
                <a:solidFill>
                  <a:schemeClr val="dk1"/>
                </a:solidFill>
                <a:latin typeface="Century Schoolbook"/>
                <a:ea typeface="Century Schoolbook"/>
                <a:cs typeface="Century Schoolbook"/>
                <a:sym typeface="Century Schoolbook"/>
              </a:rPr>
              <a:t>height</a:t>
            </a:r>
            <a:endParaRPr sz="1800">
              <a:solidFill>
                <a:schemeClr val="dk1"/>
              </a:solidFill>
              <a:latin typeface="Century Schoolbook"/>
              <a:ea typeface="Century Schoolbook"/>
              <a:cs typeface="Century Schoolbook"/>
              <a:sym typeface="Century Schoolbook"/>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0">
                                            <p:txEl>
                                              <p:pRg st="0" end="0"/>
                                            </p:txEl>
                                          </p:spTgt>
                                        </p:tgtEl>
                                        <p:attrNameLst>
                                          <p:attrName>style.visibility</p:attrName>
                                        </p:attrNameLst>
                                      </p:cBhvr>
                                      <p:to>
                                        <p:strVal val="visible"/>
                                      </p:to>
                                    </p:set>
                                    <p:anim calcmode="lin" valueType="num">
                                      <p:cBhvr additive="base">
                                        <p:cTn id="7" dur="500"/>
                                        <p:tgtEl>
                                          <p:spTgt spid="14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40">
                                            <p:txEl>
                                              <p:pRg st="1" end="1"/>
                                            </p:txEl>
                                          </p:spTgt>
                                        </p:tgtEl>
                                        <p:attrNameLst>
                                          <p:attrName>style.visibility</p:attrName>
                                        </p:attrNameLst>
                                      </p:cBhvr>
                                      <p:to>
                                        <p:strVal val="visible"/>
                                      </p:to>
                                    </p:set>
                                    <p:anim calcmode="lin" valueType="num">
                                      <p:cBhvr additive="base">
                                        <p:cTn id="12" dur="500"/>
                                        <p:tgtEl>
                                          <p:spTgt spid="140">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40">
                                            <p:txEl>
                                              <p:pRg st="2" end="2"/>
                                            </p:txEl>
                                          </p:spTgt>
                                        </p:tgtEl>
                                        <p:attrNameLst>
                                          <p:attrName>style.visibility</p:attrName>
                                        </p:attrNameLst>
                                      </p:cBhvr>
                                      <p:to>
                                        <p:strVal val="visible"/>
                                      </p:to>
                                    </p:set>
                                    <p:anim calcmode="lin" valueType="num">
                                      <p:cBhvr additive="base">
                                        <p:cTn id="17" dur="500"/>
                                        <p:tgtEl>
                                          <p:spTgt spid="140">
                                            <p:txEl>
                                              <p:pRg st="2" end="2"/>
                                            </p:txEl>
                                          </p:spTgt>
                                        </p:tgtEl>
                                        <p:attrNameLst>
                                          <p:attrName>ppt_x</p:attrName>
                                        </p:attrNameLst>
                                      </p:cBhvr>
                                      <p:tavLst>
                                        <p:tav tm="0">
                                          <p:val>
                                            <p:strVal val="#ppt_x-1"/>
                                          </p:val>
                                        </p:tav>
                                        <p:tav tm="100000">
                                          <p:val>
                                            <p:strVal val="#ppt_x"/>
                                          </p:val>
                                        </p:tav>
                                      </p:tavLst>
                                    </p:anim>
                                  </p:childTnLst>
                                </p:cTn>
                              </p:par>
                            </p:childTnLst>
                          </p:cTn>
                        </p:par>
                        <p:par>
                          <p:cTn id="18" fill="hold">
                            <p:stCondLst>
                              <p:cond delay="500"/>
                            </p:stCondLst>
                            <p:childTnLst>
                              <p:par>
                                <p:cTn id="19" presetID="23" presetClass="entr" presetSubtype="16" fill="hold" nodeType="afterEffect">
                                  <p:stCondLst>
                                    <p:cond delay="0"/>
                                  </p:stCondLst>
                                  <p:childTnLst>
                                    <p:set>
                                      <p:cBhvr>
                                        <p:cTn id="20" dur="1" fill="hold">
                                          <p:stCondLst>
                                            <p:cond delay="0"/>
                                          </p:stCondLst>
                                        </p:cTn>
                                        <p:tgtEl>
                                          <p:spTgt spid="141"/>
                                        </p:tgtEl>
                                        <p:attrNameLst>
                                          <p:attrName>style.visibility</p:attrName>
                                        </p:attrNameLst>
                                      </p:cBhvr>
                                      <p:to>
                                        <p:strVal val="visible"/>
                                      </p:to>
                                    </p:set>
                                    <p:anim calcmode="lin" valueType="num">
                                      <p:cBhvr additive="base">
                                        <p:cTn id="21" dur="500"/>
                                        <p:tgtEl>
                                          <p:spTgt spid="141"/>
                                        </p:tgtEl>
                                        <p:attrNameLst>
                                          <p:attrName>ppt_w</p:attrName>
                                        </p:attrNameLst>
                                      </p:cBhvr>
                                      <p:tavLst>
                                        <p:tav tm="0">
                                          <p:val>
                                            <p:strVal val="0"/>
                                          </p:val>
                                        </p:tav>
                                        <p:tav tm="100000">
                                          <p:val>
                                            <p:strVal val="#ppt_w"/>
                                          </p:val>
                                        </p:tav>
                                      </p:tavLst>
                                    </p:anim>
                                    <p:anim calcmode="lin" valueType="num">
                                      <p:cBhvr additive="base">
                                        <p:cTn id="22" dur="500"/>
                                        <p:tgtEl>
                                          <p:spTgt spid="141"/>
                                        </p:tgtEl>
                                        <p:attrNameLst>
                                          <p:attrName>ppt_h</p:attrName>
                                        </p:attrNameLst>
                                      </p:cBhvr>
                                      <p:tavLst>
                                        <p:tav tm="0">
                                          <p:val>
                                            <p:strVal val="0"/>
                                          </p:val>
                                        </p:tav>
                                        <p:tav tm="100000">
                                          <p:val>
                                            <p:strVal val="#ppt_h"/>
                                          </p:val>
                                        </p:tav>
                                      </p:tavLst>
                                    </p:anim>
                                  </p:childTnLst>
                                </p:cTn>
                              </p:par>
                            </p:childTnLst>
                          </p:cTn>
                        </p:par>
                        <p:par>
                          <p:cTn id="23" fill="hold">
                            <p:stCondLst>
                              <p:cond delay="1000"/>
                            </p:stCondLst>
                            <p:childTnLst>
                              <p:par>
                                <p:cTn id="24" presetID="23" presetClass="entr" presetSubtype="16" fill="hold" nodeType="afterEffect">
                                  <p:stCondLst>
                                    <p:cond delay="0"/>
                                  </p:stCondLst>
                                  <p:childTnLst>
                                    <p:set>
                                      <p:cBhvr>
                                        <p:cTn id="25" dur="1" fill="hold">
                                          <p:stCondLst>
                                            <p:cond delay="0"/>
                                          </p:stCondLst>
                                        </p:cTn>
                                        <p:tgtEl>
                                          <p:spTgt spid="148"/>
                                        </p:tgtEl>
                                        <p:attrNameLst>
                                          <p:attrName>style.visibility</p:attrName>
                                        </p:attrNameLst>
                                      </p:cBhvr>
                                      <p:to>
                                        <p:strVal val="visible"/>
                                      </p:to>
                                    </p:set>
                                    <p:anim calcmode="lin" valueType="num">
                                      <p:cBhvr additive="base">
                                        <p:cTn id="26" dur="500"/>
                                        <p:tgtEl>
                                          <p:spTgt spid="148"/>
                                        </p:tgtEl>
                                        <p:attrNameLst>
                                          <p:attrName>ppt_w</p:attrName>
                                        </p:attrNameLst>
                                      </p:cBhvr>
                                      <p:tavLst>
                                        <p:tav tm="0">
                                          <p:val>
                                            <p:strVal val="0"/>
                                          </p:val>
                                        </p:tav>
                                        <p:tav tm="100000">
                                          <p:val>
                                            <p:strVal val="#ppt_w"/>
                                          </p:val>
                                        </p:tav>
                                      </p:tavLst>
                                    </p:anim>
                                    <p:anim calcmode="lin" valueType="num">
                                      <p:cBhvr additive="base">
                                        <p:cTn id="27" dur="500"/>
                                        <p:tgtEl>
                                          <p:spTgt spid="148"/>
                                        </p:tgtEl>
                                        <p:attrNameLst>
                                          <p:attrName>ppt_h</p:attrName>
                                        </p:attrNameLst>
                                      </p:cBhvr>
                                      <p:tavLst>
                                        <p:tav tm="0">
                                          <p:val>
                                            <p:strVal val="0"/>
                                          </p:val>
                                        </p:tav>
                                        <p:tav tm="100000">
                                          <p:val>
                                            <p:strVal val="#ppt_h"/>
                                          </p:val>
                                        </p:tav>
                                      </p:tavLst>
                                    </p:anim>
                                  </p:childTnLst>
                                </p:cTn>
                              </p:par>
                            </p:childTnLst>
                          </p:cTn>
                        </p:par>
                        <p:par>
                          <p:cTn id="28" fill="hold">
                            <p:stCondLst>
                              <p:cond delay="1500"/>
                            </p:stCondLst>
                            <p:childTnLst>
                              <p:par>
                                <p:cTn id="29" presetID="23" presetClass="entr" presetSubtype="16" fill="hold" nodeType="afterEffect">
                                  <p:stCondLst>
                                    <p:cond delay="0"/>
                                  </p:stCondLst>
                                  <p:childTnLst>
                                    <p:set>
                                      <p:cBhvr>
                                        <p:cTn id="30" dur="1" fill="hold">
                                          <p:stCondLst>
                                            <p:cond delay="0"/>
                                          </p:stCondLst>
                                        </p:cTn>
                                        <p:tgtEl>
                                          <p:spTgt spid="149"/>
                                        </p:tgtEl>
                                        <p:attrNameLst>
                                          <p:attrName>style.visibility</p:attrName>
                                        </p:attrNameLst>
                                      </p:cBhvr>
                                      <p:to>
                                        <p:strVal val="visible"/>
                                      </p:to>
                                    </p:set>
                                    <p:anim calcmode="lin" valueType="num">
                                      <p:cBhvr additive="base">
                                        <p:cTn id="31" dur="500"/>
                                        <p:tgtEl>
                                          <p:spTgt spid="149"/>
                                        </p:tgtEl>
                                        <p:attrNameLst>
                                          <p:attrName>ppt_w</p:attrName>
                                        </p:attrNameLst>
                                      </p:cBhvr>
                                      <p:tavLst>
                                        <p:tav tm="0">
                                          <p:val>
                                            <p:strVal val="0"/>
                                          </p:val>
                                        </p:tav>
                                        <p:tav tm="100000">
                                          <p:val>
                                            <p:strVal val="#ppt_w"/>
                                          </p:val>
                                        </p:tav>
                                      </p:tavLst>
                                    </p:anim>
                                    <p:anim calcmode="lin" valueType="num">
                                      <p:cBhvr additive="base">
                                        <p:cTn id="32" dur="500"/>
                                        <p:tgtEl>
                                          <p:spTgt spid="149"/>
                                        </p:tgtEl>
                                        <p:attrNameLst>
                                          <p:attrName>ppt_h</p:attrName>
                                        </p:attrNameLst>
                                      </p:cBhvr>
                                      <p:tavLst>
                                        <p:tav tm="0">
                                          <p:val>
                                            <p:strVal val="0"/>
                                          </p:val>
                                        </p:tav>
                                        <p:tav tm="100000">
                                          <p:val>
                                            <p:strVal val="#ppt_h"/>
                                          </p:val>
                                        </p:tav>
                                      </p:tavLst>
                                    </p:anim>
                                  </p:childTnLst>
                                </p:cTn>
                              </p:par>
                              <p:par>
                                <p:cTn id="33" presetID="23" presetClass="entr" presetSubtype="16" fill="hold" nodeType="withEffect">
                                  <p:stCondLst>
                                    <p:cond delay="0"/>
                                  </p:stCondLst>
                                  <p:childTnLst>
                                    <p:set>
                                      <p:cBhvr>
                                        <p:cTn id="34" dur="1" fill="hold">
                                          <p:stCondLst>
                                            <p:cond delay="0"/>
                                          </p:stCondLst>
                                        </p:cTn>
                                        <p:tgtEl>
                                          <p:spTgt spid="150"/>
                                        </p:tgtEl>
                                        <p:attrNameLst>
                                          <p:attrName>style.visibility</p:attrName>
                                        </p:attrNameLst>
                                      </p:cBhvr>
                                      <p:to>
                                        <p:strVal val="visible"/>
                                      </p:to>
                                    </p:set>
                                    <p:anim calcmode="lin" valueType="num">
                                      <p:cBhvr additive="base">
                                        <p:cTn id="35" dur="500"/>
                                        <p:tgtEl>
                                          <p:spTgt spid="150"/>
                                        </p:tgtEl>
                                        <p:attrNameLst>
                                          <p:attrName>ppt_w</p:attrName>
                                        </p:attrNameLst>
                                      </p:cBhvr>
                                      <p:tavLst>
                                        <p:tav tm="0">
                                          <p:val>
                                            <p:strVal val="0"/>
                                          </p:val>
                                        </p:tav>
                                        <p:tav tm="100000">
                                          <p:val>
                                            <p:strVal val="#ppt_w"/>
                                          </p:val>
                                        </p:tav>
                                      </p:tavLst>
                                    </p:anim>
                                    <p:anim calcmode="lin" valueType="num">
                                      <p:cBhvr additive="base">
                                        <p:cTn id="36" dur="500"/>
                                        <p:tgtEl>
                                          <p:spTgt spid="15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7"/>
          <p:cNvSpPr txBox="1">
            <a:spLocks noGrp="1"/>
          </p:cNvSpPr>
          <p:nvPr>
            <p:ph type="title"/>
          </p:nvPr>
        </p:nvSpPr>
        <p:spPr>
          <a:xfrm>
            <a:off x="946404" y="365760"/>
            <a:ext cx="7269480" cy="71339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000"/>
              <a:buFont typeface="Century Schoolbook"/>
              <a:buNone/>
            </a:pPr>
            <a:r>
              <a:rPr lang="en-CA"/>
              <a:t>Rectangle Setup</a:t>
            </a:r>
            <a:endParaRPr/>
          </a:p>
        </p:txBody>
      </p:sp>
      <p:sp>
        <p:nvSpPr>
          <p:cNvPr id="156" name="Google Shape;156;p7"/>
          <p:cNvSpPr txBox="1">
            <a:spLocks noGrp="1"/>
          </p:cNvSpPr>
          <p:nvPr>
            <p:ph idx="1"/>
          </p:nvPr>
        </p:nvSpPr>
        <p:spPr>
          <a:xfrm>
            <a:off x="230659" y="1153297"/>
            <a:ext cx="7028730" cy="5387546"/>
          </a:xfrm>
          <a:prstGeom prst="rect">
            <a:avLst/>
          </a:prstGeom>
          <a:noFill/>
          <a:ln>
            <a:noFill/>
          </a:ln>
        </p:spPr>
        <p:txBody>
          <a:bodyPr spcFirstLastPara="1" wrap="square" lIns="91425" tIns="45700" rIns="91425" bIns="45700" anchor="t" anchorCtr="0">
            <a:normAutofit/>
          </a:bodyPr>
          <a:lstStyle/>
          <a:p>
            <a:pPr marL="182880" lvl="0" indent="-182880" algn="l" rtl="0">
              <a:lnSpc>
                <a:spcPct val="95000"/>
              </a:lnSpc>
              <a:spcBef>
                <a:spcPts val="0"/>
              </a:spcBef>
              <a:spcAft>
                <a:spcPts val="0"/>
              </a:spcAft>
              <a:buSzPts val="1440"/>
              <a:buChar char="•"/>
            </a:pPr>
            <a:r>
              <a:rPr lang="en-CA" dirty="0"/>
              <a:t>For my example, the head is 60% of the image width and 25% of its height.  </a:t>
            </a:r>
            <a:endParaRPr dirty="0"/>
          </a:p>
          <a:p>
            <a:pPr lvl="1" algn="l" rtl="0">
              <a:lnSpc>
                <a:spcPct val="90000"/>
              </a:lnSpc>
              <a:spcBef>
                <a:spcPts val="500"/>
              </a:spcBef>
              <a:spcAft>
                <a:spcPts val="0"/>
              </a:spcAft>
              <a:buSzPts val="1600"/>
              <a:buFont typeface="Wingdings" panose="05000000000000000000" pitchFamily="2" charset="2"/>
              <a:buChar char="§"/>
            </a:pPr>
            <a:r>
              <a:rPr lang="en-CA" dirty="0"/>
              <a:t>This implies its (</a:t>
            </a:r>
            <a:r>
              <a:rPr lang="en-CA" dirty="0" err="1"/>
              <a:t>x,y</a:t>
            </a:r>
            <a:r>
              <a:rPr lang="en-CA" dirty="0"/>
              <a:t>) is (</a:t>
            </a:r>
            <a:r>
              <a:rPr lang="en-CA" dirty="0" err="1"/>
              <a:t>img.x</a:t>
            </a:r>
            <a:r>
              <a:rPr lang="en-CA" dirty="0"/>
              <a:t> + (0.2 * </a:t>
            </a:r>
            <a:r>
              <a:rPr lang="en-CA" dirty="0" err="1"/>
              <a:t>img.width</a:t>
            </a:r>
            <a:r>
              <a:rPr lang="en-CA" dirty="0"/>
              <a:t>), </a:t>
            </a:r>
            <a:r>
              <a:rPr lang="en-CA" dirty="0" err="1"/>
              <a:t>img.y</a:t>
            </a:r>
            <a:r>
              <a:rPr lang="en-CA" dirty="0"/>
              <a:t>).</a:t>
            </a:r>
            <a:endParaRPr dirty="0"/>
          </a:p>
          <a:p>
            <a:pPr lvl="1" algn="l" rtl="0">
              <a:lnSpc>
                <a:spcPct val="90000"/>
              </a:lnSpc>
              <a:spcBef>
                <a:spcPts val="600"/>
              </a:spcBef>
              <a:spcAft>
                <a:spcPts val="0"/>
              </a:spcAft>
              <a:buSzPts val="1600"/>
              <a:buFont typeface="Wingdings" panose="05000000000000000000" pitchFamily="2" charset="2"/>
              <a:buChar char="§"/>
            </a:pPr>
            <a:r>
              <a:rPr lang="en-CA" dirty="0"/>
              <a:t>Its width is 0.6 * </a:t>
            </a:r>
            <a:r>
              <a:rPr lang="en-CA" dirty="0" err="1"/>
              <a:t>img.width</a:t>
            </a:r>
            <a:r>
              <a:rPr lang="en-CA" dirty="0"/>
              <a:t>, height is 0.25 * </a:t>
            </a:r>
            <a:r>
              <a:rPr lang="en-CA" dirty="0" err="1"/>
              <a:t>img.height</a:t>
            </a:r>
            <a:endParaRPr dirty="0"/>
          </a:p>
          <a:p>
            <a:pPr marL="182880" lvl="0" indent="-182880" algn="l" rtl="0">
              <a:lnSpc>
                <a:spcPct val="95000"/>
              </a:lnSpc>
              <a:spcBef>
                <a:spcPts val="1700"/>
              </a:spcBef>
              <a:spcAft>
                <a:spcPts val="0"/>
              </a:spcAft>
              <a:buSzPts val="1440"/>
              <a:buChar char="•"/>
            </a:pPr>
            <a:r>
              <a:rPr lang="en-CA" dirty="0"/>
              <a:t>Feet were similar with a width of 70% and height of 25%.  </a:t>
            </a:r>
            <a:endParaRPr dirty="0"/>
          </a:p>
          <a:p>
            <a:pPr marL="182880" lvl="0" indent="-182880" algn="l" rtl="0">
              <a:lnSpc>
                <a:spcPct val="95000"/>
              </a:lnSpc>
              <a:spcBef>
                <a:spcPts val="1600"/>
              </a:spcBef>
              <a:spcAft>
                <a:spcPts val="0"/>
              </a:spcAft>
              <a:buSzPts val="1440"/>
              <a:buChar char="•"/>
            </a:pPr>
            <a:r>
              <a:rPr lang="en-CA" dirty="0"/>
              <a:t>This implies the left and right rectangles have both a width and height of 50% of the image dimensions</a:t>
            </a:r>
            <a:endParaRPr dirty="0"/>
          </a:p>
          <a:p>
            <a:pPr lvl="1" algn="l" rtl="0">
              <a:lnSpc>
                <a:spcPct val="90000"/>
              </a:lnSpc>
              <a:spcBef>
                <a:spcPts val="500"/>
              </a:spcBef>
              <a:spcAft>
                <a:spcPts val="0"/>
              </a:spcAft>
              <a:buSzPts val="1600"/>
              <a:buFont typeface="Wingdings" panose="05000000000000000000" pitchFamily="2" charset="2"/>
              <a:buChar char="§"/>
            </a:pPr>
            <a:r>
              <a:rPr lang="en-CA" dirty="0"/>
              <a:t>Left (</a:t>
            </a:r>
            <a:r>
              <a:rPr lang="en-CA" dirty="0" err="1"/>
              <a:t>x,y</a:t>
            </a:r>
            <a:r>
              <a:rPr lang="en-CA" dirty="0"/>
              <a:t>): (</a:t>
            </a:r>
            <a:r>
              <a:rPr lang="en-CA" dirty="0" err="1"/>
              <a:t>img.x</a:t>
            </a:r>
            <a:r>
              <a:rPr lang="en-CA" dirty="0"/>
              <a:t>, </a:t>
            </a:r>
            <a:r>
              <a:rPr lang="en-CA" dirty="0" err="1"/>
              <a:t>img.y</a:t>
            </a:r>
            <a:r>
              <a:rPr lang="en-CA" dirty="0"/>
              <a:t> + (0.25 * </a:t>
            </a:r>
            <a:r>
              <a:rPr lang="en-CA" dirty="0" err="1"/>
              <a:t>img.height</a:t>
            </a:r>
            <a:r>
              <a:rPr lang="en-CA" dirty="0"/>
              <a:t>))</a:t>
            </a:r>
            <a:endParaRPr dirty="0"/>
          </a:p>
          <a:p>
            <a:pPr lvl="1" algn="l" rtl="0">
              <a:lnSpc>
                <a:spcPct val="90000"/>
              </a:lnSpc>
              <a:spcBef>
                <a:spcPts val="600"/>
              </a:spcBef>
              <a:spcAft>
                <a:spcPts val="0"/>
              </a:spcAft>
              <a:buSzPts val="1600"/>
              <a:buFont typeface="Wingdings" panose="05000000000000000000" pitchFamily="2" charset="2"/>
              <a:buChar char="§"/>
            </a:pPr>
            <a:r>
              <a:rPr lang="en-CA" dirty="0"/>
              <a:t>Right (</a:t>
            </a:r>
            <a:r>
              <a:rPr lang="en-CA" dirty="0" err="1"/>
              <a:t>x,y</a:t>
            </a:r>
            <a:r>
              <a:rPr lang="en-CA" dirty="0"/>
              <a:t>): (</a:t>
            </a:r>
            <a:r>
              <a:rPr lang="en-CA" dirty="0" err="1"/>
              <a:t>img.x</a:t>
            </a:r>
            <a:r>
              <a:rPr lang="en-CA" dirty="0"/>
              <a:t> + (0.5 * </a:t>
            </a:r>
            <a:r>
              <a:rPr lang="en-CA" dirty="0" err="1"/>
              <a:t>img.width</a:t>
            </a:r>
            <a:r>
              <a:rPr lang="en-CA" dirty="0"/>
              <a:t>), </a:t>
            </a:r>
            <a:r>
              <a:rPr lang="en-CA" dirty="0" err="1"/>
              <a:t>img.y</a:t>
            </a:r>
            <a:r>
              <a:rPr lang="en-CA" dirty="0"/>
              <a:t> + (0.25 * </a:t>
            </a:r>
            <a:r>
              <a:rPr lang="en-CA" dirty="0" err="1"/>
              <a:t>img.height</a:t>
            </a:r>
            <a:r>
              <a:rPr lang="en-CA" dirty="0"/>
              <a:t>))</a:t>
            </a:r>
            <a:endParaRPr dirty="0"/>
          </a:p>
          <a:p>
            <a:pPr lvl="1" algn="l" rtl="0">
              <a:lnSpc>
                <a:spcPct val="90000"/>
              </a:lnSpc>
              <a:spcBef>
                <a:spcPts val="600"/>
              </a:spcBef>
              <a:spcAft>
                <a:spcPts val="0"/>
              </a:spcAft>
              <a:buSzPts val="1600"/>
              <a:buFont typeface="Wingdings" panose="05000000000000000000" pitchFamily="2" charset="2"/>
              <a:buChar char="§"/>
            </a:pPr>
            <a:r>
              <a:rPr lang="en-CA" dirty="0"/>
              <a:t>Left and Right Width is 0.5 * </a:t>
            </a:r>
            <a:r>
              <a:rPr lang="en-CA" dirty="0" err="1"/>
              <a:t>img.width</a:t>
            </a:r>
            <a:r>
              <a:rPr lang="en-CA" dirty="0"/>
              <a:t>, height is 0.5 * </a:t>
            </a:r>
            <a:r>
              <a:rPr lang="en-CA" dirty="0" err="1"/>
              <a:t>img.height</a:t>
            </a:r>
            <a:endParaRPr dirty="0"/>
          </a:p>
          <a:p>
            <a:pPr lvl="1" algn="l" rtl="0">
              <a:lnSpc>
                <a:spcPct val="90000"/>
              </a:lnSpc>
              <a:spcBef>
                <a:spcPts val="600"/>
              </a:spcBef>
              <a:spcAft>
                <a:spcPts val="0"/>
              </a:spcAft>
              <a:buSzPts val="1600"/>
              <a:buFont typeface="Wingdings" panose="05000000000000000000" pitchFamily="2" charset="2"/>
              <a:buChar char="§"/>
            </a:pPr>
            <a:r>
              <a:rPr lang="en-CA" dirty="0"/>
              <a:t>Feet (</a:t>
            </a:r>
            <a:r>
              <a:rPr lang="en-CA" dirty="0" err="1"/>
              <a:t>x,y</a:t>
            </a:r>
            <a:r>
              <a:rPr lang="en-CA" dirty="0"/>
              <a:t>): (</a:t>
            </a:r>
            <a:r>
              <a:rPr lang="en-CA" dirty="0" err="1"/>
              <a:t>img.x</a:t>
            </a:r>
            <a:r>
              <a:rPr lang="en-CA" dirty="0"/>
              <a:t> + (0.15 * </a:t>
            </a:r>
            <a:r>
              <a:rPr lang="en-CA" dirty="0" err="1"/>
              <a:t>img.width</a:t>
            </a:r>
            <a:r>
              <a:rPr lang="en-CA" dirty="0"/>
              <a:t>), </a:t>
            </a:r>
            <a:r>
              <a:rPr lang="en-CA" dirty="0" err="1"/>
              <a:t>img.y</a:t>
            </a:r>
            <a:r>
              <a:rPr lang="en-CA" dirty="0"/>
              <a:t> + (0.75 * </a:t>
            </a:r>
            <a:r>
              <a:rPr lang="en-CA" dirty="0" err="1"/>
              <a:t>img.height</a:t>
            </a:r>
            <a:r>
              <a:rPr lang="en-CA" dirty="0"/>
              <a:t>))</a:t>
            </a:r>
            <a:endParaRPr dirty="0"/>
          </a:p>
          <a:p>
            <a:pPr lvl="1" algn="l" rtl="0">
              <a:lnSpc>
                <a:spcPct val="90000"/>
              </a:lnSpc>
              <a:spcBef>
                <a:spcPts val="600"/>
              </a:spcBef>
              <a:spcAft>
                <a:spcPts val="0"/>
              </a:spcAft>
              <a:buSzPts val="1600"/>
              <a:buFont typeface="Wingdings" panose="05000000000000000000" pitchFamily="2" charset="2"/>
              <a:buChar char="§"/>
            </a:pPr>
            <a:r>
              <a:rPr lang="en-CA" dirty="0"/>
              <a:t>Feet Width is 0.7 * </a:t>
            </a:r>
            <a:r>
              <a:rPr lang="en-CA" dirty="0" err="1"/>
              <a:t>img.width</a:t>
            </a:r>
            <a:r>
              <a:rPr lang="en-CA" dirty="0"/>
              <a:t>, height is 0.25 * </a:t>
            </a:r>
            <a:r>
              <a:rPr lang="en-CA" dirty="0" err="1"/>
              <a:t>img.height</a:t>
            </a:r>
            <a:endParaRPr dirty="0"/>
          </a:p>
          <a:p>
            <a:pPr marL="182880" lvl="0" indent="-182880" algn="l" rtl="0">
              <a:lnSpc>
                <a:spcPct val="95000"/>
              </a:lnSpc>
              <a:spcBef>
                <a:spcPts val="1700"/>
              </a:spcBef>
              <a:spcAft>
                <a:spcPts val="0"/>
              </a:spcAft>
              <a:buSzPts val="1440"/>
              <a:buChar char="•"/>
            </a:pPr>
            <a:r>
              <a:rPr lang="en-CA" dirty="0"/>
              <a:t>Now, all of these calculations are either done once when the image is loaded, followed by updates every frame OR, they are done when the bounding box collides with a platform</a:t>
            </a:r>
            <a:endParaRPr dirty="0"/>
          </a:p>
          <a:p>
            <a:pPr marL="182880" lvl="0" indent="-91440" algn="l" rtl="0">
              <a:lnSpc>
                <a:spcPct val="95000"/>
              </a:lnSpc>
              <a:spcBef>
                <a:spcPts val="1600"/>
              </a:spcBef>
              <a:spcAft>
                <a:spcPts val="0"/>
              </a:spcAft>
              <a:buSzPts val="1440"/>
              <a:buNone/>
            </a:pPr>
            <a:endParaRPr dirty="0"/>
          </a:p>
        </p:txBody>
      </p:sp>
      <p:grpSp>
        <p:nvGrpSpPr>
          <p:cNvPr id="157" name="Google Shape;157;p7"/>
          <p:cNvGrpSpPr/>
          <p:nvPr/>
        </p:nvGrpSpPr>
        <p:grpSpPr>
          <a:xfrm>
            <a:off x="7125756" y="461321"/>
            <a:ext cx="1090128" cy="2180251"/>
            <a:chOff x="3491016" y="4209536"/>
            <a:chExt cx="1090128" cy="2180251"/>
          </a:xfrm>
        </p:grpSpPr>
        <p:pic>
          <p:nvPicPr>
            <p:cNvPr id="158" name="Google Shape;158;p7"/>
            <p:cNvPicPr preferRelativeResize="0"/>
            <p:nvPr/>
          </p:nvPicPr>
          <p:blipFill rotWithShape="1">
            <a:blip r:embed="rId3">
              <a:alphaModFix/>
            </a:blip>
            <a:srcRect/>
            <a:stretch/>
          </p:blipFill>
          <p:spPr>
            <a:xfrm>
              <a:off x="3491016" y="4209536"/>
              <a:ext cx="1090128" cy="2180251"/>
            </a:xfrm>
            <a:prstGeom prst="rect">
              <a:avLst/>
            </a:prstGeom>
            <a:noFill/>
            <a:ln>
              <a:noFill/>
            </a:ln>
          </p:spPr>
        </p:pic>
        <p:sp>
          <p:nvSpPr>
            <p:cNvPr id="159" name="Google Shape;159;p7"/>
            <p:cNvSpPr/>
            <p:nvPr/>
          </p:nvSpPr>
          <p:spPr>
            <a:xfrm>
              <a:off x="3491016" y="4209536"/>
              <a:ext cx="1090128" cy="2180251"/>
            </a:xfrm>
            <a:prstGeom prst="rect">
              <a:avLst/>
            </a:prstGeom>
            <a:noFill/>
            <a:ln w="139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entury Schoolbook"/>
                <a:ea typeface="Century Schoolbook"/>
                <a:cs typeface="Century Schoolbook"/>
                <a:sym typeface="Century Schoolbook"/>
              </a:endParaRPr>
            </a:p>
          </p:txBody>
        </p:sp>
        <p:sp>
          <p:nvSpPr>
            <p:cNvPr id="160" name="Google Shape;160;p7"/>
            <p:cNvSpPr/>
            <p:nvPr/>
          </p:nvSpPr>
          <p:spPr>
            <a:xfrm>
              <a:off x="3624649" y="5898292"/>
              <a:ext cx="823783" cy="491495"/>
            </a:xfrm>
            <a:prstGeom prst="rect">
              <a:avLst/>
            </a:prstGeom>
            <a:solidFill>
              <a:schemeClr val="accent1">
                <a:alpha val="69803"/>
              </a:schemeClr>
            </a:solidFill>
            <a:ln w="139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
          <p:nvSpPr>
            <p:cNvPr id="161" name="Google Shape;161;p7"/>
            <p:cNvSpPr/>
            <p:nvPr/>
          </p:nvSpPr>
          <p:spPr>
            <a:xfrm>
              <a:off x="3491016" y="4761471"/>
              <a:ext cx="545064" cy="1136821"/>
            </a:xfrm>
            <a:prstGeom prst="rect">
              <a:avLst/>
            </a:prstGeom>
            <a:solidFill>
              <a:srgbClr val="FFC000">
                <a:alpha val="69803"/>
              </a:srgbClr>
            </a:solidFill>
            <a:ln w="1395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
          <p:nvSpPr>
            <p:cNvPr id="162" name="Google Shape;162;p7"/>
            <p:cNvSpPr/>
            <p:nvPr/>
          </p:nvSpPr>
          <p:spPr>
            <a:xfrm>
              <a:off x="4036080" y="4761471"/>
              <a:ext cx="545064" cy="1135478"/>
            </a:xfrm>
            <a:prstGeom prst="rect">
              <a:avLst/>
            </a:prstGeom>
            <a:solidFill>
              <a:srgbClr val="00B050">
                <a:alpha val="69803"/>
              </a:srgbClr>
            </a:solidFill>
            <a:ln w="1395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sp>
          <p:nvSpPr>
            <p:cNvPr id="163" name="Google Shape;163;p7"/>
            <p:cNvSpPr/>
            <p:nvPr/>
          </p:nvSpPr>
          <p:spPr>
            <a:xfrm>
              <a:off x="3698789" y="4209537"/>
              <a:ext cx="683741" cy="551934"/>
            </a:xfrm>
            <a:prstGeom prst="rect">
              <a:avLst/>
            </a:prstGeom>
            <a:solidFill>
              <a:srgbClr val="FF0000">
                <a:alpha val="69803"/>
              </a:srgbClr>
            </a:solidFill>
            <a:ln w="139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Schoolbook"/>
                <a:ea typeface="Century Schoolbook"/>
                <a:cs typeface="Century Schoolbook"/>
                <a:sym typeface="Century Schoolbook"/>
              </a:endParaRPr>
            </a:p>
          </p:txBody>
        </p:sp>
      </p:grpSp>
      <p:sp>
        <p:nvSpPr>
          <p:cNvPr id="164" name="Google Shape;164;p7"/>
          <p:cNvSpPr txBox="1"/>
          <p:nvPr/>
        </p:nvSpPr>
        <p:spPr>
          <a:xfrm>
            <a:off x="6930378" y="208807"/>
            <a:ext cx="460382"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800">
                <a:solidFill>
                  <a:schemeClr val="dk1"/>
                </a:solidFill>
                <a:latin typeface="Century Schoolbook"/>
                <a:ea typeface="Century Schoolbook"/>
                <a:cs typeface="Century Schoolbook"/>
                <a:sym typeface="Century Schoolbook"/>
              </a:rPr>
              <a:t>0.2*w</a:t>
            </a:r>
            <a:endParaRPr sz="800">
              <a:solidFill>
                <a:schemeClr val="dk1"/>
              </a:solidFill>
              <a:latin typeface="Century Schoolbook"/>
              <a:ea typeface="Century Schoolbook"/>
              <a:cs typeface="Century Schoolbook"/>
              <a:sym typeface="Century Schoolbook"/>
            </a:endParaRPr>
          </a:p>
        </p:txBody>
      </p:sp>
      <p:sp>
        <p:nvSpPr>
          <p:cNvPr id="165" name="Google Shape;165;p7"/>
          <p:cNvSpPr txBox="1"/>
          <p:nvPr/>
        </p:nvSpPr>
        <p:spPr>
          <a:xfrm>
            <a:off x="7409772" y="293054"/>
            <a:ext cx="518091"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800">
                <a:solidFill>
                  <a:schemeClr val="dk1"/>
                </a:solidFill>
                <a:latin typeface="Century Schoolbook"/>
                <a:ea typeface="Century Schoolbook"/>
                <a:cs typeface="Century Schoolbook"/>
                <a:sym typeface="Century Schoolbook"/>
              </a:rPr>
              <a:t>0.6 * w</a:t>
            </a:r>
            <a:endParaRPr sz="800">
              <a:solidFill>
                <a:schemeClr val="dk1"/>
              </a:solidFill>
              <a:latin typeface="Century Schoolbook"/>
              <a:ea typeface="Century Schoolbook"/>
              <a:cs typeface="Century Schoolbook"/>
              <a:sym typeface="Century Schoolbook"/>
            </a:endParaRPr>
          </a:p>
        </p:txBody>
      </p:sp>
      <p:sp>
        <p:nvSpPr>
          <p:cNvPr id="166" name="Google Shape;166;p7"/>
          <p:cNvSpPr txBox="1"/>
          <p:nvPr/>
        </p:nvSpPr>
        <p:spPr>
          <a:xfrm rot="5400000">
            <a:off x="7657857" y="629567"/>
            <a:ext cx="57099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800" b="1">
                <a:solidFill>
                  <a:schemeClr val="lt1"/>
                </a:solidFill>
                <a:latin typeface="Century Schoolbook"/>
                <a:ea typeface="Century Schoolbook"/>
                <a:cs typeface="Century Schoolbook"/>
                <a:sym typeface="Century Schoolbook"/>
              </a:rPr>
              <a:t>0.25 * h</a:t>
            </a:r>
            <a:endParaRPr sz="800" b="1">
              <a:solidFill>
                <a:schemeClr val="lt1"/>
              </a:solidFill>
              <a:latin typeface="Century Schoolbook"/>
              <a:ea typeface="Century Schoolbook"/>
              <a:cs typeface="Century Schoolbook"/>
              <a:sym typeface="Century Schoolbook"/>
            </a:endParaRPr>
          </a:p>
        </p:txBody>
      </p:sp>
      <p:sp>
        <p:nvSpPr>
          <p:cNvPr id="167" name="Google Shape;167;p7"/>
          <p:cNvSpPr txBox="1"/>
          <p:nvPr/>
        </p:nvSpPr>
        <p:spPr>
          <a:xfrm>
            <a:off x="6825598" y="2651099"/>
            <a:ext cx="518091"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800">
                <a:solidFill>
                  <a:schemeClr val="dk1"/>
                </a:solidFill>
                <a:latin typeface="Century Schoolbook"/>
                <a:ea typeface="Century Schoolbook"/>
                <a:cs typeface="Century Schoolbook"/>
                <a:sym typeface="Century Schoolbook"/>
              </a:rPr>
              <a:t>0.15*w</a:t>
            </a:r>
            <a:endParaRPr sz="800">
              <a:solidFill>
                <a:schemeClr val="dk1"/>
              </a:solidFill>
              <a:latin typeface="Century Schoolbook"/>
              <a:ea typeface="Century Schoolbook"/>
              <a:cs typeface="Century Schoolbook"/>
              <a:sym typeface="Century Schoolbook"/>
            </a:endParaRPr>
          </a:p>
        </p:txBody>
      </p:sp>
      <p:sp>
        <p:nvSpPr>
          <p:cNvPr id="168" name="Google Shape;168;p7"/>
          <p:cNvSpPr txBox="1"/>
          <p:nvPr/>
        </p:nvSpPr>
        <p:spPr>
          <a:xfrm>
            <a:off x="7416353" y="2601184"/>
            <a:ext cx="518091"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800">
                <a:solidFill>
                  <a:schemeClr val="dk1"/>
                </a:solidFill>
                <a:latin typeface="Century Schoolbook"/>
                <a:ea typeface="Century Schoolbook"/>
                <a:cs typeface="Century Schoolbook"/>
                <a:sym typeface="Century Schoolbook"/>
              </a:rPr>
              <a:t>0.7 * w</a:t>
            </a:r>
            <a:endParaRPr sz="800">
              <a:solidFill>
                <a:schemeClr val="dk1"/>
              </a:solidFill>
              <a:latin typeface="Century Schoolbook"/>
              <a:ea typeface="Century Schoolbook"/>
              <a:cs typeface="Century Schoolbook"/>
              <a:sym typeface="Century Schoolbook"/>
            </a:endParaRPr>
          </a:p>
        </p:txBody>
      </p:sp>
      <p:sp>
        <p:nvSpPr>
          <p:cNvPr id="169" name="Google Shape;169;p7"/>
          <p:cNvSpPr txBox="1"/>
          <p:nvPr/>
        </p:nvSpPr>
        <p:spPr>
          <a:xfrm rot="5400000">
            <a:off x="7731775" y="2288102"/>
            <a:ext cx="57099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800" b="1">
                <a:solidFill>
                  <a:schemeClr val="lt1"/>
                </a:solidFill>
                <a:latin typeface="Century Schoolbook"/>
                <a:ea typeface="Century Schoolbook"/>
                <a:cs typeface="Century Schoolbook"/>
                <a:sym typeface="Century Schoolbook"/>
              </a:rPr>
              <a:t>0.25 * h</a:t>
            </a:r>
            <a:endParaRPr sz="800" b="1">
              <a:solidFill>
                <a:schemeClr val="lt1"/>
              </a:solidFill>
              <a:latin typeface="Century Schoolbook"/>
              <a:ea typeface="Century Schoolbook"/>
              <a:cs typeface="Century Schoolbook"/>
              <a:sym typeface="Century Schoolbook"/>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6">
                                            <p:txEl>
                                              <p:pRg st="0" end="0"/>
                                            </p:txEl>
                                          </p:spTgt>
                                        </p:tgtEl>
                                        <p:attrNameLst>
                                          <p:attrName>style.visibility</p:attrName>
                                        </p:attrNameLst>
                                      </p:cBhvr>
                                      <p:to>
                                        <p:strVal val="visible"/>
                                      </p:to>
                                    </p:set>
                                    <p:anim calcmode="lin" valueType="num">
                                      <p:cBhvr additive="base">
                                        <p:cTn id="7" dur="500"/>
                                        <p:tgtEl>
                                          <p:spTgt spid="15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56">
                                            <p:txEl>
                                              <p:pRg st="1" end="1"/>
                                            </p:txEl>
                                          </p:spTgt>
                                        </p:tgtEl>
                                        <p:attrNameLst>
                                          <p:attrName>style.visibility</p:attrName>
                                        </p:attrNameLst>
                                      </p:cBhvr>
                                      <p:to>
                                        <p:strVal val="visible"/>
                                      </p:to>
                                    </p:set>
                                    <p:anim calcmode="lin" valueType="num">
                                      <p:cBhvr additive="base">
                                        <p:cTn id="12" dur="500"/>
                                        <p:tgtEl>
                                          <p:spTgt spid="15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56">
                                            <p:txEl>
                                              <p:pRg st="2" end="2"/>
                                            </p:txEl>
                                          </p:spTgt>
                                        </p:tgtEl>
                                        <p:attrNameLst>
                                          <p:attrName>style.visibility</p:attrName>
                                        </p:attrNameLst>
                                      </p:cBhvr>
                                      <p:to>
                                        <p:strVal val="visible"/>
                                      </p:to>
                                    </p:set>
                                    <p:anim calcmode="lin" valueType="num">
                                      <p:cBhvr additive="base">
                                        <p:cTn id="17" dur="500"/>
                                        <p:tgtEl>
                                          <p:spTgt spid="156">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56">
                                            <p:txEl>
                                              <p:pRg st="3" end="3"/>
                                            </p:txEl>
                                          </p:spTgt>
                                        </p:tgtEl>
                                        <p:attrNameLst>
                                          <p:attrName>style.visibility</p:attrName>
                                        </p:attrNameLst>
                                      </p:cBhvr>
                                      <p:to>
                                        <p:strVal val="visible"/>
                                      </p:to>
                                    </p:set>
                                    <p:anim calcmode="lin" valueType="num">
                                      <p:cBhvr additive="base">
                                        <p:cTn id="22" dur="500"/>
                                        <p:tgtEl>
                                          <p:spTgt spid="156">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56">
                                            <p:txEl>
                                              <p:pRg st="4" end="4"/>
                                            </p:txEl>
                                          </p:spTgt>
                                        </p:tgtEl>
                                        <p:attrNameLst>
                                          <p:attrName>style.visibility</p:attrName>
                                        </p:attrNameLst>
                                      </p:cBhvr>
                                      <p:to>
                                        <p:strVal val="visible"/>
                                      </p:to>
                                    </p:set>
                                    <p:anim calcmode="lin" valueType="num">
                                      <p:cBhvr additive="base">
                                        <p:cTn id="27" dur="500"/>
                                        <p:tgtEl>
                                          <p:spTgt spid="156">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156">
                                            <p:txEl>
                                              <p:pRg st="5" end="5"/>
                                            </p:txEl>
                                          </p:spTgt>
                                        </p:tgtEl>
                                        <p:attrNameLst>
                                          <p:attrName>style.visibility</p:attrName>
                                        </p:attrNameLst>
                                      </p:cBhvr>
                                      <p:to>
                                        <p:strVal val="visible"/>
                                      </p:to>
                                    </p:set>
                                    <p:anim calcmode="lin" valueType="num">
                                      <p:cBhvr additive="base">
                                        <p:cTn id="32" dur="500"/>
                                        <p:tgtEl>
                                          <p:spTgt spid="156">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56">
                                            <p:txEl>
                                              <p:pRg st="6" end="6"/>
                                            </p:txEl>
                                          </p:spTgt>
                                        </p:tgtEl>
                                        <p:attrNameLst>
                                          <p:attrName>style.visibility</p:attrName>
                                        </p:attrNameLst>
                                      </p:cBhvr>
                                      <p:to>
                                        <p:strVal val="visible"/>
                                      </p:to>
                                    </p:set>
                                    <p:anim calcmode="lin" valueType="num">
                                      <p:cBhvr additive="base">
                                        <p:cTn id="37" dur="500"/>
                                        <p:tgtEl>
                                          <p:spTgt spid="156">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156">
                                            <p:txEl>
                                              <p:pRg st="7" end="7"/>
                                            </p:txEl>
                                          </p:spTgt>
                                        </p:tgtEl>
                                        <p:attrNameLst>
                                          <p:attrName>style.visibility</p:attrName>
                                        </p:attrNameLst>
                                      </p:cBhvr>
                                      <p:to>
                                        <p:strVal val="visible"/>
                                      </p:to>
                                    </p:set>
                                    <p:anim calcmode="lin" valueType="num">
                                      <p:cBhvr additive="base">
                                        <p:cTn id="42" dur="500"/>
                                        <p:tgtEl>
                                          <p:spTgt spid="156">
                                            <p:txEl>
                                              <p:pRg st="7" end="7"/>
                                            </p:txEl>
                                          </p:spTgt>
                                        </p:tgtEl>
                                        <p:attrNameLst>
                                          <p:attrName>ppt_x</p:attrName>
                                        </p:attrNameLst>
                                      </p:cBhvr>
                                      <p:tavLst>
                                        <p:tav tm="0">
                                          <p:val>
                                            <p:strVal val="#ppt_x-1"/>
                                          </p:val>
                                        </p:tav>
                                        <p:tav tm="100000">
                                          <p:val>
                                            <p:strVal val="#ppt_x"/>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156">
                                            <p:txEl>
                                              <p:pRg st="8" end="8"/>
                                            </p:txEl>
                                          </p:spTgt>
                                        </p:tgtEl>
                                        <p:attrNameLst>
                                          <p:attrName>style.visibility</p:attrName>
                                        </p:attrNameLst>
                                      </p:cBhvr>
                                      <p:to>
                                        <p:strVal val="visible"/>
                                      </p:to>
                                    </p:set>
                                    <p:anim calcmode="lin" valueType="num">
                                      <p:cBhvr additive="base">
                                        <p:cTn id="47" dur="500"/>
                                        <p:tgtEl>
                                          <p:spTgt spid="156">
                                            <p:txEl>
                                              <p:pRg st="8" end="8"/>
                                            </p:txEl>
                                          </p:spTgt>
                                        </p:tgtEl>
                                        <p:attrNameLst>
                                          <p:attrName>ppt_x</p:attrName>
                                        </p:attrNameLst>
                                      </p:cBhvr>
                                      <p:tavLst>
                                        <p:tav tm="0">
                                          <p:val>
                                            <p:strVal val="#ppt_x-1"/>
                                          </p:val>
                                        </p:tav>
                                        <p:tav tm="100000">
                                          <p:val>
                                            <p:strVal val="#ppt_x"/>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nodeType="clickEffect">
                                  <p:stCondLst>
                                    <p:cond delay="0"/>
                                  </p:stCondLst>
                                  <p:childTnLst>
                                    <p:set>
                                      <p:cBhvr>
                                        <p:cTn id="51" dur="1" fill="hold">
                                          <p:stCondLst>
                                            <p:cond delay="0"/>
                                          </p:stCondLst>
                                        </p:cTn>
                                        <p:tgtEl>
                                          <p:spTgt spid="156">
                                            <p:txEl>
                                              <p:pRg st="9" end="9"/>
                                            </p:txEl>
                                          </p:spTgt>
                                        </p:tgtEl>
                                        <p:attrNameLst>
                                          <p:attrName>style.visibility</p:attrName>
                                        </p:attrNameLst>
                                      </p:cBhvr>
                                      <p:to>
                                        <p:strVal val="visible"/>
                                      </p:to>
                                    </p:set>
                                    <p:anim calcmode="lin" valueType="num">
                                      <p:cBhvr additive="base">
                                        <p:cTn id="52" dur="500"/>
                                        <p:tgtEl>
                                          <p:spTgt spid="156">
                                            <p:txEl>
                                              <p:pRg st="9" end="9"/>
                                            </p:txEl>
                                          </p:spTgt>
                                        </p:tgtEl>
                                        <p:attrNameLst>
                                          <p:attrName>ppt_x</p:attrName>
                                        </p:attrNameLst>
                                      </p:cBhvr>
                                      <p:tavLst>
                                        <p:tav tm="0">
                                          <p:val>
                                            <p:strVal val="#ppt_x-1"/>
                                          </p:val>
                                        </p:tav>
                                        <p:tav tm="100000">
                                          <p:val>
                                            <p:strVal val="#ppt_x"/>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156">
                                            <p:txEl>
                                              <p:pRg st="10" end="10"/>
                                            </p:txEl>
                                          </p:spTgt>
                                        </p:tgtEl>
                                        <p:attrNameLst>
                                          <p:attrName>style.visibility</p:attrName>
                                        </p:attrNameLst>
                                      </p:cBhvr>
                                      <p:to>
                                        <p:strVal val="visible"/>
                                      </p:to>
                                    </p:set>
                                    <p:anim calcmode="lin" valueType="num">
                                      <p:cBhvr additive="base">
                                        <p:cTn id="57" dur="500"/>
                                        <p:tgtEl>
                                          <p:spTgt spid="156">
                                            <p:txEl>
                                              <p:pRg st="10" end="10"/>
                                            </p:txEl>
                                          </p:spTgt>
                                        </p:tgtEl>
                                        <p:attrNameLst>
                                          <p:attrName>ppt_x</p:attrName>
                                        </p:attrNameLst>
                                      </p:cBhvr>
                                      <p:tavLst>
                                        <p:tav tm="0">
                                          <p:val>
                                            <p:strVal val="#ppt_x-1"/>
                                          </p:val>
                                        </p:tav>
                                        <p:tav tm="100000">
                                          <p:val>
                                            <p:strVal val="#ppt_x"/>
                                          </p:val>
                                        </p:tav>
                                      </p:tavLst>
                                    </p:anim>
                                  </p:childTnLst>
                                </p:cTn>
                              </p:par>
                            </p:childTnLst>
                          </p:cTn>
                        </p:par>
                        <p:par>
                          <p:cTn id="58" fill="hold">
                            <p:stCondLst>
                              <p:cond delay="500"/>
                            </p:stCondLst>
                            <p:childTnLst>
                              <p:par>
                                <p:cTn id="59" presetID="23" presetClass="entr" presetSubtype="16" fill="hold" nodeType="afterEffect">
                                  <p:stCondLst>
                                    <p:cond delay="0"/>
                                  </p:stCondLst>
                                  <p:childTnLst>
                                    <p:set>
                                      <p:cBhvr>
                                        <p:cTn id="60" dur="1" fill="hold">
                                          <p:stCondLst>
                                            <p:cond delay="0"/>
                                          </p:stCondLst>
                                        </p:cTn>
                                        <p:tgtEl>
                                          <p:spTgt spid="164"/>
                                        </p:tgtEl>
                                        <p:attrNameLst>
                                          <p:attrName>style.visibility</p:attrName>
                                        </p:attrNameLst>
                                      </p:cBhvr>
                                      <p:to>
                                        <p:strVal val="visible"/>
                                      </p:to>
                                    </p:set>
                                    <p:anim calcmode="lin" valueType="num">
                                      <p:cBhvr additive="base">
                                        <p:cTn id="61" dur="500"/>
                                        <p:tgtEl>
                                          <p:spTgt spid="164"/>
                                        </p:tgtEl>
                                        <p:attrNameLst>
                                          <p:attrName>ppt_w</p:attrName>
                                        </p:attrNameLst>
                                      </p:cBhvr>
                                      <p:tavLst>
                                        <p:tav tm="0">
                                          <p:val>
                                            <p:strVal val="0"/>
                                          </p:val>
                                        </p:tav>
                                        <p:tav tm="100000">
                                          <p:val>
                                            <p:strVal val="#ppt_w"/>
                                          </p:val>
                                        </p:tav>
                                      </p:tavLst>
                                    </p:anim>
                                    <p:anim calcmode="lin" valueType="num">
                                      <p:cBhvr additive="base">
                                        <p:cTn id="62" dur="500"/>
                                        <p:tgtEl>
                                          <p:spTgt spid="164"/>
                                        </p:tgtEl>
                                        <p:attrNameLst>
                                          <p:attrName>ppt_h</p:attrName>
                                        </p:attrNameLst>
                                      </p:cBhvr>
                                      <p:tavLst>
                                        <p:tav tm="0">
                                          <p:val>
                                            <p:strVal val="0"/>
                                          </p:val>
                                        </p:tav>
                                        <p:tav tm="100000">
                                          <p:val>
                                            <p:strVal val="#ppt_h"/>
                                          </p:val>
                                        </p:tav>
                                      </p:tavLst>
                                    </p:anim>
                                  </p:childTnLst>
                                </p:cTn>
                              </p:par>
                            </p:childTnLst>
                          </p:cTn>
                        </p:par>
                        <p:par>
                          <p:cTn id="63" fill="hold">
                            <p:stCondLst>
                              <p:cond delay="1000"/>
                            </p:stCondLst>
                            <p:childTnLst>
                              <p:par>
                                <p:cTn id="64" presetID="23" presetClass="entr" presetSubtype="16" fill="hold" nodeType="afterEffect">
                                  <p:stCondLst>
                                    <p:cond delay="0"/>
                                  </p:stCondLst>
                                  <p:childTnLst>
                                    <p:set>
                                      <p:cBhvr>
                                        <p:cTn id="65" dur="1" fill="hold">
                                          <p:stCondLst>
                                            <p:cond delay="0"/>
                                          </p:stCondLst>
                                        </p:cTn>
                                        <p:tgtEl>
                                          <p:spTgt spid="165"/>
                                        </p:tgtEl>
                                        <p:attrNameLst>
                                          <p:attrName>style.visibility</p:attrName>
                                        </p:attrNameLst>
                                      </p:cBhvr>
                                      <p:to>
                                        <p:strVal val="visible"/>
                                      </p:to>
                                    </p:set>
                                    <p:anim calcmode="lin" valueType="num">
                                      <p:cBhvr additive="base">
                                        <p:cTn id="66" dur="500"/>
                                        <p:tgtEl>
                                          <p:spTgt spid="165"/>
                                        </p:tgtEl>
                                        <p:attrNameLst>
                                          <p:attrName>ppt_w</p:attrName>
                                        </p:attrNameLst>
                                      </p:cBhvr>
                                      <p:tavLst>
                                        <p:tav tm="0">
                                          <p:val>
                                            <p:strVal val="0"/>
                                          </p:val>
                                        </p:tav>
                                        <p:tav tm="100000">
                                          <p:val>
                                            <p:strVal val="#ppt_w"/>
                                          </p:val>
                                        </p:tav>
                                      </p:tavLst>
                                    </p:anim>
                                    <p:anim calcmode="lin" valueType="num">
                                      <p:cBhvr additive="base">
                                        <p:cTn id="67" dur="500"/>
                                        <p:tgtEl>
                                          <p:spTgt spid="165"/>
                                        </p:tgtEl>
                                        <p:attrNameLst>
                                          <p:attrName>ppt_h</p:attrName>
                                        </p:attrNameLst>
                                      </p:cBhvr>
                                      <p:tavLst>
                                        <p:tav tm="0">
                                          <p:val>
                                            <p:strVal val="0"/>
                                          </p:val>
                                        </p:tav>
                                        <p:tav tm="100000">
                                          <p:val>
                                            <p:strVal val="#ppt_h"/>
                                          </p:val>
                                        </p:tav>
                                      </p:tavLst>
                                    </p:anim>
                                  </p:childTnLst>
                                </p:cTn>
                              </p:par>
                              <p:par>
                                <p:cTn id="68" presetID="23" presetClass="entr" presetSubtype="16" fill="hold" nodeType="withEffect">
                                  <p:stCondLst>
                                    <p:cond delay="0"/>
                                  </p:stCondLst>
                                  <p:childTnLst>
                                    <p:set>
                                      <p:cBhvr>
                                        <p:cTn id="69" dur="1" fill="hold">
                                          <p:stCondLst>
                                            <p:cond delay="0"/>
                                          </p:stCondLst>
                                        </p:cTn>
                                        <p:tgtEl>
                                          <p:spTgt spid="166"/>
                                        </p:tgtEl>
                                        <p:attrNameLst>
                                          <p:attrName>style.visibility</p:attrName>
                                        </p:attrNameLst>
                                      </p:cBhvr>
                                      <p:to>
                                        <p:strVal val="visible"/>
                                      </p:to>
                                    </p:set>
                                    <p:anim calcmode="lin" valueType="num">
                                      <p:cBhvr additive="base">
                                        <p:cTn id="70" dur="500"/>
                                        <p:tgtEl>
                                          <p:spTgt spid="166"/>
                                        </p:tgtEl>
                                        <p:attrNameLst>
                                          <p:attrName>ppt_w</p:attrName>
                                        </p:attrNameLst>
                                      </p:cBhvr>
                                      <p:tavLst>
                                        <p:tav tm="0">
                                          <p:val>
                                            <p:strVal val="0"/>
                                          </p:val>
                                        </p:tav>
                                        <p:tav tm="100000">
                                          <p:val>
                                            <p:strVal val="#ppt_w"/>
                                          </p:val>
                                        </p:tav>
                                      </p:tavLst>
                                    </p:anim>
                                    <p:anim calcmode="lin" valueType="num">
                                      <p:cBhvr additive="base">
                                        <p:cTn id="71" dur="500"/>
                                        <p:tgtEl>
                                          <p:spTgt spid="166"/>
                                        </p:tgtEl>
                                        <p:attrNameLst>
                                          <p:attrName>ppt_h</p:attrName>
                                        </p:attrNameLst>
                                      </p:cBhvr>
                                      <p:tavLst>
                                        <p:tav tm="0">
                                          <p:val>
                                            <p:strVal val="0"/>
                                          </p:val>
                                        </p:tav>
                                        <p:tav tm="100000">
                                          <p:val>
                                            <p:strVal val="#ppt_h"/>
                                          </p:val>
                                        </p:tav>
                                      </p:tavLst>
                                    </p:anim>
                                  </p:childTnLst>
                                </p:cTn>
                              </p:par>
                            </p:childTnLst>
                          </p:cTn>
                        </p:par>
                        <p:par>
                          <p:cTn id="72" fill="hold">
                            <p:stCondLst>
                              <p:cond delay="1500"/>
                            </p:stCondLst>
                            <p:childTnLst>
                              <p:par>
                                <p:cTn id="73" presetID="23" presetClass="entr" presetSubtype="16" fill="hold" nodeType="afterEffect">
                                  <p:stCondLst>
                                    <p:cond delay="0"/>
                                  </p:stCondLst>
                                  <p:childTnLst>
                                    <p:set>
                                      <p:cBhvr>
                                        <p:cTn id="74" dur="1" fill="hold">
                                          <p:stCondLst>
                                            <p:cond delay="0"/>
                                          </p:stCondLst>
                                        </p:cTn>
                                        <p:tgtEl>
                                          <p:spTgt spid="167"/>
                                        </p:tgtEl>
                                        <p:attrNameLst>
                                          <p:attrName>style.visibility</p:attrName>
                                        </p:attrNameLst>
                                      </p:cBhvr>
                                      <p:to>
                                        <p:strVal val="visible"/>
                                      </p:to>
                                    </p:set>
                                    <p:anim calcmode="lin" valueType="num">
                                      <p:cBhvr additive="base">
                                        <p:cTn id="75" dur="500"/>
                                        <p:tgtEl>
                                          <p:spTgt spid="167"/>
                                        </p:tgtEl>
                                        <p:attrNameLst>
                                          <p:attrName>ppt_w</p:attrName>
                                        </p:attrNameLst>
                                      </p:cBhvr>
                                      <p:tavLst>
                                        <p:tav tm="0">
                                          <p:val>
                                            <p:strVal val="0"/>
                                          </p:val>
                                        </p:tav>
                                        <p:tav tm="100000">
                                          <p:val>
                                            <p:strVal val="#ppt_w"/>
                                          </p:val>
                                        </p:tav>
                                      </p:tavLst>
                                    </p:anim>
                                    <p:anim calcmode="lin" valueType="num">
                                      <p:cBhvr additive="base">
                                        <p:cTn id="76" dur="500"/>
                                        <p:tgtEl>
                                          <p:spTgt spid="167"/>
                                        </p:tgtEl>
                                        <p:attrNameLst>
                                          <p:attrName>ppt_h</p:attrName>
                                        </p:attrNameLst>
                                      </p:cBhvr>
                                      <p:tavLst>
                                        <p:tav tm="0">
                                          <p:val>
                                            <p:strVal val="0"/>
                                          </p:val>
                                        </p:tav>
                                        <p:tav tm="100000">
                                          <p:val>
                                            <p:strVal val="#ppt_h"/>
                                          </p:val>
                                        </p:tav>
                                      </p:tavLst>
                                    </p:anim>
                                  </p:childTnLst>
                                </p:cTn>
                              </p:par>
                            </p:childTnLst>
                          </p:cTn>
                        </p:par>
                        <p:par>
                          <p:cTn id="77" fill="hold">
                            <p:stCondLst>
                              <p:cond delay="2000"/>
                            </p:stCondLst>
                            <p:childTnLst>
                              <p:par>
                                <p:cTn id="78" presetID="23" presetClass="entr" presetSubtype="16" fill="hold" nodeType="afterEffect">
                                  <p:stCondLst>
                                    <p:cond delay="0"/>
                                  </p:stCondLst>
                                  <p:childTnLst>
                                    <p:set>
                                      <p:cBhvr>
                                        <p:cTn id="79" dur="1" fill="hold">
                                          <p:stCondLst>
                                            <p:cond delay="0"/>
                                          </p:stCondLst>
                                        </p:cTn>
                                        <p:tgtEl>
                                          <p:spTgt spid="168"/>
                                        </p:tgtEl>
                                        <p:attrNameLst>
                                          <p:attrName>style.visibility</p:attrName>
                                        </p:attrNameLst>
                                      </p:cBhvr>
                                      <p:to>
                                        <p:strVal val="visible"/>
                                      </p:to>
                                    </p:set>
                                    <p:anim calcmode="lin" valueType="num">
                                      <p:cBhvr additive="base">
                                        <p:cTn id="80" dur="500"/>
                                        <p:tgtEl>
                                          <p:spTgt spid="168"/>
                                        </p:tgtEl>
                                        <p:attrNameLst>
                                          <p:attrName>ppt_w</p:attrName>
                                        </p:attrNameLst>
                                      </p:cBhvr>
                                      <p:tavLst>
                                        <p:tav tm="0">
                                          <p:val>
                                            <p:strVal val="0"/>
                                          </p:val>
                                        </p:tav>
                                        <p:tav tm="100000">
                                          <p:val>
                                            <p:strVal val="#ppt_w"/>
                                          </p:val>
                                        </p:tav>
                                      </p:tavLst>
                                    </p:anim>
                                    <p:anim calcmode="lin" valueType="num">
                                      <p:cBhvr additive="base">
                                        <p:cTn id="81" dur="500"/>
                                        <p:tgtEl>
                                          <p:spTgt spid="168"/>
                                        </p:tgtEl>
                                        <p:attrNameLst>
                                          <p:attrName>ppt_h</p:attrName>
                                        </p:attrNameLst>
                                      </p:cBhvr>
                                      <p:tavLst>
                                        <p:tav tm="0">
                                          <p:val>
                                            <p:strVal val="0"/>
                                          </p:val>
                                        </p:tav>
                                        <p:tav tm="100000">
                                          <p:val>
                                            <p:strVal val="#ppt_h"/>
                                          </p:val>
                                        </p:tav>
                                      </p:tavLst>
                                    </p:anim>
                                  </p:childTnLst>
                                </p:cTn>
                              </p:par>
                              <p:par>
                                <p:cTn id="82" presetID="23" presetClass="entr" presetSubtype="16" fill="hold" nodeType="withEffect">
                                  <p:stCondLst>
                                    <p:cond delay="0"/>
                                  </p:stCondLst>
                                  <p:childTnLst>
                                    <p:set>
                                      <p:cBhvr>
                                        <p:cTn id="83" dur="1" fill="hold">
                                          <p:stCondLst>
                                            <p:cond delay="0"/>
                                          </p:stCondLst>
                                        </p:cTn>
                                        <p:tgtEl>
                                          <p:spTgt spid="169"/>
                                        </p:tgtEl>
                                        <p:attrNameLst>
                                          <p:attrName>style.visibility</p:attrName>
                                        </p:attrNameLst>
                                      </p:cBhvr>
                                      <p:to>
                                        <p:strVal val="visible"/>
                                      </p:to>
                                    </p:set>
                                    <p:anim calcmode="lin" valueType="num">
                                      <p:cBhvr additive="base">
                                        <p:cTn id="84" dur="500"/>
                                        <p:tgtEl>
                                          <p:spTgt spid="169"/>
                                        </p:tgtEl>
                                        <p:attrNameLst>
                                          <p:attrName>ppt_w</p:attrName>
                                        </p:attrNameLst>
                                      </p:cBhvr>
                                      <p:tavLst>
                                        <p:tav tm="0">
                                          <p:val>
                                            <p:strVal val="0"/>
                                          </p:val>
                                        </p:tav>
                                        <p:tav tm="100000">
                                          <p:val>
                                            <p:strVal val="#ppt_w"/>
                                          </p:val>
                                        </p:tav>
                                      </p:tavLst>
                                    </p:anim>
                                    <p:anim calcmode="lin" valueType="num">
                                      <p:cBhvr additive="base">
                                        <p:cTn id="85" dur="500"/>
                                        <p:tgtEl>
                                          <p:spTgt spid="169"/>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8"/>
          <p:cNvSpPr txBox="1">
            <a:spLocks noGrp="1"/>
          </p:cNvSpPr>
          <p:nvPr>
            <p:ph type="title"/>
          </p:nvPr>
        </p:nvSpPr>
        <p:spPr>
          <a:xfrm>
            <a:off x="946404" y="365760"/>
            <a:ext cx="7269480" cy="622781"/>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dk1"/>
              </a:buClr>
              <a:buSzPct val="100000"/>
              <a:buFont typeface="Century Schoolbook"/>
              <a:buNone/>
            </a:pPr>
            <a:r>
              <a:rPr lang="en-CA"/>
              <a:t>The Process</a:t>
            </a:r>
            <a:endParaRPr/>
          </a:p>
        </p:txBody>
      </p:sp>
      <p:sp>
        <p:nvSpPr>
          <p:cNvPr id="175" name="Google Shape;175;p8"/>
          <p:cNvSpPr txBox="1">
            <a:spLocks noGrp="1"/>
          </p:cNvSpPr>
          <p:nvPr>
            <p:ph idx="1"/>
          </p:nvPr>
        </p:nvSpPr>
        <p:spPr>
          <a:xfrm>
            <a:off x="378941" y="988541"/>
            <a:ext cx="7836943" cy="5649326"/>
          </a:xfrm>
          <a:prstGeom prst="rect">
            <a:avLst/>
          </a:prstGeom>
          <a:noFill/>
          <a:ln>
            <a:noFill/>
          </a:ln>
        </p:spPr>
        <p:txBody>
          <a:bodyPr spcFirstLastPara="1" wrap="square" lIns="91425" tIns="45700" rIns="91425" bIns="45700" anchor="t" anchorCtr="0">
            <a:normAutofit/>
          </a:bodyPr>
          <a:lstStyle/>
          <a:p>
            <a:pPr marL="182880" lvl="0" indent="-182880" algn="l" rtl="0">
              <a:lnSpc>
                <a:spcPct val="95000"/>
              </a:lnSpc>
              <a:spcBef>
                <a:spcPts val="0"/>
              </a:spcBef>
              <a:spcAft>
                <a:spcPts val="0"/>
              </a:spcAft>
              <a:buSzPts val="1440"/>
              <a:buChar char="•"/>
            </a:pPr>
            <a:r>
              <a:rPr lang="en-CA" dirty="0"/>
              <a:t>The detection process is the same as we have previously discussed.</a:t>
            </a:r>
            <a:endParaRPr dirty="0"/>
          </a:p>
          <a:p>
            <a:pPr marL="182880" lvl="0" indent="-182880" algn="l" rtl="0">
              <a:lnSpc>
                <a:spcPct val="95000"/>
              </a:lnSpc>
              <a:spcBef>
                <a:spcPts val="1600"/>
              </a:spcBef>
              <a:spcAft>
                <a:spcPts val="0"/>
              </a:spcAft>
              <a:buSzPts val="1440"/>
              <a:buChar char="•"/>
            </a:pPr>
            <a:r>
              <a:rPr lang="en-CA" dirty="0"/>
              <a:t>Here is a rough logic outline:</a:t>
            </a:r>
          </a:p>
          <a:p>
            <a:pPr marL="0" lvl="0" indent="0" algn="l" rtl="0">
              <a:lnSpc>
                <a:spcPct val="95000"/>
              </a:lnSpc>
              <a:spcBef>
                <a:spcPts val="0"/>
              </a:spcBef>
              <a:spcAft>
                <a:spcPts val="0"/>
              </a:spcAft>
              <a:buSzPts val="1440"/>
              <a:buNone/>
            </a:pPr>
            <a:endParaRPr dirty="0"/>
          </a:p>
          <a:p>
            <a:pPr marL="0" lvl="0" indent="0" algn="l" rtl="0">
              <a:lnSpc>
                <a:spcPct val="120000"/>
              </a:lnSpc>
              <a:spcBef>
                <a:spcPts val="200"/>
              </a:spcBef>
              <a:spcAft>
                <a:spcPts val="0"/>
              </a:spcAft>
              <a:buSzPts val="800"/>
              <a:buNone/>
            </a:pPr>
            <a:r>
              <a:rPr lang="en-CA" sz="1000" dirty="0">
                <a:latin typeface="Consolas"/>
                <a:ea typeface="Consolas"/>
                <a:cs typeface="Consolas"/>
                <a:sym typeface="Consolas"/>
              </a:rPr>
              <a:t>set collision to false // assume there will be no collision</a:t>
            </a:r>
            <a:endParaRPr dirty="0"/>
          </a:p>
          <a:p>
            <a:pPr marL="0" lvl="0" indent="0" algn="l" rtl="0">
              <a:lnSpc>
                <a:spcPct val="120000"/>
              </a:lnSpc>
              <a:spcBef>
                <a:spcPts val="0"/>
              </a:spcBef>
              <a:spcAft>
                <a:spcPts val="0"/>
              </a:spcAft>
              <a:buSzPts val="800"/>
              <a:buNone/>
            </a:pPr>
            <a:r>
              <a:rPr lang="en-CA" sz="1000" dirty="0">
                <a:latin typeface="Consolas"/>
                <a:ea typeface="Consolas"/>
                <a:cs typeface="Consolas"/>
                <a:sym typeface="Consolas"/>
              </a:rPr>
              <a:t>For each </a:t>
            </a:r>
            <a:r>
              <a:rPr lang="en-CA" sz="1000" dirty="0" err="1">
                <a:latin typeface="Consolas"/>
                <a:ea typeface="Consolas"/>
                <a:cs typeface="Consolas"/>
                <a:sym typeface="Consolas"/>
              </a:rPr>
              <a:t>collidable</a:t>
            </a:r>
            <a:r>
              <a:rPr lang="en-CA" sz="1000" dirty="0">
                <a:latin typeface="Consolas"/>
                <a:ea typeface="Consolas"/>
                <a:cs typeface="Consolas"/>
                <a:sym typeface="Consolas"/>
              </a:rPr>
              <a:t> platform in the game</a:t>
            </a:r>
            <a:endParaRPr dirty="0"/>
          </a:p>
          <a:p>
            <a:pPr marL="0" lvl="0" indent="0" algn="l" rtl="0">
              <a:lnSpc>
                <a:spcPct val="120000"/>
              </a:lnSpc>
              <a:spcBef>
                <a:spcPts val="0"/>
              </a:spcBef>
              <a:spcAft>
                <a:spcPts val="0"/>
              </a:spcAft>
              <a:buSzPts val="800"/>
              <a:buNone/>
            </a:pPr>
            <a:r>
              <a:rPr lang="en-CA" sz="1000" dirty="0">
                <a:latin typeface="Consolas"/>
                <a:ea typeface="Consolas"/>
                <a:cs typeface="Consolas"/>
                <a:sym typeface="Consolas"/>
              </a:rPr>
              <a:t>   if the current platform collides with the player’s bounding box</a:t>
            </a:r>
            <a:endParaRPr dirty="0"/>
          </a:p>
          <a:p>
            <a:pPr marL="0" lvl="0" indent="0" algn="l" rtl="0">
              <a:lnSpc>
                <a:spcPct val="120000"/>
              </a:lnSpc>
              <a:spcBef>
                <a:spcPts val="0"/>
              </a:spcBef>
              <a:spcAft>
                <a:spcPts val="0"/>
              </a:spcAft>
              <a:buSzPts val="800"/>
              <a:buNone/>
            </a:pPr>
            <a:r>
              <a:rPr lang="en-CA" sz="1000" dirty="0">
                <a:latin typeface="Consolas"/>
                <a:ea typeface="Consolas"/>
                <a:cs typeface="Consolas"/>
                <a:sym typeface="Consolas"/>
              </a:rPr>
              <a:t>      if the current platform collides with feet</a:t>
            </a:r>
            <a:endParaRPr dirty="0"/>
          </a:p>
          <a:p>
            <a:pPr marL="0" lvl="0" indent="0" algn="l" rtl="0">
              <a:lnSpc>
                <a:spcPct val="120000"/>
              </a:lnSpc>
              <a:spcBef>
                <a:spcPts val="0"/>
              </a:spcBef>
              <a:spcAft>
                <a:spcPts val="0"/>
              </a:spcAft>
              <a:buSzPts val="800"/>
              <a:buNone/>
            </a:pPr>
            <a:r>
              <a:rPr lang="en-CA" sz="1000" dirty="0">
                <a:latin typeface="Consolas"/>
                <a:ea typeface="Consolas"/>
                <a:cs typeface="Consolas"/>
                <a:sym typeface="Consolas"/>
              </a:rPr>
              <a:t>         adjust player y value to </a:t>
            </a:r>
            <a:r>
              <a:rPr lang="en-CA" sz="1000" dirty="0" err="1">
                <a:latin typeface="Consolas"/>
                <a:ea typeface="Consolas"/>
                <a:cs typeface="Consolas"/>
                <a:sym typeface="Consolas"/>
              </a:rPr>
              <a:t>platform.y</a:t>
            </a:r>
            <a:r>
              <a:rPr lang="en-CA" sz="1000" dirty="0">
                <a:latin typeface="Consolas"/>
                <a:ea typeface="Consolas"/>
                <a:cs typeface="Consolas"/>
                <a:sym typeface="Consolas"/>
              </a:rPr>
              <a:t> – </a:t>
            </a:r>
            <a:r>
              <a:rPr lang="en-CA" sz="1000" dirty="0" err="1">
                <a:latin typeface="Consolas"/>
                <a:ea typeface="Consolas"/>
                <a:cs typeface="Consolas"/>
                <a:sym typeface="Consolas"/>
              </a:rPr>
              <a:t>player.height</a:t>
            </a:r>
            <a:r>
              <a:rPr lang="en-CA" sz="1000" dirty="0">
                <a:latin typeface="Consolas"/>
                <a:ea typeface="Consolas"/>
                <a:cs typeface="Consolas"/>
                <a:sym typeface="Consolas"/>
              </a:rPr>
              <a:t> (sets them perfectly on top)</a:t>
            </a:r>
            <a:endParaRPr dirty="0"/>
          </a:p>
          <a:p>
            <a:pPr marL="0" lvl="0" indent="0" algn="l" rtl="0">
              <a:lnSpc>
                <a:spcPct val="120000"/>
              </a:lnSpc>
              <a:spcBef>
                <a:spcPts val="0"/>
              </a:spcBef>
              <a:spcAft>
                <a:spcPts val="0"/>
              </a:spcAft>
              <a:buSzPts val="800"/>
              <a:buNone/>
            </a:pPr>
            <a:r>
              <a:rPr lang="en-CA" sz="1000" dirty="0">
                <a:latin typeface="Consolas"/>
                <a:ea typeface="Consolas"/>
                <a:cs typeface="Consolas"/>
                <a:sym typeface="Consolas"/>
              </a:rPr>
              <a:t>         zero any vertical velocity</a:t>
            </a:r>
            <a:endParaRPr dirty="0"/>
          </a:p>
          <a:p>
            <a:pPr marL="0" lvl="0" indent="0" algn="l" rtl="0">
              <a:lnSpc>
                <a:spcPct val="120000"/>
              </a:lnSpc>
              <a:spcBef>
                <a:spcPts val="0"/>
              </a:spcBef>
              <a:spcAft>
                <a:spcPts val="0"/>
              </a:spcAft>
              <a:buSzPts val="800"/>
              <a:buNone/>
            </a:pPr>
            <a:r>
              <a:rPr lang="en-CA" sz="1000" dirty="0">
                <a:latin typeface="Consolas"/>
                <a:ea typeface="Consolas"/>
                <a:cs typeface="Consolas"/>
                <a:sym typeface="Consolas"/>
              </a:rPr>
              <a:t>         set collision to true</a:t>
            </a:r>
            <a:endParaRPr dirty="0"/>
          </a:p>
          <a:p>
            <a:pPr marL="0" lvl="0" indent="0" algn="l" rtl="0">
              <a:lnSpc>
                <a:spcPct val="120000"/>
              </a:lnSpc>
              <a:spcBef>
                <a:spcPts val="0"/>
              </a:spcBef>
              <a:spcAft>
                <a:spcPts val="0"/>
              </a:spcAft>
              <a:buSzPts val="800"/>
              <a:buNone/>
            </a:pPr>
            <a:r>
              <a:rPr lang="en-US" sz="1000" dirty="0">
                <a:latin typeface="Consolas"/>
                <a:ea typeface="Consolas"/>
                <a:cs typeface="Consolas"/>
                <a:sym typeface="Consolas"/>
              </a:rPr>
              <a:t>      else if the current platform collides with left</a:t>
            </a:r>
          </a:p>
          <a:p>
            <a:pPr marL="0" lvl="0" indent="0" algn="l" rtl="0">
              <a:lnSpc>
                <a:spcPct val="120000"/>
              </a:lnSpc>
              <a:spcBef>
                <a:spcPts val="0"/>
              </a:spcBef>
              <a:spcAft>
                <a:spcPts val="0"/>
              </a:spcAft>
              <a:buSzPts val="800"/>
              <a:buNone/>
            </a:pPr>
            <a:r>
              <a:rPr lang="en-CA" sz="1000" dirty="0">
                <a:latin typeface="Consolas"/>
                <a:ea typeface="Consolas"/>
                <a:cs typeface="Consolas"/>
                <a:sym typeface="Consolas"/>
              </a:rPr>
              <a:t>         adjust player x value to </a:t>
            </a:r>
            <a:r>
              <a:rPr lang="en-CA" sz="1000" dirty="0" err="1">
                <a:latin typeface="Consolas"/>
                <a:ea typeface="Consolas"/>
                <a:cs typeface="Consolas"/>
                <a:sym typeface="Consolas"/>
              </a:rPr>
              <a:t>platform.x</a:t>
            </a:r>
            <a:r>
              <a:rPr lang="en-CA" sz="1000" dirty="0">
                <a:latin typeface="Consolas"/>
                <a:ea typeface="Consolas"/>
                <a:cs typeface="Consolas"/>
                <a:sym typeface="Consolas"/>
              </a:rPr>
              <a:t> + </a:t>
            </a:r>
            <a:r>
              <a:rPr lang="en-CA" sz="1000" dirty="0" err="1">
                <a:latin typeface="Consolas"/>
                <a:ea typeface="Consolas"/>
                <a:cs typeface="Consolas"/>
                <a:sym typeface="Consolas"/>
              </a:rPr>
              <a:t>platform.width</a:t>
            </a:r>
            <a:r>
              <a:rPr lang="en-CA" sz="1000" dirty="0">
                <a:latin typeface="Consolas"/>
                <a:ea typeface="Consolas"/>
                <a:cs typeface="Consolas"/>
                <a:sym typeface="Consolas"/>
              </a:rPr>
              <a:t> + 1 (sets player perfectly right of platform)</a:t>
            </a:r>
            <a:endParaRPr sz="1000" dirty="0">
              <a:latin typeface="Consolas"/>
              <a:ea typeface="Consolas"/>
              <a:cs typeface="Consolas"/>
              <a:sym typeface="Consolas"/>
            </a:endParaRPr>
          </a:p>
          <a:p>
            <a:pPr marL="0" lvl="0" indent="0" algn="l" rtl="0">
              <a:lnSpc>
                <a:spcPct val="120000"/>
              </a:lnSpc>
              <a:spcBef>
                <a:spcPts val="0"/>
              </a:spcBef>
              <a:spcAft>
                <a:spcPts val="0"/>
              </a:spcAft>
              <a:buSzPts val="800"/>
              <a:buNone/>
            </a:pPr>
            <a:r>
              <a:rPr lang="en-CA" sz="1000" dirty="0">
                <a:latin typeface="Consolas"/>
                <a:ea typeface="Consolas"/>
                <a:cs typeface="Consolas"/>
                <a:sym typeface="Consolas"/>
              </a:rPr>
              <a:t>         multiply horizontal velocity by -1 to reverse direction (or set to 0 to fall down)</a:t>
            </a:r>
            <a:endParaRPr dirty="0"/>
          </a:p>
          <a:p>
            <a:pPr marL="0" lvl="0" indent="0" algn="l" rtl="0">
              <a:lnSpc>
                <a:spcPct val="120000"/>
              </a:lnSpc>
              <a:spcBef>
                <a:spcPts val="0"/>
              </a:spcBef>
              <a:spcAft>
                <a:spcPts val="0"/>
              </a:spcAft>
              <a:buSzPts val="800"/>
              <a:buNone/>
            </a:pPr>
            <a:r>
              <a:rPr lang="en-CA" sz="1000" dirty="0">
                <a:latin typeface="Consolas"/>
                <a:ea typeface="Consolas"/>
                <a:cs typeface="Consolas"/>
                <a:sym typeface="Consolas"/>
              </a:rPr>
              <a:t>         set collision to true</a:t>
            </a:r>
            <a:endParaRPr dirty="0"/>
          </a:p>
          <a:p>
            <a:pPr marL="0" lvl="0" indent="0" algn="l" rtl="0">
              <a:lnSpc>
                <a:spcPct val="120000"/>
              </a:lnSpc>
              <a:spcBef>
                <a:spcPts val="0"/>
              </a:spcBef>
              <a:spcAft>
                <a:spcPts val="0"/>
              </a:spcAft>
              <a:buSzPts val="800"/>
              <a:buNone/>
            </a:pPr>
            <a:r>
              <a:rPr lang="en-CA" sz="1000" dirty="0">
                <a:latin typeface="Consolas"/>
                <a:ea typeface="Consolas"/>
                <a:cs typeface="Consolas"/>
                <a:sym typeface="Consolas"/>
              </a:rPr>
              <a:t>      else if the current platform collides with right</a:t>
            </a:r>
            <a:endParaRPr sz="1000" dirty="0">
              <a:latin typeface="Consolas"/>
              <a:ea typeface="Consolas"/>
              <a:cs typeface="Consolas"/>
              <a:sym typeface="Consolas"/>
            </a:endParaRPr>
          </a:p>
          <a:p>
            <a:pPr marL="0" lvl="0" indent="0" algn="l" rtl="0">
              <a:lnSpc>
                <a:spcPct val="120000"/>
              </a:lnSpc>
              <a:spcBef>
                <a:spcPts val="0"/>
              </a:spcBef>
              <a:spcAft>
                <a:spcPts val="0"/>
              </a:spcAft>
              <a:buSzPts val="800"/>
              <a:buNone/>
            </a:pPr>
            <a:r>
              <a:rPr lang="en-CA" sz="1000" dirty="0">
                <a:latin typeface="Consolas"/>
                <a:ea typeface="Consolas"/>
                <a:cs typeface="Consolas"/>
                <a:sym typeface="Consolas"/>
              </a:rPr>
              <a:t>         adjust player x value to </a:t>
            </a:r>
            <a:r>
              <a:rPr lang="en-CA" sz="1000" dirty="0" err="1">
                <a:latin typeface="Consolas"/>
                <a:ea typeface="Consolas"/>
                <a:cs typeface="Consolas"/>
                <a:sym typeface="Consolas"/>
              </a:rPr>
              <a:t>platform.x</a:t>
            </a:r>
            <a:r>
              <a:rPr lang="en-CA" sz="1000" dirty="0">
                <a:latin typeface="Consolas"/>
                <a:ea typeface="Consolas"/>
                <a:cs typeface="Consolas"/>
                <a:sym typeface="Consolas"/>
              </a:rPr>
              <a:t> - </a:t>
            </a:r>
            <a:r>
              <a:rPr lang="en-CA" sz="1000" dirty="0" err="1">
                <a:latin typeface="Consolas"/>
                <a:ea typeface="Consolas"/>
                <a:cs typeface="Consolas"/>
                <a:sym typeface="Consolas"/>
              </a:rPr>
              <a:t>player.width</a:t>
            </a:r>
            <a:r>
              <a:rPr lang="en-CA" sz="1000" dirty="0">
                <a:latin typeface="Consolas"/>
                <a:ea typeface="Consolas"/>
                <a:cs typeface="Consolas"/>
                <a:sym typeface="Consolas"/>
              </a:rPr>
              <a:t> - 1 (sets player perfectly left of platform)</a:t>
            </a:r>
            <a:endParaRPr sz="1000" dirty="0">
              <a:latin typeface="Consolas"/>
              <a:ea typeface="Consolas"/>
              <a:cs typeface="Consolas"/>
              <a:sym typeface="Consolas"/>
            </a:endParaRPr>
          </a:p>
          <a:p>
            <a:pPr marL="0" lvl="0" indent="0" algn="l" rtl="0">
              <a:lnSpc>
                <a:spcPct val="120000"/>
              </a:lnSpc>
              <a:spcBef>
                <a:spcPts val="0"/>
              </a:spcBef>
              <a:spcAft>
                <a:spcPts val="0"/>
              </a:spcAft>
              <a:buSzPts val="800"/>
              <a:buNone/>
            </a:pPr>
            <a:r>
              <a:rPr lang="en-CA" sz="1000" dirty="0">
                <a:latin typeface="Consolas"/>
                <a:ea typeface="Consolas"/>
                <a:cs typeface="Consolas"/>
                <a:sym typeface="Consolas"/>
              </a:rPr>
              <a:t>         multiply horizonal velocity by -1 to reverse direction (or set to 0 to fall down)</a:t>
            </a:r>
            <a:endParaRPr dirty="0"/>
          </a:p>
          <a:p>
            <a:pPr marL="0" lvl="0" indent="0" algn="l" rtl="0">
              <a:lnSpc>
                <a:spcPct val="120000"/>
              </a:lnSpc>
              <a:spcBef>
                <a:spcPts val="0"/>
              </a:spcBef>
              <a:spcAft>
                <a:spcPts val="0"/>
              </a:spcAft>
              <a:buSzPts val="800"/>
              <a:buNone/>
            </a:pPr>
            <a:r>
              <a:rPr lang="en-CA" sz="1000" dirty="0">
                <a:latin typeface="Consolas"/>
                <a:ea typeface="Consolas"/>
                <a:cs typeface="Consolas"/>
                <a:sym typeface="Consolas"/>
              </a:rPr>
              <a:t>         set collision to true</a:t>
            </a:r>
          </a:p>
          <a:p>
            <a:pPr marL="0" lvl="0" indent="0" algn="l" rtl="0">
              <a:lnSpc>
                <a:spcPct val="120000"/>
              </a:lnSpc>
              <a:spcBef>
                <a:spcPts val="0"/>
              </a:spcBef>
              <a:spcAft>
                <a:spcPts val="0"/>
              </a:spcAft>
              <a:buSzPts val="800"/>
              <a:buNone/>
            </a:pPr>
            <a:r>
              <a:rPr lang="en-US" sz="1000" dirty="0">
                <a:latin typeface="Consolas"/>
                <a:ea typeface="Consolas"/>
                <a:cs typeface="Consolas"/>
                <a:sym typeface="Consolas"/>
              </a:rPr>
              <a:t>      else if the current platform collides with head</a:t>
            </a:r>
            <a:endParaRPr lang="en-US" sz="1000" dirty="0"/>
          </a:p>
          <a:p>
            <a:pPr marL="0" lvl="0" indent="0" algn="l" rtl="0">
              <a:lnSpc>
                <a:spcPct val="120000"/>
              </a:lnSpc>
              <a:spcBef>
                <a:spcPts val="0"/>
              </a:spcBef>
              <a:spcAft>
                <a:spcPts val="0"/>
              </a:spcAft>
              <a:buSzPts val="800"/>
              <a:buNone/>
            </a:pPr>
            <a:r>
              <a:rPr lang="en-US" sz="1000" dirty="0">
                <a:latin typeface="Consolas"/>
                <a:ea typeface="Consolas"/>
                <a:cs typeface="Consolas"/>
                <a:sym typeface="Consolas"/>
              </a:rPr>
              <a:t>         adjust player y value to </a:t>
            </a:r>
            <a:r>
              <a:rPr lang="en-US" sz="1000" dirty="0" err="1">
                <a:latin typeface="Consolas"/>
                <a:ea typeface="Consolas"/>
                <a:cs typeface="Consolas"/>
                <a:sym typeface="Consolas"/>
              </a:rPr>
              <a:t>platform.y</a:t>
            </a:r>
            <a:r>
              <a:rPr lang="en-US" sz="1000" dirty="0">
                <a:latin typeface="Consolas"/>
                <a:ea typeface="Consolas"/>
                <a:cs typeface="Consolas"/>
                <a:sym typeface="Consolas"/>
              </a:rPr>
              <a:t> + </a:t>
            </a:r>
            <a:r>
              <a:rPr lang="en-US" sz="1000" dirty="0" err="1">
                <a:latin typeface="Consolas"/>
                <a:ea typeface="Consolas"/>
                <a:cs typeface="Consolas"/>
                <a:sym typeface="Consolas"/>
              </a:rPr>
              <a:t>platform.height</a:t>
            </a:r>
            <a:r>
              <a:rPr lang="en-US" sz="1000" dirty="0">
                <a:latin typeface="Consolas"/>
                <a:ea typeface="Consolas"/>
                <a:cs typeface="Consolas"/>
                <a:sym typeface="Consolas"/>
              </a:rPr>
              <a:t> + 1 (sets player perfectly below platform)</a:t>
            </a:r>
            <a:endParaRPr lang="en-US" sz="1000" dirty="0"/>
          </a:p>
          <a:p>
            <a:pPr marL="0" lvl="0" indent="0" algn="l" rtl="0">
              <a:lnSpc>
                <a:spcPct val="120000"/>
              </a:lnSpc>
              <a:spcBef>
                <a:spcPts val="0"/>
              </a:spcBef>
              <a:spcAft>
                <a:spcPts val="0"/>
              </a:spcAft>
              <a:buSzPts val="800"/>
              <a:buNone/>
            </a:pPr>
            <a:r>
              <a:rPr lang="en-US" sz="1000" dirty="0">
                <a:latin typeface="Consolas"/>
                <a:ea typeface="Consolas"/>
                <a:cs typeface="Consolas"/>
                <a:sym typeface="Consolas"/>
              </a:rPr>
              <a:t>         multiply vertical velocity by -1 to reverse direction (or just set to 0 to let gravity take over)</a:t>
            </a:r>
            <a:endParaRPr lang="en-US" sz="1000" dirty="0"/>
          </a:p>
          <a:p>
            <a:pPr marL="0" lvl="0" indent="0" algn="l" rtl="0">
              <a:lnSpc>
                <a:spcPct val="120000"/>
              </a:lnSpc>
              <a:spcBef>
                <a:spcPts val="0"/>
              </a:spcBef>
              <a:spcAft>
                <a:spcPts val="0"/>
              </a:spcAft>
              <a:buSzPts val="800"/>
              <a:buNone/>
            </a:pPr>
            <a:r>
              <a:rPr lang="en-US" sz="1000" dirty="0">
                <a:latin typeface="Consolas"/>
                <a:ea typeface="Consolas"/>
                <a:cs typeface="Consolas"/>
                <a:sym typeface="Consolas"/>
              </a:rPr>
              <a:t>         set collision to true</a:t>
            </a:r>
            <a:endParaRPr sz="1000" dirty="0">
              <a:latin typeface="Consolas"/>
              <a:ea typeface="Consolas"/>
              <a:cs typeface="Consolas"/>
              <a:sym typeface="Consolas"/>
            </a:endParaRPr>
          </a:p>
          <a:p>
            <a:pPr marL="0" lvl="0" indent="0" algn="l" rtl="0">
              <a:lnSpc>
                <a:spcPct val="120000"/>
              </a:lnSpc>
              <a:spcBef>
                <a:spcPts val="0"/>
              </a:spcBef>
              <a:spcAft>
                <a:spcPts val="0"/>
              </a:spcAft>
              <a:buSzPts val="800"/>
              <a:buNone/>
            </a:pPr>
            <a:r>
              <a:rPr lang="en-CA" sz="1000" dirty="0">
                <a:latin typeface="Consolas"/>
                <a:ea typeface="Consolas"/>
                <a:cs typeface="Consolas"/>
                <a:sym typeface="Consolas"/>
              </a:rPr>
              <a:t>      end if</a:t>
            </a:r>
            <a:endParaRPr dirty="0"/>
          </a:p>
          <a:p>
            <a:pPr marL="0" lvl="0" indent="0" algn="l" rtl="0">
              <a:lnSpc>
                <a:spcPct val="120000"/>
              </a:lnSpc>
              <a:spcBef>
                <a:spcPts val="0"/>
              </a:spcBef>
              <a:spcAft>
                <a:spcPts val="0"/>
              </a:spcAft>
              <a:buSzPts val="800"/>
              <a:buNone/>
            </a:pPr>
            <a:r>
              <a:rPr lang="en-CA" sz="1000" dirty="0">
                <a:latin typeface="Consolas"/>
                <a:ea typeface="Consolas"/>
                <a:cs typeface="Consolas"/>
                <a:sym typeface="Consolas"/>
              </a:rPr>
              <a:t>   end if</a:t>
            </a:r>
            <a:endParaRPr dirty="0"/>
          </a:p>
          <a:p>
            <a:pPr marL="0" lvl="0" indent="0" algn="l" rtl="0">
              <a:lnSpc>
                <a:spcPct val="120000"/>
              </a:lnSpc>
              <a:spcBef>
                <a:spcPts val="0"/>
              </a:spcBef>
              <a:spcAft>
                <a:spcPts val="0"/>
              </a:spcAft>
              <a:buSzPts val="800"/>
              <a:buNone/>
            </a:pPr>
            <a:r>
              <a:rPr lang="en-CA" sz="1000" dirty="0">
                <a:latin typeface="Consolas"/>
                <a:ea typeface="Consolas"/>
                <a:cs typeface="Consolas"/>
                <a:sym typeface="Consolas"/>
              </a:rPr>
              <a:t>End for</a:t>
            </a:r>
            <a:endParaRPr dirty="0"/>
          </a:p>
          <a:p>
            <a:pPr marL="0" lvl="0" indent="0" algn="l" rtl="0">
              <a:lnSpc>
                <a:spcPct val="120000"/>
              </a:lnSpc>
              <a:spcBef>
                <a:spcPts val="0"/>
              </a:spcBef>
              <a:spcAft>
                <a:spcPts val="0"/>
              </a:spcAft>
              <a:buSzPts val="800"/>
              <a:buNone/>
            </a:pPr>
            <a:r>
              <a:rPr lang="en-CA" sz="1000" dirty="0">
                <a:latin typeface="Consolas"/>
                <a:ea typeface="Consolas"/>
                <a:cs typeface="Consolas"/>
                <a:sym typeface="Consolas"/>
              </a:rPr>
              <a:t>return collision</a:t>
            </a:r>
            <a:endParaRPr sz="1000" dirty="0">
              <a:latin typeface="Consolas"/>
              <a:ea typeface="Consolas"/>
              <a:cs typeface="Consolas"/>
              <a:sym typeface="Consolas"/>
            </a:endParaRPr>
          </a:p>
          <a:p>
            <a:pPr marL="182880" lvl="0" indent="-91440" algn="l" rtl="0">
              <a:lnSpc>
                <a:spcPct val="95000"/>
              </a:lnSpc>
              <a:spcBef>
                <a:spcPts val="1400"/>
              </a:spcBef>
              <a:spcAft>
                <a:spcPts val="0"/>
              </a:spcAft>
              <a:buSzPts val="1440"/>
              <a:buNone/>
            </a:pPr>
            <a:endParaRPr dirty="0"/>
          </a:p>
        </p:txBody>
      </p:sp>
    </p:spTree>
  </p:cSld>
  <p:clrMapOvr>
    <a:masterClrMapping/>
  </p:clrMapOvr>
</p:sld>
</file>

<file path=ppt/theme/theme1.xml><?xml version="1.0" encoding="utf-8"?>
<a:theme xmlns:a="http://schemas.openxmlformats.org/drawingml/2006/main" name="View">
  <a:themeElements>
    <a:clrScheme name="View">
      <a:dk1>
        <a:sysClr val="windowText" lastClr="000000"/>
      </a:dk1>
      <a:lt1>
        <a:sysClr val="window" lastClr="FFFFFF"/>
      </a:lt1>
      <a:dk2>
        <a:srgbClr val="564B3C"/>
      </a:dk2>
      <a:lt2>
        <a:srgbClr val="ECEDD1"/>
      </a:lt2>
      <a:accent1>
        <a:srgbClr val="93A299"/>
      </a:accent1>
      <a:accent2>
        <a:srgbClr val="CB4B30"/>
      </a:accent2>
      <a:accent3>
        <a:srgbClr val="B5AE53"/>
      </a:accent3>
      <a:accent4>
        <a:srgbClr val="6F6A7A"/>
      </a:accent4>
      <a:accent5>
        <a:srgbClr val="E8B54D"/>
      </a:accent5>
      <a:accent6>
        <a:srgbClr val="8A7952"/>
      </a:accent6>
      <a:hlink>
        <a:srgbClr val="9F9F0B"/>
      </a:hlink>
      <a:folHlink>
        <a:srgbClr val="B2B2B2"/>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3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866257B-E5CE-4C43-9210-F2DE76BE10B5}"/>
    </a:ext>
  </a:extLst>
</a:theme>
</file>

<file path=ppt/theme/theme2.xml><?xml version="1.0" encoding="utf-8"?>
<a:theme xmlns:a="http://schemas.openxmlformats.org/drawingml/2006/main" name="1_View">
  <a:themeElements>
    <a:clrScheme name="View">
      <a:dk1>
        <a:sysClr val="windowText" lastClr="000000"/>
      </a:dk1>
      <a:lt1>
        <a:sysClr val="window" lastClr="FFFFFF"/>
      </a:lt1>
      <a:dk2>
        <a:srgbClr val="564B3C"/>
      </a:dk2>
      <a:lt2>
        <a:srgbClr val="ECEDD1"/>
      </a:lt2>
      <a:accent1>
        <a:srgbClr val="93A299"/>
      </a:accent1>
      <a:accent2>
        <a:srgbClr val="CB4B30"/>
      </a:accent2>
      <a:accent3>
        <a:srgbClr val="B5AE53"/>
      </a:accent3>
      <a:accent4>
        <a:srgbClr val="6F6A7A"/>
      </a:accent4>
      <a:accent5>
        <a:srgbClr val="E8B54D"/>
      </a:accent5>
      <a:accent6>
        <a:srgbClr val="8A7952"/>
      </a:accent6>
      <a:hlink>
        <a:srgbClr val="9F9F0B"/>
      </a:hlink>
      <a:folHlink>
        <a:srgbClr val="B2B2B2"/>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3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866257B-E5CE-4C43-9210-F2DE76BE10B5}"/>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608</TotalTime>
  <Words>982</Words>
  <Application>Microsoft Office PowerPoint</Application>
  <PresentationFormat>On-screen Show (4:3)</PresentationFormat>
  <Paragraphs>85</Paragraphs>
  <Slides>8</Slides>
  <Notes>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vt:i4>
      </vt:variant>
    </vt:vector>
  </HeadingPairs>
  <TitlesOfParts>
    <vt:vector size="15" baseType="lpstr">
      <vt:lpstr>Century Schoolbook</vt:lpstr>
      <vt:lpstr>Wingdings 2</vt:lpstr>
      <vt:lpstr>Wingdings</vt:lpstr>
      <vt:lpstr>Arial</vt:lpstr>
      <vt:lpstr>Consolas</vt:lpstr>
      <vt:lpstr>View</vt:lpstr>
      <vt:lpstr>1_View</vt:lpstr>
      <vt:lpstr>Collision Detection</vt:lpstr>
      <vt:lpstr>Introduction</vt:lpstr>
      <vt:lpstr>What’s the Problem?</vt:lpstr>
      <vt:lpstr>The Idea…</vt:lpstr>
      <vt:lpstr>The Strategy</vt:lpstr>
      <vt:lpstr>The Strategy</vt:lpstr>
      <vt:lpstr>Rectangle Setup</vt:lpstr>
      <vt:lpstr>The Process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Collision Detection</dc:title>
  <dc:creator>Trevor Lane</dc:creator>
  <cp:lastModifiedBy>Trevor Lane</cp:lastModifiedBy>
  <cp:revision>6</cp:revision>
  <dcterms:created xsi:type="dcterms:W3CDTF">2017-03-17T02:04:29Z</dcterms:created>
  <dcterms:modified xsi:type="dcterms:W3CDTF">2022-01-06T17:22:19Z</dcterms:modified>
</cp:coreProperties>
</file>