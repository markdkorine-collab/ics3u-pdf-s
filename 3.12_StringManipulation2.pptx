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handoutMasterIdLst>
    <p:handoutMasterId r:id="rId14"/>
  </p:handoutMasterIdLst>
  <p:sldIdLst>
    <p:sldId id="257" r:id="rId5"/>
    <p:sldId id="258" r:id="rId6"/>
    <p:sldId id="260" r:id="rId7"/>
    <p:sldId id="261" r:id="rId8"/>
    <p:sldId id="264" r:id="rId9"/>
    <p:sldId id="265" r:id="rId10"/>
    <p:sldId id="266" r:id="rId11"/>
    <p:sldId id="267" r:id="rId12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>
      <p:cViewPr varScale="1">
        <p:scale>
          <a:sx n="102" d="100"/>
          <a:sy n="102" d="100"/>
        </p:scale>
        <p:origin x="400" y="28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10/2/2025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10/2/2025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10/2/2025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10/2/2025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String Manipulation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2: Modifying the String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E76EA-ABB6-40B7-BF7C-CEF4DDB1F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D4647-2621-4131-AA52-E4C094B69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0808"/>
            <a:ext cx="10360501" cy="4462272"/>
          </a:xfrm>
        </p:spPr>
        <p:txBody>
          <a:bodyPr/>
          <a:lstStyle/>
          <a:p>
            <a:r>
              <a:rPr lang="en-CA" dirty="0"/>
              <a:t>In the previous lesson we analyzed and inspected our strings</a:t>
            </a:r>
          </a:p>
          <a:p>
            <a:r>
              <a:rPr lang="en-CA" dirty="0"/>
              <a:t>Today we will learn how to modify them</a:t>
            </a:r>
          </a:p>
          <a:p>
            <a:endParaRPr lang="en-CA" dirty="0"/>
          </a:p>
          <a:p>
            <a:r>
              <a:rPr lang="en-CA" dirty="0"/>
              <a:t>REMEMBER: </a:t>
            </a:r>
          </a:p>
          <a:p>
            <a:pPr lvl="1"/>
            <a:r>
              <a:rPr lang="en-CA" dirty="0"/>
              <a:t>We don’t change the original string.</a:t>
            </a:r>
          </a:p>
          <a:p>
            <a:pPr lvl="1"/>
            <a:r>
              <a:rPr lang="en-CA" dirty="0"/>
              <a:t>We create a new string based on the original</a:t>
            </a:r>
          </a:p>
          <a:p>
            <a:pPr lvl="1"/>
            <a:r>
              <a:rPr lang="en-CA" dirty="0"/>
              <a:t>We then decide to store it separately or to replace the original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3548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54597-EB00-4E98-9BA5-543F474B9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Explanation through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BDC06-A98D-4388-A1D7-179597B8F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For each of the string commands you will be given a description and a small code example to demonstrate its use.</a:t>
            </a:r>
          </a:p>
          <a:p>
            <a:endParaRPr lang="en-CA" dirty="0"/>
          </a:p>
          <a:p>
            <a:r>
              <a:rPr lang="en-CA" dirty="0"/>
              <a:t>For each of the examples, assume we have previously setup the following code in the program:</a:t>
            </a:r>
          </a:p>
          <a:p>
            <a:pPr marL="0" indent="0">
              <a:buNone/>
            </a:pPr>
            <a:r>
              <a:rPr lang="en-CA" sz="2400" dirty="0">
                <a:solidFill>
                  <a:srgbClr val="00B0F0"/>
                </a:solidFill>
                <a:latin typeface="Consolas" panose="020B0609020204030204" pitchFamily="49" charset="0"/>
              </a:rPr>
              <a:t>string word = “Hello World!”;</a:t>
            </a:r>
          </a:p>
          <a:p>
            <a:pPr marL="0" indent="0">
              <a:buNone/>
            </a:pPr>
            <a:r>
              <a:rPr lang="en-CA" sz="2400" dirty="0">
                <a:solidFill>
                  <a:srgbClr val="00B0F0"/>
                </a:solidFill>
                <a:latin typeface="Consolas" panose="020B0609020204030204" pitchFamily="49" charset="0"/>
              </a:rPr>
              <a:t>string phoneNumber = “(555)-123-4567”</a:t>
            </a:r>
          </a:p>
          <a:p>
            <a:pPr marL="0" indent="0">
              <a:buNone/>
            </a:pPr>
            <a:r>
              <a:rPr lang="en-CA" sz="2400" dirty="0">
                <a:solidFill>
                  <a:srgbClr val="00B0F0"/>
                </a:solidFill>
                <a:latin typeface="Consolas" panose="020B0609020204030204" pitchFamily="49" charset="0"/>
              </a:rPr>
              <a:t>string newWord; </a:t>
            </a:r>
            <a:r>
              <a:rPr lang="en-CA" sz="2200" dirty="0">
                <a:solidFill>
                  <a:srgbClr val="FFFF00"/>
                </a:solidFill>
                <a:sym typeface="Wingdings" panose="05000000000000000000" pitchFamily="2" charset="2"/>
              </a:rPr>
              <a:t> Used to hold modified versions of word after manipulation</a:t>
            </a:r>
            <a:endParaRPr lang="en-CA" sz="2200" dirty="0">
              <a:solidFill>
                <a:srgbClr val="FFFF00"/>
              </a:solidFill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67234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1F3F9-3370-4D25-9452-E39A41E56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634083"/>
          </a:xfrm>
        </p:spPr>
        <p:txBody>
          <a:bodyPr/>
          <a:lstStyle/>
          <a:p>
            <a:r>
              <a:rPr lang="en-CA" dirty="0"/>
              <a:t>Modification Operations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0B32D54-C33A-4E7F-B89B-BF04D86621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119097"/>
              </p:ext>
            </p:extLst>
          </p:nvPr>
        </p:nvGraphicFramePr>
        <p:xfrm>
          <a:off x="1218882" y="3189383"/>
          <a:ext cx="10492154" cy="137160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655948">
                  <a:extLst>
                    <a:ext uri="{9D8B030D-6E8A-4147-A177-3AD203B41FA5}">
                      <a16:colId xmlns:a16="http://schemas.microsoft.com/office/drawing/2014/main" val="215533889"/>
                    </a:ext>
                  </a:extLst>
                </a:gridCol>
                <a:gridCol w="8836206">
                  <a:extLst>
                    <a:ext uri="{9D8B030D-6E8A-4147-A177-3AD203B41FA5}">
                      <a16:colId xmlns:a16="http://schemas.microsoft.com/office/drawing/2014/main" val="3281182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Command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CA" b="1" dirty="0" err="1">
                          <a:latin typeface="Consolas" panose="020B0609020204030204" pitchFamily="49" charset="0"/>
                        </a:rPr>
                        <a:t>textA.ToLower</a:t>
                      </a:r>
                      <a:r>
                        <a:rPr lang="en-CA" b="1" dirty="0"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87754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/>
                        <a:t>Returns a copy of </a:t>
                      </a:r>
                      <a:r>
                        <a:rPr lang="en-CA" sz="2000" dirty="0" err="1"/>
                        <a:t>textA</a:t>
                      </a:r>
                      <a:r>
                        <a:rPr lang="en-CA" sz="2000" dirty="0"/>
                        <a:t> converted to lowercase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3376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1600" dirty="0">
                          <a:latin typeface="Consolas" panose="020B0609020204030204" pitchFamily="49" charset="0"/>
                        </a:rPr>
                        <a:t>newWord = </a:t>
                      </a:r>
                      <a:r>
                        <a:rPr lang="en-CA" sz="1600" dirty="0" err="1">
                          <a:latin typeface="Consolas" panose="020B0609020204030204" pitchFamily="49" charset="0"/>
                        </a:rPr>
                        <a:t>word.ToLower</a:t>
                      </a:r>
                      <a:r>
                        <a:rPr lang="en-CA" sz="1600" dirty="0">
                          <a:latin typeface="Consolas" panose="020B0609020204030204" pitchFamily="49" charset="0"/>
                        </a:rPr>
                        <a:t>();</a:t>
                      </a:r>
                      <a:r>
                        <a:rPr lang="en-CA" sz="1800" dirty="0"/>
                        <a:t>  </a:t>
                      </a:r>
                      <a:r>
                        <a:rPr lang="en-CA" sz="1800" dirty="0">
                          <a:solidFill>
                            <a:srgbClr val="FFFF00"/>
                          </a:solidFill>
                          <a:sym typeface="Wingdings" panose="05000000000000000000" pitchFamily="2" charset="2"/>
                        </a:rPr>
                        <a:t> newWord  now holds “hello world!”, word has not changed</a:t>
                      </a:r>
                      <a:endParaRPr lang="en-CA" sz="1800" dirty="0">
                        <a:solidFill>
                          <a:srgbClr val="FFFF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7639468"/>
                  </a:ext>
                </a:extLst>
              </a:tr>
            </a:tbl>
          </a:graphicData>
        </a:graphic>
      </p:graphicFrame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BC943FFD-72BC-4840-98B6-F2CA71D864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872625"/>
              </p:ext>
            </p:extLst>
          </p:nvPr>
        </p:nvGraphicFramePr>
        <p:xfrm>
          <a:off x="1218882" y="4997217"/>
          <a:ext cx="10492154" cy="155448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655948">
                  <a:extLst>
                    <a:ext uri="{9D8B030D-6E8A-4147-A177-3AD203B41FA5}">
                      <a16:colId xmlns:a16="http://schemas.microsoft.com/office/drawing/2014/main" val="215533889"/>
                    </a:ext>
                  </a:extLst>
                </a:gridCol>
                <a:gridCol w="8836206">
                  <a:extLst>
                    <a:ext uri="{9D8B030D-6E8A-4147-A177-3AD203B41FA5}">
                      <a16:colId xmlns:a16="http://schemas.microsoft.com/office/drawing/2014/main" val="3281182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Command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CA" b="1" dirty="0" err="1">
                          <a:latin typeface="Consolas" panose="020B0609020204030204" pitchFamily="49" charset="0"/>
                        </a:rPr>
                        <a:t>textA.Trim</a:t>
                      </a:r>
                      <a:r>
                        <a:rPr lang="en-CA" b="1" dirty="0">
                          <a:latin typeface="Consolas" panose="020B0609020204030204" pitchFamily="49" charset="0"/>
                        </a:rPr>
                        <a:t>() </a:t>
                      </a:r>
                      <a:r>
                        <a:rPr lang="en-CA" sz="2000" b="1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Note: There is also a </a:t>
                      </a:r>
                      <a:r>
                        <a:rPr lang="en-CA" sz="2000" b="1" dirty="0" err="1">
                          <a:solidFill>
                            <a:srgbClr val="00B0F0"/>
                          </a:solidFill>
                          <a:latin typeface="Consolas" panose="020B0609020204030204" pitchFamily="49" charset="0"/>
                        </a:rPr>
                        <a:t>TrimStart</a:t>
                      </a:r>
                      <a:r>
                        <a:rPr lang="en-CA" sz="2000" b="1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 and </a:t>
                      </a:r>
                      <a:r>
                        <a:rPr lang="en-CA" sz="2000" b="1" dirty="0" err="1">
                          <a:solidFill>
                            <a:srgbClr val="00B0F0"/>
                          </a:solidFill>
                          <a:latin typeface="Consolas" panose="020B0609020204030204" pitchFamily="49" charset="0"/>
                        </a:rPr>
                        <a:t>TrimEnd</a:t>
                      </a:r>
                      <a:endParaRPr lang="en-CA" sz="2000" b="1" dirty="0">
                        <a:solidFill>
                          <a:srgbClr val="00B0F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87754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/>
                        <a:t>Returns a new string in which all leading and trailing whitespace in </a:t>
                      </a:r>
                      <a:r>
                        <a:rPr lang="en-CA" sz="2000" dirty="0" err="1"/>
                        <a:t>textA</a:t>
                      </a:r>
                      <a:r>
                        <a:rPr lang="en-CA" sz="2000" dirty="0"/>
                        <a:t> is removed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3376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string phrase = “   Hi   ”;</a:t>
                      </a:r>
                    </a:p>
                    <a:p>
                      <a:r>
                        <a:rPr lang="en-CA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phrase = </a:t>
                      </a:r>
                      <a:r>
                        <a:rPr lang="en-CA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phrase.Trim</a:t>
                      </a:r>
                      <a:r>
                        <a:rPr lang="en-CA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(); </a:t>
                      </a:r>
                      <a:r>
                        <a:rPr lang="en-CA" sz="180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 phrase now holds “Hi”</a:t>
                      </a:r>
                      <a:endParaRPr lang="en-CA" sz="1800" dirty="0">
                        <a:solidFill>
                          <a:srgbClr val="FFFF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7639468"/>
                  </a:ext>
                </a:extLst>
              </a:tr>
            </a:tbl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A8B31B3-C4AC-4D93-BF72-8470BF12FF91}"/>
              </a:ext>
            </a:extLst>
          </p:cNvPr>
          <p:cNvSpPr/>
          <p:nvPr/>
        </p:nvSpPr>
        <p:spPr>
          <a:xfrm>
            <a:off x="6039232" y="118299"/>
            <a:ext cx="5544616" cy="110691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000" dirty="0">
                <a:latin typeface="Consolas" panose="020B0609020204030204" pitchFamily="49" charset="0"/>
              </a:rPr>
              <a:t>string word = “Hello World!”;</a:t>
            </a:r>
          </a:p>
          <a:p>
            <a:r>
              <a:rPr lang="en-CA" sz="2000" dirty="0">
                <a:latin typeface="Consolas" panose="020B0609020204030204" pitchFamily="49" charset="0"/>
              </a:rPr>
              <a:t>string phoneNumber = “(555)-123-4567”</a:t>
            </a:r>
          </a:p>
          <a:p>
            <a:r>
              <a:rPr lang="en-CA" sz="2000" dirty="0">
                <a:latin typeface="Consolas" panose="020B0609020204030204" pitchFamily="49" charset="0"/>
              </a:rPr>
              <a:t>string newWord;</a:t>
            </a:r>
          </a:p>
        </p:txBody>
      </p:sp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5A79D2BE-71D4-4C84-ADD2-82A2077582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954084"/>
              </p:ext>
            </p:extLst>
          </p:nvPr>
        </p:nvGraphicFramePr>
        <p:xfrm>
          <a:off x="1218882" y="1381549"/>
          <a:ext cx="10492154" cy="155448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655948">
                  <a:extLst>
                    <a:ext uri="{9D8B030D-6E8A-4147-A177-3AD203B41FA5}">
                      <a16:colId xmlns:a16="http://schemas.microsoft.com/office/drawing/2014/main" val="215533889"/>
                    </a:ext>
                  </a:extLst>
                </a:gridCol>
                <a:gridCol w="8836206">
                  <a:extLst>
                    <a:ext uri="{9D8B030D-6E8A-4147-A177-3AD203B41FA5}">
                      <a16:colId xmlns:a16="http://schemas.microsoft.com/office/drawing/2014/main" val="3281182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Command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CA" b="1" dirty="0" err="1">
                          <a:latin typeface="Consolas" panose="020B0609020204030204" pitchFamily="49" charset="0"/>
                        </a:rPr>
                        <a:t>textA.ToUpper</a:t>
                      </a:r>
                      <a:r>
                        <a:rPr lang="en-CA" b="1" dirty="0"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87754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/>
                        <a:t>Returns a copy of </a:t>
                      </a:r>
                      <a:r>
                        <a:rPr lang="en-CA" sz="2000" dirty="0" err="1"/>
                        <a:t>textA</a:t>
                      </a:r>
                      <a:r>
                        <a:rPr lang="en-CA" sz="2000" dirty="0"/>
                        <a:t> converted to uppercase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3376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1600" dirty="0">
                          <a:latin typeface="Consolas" panose="020B0609020204030204" pitchFamily="49" charset="0"/>
                        </a:rPr>
                        <a:t>newWord = </a:t>
                      </a:r>
                      <a:r>
                        <a:rPr lang="en-CA" sz="1600" dirty="0" err="1">
                          <a:latin typeface="Consolas" panose="020B0609020204030204" pitchFamily="49" charset="0"/>
                        </a:rPr>
                        <a:t>word.ToUpper</a:t>
                      </a:r>
                      <a:r>
                        <a:rPr lang="en-CA" sz="1600" dirty="0">
                          <a:latin typeface="Consolas" panose="020B0609020204030204" pitchFamily="49" charset="0"/>
                        </a:rPr>
                        <a:t>();</a:t>
                      </a:r>
                      <a:r>
                        <a:rPr lang="en-CA" sz="1800" dirty="0"/>
                        <a:t>                    </a:t>
                      </a:r>
                      <a:r>
                        <a:rPr lang="en-CA" sz="1800" b="1" dirty="0">
                          <a:solidFill>
                            <a:srgbClr val="FFFF00"/>
                          </a:solidFill>
                        </a:rPr>
                        <a:t>OR</a:t>
                      </a:r>
                      <a:r>
                        <a:rPr lang="en-CA" sz="1800" dirty="0"/>
                        <a:t>                 </a:t>
                      </a:r>
                      <a:r>
                        <a:rPr lang="en-CA" sz="1600" dirty="0">
                          <a:latin typeface="Consolas" panose="020B0609020204030204" pitchFamily="49" charset="0"/>
                        </a:rPr>
                        <a:t>word = </a:t>
                      </a:r>
                      <a:r>
                        <a:rPr lang="en-CA" sz="1600" dirty="0" err="1">
                          <a:latin typeface="Consolas" panose="020B0609020204030204" pitchFamily="49" charset="0"/>
                        </a:rPr>
                        <a:t>word.ToUpper</a:t>
                      </a:r>
                      <a:r>
                        <a:rPr lang="en-CA" sz="1600" dirty="0">
                          <a:latin typeface="Consolas" panose="020B0609020204030204" pitchFamily="49" charset="0"/>
                        </a:rPr>
                        <a:t>();</a:t>
                      </a:r>
                      <a:endParaRPr lang="en-CA" sz="1800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en-CA" sz="1800" dirty="0">
                          <a:solidFill>
                            <a:srgbClr val="FFFF00"/>
                          </a:solidFill>
                        </a:rPr>
                        <a:t>newWord</a:t>
                      </a:r>
                      <a:r>
                        <a:rPr lang="en-CA" sz="1800" dirty="0"/>
                        <a:t> now holds “HELLO WORLD!”               </a:t>
                      </a:r>
                      <a:r>
                        <a:rPr lang="en-CA" sz="1800" dirty="0">
                          <a:solidFill>
                            <a:srgbClr val="FFFF00"/>
                          </a:solidFill>
                        </a:rPr>
                        <a:t>word</a:t>
                      </a:r>
                      <a:r>
                        <a:rPr lang="en-CA" sz="1800" dirty="0"/>
                        <a:t> was replaced to hold “HELLO WORLD!”</a:t>
                      </a:r>
                      <a:endParaRPr lang="en-CA" sz="1800" dirty="0">
                        <a:solidFill>
                          <a:srgbClr val="FFFF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7639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8839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1F3F9-3370-4D25-9452-E39A41E56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634083"/>
          </a:xfrm>
        </p:spPr>
        <p:txBody>
          <a:bodyPr/>
          <a:lstStyle/>
          <a:p>
            <a:r>
              <a:rPr lang="en-CA" dirty="0"/>
              <a:t>Modification Operations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0B32D54-C33A-4E7F-B89B-BF04D86621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19515"/>
              </p:ext>
            </p:extLst>
          </p:nvPr>
        </p:nvGraphicFramePr>
        <p:xfrm>
          <a:off x="1218882" y="4349472"/>
          <a:ext cx="10360502" cy="161544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635170">
                  <a:extLst>
                    <a:ext uri="{9D8B030D-6E8A-4147-A177-3AD203B41FA5}">
                      <a16:colId xmlns:a16="http://schemas.microsoft.com/office/drawing/2014/main" val="215533889"/>
                    </a:ext>
                  </a:extLst>
                </a:gridCol>
                <a:gridCol w="8725332">
                  <a:extLst>
                    <a:ext uri="{9D8B030D-6E8A-4147-A177-3AD203B41FA5}">
                      <a16:colId xmlns:a16="http://schemas.microsoft.com/office/drawing/2014/main" val="3281182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Command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CA" b="1" dirty="0" err="1">
                          <a:latin typeface="Consolas" panose="020B0609020204030204" pitchFamily="49" charset="0"/>
                        </a:rPr>
                        <a:t>textA.PadRight</a:t>
                      </a:r>
                      <a:r>
                        <a:rPr lang="en-CA" b="1" dirty="0">
                          <a:latin typeface="Consolas" panose="020B0609020204030204" pitchFamily="49" charset="0"/>
                        </a:rPr>
                        <a:t>(int </a:t>
                      </a:r>
                      <a:r>
                        <a:rPr lang="en-CA" b="1" dirty="0" err="1">
                          <a:latin typeface="Consolas" panose="020B0609020204030204" pitchFamily="49" charset="0"/>
                        </a:rPr>
                        <a:t>totalWidth</a:t>
                      </a:r>
                      <a:r>
                        <a:rPr lang="en-CA" b="1" dirty="0">
                          <a:latin typeface="Consolas" panose="020B0609020204030204" pitchFamily="49" charset="0"/>
                        </a:rPr>
                        <a:t>, char </a:t>
                      </a:r>
                      <a:r>
                        <a:rPr lang="en-CA" b="1" dirty="0" err="1">
                          <a:latin typeface="Consolas" panose="020B0609020204030204" pitchFamily="49" charset="0"/>
                        </a:rPr>
                        <a:t>paddingChar</a:t>
                      </a:r>
                      <a:r>
                        <a:rPr lang="en-CA" b="1" dirty="0"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87754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/>
                        <a:t>Returns a new string, where </a:t>
                      </a:r>
                      <a:r>
                        <a:rPr lang="en-CA" sz="2000" dirty="0" err="1">
                          <a:solidFill>
                            <a:srgbClr val="92D050"/>
                          </a:solidFill>
                        </a:rPr>
                        <a:t>textA</a:t>
                      </a:r>
                      <a:r>
                        <a:rPr lang="en-CA" sz="2000" dirty="0" err="1"/>
                        <a:t>’s</a:t>
                      </a:r>
                      <a:r>
                        <a:rPr lang="en-CA" sz="2000" dirty="0"/>
                        <a:t> length was increased to </a:t>
                      </a:r>
                      <a:r>
                        <a:rPr lang="en-CA" sz="1800" dirty="0" err="1">
                          <a:solidFill>
                            <a:srgbClr val="92D050"/>
                          </a:solidFill>
                          <a:latin typeface="Consolas" panose="020B0609020204030204" pitchFamily="49" charset="0"/>
                        </a:rPr>
                        <a:t>totalWidth</a:t>
                      </a:r>
                      <a:r>
                        <a:rPr lang="en-CA" sz="2000" dirty="0"/>
                        <a:t> by adding enough </a:t>
                      </a:r>
                      <a:r>
                        <a:rPr lang="en-CA" sz="1800" dirty="0" err="1">
                          <a:solidFill>
                            <a:srgbClr val="92D050"/>
                          </a:solidFill>
                          <a:latin typeface="Consolas" panose="020B0609020204030204" pitchFamily="49" charset="0"/>
                        </a:rPr>
                        <a:t>paddingChar</a:t>
                      </a:r>
                      <a:r>
                        <a:rPr lang="en-CA" sz="2000" dirty="0" err="1"/>
                        <a:t>’s</a:t>
                      </a:r>
                      <a:r>
                        <a:rPr lang="en-CA" sz="2000" dirty="0"/>
                        <a:t> to the </a:t>
                      </a:r>
                      <a:r>
                        <a:rPr lang="en-CA" sz="2000" dirty="0">
                          <a:solidFill>
                            <a:srgbClr val="FFFF00"/>
                          </a:solidFill>
                        </a:rPr>
                        <a:t>right</a:t>
                      </a:r>
                      <a:r>
                        <a:rPr lang="en-CA" sz="2000" dirty="0"/>
                        <a:t> of </a:t>
                      </a:r>
                      <a:r>
                        <a:rPr lang="en-CA" sz="2000" dirty="0" err="1">
                          <a:solidFill>
                            <a:srgbClr val="92D050"/>
                          </a:solidFill>
                        </a:rPr>
                        <a:t>textA</a:t>
                      </a:r>
                      <a:endParaRPr lang="en-CA" sz="2000" dirty="0">
                        <a:solidFill>
                          <a:srgbClr val="92D05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3376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dirty="0">
                          <a:latin typeface="Consolas" panose="020B0609020204030204" pitchFamily="49" charset="0"/>
                        </a:rPr>
                        <a:t>newWord = </a:t>
                      </a:r>
                      <a:r>
                        <a:rPr lang="en-CA" sz="1800" dirty="0" err="1">
                          <a:latin typeface="Consolas" panose="020B0609020204030204" pitchFamily="49" charset="0"/>
                        </a:rPr>
                        <a:t>word.PadRight</a:t>
                      </a:r>
                      <a:r>
                        <a:rPr lang="en-CA" sz="1800" dirty="0">
                          <a:latin typeface="Consolas" panose="020B0609020204030204" pitchFamily="49" charset="0"/>
                        </a:rPr>
                        <a:t>(14, ‘*’); </a:t>
                      </a:r>
                      <a:r>
                        <a:rPr lang="en-CA" sz="160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 newWord now holds “Hello World!**”</a:t>
                      </a:r>
                      <a:endParaRPr lang="en-CA" sz="1600" dirty="0">
                        <a:solidFill>
                          <a:srgbClr val="FFFF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7639468"/>
                  </a:ext>
                </a:extLst>
              </a:tr>
            </a:tbl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A8B31B3-C4AC-4D93-BF72-8470BF12FF91}"/>
              </a:ext>
            </a:extLst>
          </p:cNvPr>
          <p:cNvSpPr/>
          <p:nvPr/>
        </p:nvSpPr>
        <p:spPr>
          <a:xfrm>
            <a:off x="6039232" y="118299"/>
            <a:ext cx="5544616" cy="110691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000" dirty="0">
                <a:latin typeface="Consolas" panose="020B0609020204030204" pitchFamily="49" charset="0"/>
              </a:rPr>
              <a:t>string word = “Hello World!”;</a:t>
            </a:r>
          </a:p>
          <a:p>
            <a:r>
              <a:rPr lang="en-CA" sz="2000" dirty="0">
                <a:latin typeface="Consolas" panose="020B0609020204030204" pitchFamily="49" charset="0"/>
              </a:rPr>
              <a:t>string phoneNumber = “(555)-123-4567”</a:t>
            </a:r>
          </a:p>
          <a:p>
            <a:r>
              <a:rPr lang="en-CA" sz="2000" dirty="0">
                <a:latin typeface="Consolas" panose="020B0609020204030204" pitchFamily="49" charset="0"/>
              </a:rPr>
              <a:t>string newWord;</a:t>
            </a:r>
          </a:p>
        </p:txBody>
      </p:sp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5A79D2BE-71D4-4C84-ADD2-82A2077582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141363"/>
              </p:ext>
            </p:extLst>
          </p:nvPr>
        </p:nvGraphicFramePr>
        <p:xfrm>
          <a:off x="1218882" y="1700808"/>
          <a:ext cx="10360502" cy="161544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635170">
                  <a:extLst>
                    <a:ext uri="{9D8B030D-6E8A-4147-A177-3AD203B41FA5}">
                      <a16:colId xmlns:a16="http://schemas.microsoft.com/office/drawing/2014/main" val="215533889"/>
                    </a:ext>
                  </a:extLst>
                </a:gridCol>
                <a:gridCol w="8725332">
                  <a:extLst>
                    <a:ext uri="{9D8B030D-6E8A-4147-A177-3AD203B41FA5}">
                      <a16:colId xmlns:a16="http://schemas.microsoft.com/office/drawing/2014/main" val="3281182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Command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CA" b="1" dirty="0" err="1">
                          <a:latin typeface="Consolas" panose="020B0609020204030204" pitchFamily="49" charset="0"/>
                        </a:rPr>
                        <a:t>textA.PadLeft</a:t>
                      </a:r>
                      <a:r>
                        <a:rPr lang="en-CA" b="1" dirty="0">
                          <a:latin typeface="Consolas" panose="020B0609020204030204" pitchFamily="49" charset="0"/>
                        </a:rPr>
                        <a:t>(int </a:t>
                      </a:r>
                      <a:r>
                        <a:rPr lang="en-CA" b="1" dirty="0" err="1">
                          <a:latin typeface="Consolas" panose="020B0609020204030204" pitchFamily="49" charset="0"/>
                        </a:rPr>
                        <a:t>totalWidth</a:t>
                      </a:r>
                      <a:r>
                        <a:rPr lang="en-CA" b="1" dirty="0">
                          <a:latin typeface="Consolas" panose="020B0609020204030204" pitchFamily="49" charset="0"/>
                        </a:rPr>
                        <a:t>, char </a:t>
                      </a:r>
                      <a:r>
                        <a:rPr lang="en-CA" b="1" dirty="0" err="1">
                          <a:latin typeface="Consolas" panose="020B0609020204030204" pitchFamily="49" charset="0"/>
                        </a:rPr>
                        <a:t>paddingChar</a:t>
                      </a:r>
                      <a:r>
                        <a:rPr lang="en-CA" b="1" dirty="0"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87754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/>
                        <a:t>Returns a new string, where </a:t>
                      </a:r>
                      <a:r>
                        <a:rPr lang="en-CA" sz="2000" dirty="0" err="1">
                          <a:solidFill>
                            <a:srgbClr val="92D050"/>
                          </a:solidFill>
                        </a:rPr>
                        <a:t>textA</a:t>
                      </a:r>
                      <a:r>
                        <a:rPr lang="en-CA" sz="2000" dirty="0" err="1"/>
                        <a:t>’s</a:t>
                      </a:r>
                      <a:r>
                        <a:rPr lang="en-CA" sz="2000" dirty="0"/>
                        <a:t> length was increased to </a:t>
                      </a:r>
                      <a:r>
                        <a:rPr lang="en-CA" sz="1800" dirty="0" err="1">
                          <a:solidFill>
                            <a:srgbClr val="92D050"/>
                          </a:solidFill>
                          <a:latin typeface="Consolas" panose="020B0609020204030204" pitchFamily="49" charset="0"/>
                        </a:rPr>
                        <a:t>totalWidth</a:t>
                      </a:r>
                      <a:r>
                        <a:rPr lang="en-CA" sz="2000" dirty="0"/>
                        <a:t> by adding enough </a:t>
                      </a:r>
                      <a:r>
                        <a:rPr lang="en-CA" sz="1800" dirty="0" err="1">
                          <a:solidFill>
                            <a:srgbClr val="92D050"/>
                          </a:solidFill>
                          <a:latin typeface="Consolas" panose="020B0609020204030204" pitchFamily="49" charset="0"/>
                        </a:rPr>
                        <a:t>paddingChar</a:t>
                      </a:r>
                      <a:r>
                        <a:rPr lang="en-CA" sz="2000" dirty="0" err="1"/>
                        <a:t>’s</a:t>
                      </a:r>
                      <a:r>
                        <a:rPr lang="en-CA" sz="2000" dirty="0"/>
                        <a:t> to the </a:t>
                      </a:r>
                      <a:r>
                        <a:rPr lang="en-CA" sz="2000" dirty="0">
                          <a:solidFill>
                            <a:srgbClr val="FFFF00"/>
                          </a:solidFill>
                        </a:rPr>
                        <a:t>left</a:t>
                      </a:r>
                      <a:r>
                        <a:rPr lang="en-CA" sz="2000" dirty="0"/>
                        <a:t> of </a:t>
                      </a:r>
                      <a:r>
                        <a:rPr lang="en-CA" sz="2000" dirty="0" err="1">
                          <a:solidFill>
                            <a:srgbClr val="92D050"/>
                          </a:solidFill>
                        </a:rPr>
                        <a:t>textA</a:t>
                      </a:r>
                      <a:endParaRPr lang="en-CA" sz="2000" dirty="0">
                        <a:solidFill>
                          <a:srgbClr val="92D05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3376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dirty="0">
                          <a:latin typeface="Consolas" panose="020B0609020204030204" pitchFamily="49" charset="0"/>
                        </a:rPr>
                        <a:t>newWord = </a:t>
                      </a:r>
                      <a:r>
                        <a:rPr lang="en-CA" sz="1800" dirty="0" err="1">
                          <a:latin typeface="Consolas" panose="020B0609020204030204" pitchFamily="49" charset="0"/>
                        </a:rPr>
                        <a:t>word.PadLeft</a:t>
                      </a:r>
                      <a:r>
                        <a:rPr lang="en-CA" sz="1800" dirty="0">
                          <a:latin typeface="Consolas" panose="020B0609020204030204" pitchFamily="49" charset="0"/>
                        </a:rPr>
                        <a:t>(15, ‘ ’); </a:t>
                      </a:r>
                      <a:r>
                        <a:rPr lang="en-CA" sz="160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 newWord now holds “   Hello World!”</a:t>
                      </a:r>
                      <a:endParaRPr lang="en-CA" sz="1600" dirty="0">
                        <a:solidFill>
                          <a:srgbClr val="FFFF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7639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144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1F3F9-3370-4D25-9452-E39A41E56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634083"/>
          </a:xfrm>
        </p:spPr>
        <p:txBody>
          <a:bodyPr/>
          <a:lstStyle/>
          <a:p>
            <a:r>
              <a:rPr lang="en-CA" dirty="0"/>
              <a:t>Modification Operations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0B32D54-C33A-4E7F-B89B-BF04D86621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82970"/>
              </p:ext>
            </p:extLst>
          </p:nvPr>
        </p:nvGraphicFramePr>
        <p:xfrm>
          <a:off x="1070541" y="3864496"/>
          <a:ext cx="10657184" cy="207264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681994">
                  <a:extLst>
                    <a:ext uri="{9D8B030D-6E8A-4147-A177-3AD203B41FA5}">
                      <a16:colId xmlns:a16="http://schemas.microsoft.com/office/drawing/2014/main" val="215533889"/>
                    </a:ext>
                  </a:extLst>
                </a:gridCol>
                <a:gridCol w="8975190">
                  <a:extLst>
                    <a:ext uri="{9D8B030D-6E8A-4147-A177-3AD203B41FA5}">
                      <a16:colId xmlns:a16="http://schemas.microsoft.com/office/drawing/2014/main" val="3281182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Command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CA" b="1" dirty="0" err="1">
                          <a:latin typeface="Consolas" panose="020B0609020204030204" pitchFamily="49" charset="0"/>
                        </a:rPr>
                        <a:t>textA.Replace</a:t>
                      </a:r>
                      <a:r>
                        <a:rPr lang="en-CA" b="1" dirty="0">
                          <a:latin typeface="Consolas" panose="020B0609020204030204" pitchFamily="49" charset="0"/>
                        </a:rPr>
                        <a:t>(string </a:t>
                      </a:r>
                      <a:r>
                        <a:rPr lang="en-CA" b="1" dirty="0" err="1">
                          <a:latin typeface="Consolas" panose="020B0609020204030204" pitchFamily="49" charset="0"/>
                        </a:rPr>
                        <a:t>textB</a:t>
                      </a:r>
                      <a:r>
                        <a:rPr lang="en-CA" b="1" dirty="0">
                          <a:latin typeface="Consolas" panose="020B0609020204030204" pitchFamily="49" charset="0"/>
                        </a:rPr>
                        <a:t>, string </a:t>
                      </a:r>
                      <a:r>
                        <a:rPr lang="en-CA" b="1" dirty="0" err="1">
                          <a:latin typeface="Consolas" panose="020B0609020204030204" pitchFamily="49" charset="0"/>
                        </a:rPr>
                        <a:t>textC</a:t>
                      </a:r>
                      <a:r>
                        <a:rPr lang="en-CA" b="1" dirty="0"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87754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/>
                        <a:t>Returns a new string where all the occurrences of </a:t>
                      </a:r>
                      <a:r>
                        <a:rPr lang="en-CA" sz="2000" dirty="0" err="1">
                          <a:solidFill>
                            <a:srgbClr val="92D050"/>
                          </a:solidFill>
                        </a:rPr>
                        <a:t>textB</a:t>
                      </a:r>
                      <a:r>
                        <a:rPr lang="en-CA" sz="2000" dirty="0"/>
                        <a:t> in </a:t>
                      </a:r>
                      <a:r>
                        <a:rPr lang="en-CA" sz="2000" dirty="0" err="1">
                          <a:solidFill>
                            <a:srgbClr val="92D050"/>
                          </a:solidFill>
                        </a:rPr>
                        <a:t>textA</a:t>
                      </a:r>
                      <a:r>
                        <a:rPr lang="en-CA" sz="2000" dirty="0"/>
                        <a:t> are replaced with </a:t>
                      </a:r>
                      <a:r>
                        <a:rPr lang="en-CA" sz="2000" dirty="0" err="1">
                          <a:solidFill>
                            <a:srgbClr val="92D050"/>
                          </a:solidFill>
                        </a:rPr>
                        <a:t>textC</a:t>
                      </a:r>
                      <a:endParaRPr lang="en-CA" sz="2000" dirty="0">
                        <a:solidFill>
                          <a:srgbClr val="92D05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3376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dirty="0" err="1">
                          <a:latin typeface="Consolas" panose="020B0609020204030204" pitchFamily="49" charset="0"/>
                        </a:rPr>
                        <a:t>newWord</a:t>
                      </a:r>
                      <a:r>
                        <a:rPr lang="en-CA" sz="1800" dirty="0"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CA" sz="1800" dirty="0" err="1">
                          <a:latin typeface="Consolas" panose="020B0609020204030204" pitchFamily="49" charset="0"/>
                        </a:rPr>
                        <a:t>word.Replace</a:t>
                      </a:r>
                      <a:r>
                        <a:rPr lang="en-CA" sz="1800" dirty="0">
                          <a:latin typeface="Consolas" panose="020B0609020204030204" pitchFamily="49" charset="0"/>
                        </a:rPr>
                        <a:t>(“l”, “p”) </a:t>
                      </a:r>
                      <a:r>
                        <a:rPr lang="en-CA" sz="160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 newWord holds “</a:t>
                      </a:r>
                      <a:r>
                        <a:rPr lang="en-CA" sz="1600" dirty="0" err="1">
                          <a:solidFill>
                            <a:srgbClr val="FFFF00"/>
                          </a:solidFill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Heppo</a:t>
                      </a:r>
                      <a:r>
                        <a:rPr lang="en-CA" sz="160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CA" sz="1600" dirty="0" err="1">
                          <a:solidFill>
                            <a:srgbClr val="FFFF00"/>
                          </a:solidFill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Worpd</a:t>
                      </a:r>
                      <a:r>
                        <a:rPr lang="en-CA" sz="160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!”</a:t>
                      </a:r>
                    </a:p>
                    <a:p>
                      <a:r>
                        <a:rPr lang="en-CA" sz="1800" dirty="0" err="1">
                          <a:latin typeface="Consolas" panose="020B0609020204030204" pitchFamily="49" charset="0"/>
                        </a:rPr>
                        <a:t>newWord</a:t>
                      </a:r>
                      <a:r>
                        <a:rPr lang="en-CA" sz="1800" dirty="0"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CA" sz="1800" dirty="0" err="1">
                          <a:latin typeface="Consolas" panose="020B0609020204030204" pitchFamily="49" charset="0"/>
                        </a:rPr>
                        <a:t>word.Replace</a:t>
                      </a:r>
                      <a:r>
                        <a:rPr lang="en-CA" sz="1800" dirty="0">
                          <a:latin typeface="Consolas" panose="020B0609020204030204" pitchFamily="49" charset="0"/>
                        </a:rPr>
                        <a:t>(“ ”, “”) </a:t>
                      </a:r>
                      <a:r>
                        <a:rPr lang="en-CA" sz="160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 newWord holds “HelloWorld!”</a:t>
                      </a:r>
                    </a:p>
                    <a:p>
                      <a:r>
                        <a:rPr lang="en-CA" sz="1800" dirty="0" err="1">
                          <a:latin typeface="Consolas" panose="020B0609020204030204" pitchFamily="49" charset="0"/>
                        </a:rPr>
                        <a:t>newWord</a:t>
                      </a:r>
                      <a:r>
                        <a:rPr lang="en-CA" sz="1800" dirty="0"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CA" sz="1800" dirty="0" err="1">
                          <a:latin typeface="Consolas" panose="020B0609020204030204" pitchFamily="49" charset="0"/>
                        </a:rPr>
                        <a:t>word.Replace</a:t>
                      </a:r>
                      <a:r>
                        <a:rPr lang="en-CA" sz="1800" dirty="0">
                          <a:latin typeface="Consolas" panose="020B0609020204030204" pitchFamily="49" charset="0"/>
                        </a:rPr>
                        <a:t>(“Hell”, “Heaven”) </a:t>
                      </a:r>
                      <a:r>
                        <a:rPr lang="en-CA" sz="160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 newWord holds “</a:t>
                      </a:r>
                      <a:r>
                        <a:rPr lang="en-CA" sz="1600" dirty="0" err="1">
                          <a:solidFill>
                            <a:srgbClr val="FFFF00"/>
                          </a:solidFill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Heaveno</a:t>
                      </a:r>
                      <a:r>
                        <a:rPr lang="en-CA" sz="160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 World!”</a:t>
                      </a:r>
                      <a:endParaRPr lang="en-CA" sz="1600" dirty="0">
                        <a:solidFill>
                          <a:srgbClr val="FFFF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7639468"/>
                  </a:ext>
                </a:extLst>
              </a:tr>
            </a:tbl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A8B31B3-C4AC-4D93-BF72-8470BF12FF91}"/>
              </a:ext>
            </a:extLst>
          </p:cNvPr>
          <p:cNvSpPr/>
          <p:nvPr/>
        </p:nvSpPr>
        <p:spPr>
          <a:xfrm>
            <a:off x="6039232" y="118299"/>
            <a:ext cx="5544616" cy="110691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000" dirty="0">
                <a:latin typeface="Consolas" panose="020B0609020204030204" pitchFamily="49" charset="0"/>
              </a:rPr>
              <a:t>string word = “Hello World!”;</a:t>
            </a:r>
          </a:p>
          <a:p>
            <a:r>
              <a:rPr lang="en-CA" sz="2000" dirty="0">
                <a:latin typeface="Consolas" panose="020B0609020204030204" pitchFamily="49" charset="0"/>
              </a:rPr>
              <a:t>string phoneNumber = “(555)-123-4567”</a:t>
            </a:r>
          </a:p>
          <a:p>
            <a:r>
              <a:rPr lang="en-CA" sz="2000" dirty="0">
                <a:latin typeface="Consolas" panose="020B0609020204030204" pitchFamily="49" charset="0"/>
              </a:rPr>
              <a:t>string newWord;</a:t>
            </a:r>
          </a:p>
        </p:txBody>
      </p:sp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5A79D2BE-71D4-4C84-ADD2-82A2077582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127424"/>
              </p:ext>
            </p:extLst>
          </p:nvPr>
        </p:nvGraphicFramePr>
        <p:xfrm>
          <a:off x="1218882" y="1700808"/>
          <a:ext cx="10360502" cy="137160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635170">
                  <a:extLst>
                    <a:ext uri="{9D8B030D-6E8A-4147-A177-3AD203B41FA5}">
                      <a16:colId xmlns:a16="http://schemas.microsoft.com/office/drawing/2014/main" val="215533889"/>
                    </a:ext>
                  </a:extLst>
                </a:gridCol>
                <a:gridCol w="8725332">
                  <a:extLst>
                    <a:ext uri="{9D8B030D-6E8A-4147-A177-3AD203B41FA5}">
                      <a16:colId xmlns:a16="http://schemas.microsoft.com/office/drawing/2014/main" val="3281182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Command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CA" b="1" dirty="0" err="1">
                          <a:latin typeface="Consolas" panose="020B0609020204030204" pitchFamily="49" charset="0"/>
                        </a:rPr>
                        <a:t>textA.Insert</a:t>
                      </a:r>
                      <a:r>
                        <a:rPr lang="en-CA" b="1" dirty="0">
                          <a:latin typeface="Consolas" panose="020B0609020204030204" pitchFamily="49" charset="0"/>
                        </a:rPr>
                        <a:t>(int </a:t>
                      </a:r>
                      <a:r>
                        <a:rPr lang="en-CA" b="1" dirty="0" err="1">
                          <a:latin typeface="Consolas" panose="020B0609020204030204" pitchFamily="49" charset="0"/>
                        </a:rPr>
                        <a:t>startIndex</a:t>
                      </a:r>
                      <a:r>
                        <a:rPr lang="en-CA" b="1" dirty="0">
                          <a:latin typeface="Consolas" panose="020B0609020204030204" pitchFamily="49" charset="0"/>
                        </a:rPr>
                        <a:t>, string </a:t>
                      </a:r>
                      <a:r>
                        <a:rPr lang="en-CA" b="1" dirty="0" err="1">
                          <a:latin typeface="Consolas" panose="020B0609020204030204" pitchFamily="49" charset="0"/>
                        </a:rPr>
                        <a:t>textB</a:t>
                      </a:r>
                      <a:r>
                        <a:rPr lang="en-CA" b="1" dirty="0"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87754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/>
                        <a:t>Returns a new string where </a:t>
                      </a:r>
                      <a:r>
                        <a:rPr lang="en-CA" sz="2000" dirty="0" err="1">
                          <a:solidFill>
                            <a:srgbClr val="92D050"/>
                          </a:solidFill>
                        </a:rPr>
                        <a:t>textB</a:t>
                      </a:r>
                      <a:r>
                        <a:rPr lang="en-CA" sz="2000" dirty="0"/>
                        <a:t> was inserted at </a:t>
                      </a:r>
                      <a:r>
                        <a:rPr lang="en-CA" sz="2000" dirty="0" err="1">
                          <a:solidFill>
                            <a:srgbClr val="92D050"/>
                          </a:solidFill>
                        </a:rPr>
                        <a:t>startIndex</a:t>
                      </a:r>
                      <a:endParaRPr lang="en-CA" sz="2000" dirty="0">
                        <a:solidFill>
                          <a:srgbClr val="92D05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3376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dirty="0">
                          <a:latin typeface="Consolas" panose="020B0609020204030204" pitchFamily="49" charset="0"/>
                        </a:rPr>
                        <a:t>newWord = </a:t>
                      </a:r>
                      <a:r>
                        <a:rPr lang="en-CA" sz="1800" dirty="0" err="1">
                          <a:latin typeface="Consolas" panose="020B0609020204030204" pitchFamily="49" charset="0"/>
                        </a:rPr>
                        <a:t>word.Insert</a:t>
                      </a:r>
                      <a:r>
                        <a:rPr lang="en-CA" sz="1800" dirty="0">
                          <a:latin typeface="Consolas" panose="020B0609020204030204" pitchFamily="49" charset="0"/>
                        </a:rPr>
                        <a:t>(7, “$$$”); </a:t>
                      </a:r>
                      <a:r>
                        <a:rPr lang="en-CA" sz="160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 newWord now holds “Hello W$$$</a:t>
                      </a:r>
                      <a:r>
                        <a:rPr lang="en-CA" sz="1600" dirty="0" err="1">
                          <a:solidFill>
                            <a:srgbClr val="FFFF00"/>
                          </a:solidFill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orld</a:t>
                      </a:r>
                      <a:r>
                        <a:rPr lang="en-CA" sz="160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!”</a:t>
                      </a:r>
                      <a:endParaRPr lang="en-CA" sz="1600" dirty="0">
                        <a:solidFill>
                          <a:srgbClr val="FFFF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7639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7018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1F3F9-3370-4D25-9452-E39A41E56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634083"/>
          </a:xfrm>
        </p:spPr>
        <p:txBody>
          <a:bodyPr/>
          <a:lstStyle/>
          <a:p>
            <a:r>
              <a:rPr lang="en-CA" dirty="0"/>
              <a:t>Modification Operations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0B32D54-C33A-4E7F-B89B-BF04D86621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0116786"/>
              </p:ext>
            </p:extLst>
          </p:nvPr>
        </p:nvGraphicFramePr>
        <p:xfrm>
          <a:off x="1070541" y="3864496"/>
          <a:ext cx="10657184" cy="161544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681994">
                  <a:extLst>
                    <a:ext uri="{9D8B030D-6E8A-4147-A177-3AD203B41FA5}">
                      <a16:colId xmlns:a16="http://schemas.microsoft.com/office/drawing/2014/main" val="215533889"/>
                    </a:ext>
                  </a:extLst>
                </a:gridCol>
                <a:gridCol w="8975190">
                  <a:extLst>
                    <a:ext uri="{9D8B030D-6E8A-4147-A177-3AD203B41FA5}">
                      <a16:colId xmlns:a16="http://schemas.microsoft.com/office/drawing/2014/main" val="3281182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Command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CA" b="1" dirty="0" err="1">
                          <a:latin typeface="Consolas" panose="020B0609020204030204" pitchFamily="49" charset="0"/>
                        </a:rPr>
                        <a:t>textA.Remove</a:t>
                      </a:r>
                      <a:r>
                        <a:rPr lang="en-CA" b="1" dirty="0">
                          <a:latin typeface="Consolas" panose="020B0609020204030204" pitchFamily="49" charset="0"/>
                        </a:rPr>
                        <a:t>(int </a:t>
                      </a:r>
                      <a:r>
                        <a:rPr lang="en-CA" b="1" dirty="0" err="1">
                          <a:latin typeface="Consolas" panose="020B0609020204030204" pitchFamily="49" charset="0"/>
                        </a:rPr>
                        <a:t>startIndex</a:t>
                      </a:r>
                      <a:r>
                        <a:rPr lang="en-CA" b="1" dirty="0">
                          <a:latin typeface="Consolas" panose="020B0609020204030204" pitchFamily="49" charset="0"/>
                        </a:rPr>
                        <a:t>, int count)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87754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/>
                        <a:t>Returns a new string where a specified count of characters from </a:t>
                      </a:r>
                      <a:r>
                        <a:rPr lang="en-CA" sz="2000" dirty="0" err="1">
                          <a:solidFill>
                            <a:srgbClr val="92D050"/>
                          </a:solidFill>
                        </a:rPr>
                        <a:t>startIndex</a:t>
                      </a:r>
                      <a:r>
                        <a:rPr lang="en-CA" sz="2000" dirty="0"/>
                        <a:t> of </a:t>
                      </a:r>
                      <a:r>
                        <a:rPr lang="en-CA" sz="2000" dirty="0" err="1">
                          <a:solidFill>
                            <a:srgbClr val="92D050"/>
                          </a:solidFill>
                        </a:rPr>
                        <a:t>textA</a:t>
                      </a:r>
                      <a:r>
                        <a:rPr lang="en-CA" sz="2000" dirty="0"/>
                        <a:t> are removed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3376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latin typeface="Consolas" panose="020B0609020204030204" pitchFamily="49" charset="0"/>
                        </a:rPr>
                        <a:t>newWord = </a:t>
                      </a:r>
                      <a:r>
                        <a:rPr lang="en-CA" sz="2000" dirty="0" err="1">
                          <a:latin typeface="Consolas" panose="020B0609020204030204" pitchFamily="49" charset="0"/>
                        </a:rPr>
                        <a:t>word.Remove</a:t>
                      </a:r>
                      <a:r>
                        <a:rPr lang="en-CA" sz="2000" dirty="0">
                          <a:latin typeface="Consolas" panose="020B0609020204030204" pitchFamily="49" charset="0"/>
                        </a:rPr>
                        <a:t>(5,3) </a:t>
                      </a:r>
                      <a:r>
                        <a:rPr lang="en-CA" sz="180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 newWord now holds “</a:t>
                      </a:r>
                      <a:r>
                        <a:rPr lang="en-CA" sz="1800" dirty="0" err="1">
                          <a:solidFill>
                            <a:srgbClr val="FFFF00"/>
                          </a:solidFill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Hellorld</a:t>
                      </a:r>
                      <a:r>
                        <a:rPr lang="en-CA" sz="180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!”</a:t>
                      </a:r>
                      <a:endParaRPr lang="en-CA" sz="1600" dirty="0">
                        <a:solidFill>
                          <a:srgbClr val="FFFF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7639468"/>
                  </a:ext>
                </a:extLst>
              </a:tr>
            </a:tbl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A8B31B3-C4AC-4D93-BF72-8470BF12FF91}"/>
              </a:ext>
            </a:extLst>
          </p:cNvPr>
          <p:cNvSpPr/>
          <p:nvPr/>
        </p:nvSpPr>
        <p:spPr>
          <a:xfrm>
            <a:off x="6039232" y="118299"/>
            <a:ext cx="5544616" cy="110691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000" dirty="0">
                <a:latin typeface="Consolas" panose="020B0609020204030204" pitchFamily="49" charset="0"/>
              </a:rPr>
              <a:t>string word = “Hello World!”;</a:t>
            </a:r>
          </a:p>
          <a:p>
            <a:r>
              <a:rPr lang="en-CA" sz="2000" dirty="0">
                <a:latin typeface="Consolas" panose="020B0609020204030204" pitchFamily="49" charset="0"/>
              </a:rPr>
              <a:t>string phoneNumber = “(555)-123-4567”</a:t>
            </a:r>
          </a:p>
          <a:p>
            <a:r>
              <a:rPr lang="en-CA" sz="2000" dirty="0">
                <a:latin typeface="Consolas" panose="020B0609020204030204" pitchFamily="49" charset="0"/>
              </a:rPr>
              <a:t>string newWord;</a:t>
            </a:r>
          </a:p>
        </p:txBody>
      </p:sp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5A79D2BE-71D4-4C84-ADD2-82A2077582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857542"/>
              </p:ext>
            </p:extLst>
          </p:nvPr>
        </p:nvGraphicFramePr>
        <p:xfrm>
          <a:off x="1218882" y="1700808"/>
          <a:ext cx="10360502" cy="137160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635170">
                  <a:extLst>
                    <a:ext uri="{9D8B030D-6E8A-4147-A177-3AD203B41FA5}">
                      <a16:colId xmlns:a16="http://schemas.microsoft.com/office/drawing/2014/main" val="215533889"/>
                    </a:ext>
                  </a:extLst>
                </a:gridCol>
                <a:gridCol w="8725332">
                  <a:extLst>
                    <a:ext uri="{9D8B030D-6E8A-4147-A177-3AD203B41FA5}">
                      <a16:colId xmlns:a16="http://schemas.microsoft.com/office/drawing/2014/main" val="3281182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Command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CA" b="1" dirty="0" err="1">
                          <a:latin typeface="Consolas" panose="020B0609020204030204" pitchFamily="49" charset="0"/>
                        </a:rPr>
                        <a:t>textA.Remove</a:t>
                      </a:r>
                      <a:r>
                        <a:rPr lang="en-CA" b="1" dirty="0">
                          <a:latin typeface="Consolas" panose="020B0609020204030204" pitchFamily="49" charset="0"/>
                        </a:rPr>
                        <a:t>(int </a:t>
                      </a:r>
                      <a:r>
                        <a:rPr lang="en-CA" b="1" dirty="0" err="1">
                          <a:latin typeface="Consolas" panose="020B0609020204030204" pitchFamily="49" charset="0"/>
                        </a:rPr>
                        <a:t>startIndex</a:t>
                      </a:r>
                      <a:r>
                        <a:rPr lang="en-CA" b="1" dirty="0"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87754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/>
                        <a:t>Returns a new string where all characters from </a:t>
                      </a:r>
                      <a:r>
                        <a:rPr lang="en-CA" sz="2000" dirty="0" err="1">
                          <a:solidFill>
                            <a:srgbClr val="92D050"/>
                          </a:solidFill>
                        </a:rPr>
                        <a:t>startIndex</a:t>
                      </a:r>
                      <a:r>
                        <a:rPr lang="en-CA" sz="2000" dirty="0"/>
                        <a:t> of </a:t>
                      </a:r>
                      <a:r>
                        <a:rPr lang="en-CA" sz="2000" dirty="0" err="1">
                          <a:solidFill>
                            <a:srgbClr val="92D050"/>
                          </a:solidFill>
                        </a:rPr>
                        <a:t>textA</a:t>
                      </a:r>
                      <a:r>
                        <a:rPr lang="en-CA" sz="2000" dirty="0"/>
                        <a:t> are removed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3376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dirty="0">
                          <a:latin typeface="Consolas" panose="020B0609020204030204" pitchFamily="49" charset="0"/>
                        </a:rPr>
                        <a:t>newWord = </a:t>
                      </a:r>
                      <a:r>
                        <a:rPr lang="en-CA" sz="1800" dirty="0" err="1">
                          <a:latin typeface="Consolas" panose="020B0609020204030204" pitchFamily="49" charset="0"/>
                        </a:rPr>
                        <a:t>word.Remove</a:t>
                      </a:r>
                      <a:r>
                        <a:rPr lang="en-CA" sz="1800" dirty="0">
                          <a:latin typeface="Consolas" panose="020B0609020204030204" pitchFamily="49" charset="0"/>
                        </a:rPr>
                        <a:t>(5) </a:t>
                      </a:r>
                      <a:r>
                        <a:rPr lang="en-CA" sz="160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 newWord now holds “Hello”</a:t>
                      </a:r>
                      <a:endParaRPr lang="en-CA" sz="1600" dirty="0">
                        <a:solidFill>
                          <a:srgbClr val="FFFF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7639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4586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1F3F9-3370-4D25-9452-E39A41E56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634083"/>
          </a:xfrm>
        </p:spPr>
        <p:txBody>
          <a:bodyPr/>
          <a:lstStyle/>
          <a:p>
            <a:r>
              <a:rPr lang="en-CA"/>
              <a:t>Modification </a:t>
            </a:r>
            <a:r>
              <a:rPr lang="en-CA" dirty="0"/>
              <a:t>Operations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0B32D54-C33A-4E7F-B89B-BF04D86621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877967"/>
              </p:ext>
            </p:extLst>
          </p:nvPr>
        </p:nvGraphicFramePr>
        <p:xfrm>
          <a:off x="1070541" y="3864496"/>
          <a:ext cx="10657184" cy="161544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681994">
                  <a:extLst>
                    <a:ext uri="{9D8B030D-6E8A-4147-A177-3AD203B41FA5}">
                      <a16:colId xmlns:a16="http://schemas.microsoft.com/office/drawing/2014/main" val="215533889"/>
                    </a:ext>
                  </a:extLst>
                </a:gridCol>
                <a:gridCol w="8975190">
                  <a:extLst>
                    <a:ext uri="{9D8B030D-6E8A-4147-A177-3AD203B41FA5}">
                      <a16:colId xmlns:a16="http://schemas.microsoft.com/office/drawing/2014/main" val="3281182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Command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CA" b="1" dirty="0" err="1">
                          <a:latin typeface="Consolas" panose="020B0609020204030204" pitchFamily="49" charset="0"/>
                        </a:rPr>
                        <a:t>textA.Substring</a:t>
                      </a:r>
                      <a:r>
                        <a:rPr lang="en-CA" b="1" dirty="0">
                          <a:latin typeface="Consolas" panose="020B0609020204030204" pitchFamily="49" charset="0"/>
                        </a:rPr>
                        <a:t>(int </a:t>
                      </a:r>
                      <a:r>
                        <a:rPr lang="en-CA" b="1" dirty="0" err="1">
                          <a:latin typeface="Consolas" panose="020B0609020204030204" pitchFamily="49" charset="0"/>
                        </a:rPr>
                        <a:t>startIndex</a:t>
                      </a:r>
                      <a:r>
                        <a:rPr lang="en-CA" b="1" dirty="0">
                          <a:latin typeface="Consolas" panose="020B0609020204030204" pitchFamily="49" charset="0"/>
                        </a:rPr>
                        <a:t>, int length)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87754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/>
                        <a:t>Returns a new string cut out of </a:t>
                      </a:r>
                      <a:r>
                        <a:rPr lang="en-CA" sz="2000" dirty="0" err="1">
                          <a:solidFill>
                            <a:srgbClr val="92D050"/>
                          </a:solidFill>
                        </a:rPr>
                        <a:t>textA</a:t>
                      </a:r>
                      <a:r>
                        <a:rPr lang="en-CA" sz="2000" dirty="0"/>
                        <a:t> from </a:t>
                      </a:r>
                      <a:r>
                        <a:rPr lang="en-CA" sz="2000" dirty="0" err="1">
                          <a:solidFill>
                            <a:srgbClr val="92D050"/>
                          </a:solidFill>
                        </a:rPr>
                        <a:t>startIndex</a:t>
                      </a:r>
                      <a:r>
                        <a:rPr lang="en-CA" sz="2000" dirty="0"/>
                        <a:t> to a specified length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3376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latin typeface="Consolas" panose="020B0609020204030204" pitchFamily="49" charset="0"/>
                        </a:rPr>
                        <a:t>newWord = </a:t>
                      </a:r>
                      <a:r>
                        <a:rPr lang="en-CA" sz="2000" dirty="0" err="1">
                          <a:latin typeface="Consolas" panose="020B0609020204030204" pitchFamily="49" charset="0"/>
                        </a:rPr>
                        <a:t>phoneNumber.Substring</a:t>
                      </a:r>
                      <a:r>
                        <a:rPr lang="en-CA" sz="2000" dirty="0">
                          <a:latin typeface="Consolas" panose="020B0609020204030204" pitchFamily="49" charset="0"/>
                        </a:rPr>
                        <a:t>(1,3) </a:t>
                      </a:r>
                      <a:r>
                        <a:rPr lang="en-CA" sz="180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 newWord now holds “555”</a:t>
                      </a:r>
                      <a:endParaRPr lang="en-CA" sz="1600" dirty="0">
                        <a:solidFill>
                          <a:srgbClr val="FFFF00"/>
                        </a:solidFill>
                        <a:latin typeface="Consolas" panose="020B0609020204030204" pitchFamily="49" charset="0"/>
                        <a:sym typeface="Wingdings" panose="05000000000000000000" pitchFamily="2" charset="2"/>
                      </a:endParaRPr>
                    </a:p>
                    <a:p>
                      <a:r>
                        <a:rPr lang="en-CA" sz="2000" dirty="0">
                          <a:latin typeface="Consolas" panose="020B0609020204030204" pitchFamily="49" charset="0"/>
                        </a:rPr>
                        <a:t>newWord = </a:t>
                      </a:r>
                      <a:r>
                        <a:rPr lang="en-CA" sz="2000" dirty="0" err="1">
                          <a:latin typeface="Consolas" panose="020B0609020204030204" pitchFamily="49" charset="0"/>
                        </a:rPr>
                        <a:t>word.Substring</a:t>
                      </a:r>
                      <a:r>
                        <a:rPr lang="en-CA" sz="2000" dirty="0">
                          <a:latin typeface="Consolas" panose="020B0609020204030204" pitchFamily="49" charset="0"/>
                        </a:rPr>
                        <a:t>(word.Length-1,1)</a:t>
                      </a:r>
                      <a:r>
                        <a:rPr lang="en-CA" sz="18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CA" sz="160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 newWord now holds “!”</a:t>
                      </a:r>
                      <a:endParaRPr lang="en-CA" sz="1800" dirty="0">
                        <a:solidFill>
                          <a:srgbClr val="FFFF00"/>
                        </a:solidFill>
                        <a:latin typeface="Consolas" panose="020B0609020204030204" pitchFamily="49" charset="0"/>
                        <a:sym typeface="Wingdings" panose="05000000000000000000" pitchFamily="2" charset="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7639468"/>
                  </a:ext>
                </a:extLst>
              </a:tr>
            </a:tbl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A8B31B3-C4AC-4D93-BF72-8470BF12FF91}"/>
              </a:ext>
            </a:extLst>
          </p:cNvPr>
          <p:cNvSpPr/>
          <p:nvPr/>
        </p:nvSpPr>
        <p:spPr>
          <a:xfrm>
            <a:off x="6039232" y="118299"/>
            <a:ext cx="5544616" cy="110691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000" dirty="0">
                <a:latin typeface="Consolas" panose="020B0609020204030204" pitchFamily="49" charset="0"/>
              </a:rPr>
              <a:t>string word = “Hello World!”;</a:t>
            </a:r>
          </a:p>
          <a:p>
            <a:r>
              <a:rPr lang="en-CA" sz="2000" dirty="0">
                <a:latin typeface="Consolas" panose="020B0609020204030204" pitchFamily="49" charset="0"/>
              </a:rPr>
              <a:t>string phoneNumber = “(555)-123-4567”</a:t>
            </a:r>
          </a:p>
          <a:p>
            <a:r>
              <a:rPr lang="en-CA" sz="2000" dirty="0">
                <a:latin typeface="Consolas" panose="020B0609020204030204" pitchFamily="49" charset="0"/>
              </a:rPr>
              <a:t>string newWord;</a:t>
            </a:r>
          </a:p>
        </p:txBody>
      </p:sp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5A79D2BE-71D4-4C84-ADD2-82A2077582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09263"/>
              </p:ext>
            </p:extLst>
          </p:nvPr>
        </p:nvGraphicFramePr>
        <p:xfrm>
          <a:off x="1218882" y="1700808"/>
          <a:ext cx="10360502" cy="137160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635170">
                  <a:extLst>
                    <a:ext uri="{9D8B030D-6E8A-4147-A177-3AD203B41FA5}">
                      <a16:colId xmlns:a16="http://schemas.microsoft.com/office/drawing/2014/main" val="215533889"/>
                    </a:ext>
                  </a:extLst>
                </a:gridCol>
                <a:gridCol w="8725332">
                  <a:extLst>
                    <a:ext uri="{9D8B030D-6E8A-4147-A177-3AD203B41FA5}">
                      <a16:colId xmlns:a16="http://schemas.microsoft.com/office/drawing/2014/main" val="3281182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Command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CA" b="1" dirty="0" err="1">
                          <a:latin typeface="Consolas" panose="020B0609020204030204" pitchFamily="49" charset="0"/>
                        </a:rPr>
                        <a:t>textA.Substring</a:t>
                      </a:r>
                      <a:r>
                        <a:rPr lang="en-CA" b="1" dirty="0">
                          <a:latin typeface="Consolas" panose="020B0609020204030204" pitchFamily="49" charset="0"/>
                        </a:rPr>
                        <a:t>(int </a:t>
                      </a:r>
                      <a:r>
                        <a:rPr lang="en-CA" b="1" dirty="0" err="1">
                          <a:latin typeface="Consolas" panose="020B0609020204030204" pitchFamily="49" charset="0"/>
                        </a:rPr>
                        <a:t>startIndex</a:t>
                      </a:r>
                      <a:r>
                        <a:rPr lang="en-CA" b="1" dirty="0"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87754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/>
                        <a:t>Returns a new string cut out of </a:t>
                      </a:r>
                      <a:r>
                        <a:rPr lang="en-CA" sz="2000" dirty="0" err="1">
                          <a:solidFill>
                            <a:srgbClr val="92D050"/>
                          </a:solidFill>
                        </a:rPr>
                        <a:t>textA</a:t>
                      </a:r>
                      <a:r>
                        <a:rPr lang="en-CA" sz="2000" dirty="0"/>
                        <a:t> from </a:t>
                      </a:r>
                      <a:r>
                        <a:rPr lang="en-CA" sz="2000" dirty="0" err="1">
                          <a:solidFill>
                            <a:srgbClr val="92D050"/>
                          </a:solidFill>
                        </a:rPr>
                        <a:t>startIndex</a:t>
                      </a:r>
                      <a:r>
                        <a:rPr lang="en-CA" sz="2000" dirty="0"/>
                        <a:t> to the end of </a:t>
                      </a:r>
                      <a:r>
                        <a:rPr lang="en-CA" sz="2000" dirty="0" err="1">
                          <a:solidFill>
                            <a:srgbClr val="92D050"/>
                          </a:solidFill>
                        </a:rPr>
                        <a:t>textA</a:t>
                      </a:r>
                      <a:endParaRPr lang="en-CA" sz="2000" dirty="0">
                        <a:solidFill>
                          <a:srgbClr val="92D05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3376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dirty="0">
                          <a:latin typeface="Consolas" panose="020B0609020204030204" pitchFamily="49" charset="0"/>
                        </a:rPr>
                        <a:t>newWord = </a:t>
                      </a:r>
                      <a:r>
                        <a:rPr lang="en-CA" sz="1800" dirty="0" err="1">
                          <a:latin typeface="Consolas" panose="020B0609020204030204" pitchFamily="49" charset="0"/>
                        </a:rPr>
                        <a:t>word.Substring</a:t>
                      </a:r>
                      <a:r>
                        <a:rPr lang="en-CA" sz="1800" dirty="0">
                          <a:latin typeface="Consolas" panose="020B0609020204030204" pitchFamily="49" charset="0"/>
                        </a:rPr>
                        <a:t>(5) </a:t>
                      </a:r>
                      <a:r>
                        <a:rPr lang="en-CA" sz="160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 newWord now holds “ World!”</a:t>
                      </a:r>
                      <a:endParaRPr lang="en-CA" sz="1600" dirty="0">
                        <a:solidFill>
                          <a:srgbClr val="FFFF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7639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8478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810</TotalTime>
  <Words>758</Words>
  <Application>Microsoft Office PowerPoint</Application>
  <PresentationFormat>Custom</PresentationFormat>
  <Paragraphs>108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Wingdings</vt:lpstr>
      <vt:lpstr>Tech 16x9</vt:lpstr>
      <vt:lpstr>String Manipulation</vt:lpstr>
      <vt:lpstr>Introduction</vt:lpstr>
      <vt:lpstr>Explanation through Example</vt:lpstr>
      <vt:lpstr>Modification Operations</vt:lpstr>
      <vt:lpstr>Modification Operations</vt:lpstr>
      <vt:lpstr>Modification Operations</vt:lpstr>
      <vt:lpstr>Modification Operations</vt:lpstr>
      <vt:lpstr>Modification Operations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Variables: Day 1</dc:title>
  <dc:creator>Trevor Lane</dc:creator>
  <cp:lastModifiedBy>Lane, Trevor</cp:lastModifiedBy>
  <cp:revision>53</cp:revision>
  <dcterms:created xsi:type="dcterms:W3CDTF">2020-09-21T00:53:05Z</dcterms:created>
  <dcterms:modified xsi:type="dcterms:W3CDTF">2025-10-02T14:22:06Z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