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5"/>
  </p:notesMasterIdLst>
  <p:handoutMasterIdLst>
    <p:handoutMasterId r:id="rId16"/>
  </p:handoutMasterIdLst>
  <p:sldIdLst>
    <p:sldId id="257" r:id="rId5"/>
    <p:sldId id="258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280" r:id="rId14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4404"/>
    <a:srgbClr val="5F6F0F"/>
    <a:srgbClr val="718412"/>
    <a:srgbClr val="65741A"/>
    <a:srgbClr val="70811D"/>
    <a:srgbClr val="7B8D1F"/>
    <a:srgbClr val="839721"/>
    <a:srgbClr val="95AB25"/>
    <a:srgbClr val="BC5500"/>
    <a:srgbClr val="C4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60"/>
  </p:normalViewPr>
  <p:slideViewPr>
    <p:cSldViewPr>
      <p:cViewPr varScale="1">
        <p:scale>
          <a:sx n="109" d="100"/>
          <a:sy n="109" d="100"/>
        </p:scale>
        <p:origin x="114" y="138"/>
      </p:cViewPr>
      <p:guideLst>
        <p:guide orient="horz" pos="2160"/>
        <p:guide pos="3839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B4EDC-59C0-49C7-8ADA-5A781B329E02}" type="datetimeFigureOut">
              <a:rPr lang="en-US"/>
              <a:t>12/5/2022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29053-DC2A-4342-ADD4-2FD729D91E2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D8D46A-B586-417D-BFBD-8C8FE0AAF762}" type="datetimeFigureOut">
              <a:rPr lang="en-US"/>
              <a:t>12/5/2022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BA5BD7-F043-4D1B-AA17-CD412FC534D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Straight Connector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bottom lin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reeform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0" name="Freeform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" name="Date Placeholder 2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12/5/2022</a:t>
            </a:fld>
            <a:endParaRPr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12/5/2022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Straight Connector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12/5/2022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12/5/2022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12/5/2022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12/5/2022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12/5/2022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12/5/2022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12/5/2022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12/5/2022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12/5/2022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eft lines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reeform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Freeform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DFD029-FB74-4578-B929-F66AA97659CA}" type="datetimeFigureOut">
              <a:rPr lang="en-US"/>
              <a:pPr/>
              <a:t>12/5/2022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Loops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Looping with Arrays +</a:t>
            </a:r>
          </a:p>
          <a:p>
            <a:r>
              <a:rPr lang="en-US" dirty="0"/>
              <a:t>Nested Loops</a:t>
            </a:r>
          </a:p>
        </p:txBody>
      </p:sp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1A806-9AF5-4FE5-A6BA-1AC1D29AC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17CED-584E-44FE-ADCE-BD2A9E041B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Applying loops to work with arrays</a:t>
            </a:r>
          </a:p>
          <a:p>
            <a:r>
              <a:rPr lang="en-CA" dirty="0"/>
              <a:t>Using loops within loops (Nested loops)</a:t>
            </a:r>
          </a:p>
        </p:txBody>
      </p:sp>
    </p:spTree>
    <p:extLst>
      <p:ext uri="{BB962C8B-B14F-4D97-AF65-F5344CB8AC3E}">
        <p14:creationId xmlns:p14="http://schemas.microsoft.com/office/powerpoint/2010/main" val="1659323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FFF84-FDAB-45AD-8A5D-3EC508A50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706091"/>
          </a:xfrm>
        </p:spPr>
        <p:txBody>
          <a:bodyPr/>
          <a:lstStyle/>
          <a:p>
            <a:r>
              <a:rPr lang="en-CA" dirty="0"/>
              <a:t>Loops with 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13C29-A05D-484A-8C13-33934AB9B0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124744"/>
            <a:ext cx="10360501" cy="5544616"/>
          </a:xfrm>
        </p:spPr>
        <p:txBody>
          <a:bodyPr>
            <a:normAutofit/>
          </a:bodyPr>
          <a:lstStyle/>
          <a:p>
            <a:r>
              <a:rPr lang="en-CA" dirty="0"/>
              <a:t>Arrays are amazing, they let us group vast amounts of data and refer to them very simply.  But there is still a lot of manual effort.</a:t>
            </a:r>
          </a:p>
          <a:p>
            <a:r>
              <a:rPr lang="en-CA" dirty="0"/>
              <a:t>For example, if I have an array of numbers and just want to display them I still have to go through them one at a time to do so.  And this code needs to change if my array size changes.</a:t>
            </a:r>
          </a:p>
          <a:p>
            <a:pPr lvl="1"/>
            <a:endParaRPr lang="en-CA" dirty="0"/>
          </a:p>
          <a:p>
            <a:pPr marL="0" indent="0">
              <a:buNone/>
            </a:pPr>
            <a:r>
              <a:rPr lang="en-CA" sz="1900" dirty="0">
                <a:latin typeface="Consolas" panose="020B0609020204030204" pitchFamily="49" charset="0"/>
              </a:rPr>
              <a:t>int [] </a:t>
            </a:r>
            <a:r>
              <a:rPr lang="en-CA" sz="1900" dirty="0" err="1">
                <a:latin typeface="Consolas" panose="020B0609020204030204" pitchFamily="49" charset="0"/>
              </a:rPr>
              <a:t>nums</a:t>
            </a:r>
            <a:r>
              <a:rPr lang="en-CA" sz="1900" dirty="0">
                <a:latin typeface="Consolas" panose="020B0609020204030204" pitchFamily="49" charset="0"/>
              </a:rPr>
              <a:t> = new int[]{3,4,5};</a:t>
            </a:r>
          </a:p>
          <a:p>
            <a:pPr marL="0" indent="0">
              <a:buNone/>
            </a:pPr>
            <a:r>
              <a:rPr lang="en-CA" sz="1900" dirty="0" err="1">
                <a:latin typeface="Consolas" panose="020B0609020204030204" pitchFamily="49" charset="0"/>
              </a:rPr>
              <a:t>Console.WriteLine</a:t>
            </a:r>
            <a:r>
              <a:rPr lang="en-CA" sz="1900" dirty="0">
                <a:latin typeface="Consolas" panose="020B0609020204030204" pitchFamily="49" charset="0"/>
              </a:rPr>
              <a:t>(</a:t>
            </a:r>
            <a:r>
              <a:rPr lang="en-CA" sz="1900" dirty="0" err="1">
                <a:latin typeface="Consolas" panose="020B0609020204030204" pitchFamily="49" charset="0"/>
              </a:rPr>
              <a:t>nums</a:t>
            </a:r>
            <a:r>
              <a:rPr lang="en-CA" sz="1900" dirty="0">
                <a:latin typeface="Consolas" panose="020B0609020204030204" pitchFamily="49" charset="0"/>
              </a:rPr>
              <a:t>[0]);</a:t>
            </a:r>
          </a:p>
          <a:p>
            <a:pPr marL="0" indent="0">
              <a:buNone/>
            </a:pPr>
            <a:r>
              <a:rPr lang="en-CA" sz="1900" dirty="0" err="1">
                <a:latin typeface="Consolas" panose="020B0609020204030204" pitchFamily="49" charset="0"/>
              </a:rPr>
              <a:t>Console.WriteLine</a:t>
            </a:r>
            <a:r>
              <a:rPr lang="en-CA" sz="1900" dirty="0">
                <a:latin typeface="Consolas" panose="020B0609020204030204" pitchFamily="49" charset="0"/>
              </a:rPr>
              <a:t>(</a:t>
            </a:r>
            <a:r>
              <a:rPr lang="en-CA" sz="1900" dirty="0" err="1">
                <a:latin typeface="Consolas" panose="020B0609020204030204" pitchFamily="49" charset="0"/>
              </a:rPr>
              <a:t>nums</a:t>
            </a:r>
            <a:r>
              <a:rPr lang="en-CA" sz="1900" dirty="0">
                <a:latin typeface="Consolas" panose="020B0609020204030204" pitchFamily="49" charset="0"/>
              </a:rPr>
              <a:t>[1]);</a:t>
            </a:r>
          </a:p>
          <a:p>
            <a:pPr marL="0" indent="0">
              <a:buNone/>
            </a:pPr>
            <a:r>
              <a:rPr lang="en-CA" sz="1900" dirty="0" err="1">
                <a:latin typeface="Consolas" panose="020B0609020204030204" pitchFamily="49" charset="0"/>
              </a:rPr>
              <a:t>Console.WriteLine</a:t>
            </a:r>
            <a:r>
              <a:rPr lang="en-CA" sz="1900" dirty="0">
                <a:latin typeface="Consolas" panose="020B0609020204030204" pitchFamily="49" charset="0"/>
              </a:rPr>
              <a:t>(</a:t>
            </a:r>
            <a:r>
              <a:rPr lang="en-CA" sz="1900" dirty="0" err="1">
                <a:latin typeface="Consolas" panose="020B0609020204030204" pitchFamily="49" charset="0"/>
              </a:rPr>
              <a:t>nums</a:t>
            </a:r>
            <a:r>
              <a:rPr lang="en-CA" sz="1900" dirty="0">
                <a:latin typeface="Consolas" panose="020B0609020204030204" pitchFamily="49" charset="0"/>
              </a:rPr>
              <a:t>[2]);</a:t>
            </a:r>
          </a:p>
          <a:p>
            <a:pPr marL="0" indent="0">
              <a:buNone/>
            </a:pPr>
            <a:endParaRPr lang="en-CA" sz="1600" dirty="0"/>
          </a:p>
          <a:p>
            <a:pPr marL="0" indent="0">
              <a:buNone/>
            </a:pPr>
            <a:r>
              <a:rPr lang="en-CA" dirty="0"/>
              <a:t>This is fine, until I tell you to do it for 1500 numbers…</a:t>
            </a:r>
          </a:p>
        </p:txBody>
      </p:sp>
    </p:spTree>
    <p:extLst>
      <p:ext uri="{BB962C8B-B14F-4D97-AF65-F5344CB8AC3E}">
        <p14:creationId xmlns:p14="http://schemas.microsoft.com/office/powerpoint/2010/main" val="3555697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1C942-1FDE-4900-8CD1-6A61784C2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Loops with 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C7A3B4-D0DD-4DFB-9CBC-079D98FF9D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701797"/>
            <a:ext cx="6387697" cy="4462272"/>
          </a:xfrm>
        </p:spPr>
        <p:txBody>
          <a:bodyPr/>
          <a:lstStyle/>
          <a:p>
            <a:r>
              <a:rPr lang="en-CA" dirty="0"/>
              <a:t>We can use counted loops to automate</a:t>
            </a:r>
            <a:br>
              <a:rPr lang="en-CA" dirty="0"/>
            </a:br>
            <a:r>
              <a:rPr lang="en-CA" dirty="0"/>
              <a:t>this whole process:</a:t>
            </a:r>
          </a:p>
          <a:p>
            <a:endParaRPr lang="en-CA" dirty="0"/>
          </a:p>
          <a:p>
            <a:pPr marL="0" indent="0">
              <a:spcBef>
                <a:spcPts val="0"/>
              </a:spcBef>
              <a:buNone/>
            </a:pPr>
            <a:r>
              <a:rPr lang="en-CA" sz="2800" dirty="0">
                <a:latin typeface="Consolas" panose="020B0609020204030204" pitchFamily="49" charset="0"/>
              </a:rPr>
              <a:t>int [] </a:t>
            </a:r>
            <a:r>
              <a:rPr lang="en-CA" sz="2800" dirty="0" err="1">
                <a:latin typeface="Consolas" panose="020B0609020204030204" pitchFamily="49" charset="0"/>
              </a:rPr>
              <a:t>nums</a:t>
            </a:r>
            <a:r>
              <a:rPr lang="en-CA" sz="2800" dirty="0">
                <a:latin typeface="Consolas" panose="020B0609020204030204" pitchFamily="49" charset="0"/>
              </a:rPr>
              <a:t> = new int[]{3,4,5};</a:t>
            </a:r>
          </a:p>
          <a:p>
            <a:pPr marL="0" indent="0">
              <a:spcBef>
                <a:spcPts val="0"/>
              </a:spcBef>
              <a:buNone/>
            </a:pPr>
            <a:endParaRPr lang="en-CA" sz="2800" dirty="0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CA" dirty="0">
                <a:latin typeface="Consolas" panose="020B0609020204030204" pitchFamily="49" charset="0"/>
              </a:rPr>
              <a:t>for (int </a:t>
            </a:r>
            <a:r>
              <a:rPr lang="en-CA" dirty="0" err="1">
                <a:latin typeface="Consolas" panose="020B0609020204030204" pitchFamily="49" charset="0"/>
              </a:rPr>
              <a:t>i</a:t>
            </a:r>
            <a:r>
              <a:rPr lang="en-CA" dirty="0">
                <a:latin typeface="Consolas" panose="020B0609020204030204" pitchFamily="49" charset="0"/>
              </a:rPr>
              <a:t> = 0; </a:t>
            </a:r>
            <a:r>
              <a:rPr lang="en-CA" dirty="0" err="1">
                <a:latin typeface="Consolas" panose="020B0609020204030204" pitchFamily="49" charset="0"/>
              </a:rPr>
              <a:t>i</a:t>
            </a:r>
            <a:r>
              <a:rPr lang="en-CA" dirty="0">
                <a:latin typeface="Consolas" panose="020B0609020204030204" pitchFamily="49" charset="0"/>
              </a:rPr>
              <a:t> &lt; 3; </a:t>
            </a:r>
            <a:r>
              <a:rPr lang="en-CA" dirty="0" err="1">
                <a:latin typeface="Consolas" panose="020B0609020204030204" pitchFamily="49" charset="0"/>
              </a:rPr>
              <a:t>i</a:t>
            </a:r>
            <a:r>
              <a:rPr lang="en-CA" dirty="0">
                <a:latin typeface="Consolas" panose="020B0609020204030204" pitchFamily="49" charset="0"/>
              </a:rPr>
              <a:t>++)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CA" sz="2800" dirty="0">
                <a:latin typeface="Consolas" panose="020B0609020204030204" pitchFamily="49" charset="0"/>
              </a:rPr>
              <a:t>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CA" dirty="0">
                <a:latin typeface="Consolas" panose="020B0609020204030204" pitchFamily="49" charset="0"/>
              </a:rPr>
              <a:t>  </a:t>
            </a:r>
            <a:r>
              <a:rPr lang="en-CA" dirty="0" err="1">
                <a:latin typeface="Consolas" panose="020B0609020204030204" pitchFamily="49" charset="0"/>
              </a:rPr>
              <a:t>Console.WriteLine</a:t>
            </a:r>
            <a:r>
              <a:rPr lang="en-CA" dirty="0">
                <a:latin typeface="Consolas" panose="020B0609020204030204" pitchFamily="49" charset="0"/>
              </a:rPr>
              <a:t>(</a:t>
            </a:r>
            <a:r>
              <a:rPr lang="en-CA" dirty="0" err="1">
                <a:latin typeface="Consolas" panose="020B0609020204030204" pitchFamily="49" charset="0"/>
              </a:rPr>
              <a:t>nums</a:t>
            </a:r>
            <a:r>
              <a:rPr lang="en-CA" dirty="0">
                <a:latin typeface="Consolas" panose="020B0609020204030204" pitchFamily="49" charset="0"/>
              </a:rPr>
              <a:t>[</a:t>
            </a:r>
            <a:r>
              <a:rPr lang="en-CA" dirty="0" err="1">
                <a:latin typeface="Consolas" panose="020B0609020204030204" pitchFamily="49" charset="0"/>
              </a:rPr>
              <a:t>i</a:t>
            </a:r>
            <a:r>
              <a:rPr lang="en-CA" dirty="0">
                <a:latin typeface="Consolas" panose="020B0609020204030204" pitchFamily="49" charset="0"/>
              </a:rPr>
              <a:t>]);</a:t>
            </a:r>
            <a:endParaRPr lang="en-CA" sz="2800" dirty="0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CA" dirty="0">
                <a:latin typeface="Consolas" panose="020B0609020204030204" pitchFamily="49" charset="0"/>
              </a:rPr>
              <a:t>}</a:t>
            </a:r>
            <a:endParaRPr lang="en-CA" sz="2800" dirty="0"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CB0D05-5801-4D96-B9C1-3C9F6B4EB92C}"/>
              </a:ext>
            </a:extLst>
          </p:cNvPr>
          <p:cNvSpPr txBox="1"/>
          <p:nvPr/>
        </p:nvSpPr>
        <p:spPr>
          <a:xfrm>
            <a:off x="7534572" y="1340768"/>
            <a:ext cx="4432047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solidFill>
                  <a:srgbClr val="FFFF00"/>
                </a:solidFill>
              </a:rPr>
              <a:t>The key here is the counter, </a:t>
            </a:r>
            <a:r>
              <a:rPr lang="en-CA" sz="2800" dirty="0" err="1">
                <a:solidFill>
                  <a:srgbClr val="FFFF00"/>
                </a:solidFill>
              </a:rPr>
              <a:t>i</a:t>
            </a:r>
            <a:endParaRPr lang="en-CA" sz="2800" dirty="0">
              <a:solidFill>
                <a:srgbClr val="FFFF00"/>
              </a:solidFill>
            </a:endParaRPr>
          </a:p>
          <a:p>
            <a:endParaRPr lang="en-CA" sz="2800" dirty="0"/>
          </a:p>
          <a:p>
            <a:r>
              <a:rPr lang="en-CA" sz="2800" dirty="0"/>
              <a:t>We use </a:t>
            </a:r>
            <a:r>
              <a:rPr lang="en-CA" sz="2800" dirty="0" err="1"/>
              <a:t>i</a:t>
            </a:r>
            <a:r>
              <a:rPr lang="en-CA" sz="2800" dirty="0"/>
              <a:t> not only as our</a:t>
            </a:r>
          </a:p>
          <a:p>
            <a:r>
              <a:rPr lang="en-CA" sz="2800" dirty="0"/>
              <a:t>counter variable, but also</a:t>
            </a:r>
          </a:p>
          <a:p>
            <a:r>
              <a:rPr lang="en-CA" sz="2800" dirty="0"/>
              <a:t>as the index for our array</a:t>
            </a:r>
          </a:p>
          <a:p>
            <a:endParaRPr lang="en-CA" sz="2800" dirty="0"/>
          </a:p>
          <a:p>
            <a:r>
              <a:rPr lang="en-CA" sz="2800" dirty="0">
                <a:solidFill>
                  <a:srgbClr val="FFFF00"/>
                </a:solidFill>
              </a:rPr>
              <a:t>This </a:t>
            </a:r>
            <a:r>
              <a:rPr lang="en-CA" sz="2800" b="1" dirty="0">
                <a:solidFill>
                  <a:srgbClr val="00B0F0"/>
                </a:solidFill>
              </a:rPr>
              <a:t>ONLY</a:t>
            </a:r>
            <a:r>
              <a:rPr lang="en-CA" sz="2800" dirty="0">
                <a:solidFill>
                  <a:srgbClr val="FFFF00"/>
                </a:solidFill>
              </a:rPr>
              <a:t> works if we ensure</a:t>
            </a:r>
          </a:p>
          <a:p>
            <a:r>
              <a:rPr lang="en-CA" sz="2800" dirty="0" err="1">
                <a:solidFill>
                  <a:srgbClr val="FFFF00"/>
                </a:solidFill>
              </a:rPr>
              <a:t>i</a:t>
            </a:r>
            <a:r>
              <a:rPr lang="en-CA" sz="2800" dirty="0">
                <a:solidFill>
                  <a:srgbClr val="FFFF00"/>
                </a:solidFill>
              </a:rPr>
              <a:t> will always have values that</a:t>
            </a:r>
          </a:p>
          <a:p>
            <a:r>
              <a:rPr lang="en-CA" sz="2800" dirty="0">
                <a:solidFill>
                  <a:srgbClr val="FFFF00"/>
                </a:solidFill>
              </a:rPr>
              <a:t>represent our array range of</a:t>
            </a:r>
          </a:p>
          <a:p>
            <a:r>
              <a:rPr lang="en-CA" sz="2800" dirty="0">
                <a:solidFill>
                  <a:srgbClr val="FFFF00"/>
                </a:solidFill>
              </a:rPr>
              <a:t>0 </a:t>
            </a:r>
            <a:r>
              <a:rPr lang="en-CA" sz="2800" dirty="0">
                <a:solidFill>
                  <a:srgbClr val="FFFF00"/>
                </a:solidFill>
                <a:sym typeface="Wingdings" panose="05000000000000000000" pitchFamily="2" charset="2"/>
              </a:rPr>
              <a:t> </a:t>
            </a:r>
            <a:r>
              <a:rPr lang="en-CA" sz="2800" dirty="0" err="1">
                <a:solidFill>
                  <a:srgbClr val="FFFF00"/>
                </a:solidFill>
                <a:sym typeface="Wingdings" panose="05000000000000000000" pitchFamily="2" charset="2"/>
              </a:rPr>
              <a:t>nums.Length</a:t>
            </a:r>
            <a:r>
              <a:rPr lang="en-CA" sz="2800" dirty="0">
                <a:solidFill>
                  <a:srgbClr val="FFFF00"/>
                </a:solidFill>
                <a:sym typeface="Wingdings" panose="05000000000000000000" pitchFamily="2" charset="2"/>
              </a:rPr>
              <a:t> – 1</a:t>
            </a:r>
          </a:p>
          <a:p>
            <a:endParaRPr lang="en-CA" sz="2800" dirty="0">
              <a:sym typeface="Wingdings" panose="05000000000000000000" pitchFamily="2" charset="2"/>
            </a:endParaRPr>
          </a:p>
          <a:p>
            <a:r>
              <a:rPr lang="en-CA" sz="2800" dirty="0">
                <a:sym typeface="Wingdings" panose="05000000000000000000" pitchFamily="2" charset="2"/>
              </a:rPr>
              <a:t>In this case: 0  2</a:t>
            </a:r>
            <a:endParaRPr lang="en-CA" sz="2800" dirty="0"/>
          </a:p>
        </p:txBody>
      </p:sp>
    </p:spTree>
    <p:extLst>
      <p:ext uri="{BB962C8B-B14F-4D97-AF65-F5344CB8AC3E}">
        <p14:creationId xmlns:p14="http://schemas.microsoft.com/office/powerpoint/2010/main" val="3150451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1C942-1FDE-4900-8CD1-6A61784C2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Loops with 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C7A3B4-D0DD-4DFB-9CBC-079D98FF9D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701797"/>
            <a:ext cx="6387697" cy="4462272"/>
          </a:xfrm>
        </p:spPr>
        <p:txBody>
          <a:bodyPr/>
          <a:lstStyle/>
          <a:p>
            <a:r>
              <a:rPr lang="en-CA" dirty="0"/>
              <a:t>We can use counted loops to automate</a:t>
            </a:r>
            <a:br>
              <a:rPr lang="en-CA" dirty="0"/>
            </a:br>
            <a:r>
              <a:rPr lang="en-CA" dirty="0"/>
              <a:t>this whole process:</a:t>
            </a:r>
          </a:p>
          <a:p>
            <a:endParaRPr lang="en-CA" dirty="0"/>
          </a:p>
          <a:p>
            <a:pPr marL="0" indent="0">
              <a:spcBef>
                <a:spcPts val="0"/>
              </a:spcBef>
              <a:buNone/>
            </a:pPr>
            <a:r>
              <a:rPr lang="en-CA" sz="2800" dirty="0">
                <a:latin typeface="Consolas" panose="020B0609020204030204" pitchFamily="49" charset="0"/>
              </a:rPr>
              <a:t>int [] </a:t>
            </a:r>
            <a:r>
              <a:rPr lang="en-CA" sz="2800" dirty="0" err="1">
                <a:latin typeface="Consolas" panose="020B0609020204030204" pitchFamily="49" charset="0"/>
              </a:rPr>
              <a:t>nums</a:t>
            </a:r>
            <a:r>
              <a:rPr lang="en-CA" sz="2800" dirty="0">
                <a:latin typeface="Consolas" panose="020B0609020204030204" pitchFamily="49" charset="0"/>
              </a:rPr>
              <a:t> = new int[]{3,4,5};</a:t>
            </a:r>
          </a:p>
          <a:p>
            <a:pPr marL="0" indent="0">
              <a:spcBef>
                <a:spcPts val="0"/>
              </a:spcBef>
              <a:buNone/>
            </a:pPr>
            <a:endParaRPr lang="en-CA" sz="2800" dirty="0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CA" dirty="0">
                <a:latin typeface="Consolas" panose="020B0609020204030204" pitchFamily="49" charset="0"/>
              </a:rPr>
              <a:t>for (int </a:t>
            </a:r>
            <a:r>
              <a:rPr lang="en-CA" dirty="0" err="1">
                <a:latin typeface="Consolas" panose="020B0609020204030204" pitchFamily="49" charset="0"/>
              </a:rPr>
              <a:t>i</a:t>
            </a:r>
            <a:r>
              <a:rPr lang="en-CA" dirty="0">
                <a:latin typeface="Consolas" panose="020B0609020204030204" pitchFamily="49" charset="0"/>
              </a:rPr>
              <a:t> = 0; </a:t>
            </a:r>
            <a:r>
              <a:rPr lang="en-CA" dirty="0" err="1">
                <a:latin typeface="Consolas" panose="020B0609020204030204" pitchFamily="49" charset="0"/>
              </a:rPr>
              <a:t>i</a:t>
            </a:r>
            <a:r>
              <a:rPr lang="en-CA" dirty="0">
                <a:latin typeface="Consolas" panose="020B0609020204030204" pitchFamily="49" charset="0"/>
              </a:rPr>
              <a:t> &lt; 3; </a:t>
            </a:r>
            <a:r>
              <a:rPr lang="en-CA" dirty="0" err="1">
                <a:latin typeface="Consolas" panose="020B0609020204030204" pitchFamily="49" charset="0"/>
              </a:rPr>
              <a:t>i</a:t>
            </a:r>
            <a:r>
              <a:rPr lang="en-CA" dirty="0">
                <a:latin typeface="Consolas" panose="020B0609020204030204" pitchFamily="49" charset="0"/>
              </a:rPr>
              <a:t>++)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CA" sz="2800" dirty="0">
                <a:latin typeface="Consolas" panose="020B0609020204030204" pitchFamily="49" charset="0"/>
              </a:rPr>
              <a:t>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CA" dirty="0">
                <a:latin typeface="Consolas" panose="020B0609020204030204" pitchFamily="49" charset="0"/>
              </a:rPr>
              <a:t>  </a:t>
            </a:r>
            <a:r>
              <a:rPr lang="en-CA" dirty="0" err="1">
                <a:latin typeface="Consolas" panose="020B0609020204030204" pitchFamily="49" charset="0"/>
              </a:rPr>
              <a:t>Console.WriteLine</a:t>
            </a:r>
            <a:r>
              <a:rPr lang="en-CA" dirty="0">
                <a:latin typeface="Consolas" panose="020B0609020204030204" pitchFamily="49" charset="0"/>
              </a:rPr>
              <a:t>(</a:t>
            </a:r>
            <a:r>
              <a:rPr lang="en-CA" dirty="0" err="1">
                <a:latin typeface="Consolas" panose="020B0609020204030204" pitchFamily="49" charset="0"/>
              </a:rPr>
              <a:t>nums</a:t>
            </a:r>
            <a:r>
              <a:rPr lang="en-CA" dirty="0">
                <a:latin typeface="Consolas" panose="020B0609020204030204" pitchFamily="49" charset="0"/>
              </a:rPr>
              <a:t>[</a:t>
            </a:r>
            <a:r>
              <a:rPr lang="en-CA" dirty="0" err="1">
                <a:latin typeface="Consolas" panose="020B0609020204030204" pitchFamily="49" charset="0"/>
              </a:rPr>
              <a:t>i</a:t>
            </a:r>
            <a:r>
              <a:rPr lang="en-CA" dirty="0">
                <a:latin typeface="Consolas" panose="020B0609020204030204" pitchFamily="49" charset="0"/>
              </a:rPr>
              <a:t>]);</a:t>
            </a:r>
            <a:endParaRPr lang="en-CA" sz="2800" dirty="0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CA" dirty="0">
                <a:latin typeface="Consolas" panose="020B0609020204030204" pitchFamily="49" charset="0"/>
              </a:rPr>
              <a:t>}</a:t>
            </a:r>
            <a:endParaRPr lang="en-CA" sz="2800" dirty="0"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CB0D05-5801-4D96-B9C1-3C9F6B4EB92C}"/>
              </a:ext>
            </a:extLst>
          </p:cNvPr>
          <p:cNvSpPr txBox="1"/>
          <p:nvPr/>
        </p:nvSpPr>
        <p:spPr>
          <a:xfrm>
            <a:off x="7534572" y="1340768"/>
            <a:ext cx="4552849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/>
              <a:t>However, 3 is a magic number</a:t>
            </a:r>
          </a:p>
          <a:p>
            <a:endParaRPr lang="en-CA" sz="2800" dirty="0"/>
          </a:p>
          <a:p>
            <a:r>
              <a:rPr lang="en-CA" sz="2800" dirty="0"/>
              <a:t>And if we ever wanted to</a:t>
            </a:r>
          </a:p>
          <a:p>
            <a:r>
              <a:rPr lang="en-CA" sz="2800" dirty="0"/>
              <a:t>change the size of our array,</a:t>
            </a:r>
          </a:p>
          <a:p>
            <a:r>
              <a:rPr lang="en-CA" sz="2800" dirty="0"/>
              <a:t>we would also have to change</a:t>
            </a:r>
          </a:p>
          <a:p>
            <a:r>
              <a:rPr lang="en-CA" sz="2800" dirty="0"/>
              <a:t>this code.</a:t>
            </a:r>
          </a:p>
          <a:p>
            <a:endParaRPr lang="en-CA" sz="2800" dirty="0"/>
          </a:p>
          <a:p>
            <a:r>
              <a:rPr lang="en-CA" sz="2800" dirty="0"/>
              <a:t>FIX?</a:t>
            </a:r>
          </a:p>
          <a:p>
            <a:r>
              <a:rPr lang="en-CA" sz="2800" dirty="0"/>
              <a:t>Change the 3 to </a:t>
            </a:r>
            <a:r>
              <a:rPr lang="en-CA" sz="2800" dirty="0" err="1"/>
              <a:t>nums.Length</a:t>
            </a:r>
            <a:endParaRPr lang="en-CA" sz="2800" dirty="0"/>
          </a:p>
          <a:p>
            <a:endParaRPr lang="en-CA" sz="2800" dirty="0"/>
          </a:p>
          <a:p>
            <a:r>
              <a:rPr lang="en-CA" sz="2800" dirty="0"/>
              <a:t>Then the code will work, no</a:t>
            </a:r>
          </a:p>
          <a:p>
            <a:r>
              <a:rPr lang="en-CA" sz="2800" dirty="0"/>
              <a:t>matter size.</a:t>
            </a:r>
          </a:p>
        </p:txBody>
      </p:sp>
    </p:spTree>
    <p:extLst>
      <p:ext uri="{BB962C8B-B14F-4D97-AF65-F5344CB8AC3E}">
        <p14:creationId xmlns:p14="http://schemas.microsoft.com/office/powerpoint/2010/main" val="1157929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48D33-AF8E-4D40-9D77-6C6138E9C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706091"/>
          </a:xfrm>
        </p:spPr>
        <p:txBody>
          <a:bodyPr/>
          <a:lstStyle/>
          <a:p>
            <a:r>
              <a:rPr lang="en-CA" dirty="0"/>
              <a:t>Loops with Arrays Application: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5900F-1110-4195-AB5E-0C3DA1E7AF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052736"/>
            <a:ext cx="3651393" cy="5530627"/>
          </a:xfrm>
        </p:spPr>
        <p:txBody>
          <a:bodyPr>
            <a:normAutofit/>
          </a:bodyPr>
          <a:lstStyle/>
          <a:p>
            <a:r>
              <a:rPr lang="en-CA" dirty="0"/>
              <a:t>Write a program that asks the user for 100 numbers that are stored in an array.</a:t>
            </a:r>
          </a:p>
          <a:p>
            <a:r>
              <a:rPr lang="en-CA" dirty="0"/>
              <a:t>Then display the numbers and their calculated average.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924F62-CCF9-4B11-9BF0-9F0E38FB2553}"/>
              </a:ext>
            </a:extLst>
          </p:cNvPr>
          <p:cNvSpPr txBox="1"/>
          <p:nvPr/>
        </p:nvSpPr>
        <p:spPr>
          <a:xfrm>
            <a:off x="315882" y="4149080"/>
            <a:ext cx="5336461" cy="2062103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CA" sz="2800" dirty="0">
                <a:solidFill>
                  <a:srgbClr val="00B0F0"/>
                </a:solidFill>
              </a:rPr>
              <a:t>Ask yourself: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dirty="0"/>
              <a:t>How long would this code be without arrays?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dirty="0"/>
              <a:t>How long would this code be without loops?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CA" sz="2000" dirty="0"/>
          </a:p>
          <a:p>
            <a:r>
              <a:rPr lang="en-CA" sz="2000" dirty="0"/>
              <a:t>Arrays and Loops are two of the most powerful</a:t>
            </a:r>
          </a:p>
          <a:p>
            <a:r>
              <a:rPr lang="en-CA" sz="2000" dirty="0"/>
              <a:t>tools we have when it comes to automation.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C0D0CF5-1944-43AE-B73B-1C01D9895239}"/>
              </a:ext>
            </a:extLst>
          </p:cNvPr>
          <p:cNvSpPr txBox="1">
            <a:spLocks/>
          </p:cNvSpPr>
          <p:nvPr/>
        </p:nvSpPr>
        <p:spPr>
          <a:xfrm>
            <a:off x="5652343" y="989906"/>
            <a:ext cx="6408712" cy="5530627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>
            <a:lvl1pPr marL="304747" indent="-304747" algn="l" defTabSz="1218987" rtl="0" eaLnBrk="1" latinLnBrk="0" hangingPunct="1">
              <a:lnSpc>
                <a:spcPct val="90000"/>
              </a:lnSpc>
              <a:spcBef>
                <a:spcPts val="1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4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8987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73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2848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3227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3797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272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Arial" pitchFamily="34" charset="0"/>
              <a:buNone/>
            </a:pPr>
            <a:r>
              <a:rPr lang="en-CA" sz="1600" dirty="0">
                <a:latin typeface="Consolas" panose="020B0609020204030204" pitchFamily="49" charset="0"/>
              </a:rPr>
              <a:t>public static void Main(string [] </a:t>
            </a:r>
            <a:r>
              <a:rPr lang="en-CA" sz="1600" dirty="0" err="1">
                <a:latin typeface="Consolas" panose="020B0609020204030204" pitchFamily="49" charset="0"/>
              </a:rPr>
              <a:t>args</a:t>
            </a:r>
            <a:r>
              <a:rPr lang="en-CA" sz="16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itchFamily="34" charset="0"/>
              <a:buNone/>
            </a:pPr>
            <a:r>
              <a:rPr lang="en-CA" sz="1600" dirty="0"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itchFamily="34" charset="0"/>
              <a:buNone/>
            </a:pPr>
            <a:r>
              <a:rPr lang="en-CA" sz="1600" dirty="0">
                <a:latin typeface="Consolas" panose="020B0609020204030204" pitchFamily="49" charset="0"/>
              </a:rPr>
              <a:t>  int [] </a:t>
            </a:r>
            <a:r>
              <a:rPr lang="en-CA" sz="1600" dirty="0" err="1">
                <a:latin typeface="Consolas" panose="020B0609020204030204" pitchFamily="49" charset="0"/>
              </a:rPr>
              <a:t>nums</a:t>
            </a:r>
            <a:r>
              <a:rPr lang="en-CA" sz="1600" dirty="0">
                <a:latin typeface="Consolas" panose="020B0609020204030204" pitchFamily="49" charset="0"/>
              </a:rPr>
              <a:t> = new int[100];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itchFamily="34" charset="0"/>
              <a:buNone/>
            </a:pPr>
            <a:r>
              <a:rPr lang="en-CA" sz="1600" dirty="0">
                <a:latin typeface="Consolas" panose="020B0609020204030204" pitchFamily="49" charset="0"/>
              </a:rPr>
              <a:t>  int sum = 0;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itchFamily="34" charset="0"/>
              <a:buNone/>
            </a:pPr>
            <a:r>
              <a:rPr lang="en-CA" sz="1600" dirty="0">
                <a:latin typeface="Consolas" panose="020B0609020204030204" pitchFamily="49" charset="0"/>
              </a:rPr>
              <a:t>  double avg;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itchFamily="34" charset="0"/>
              <a:buNone/>
            </a:pPr>
            <a:endParaRPr lang="en-CA" sz="16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itchFamily="34" charset="0"/>
              <a:buNone/>
            </a:pPr>
            <a:r>
              <a:rPr lang="en-CA" sz="1600" dirty="0">
                <a:latin typeface="Consolas" panose="020B0609020204030204" pitchFamily="49" charset="0"/>
              </a:rPr>
              <a:t>  for (int </a:t>
            </a:r>
            <a:r>
              <a:rPr lang="en-CA" sz="1600" dirty="0" err="1">
                <a:latin typeface="Consolas" panose="020B0609020204030204" pitchFamily="49" charset="0"/>
              </a:rPr>
              <a:t>i</a:t>
            </a:r>
            <a:r>
              <a:rPr lang="en-CA" sz="1600" dirty="0">
                <a:latin typeface="Consolas" panose="020B0609020204030204" pitchFamily="49" charset="0"/>
              </a:rPr>
              <a:t> = 0; </a:t>
            </a:r>
            <a:r>
              <a:rPr lang="en-CA" sz="1600" dirty="0" err="1">
                <a:latin typeface="Consolas" panose="020B0609020204030204" pitchFamily="49" charset="0"/>
              </a:rPr>
              <a:t>i</a:t>
            </a:r>
            <a:r>
              <a:rPr lang="en-CA" sz="1600" dirty="0">
                <a:latin typeface="Consolas" panose="020B0609020204030204" pitchFamily="49" charset="0"/>
              </a:rPr>
              <a:t> &lt; </a:t>
            </a:r>
            <a:r>
              <a:rPr lang="en-CA" sz="1600" dirty="0" err="1">
                <a:latin typeface="Consolas" panose="020B0609020204030204" pitchFamily="49" charset="0"/>
              </a:rPr>
              <a:t>nums.Length</a:t>
            </a:r>
            <a:r>
              <a:rPr lang="en-CA" sz="1600" dirty="0">
                <a:latin typeface="Consolas" panose="020B0609020204030204" pitchFamily="49" charset="0"/>
              </a:rPr>
              <a:t>; </a:t>
            </a:r>
            <a:r>
              <a:rPr lang="en-CA" sz="1600" dirty="0" err="1">
                <a:latin typeface="Consolas" panose="020B0609020204030204" pitchFamily="49" charset="0"/>
              </a:rPr>
              <a:t>i</a:t>
            </a:r>
            <a:r>
              <a:rPr lang="en-CA" sz="1600" dirty="0">
                <a:latin typeface="Consolas" panose="020B0609020204030204" pitchFamily="49" charset="0"/>
              </a:rPr>
              <a:t>++)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itchFamily="34" charset="0"/>
              <a:buNone/>
            </a:pPr>
            <a:r>
              <a:rPr lang="en-CA" sz="1600" dirty="0">
                <a:latin typeface="Consolas" panose="020B0609020204030204" pitchFamily="49" charset="0"/>
              </a:rPr>
              <a:t> 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itchFamily="34" charset="0"/>
              <a:buNone/>
            </a:pPr>
            <a:r>
              <a:rPr lang="en-CA" sz="1600" dirty="0">
                <a:latin typeface="Consolas" panose="020B0609020204030204" pitchFamily="49" charset="0"/>
              </a:rPr>
              <a:t>    </a:t>
            </a:r>
            <a:r>
              <a:rPr lang="en-CA" sz="1600" dirty="0" err="1">
                <a:latin typeface="Consolas" panose="020B0609020204030204" pitchFamily="49" charset="0"/>
              </a:rPr>
              <a:t>Console.Write</a:t>
            </a:r>
            <a:r>
              <a:rPr lang="en-CA" sz="1600" dirty="0">
                <a:latin typeface="Consolas" panose="020B0609020204030204" pitchFamily="49" charset="0"/>
              </a:rPr>
              <a:t>(“Please enter number ” + </a:t>
            </a:r>
            <a:r>
              <a:rPr lang="en-CA" sz="1600" dirty="0" err="1">
                <a:latin typeface="Consolas" panose="020B0609020204030204" pitchFamily="49" charset="0"/>
              </a:rPr>
              <a:t>i</a:t>
            </a:r>
            <a:r>
              <a:rPr lang="en-CA" sz="160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itchFamily="34" charset="0"/>
              <a:buNone/>
            </a:pPr>
            <a:r>
              <a:rPr lang="en-CA" sz="1600" dirty="0">
                <a:latin typeface="Consolas" panose="020B0609020204030204" pitchFamily="49" charset="0"/>
              </a:rPr>
              <a:t>    </a:t>
            </a:r>
            <a:r>
              <a:rPr lang="en-CA" sz="1600" dirty="0" err="1">
                <a:latin typeface="Consolas" panose="020B0609020204030204" pitchFamily="49" charset="0"/>
              </a:rPr>
              <a:t>nums</a:t>
            </a:r>
            <a:r>
              <a:rPr lang="en-CA" sz="1600" dirty="0">
                <a:latin typeface="Consolas" panose="020B0609020204030204" pitchFamily="49" charset="0"/>
              </a:rPr>
              <a:t>[</a:t>
            </a:r>
            <a:r>
              <a:rPr lang="en-CA" sz="1600" dirty="0" err="1">
                <a:latin typeface="Consolas" panose="020B0609020204030204" pitchFamily="49" charset="0"/>
              </a:rPr>
              <a:t>i</a:t>
            </a:r>
            <a:r>
              <a:rPr lang="en-CA" sz="1600" dirty="0">
                <a:latin typeface="Consolas" panose="020B0609020204030204" pitchFamily="49" charset="0"/>
              </a:rPr>
              <a:t>] = Convert.ToInt32(</a:t>
            </a:r>
            <a:r>
              <a:rPr lang="en-CA" sz="1600" dirty="0" err="1">
                <a:latin typeface="Consolas" panose="020B0609020204030204" pitchFamily="49" charset="0"/>
              </a:rPr>
              <a:t>Console.ReadLine</a:t>
            </a:r>
            <a:r>
              <a:rPr lang="en-CA" sz="1600" dirty="0">
                <a:latin typeface="Consolas" panose="020B0609020204030204" pitchFamily="49" charset="0"/>
              </a:rPr>
              <a:t>());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itchFamily="34" charset="0"/>
              <a:buNone/>
            </a:pPr>
            <a:r>
              <a:rPr lang="en-CA" sz="1600" dirty="0">
                <a:latin typeface="Consolas" panose="020B0609020204030204" pitchFamily="49" charset="0"/>
              </a:rPr>
              <a:t>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itchFamily="34" charset="0"/>
              <a:buNone/>
            </a:pPr>
            <a:endParaRPr lang="en-CA" sz="16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itchFamily="34" charset="0"/>
              <a:buNone/>
            </a:pPr>
            <a:r>
              <a:rPr lang="en-CA" sz="1600" dirty="0">
                <a:latin typeface="Consolas" panose="020B0609020204030204" pitchFamily="49" charset="0"/>
              </a:rPr>
              <a:t>  for (int </a:t>
            </a:r>
            <a:r>
              <a:rPr lang="en-CA" sz="1600" dirty="0" err="1">
                <a:latin typeface="Consolas" panose="020B0609020204030204" pitchFamily="49" charset="0"/>
              </a:rPr>
              <a:t>i</a:t>
            </a:r>
            <a:r>
              <a:rPr lang="en-CA" sz="1600" dirty="0">
                <a:latin typeface="Consolas" panose="020B0609020204030204" pitchFamily="49" charset="0"/>
              </a:rPr>
              <a:t> = 0; </a:t>
            </a:r>
            <a:r>
              <a:rPr lang="en-CA" sz="1600" dirty="0" err="1">
                <a:latin typeface="Consolas" panose="020B0609020204030204" pitchFamily="49" charset="0"/>
              </a:rPr>
              <a:t>i</a:t>
            </a:r>
            <a:r>
              <a:rPr lang="en-CA" sz="1600" dirty="0">
                <a:latin typeface="Consolas" panose="020B0609020204030204" pitchFamily="49" charset="0"/>
              </a:rPr>
              <a:t> &lt; </a:t>
            </a:r>
            <a:r>
              <a:rPr lang="en-CA" sz="1600" dirty="0" err="1">
                <a:latin typeface="Consolas" panose="020B0609020204030204" pitchFamily="49" charset="0"/>
              </a:rPr>
              <a:t>nums.Length</a:t>
            </a:r>
            <a:r>
              <a:rPr lang="en-CA" sz="1600" dirty="0">
                <a:latin typeface="Consolas" panose="020B0609020204030204" pitchFamily="49" charset="0"/>
              </a:rPr>
              <a:t>; </a:t>
            </a:r>
            <a:r>
              <a:rPr lang="en-CA" sz="1600" dirty="0" err="1">
                <a:latin typeface="Consolas" panose="020B0609020204030204" pitchFamily="49" charset="0"/>
              </a:rPr>
              <a:t>i</a:t>
            </a:r>
            <a:r>
              <a:rPr lang="en-CA" sz="1600" dirty="0">
                <a:latin typeface="Consolas" panose="020B0609020204030204" pitchFamily="49" charset="0"/>
              </a:rPr>
              <a:t>++)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itchFamily="34" charset="0"/>
              <a:buNone/>
            </a:pPr>
            <a:r>
              <a:rPr lang="en-CA" sz="1600" dirty="0">
                <a:latin typeface="Consolas" panose="020B0609020204030204" pitchFamily="49" charset="0"/>
              </a:rPr>
              <a:t> 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itchFamily="34" charset="0"/>
              <a:buNone/>
            </a:pPr>
            <a:r>
              <a:rPr lang="en-CA" sz="1600" dirty="0">
                <a:latin typeface="Consolas" panose="020B0609020204030204" pitchFamily="49" charset="0"/>
              </a:rPr>
              <a:t>    sum = sum + </a:t>
            </a:r>
            <a:r>
              <a:rPr lang="en-CA" sz="1600" dirty="0" err="1">
                <a:latin typeface="Consolas" panose="020B0609020204030204" pitchFamily="49" charset="0"/>
              </a:rPr>
              <a:t>nums</a:t>
            </a:r>
            <a:r>
              <a:rPr lang="en-CA" sz="1600" dirty="0">
                <a:latin typeface="Consolas" panose="020B0609020204030204" pitchFamily="49" charset="0"/>
              </a:rPr>
              <a:t>[</a:t>
            </a:r>
            <a:r>
              <a:rPr lang="en-CA" sz="1600" dirty="0" err="1">
                <a:latin typeface="Consolas" panose="020B0609020204030204" pitchFamily="49" charset="0"/>
              </a:rPr>
              <a:t>i</a:t>
            </a:r>
            <a:r>
              <a:rPr lang="en-CA" sz="1600" dirty="0">
                <a:latin typeface="Consolas" panose="020B0609020204030204" pitchFamily="49" charset="0"/>
              </a:rPr>
              <a:t>];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itchFamily="34" charset="0"/>
              <a:buNone/>
            </a:pPr>
            <a:r>
              <a:rPr lang="en-CA" sz="1600" dirty="0">
                <a:latin typeface="Consolas" panose="020B0609020204030204" pitchFamily="49" charset="0"/>
              </a:rPr>
              <a:t>    </a:t>
            </a:r>
            <a:r>
              <a:rPr lang="en-CA" sz="1600" dirty="0" err="1">
                <a:latin typeface="Consolas" panose="020B0609020204030204" pitchFamily="49" charset="0"/>
              </a:rPr>
              <a:t>Console.WriteLine</a:t>
            </a:r>
            <a:r>
              <a:rPr lang="en-CA" sz="1600" dirty="0">
                <a:latin typeface="Consolas" panose="020B0609020204030204" pitchFamily="49" charset="0"/>
              </a:rPr>
              <a:t>(“Number ” + </a:t>
            </a:r>
            <a:r>
              <a:rPr lang="en-CA" sz="1600" dirty="0" err="1">
                <a:latin typeface="Consolas" panose="020B0609020204030204" pitchFamily="49" charset="0"/>
              </a:rPr>
              <a:t>i</a:t>
            </a:r>
            <a:r>
              <a:rPr lang="en-CA" sz="1600" dirty="0">
                <a:latin typeface="Consolas" panose="020B0609020204030204" pitchFamily="49" charset="0"/>
              </a:rPr>
              <a:t> + “: ” + </a:t>
            </a:r>
            <a:r>
              <a:rPr lang="en-CA" sz="1600" dirty="0" err="1">
                <a:latin typeface="Consolas" panose="020B0609020204030204" pitchFamily="49" charset="0"/>
              </a:rPr>
              <a:t>nums</a:t>
            </a:r>
            <a:r>
              <a:rPr lang="en-CA" sz="1600" dirty="0">
                <a:latin typeface="Consolas" panose="020B0609020204030204" pitchFamily="49" charset="0"/>
              </a:rPr>
              <a:t>[</a:t>
            </a:r>
            <a:r>
              <a:rPr lang="en-CA" sz="1600" dirty="0" err="1">
                <a:latin typeface="Consolas" panose="020B0609020204030204" pitchFamily="49" charset="0"/>
              </a:rPr>
              <a:t>i</a:t>
            </a:r>
            <a:r>
              <a:rPr lang="en-CA" sz="1600" dirty="0">
                <a:latin typeface="Consolas" panose="020B0609020204030204" pitchFamily="49" charset="0"/>
              </a:rPr>
              <a:t>]);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itchFamily="34" charset="0"/>
              <a:buNone/>
            </a:pPr>
            <a:r>
              <a:rPr lang="en-CA" sz="1600" dirty="0">
                <a:latin typeface="Consolas" panose="020B0609020204030204" pitchFamily="49" charset="0"/>
              </a:rPr>
              <a:t>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itchFamily="34" charset="0"/>
              <a:buNone/>
            </a:pPr>
            <a:endParaRPr lang="en-CA" sz="16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itchFamily="34" charset="0"/>
              <a:buNone/>
            </a:pPr>
            <a:r>
              <a:rPr lang="en-CA" sz="1600" dirty="0">
                <a:latin typeface="Consolas" panose="020B0609020204030204" pitchFamily="49" charset="0"/>
              </a:rPr>
              <a:t>  avg = sum/(double)</a:t>
            </a:r>
            <a:r>
              <a:rPr lang="en-CA" sz="1600" dirty="0" err="1">
                <a:latin typeface="Consolas" panose="020B0609020204030204" pitchFamily="49" charset="0"/>
              </a:rPr>
              <a:t>nums.Length</a:t>
            </a:r>
            <a:r>
              <a:rPr lang="en-CA" sz="1600" dirty="0"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itchFamily="34" charset="0"/>
              <a:buNone/>
            </a:pPr>
            <a:endParaRPr lang="en-CA" sz="16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itchFamily="34" charset="0"/>
              <a:buNone/>
            </a:pPr>
            <a:r>
              <a:rPr lang="en-CA" sz="1600" dirty="0">
                <a:latin typeface="Consolas" panose="020B0609020204030204" pitchFamily="49" charset="0"/>
              </a:rPr>
              <a:t>  </a:t>
            </a:r>
            <a:r>
              <a:rPr lang="en-CA" sz="1600" dirty="0" err="1">
                <a:latin typeface="Consolas" panose="020B0609020204030204" pitchFamily="49" charset="0"/>
              </a:rPr>
              <a:t>Console.WriteLine</a:t>
            </a:r>
            <a:r>
              <a:rPr lang="en-CA" sz="1600" dirty="0">
                <a:latin typeface="Consolas" panose="020B0609020204030204" pitchFamily="49" charset="0"/>
              </a:rPr>
              <a:t>(“Your average number was: ” + avg);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itchFamily="34" charset="0"/>
              <a:buNone/>
            </a:pPr>
            <a:r>
              <a:rPr lang="en-CA" sz="1600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8917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02960-8DFA-4160-B1AB-29236F77A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82155"/>
          </a:xfrm>
        </p:spPr>
        <p:txBody>
          <a:bodyPr/>
          <a:lstStyle/>
          <a:p>
            <a:r>
              <a:rPr lang="en-CA" dirty="0"/>
              <a:t>Nested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971D87-331B-4ECB-AC82-210284ABAA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701796"/>
            <a:ext cx="10360501" cy="4607523"/>
          </a:xfrm>
        </p:spPr>
        <p:txBody>
          <a:bodyPr>
            <a:normAutofit/>
          </a:bodyPr>
          <a:lstStyle/>
          <a:p>
            <a:r>
              <a:rPr lang="en-CA" dirty="0"/>
              <a:t>Recall that the term nesting in program refers to the ability to have control structures inside of control structures</a:t>
            </a:r>
          </a:p>
          <a:p>
            <a:pPr lvl="1"/>
            <a:r>
              <a:rPr lang="en-CA" dirty="0"/>
              <a:t>For example: ifs inside ifs, or switches inside ifs, etc.</a:t>
            </a:r>
          </a:p>
          <a:p>
            <a:r>
              <a:rPr lang="en-CA" dirty="0"/>
              <a:t>But this also applies to loops.</a:t>
            </a:r>
          </a:p>
          <a:p>
            <a:r>
              <a:rPr lang="en-CA" dirty="0"/>
              <a:t>We can have loops inside loops, loops inside ifs and ifs inside loops</a:t>
            </a:r>
          </a:p>
          <a:p>
            <a:endParaRPr lang="en-CA" dirty="0"/>
          </a:p>
          <a:p>
            <a:r>
              <a:rPr lang="en-CA" dirty="0"/>
              <a:t>You can technically nest as many loops as you want, but it can get confusing with more than 3 nested loops…and expensive on the CPU</a:t>
            </a:r>
          </a:p>
        </p:txBody>
      </p:sp>
    </p:spTree>
    <p:extLst>
      <p:ext uri="{BB962C8B-B14F-4D97-AF65-F5344CB8AC3E}">
        <p14:creationId xmlns:p14="http://schemas.microsoft.com/office/powerpoint/2010/main" val="1919472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378B2-3A60-48A1-A52F-E4924D2E0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850107"/>
          </a:xfrm>
        </p:spPr>
        <p:txBody>
          <a:bodyPr/>
          <a:lstStyle/>
          <a:p>
            <a:r>
              <a:rPr lang="en-CA" dirty="0"/>
              <a:t>Nesting: Let’s start with a logic test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FECACA-34A6-41B9-B2B3-031D4FB967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340768"/>
            <a:ext cx="6099665" cy="5184575"/>
          </a:xfrm>
        </p:spPr>
        <p:txBody>
          <a:bodyPr/>
          <a:lstStyle/>
          <a:p>
            <a:pPr marL="0" indent="0">
              <a:buNone/>
            </a:pPr>
            <a:r>
              <a:rPr lang="en-CA" dirty="0"/>
              <a:t>How many times will “Hi”, “</a:t>
            </a:r>
            <a:r>
              <a:rPr lang="en-CA" dirty="0" err="1"/>
              <a:t>Yo</a:t>
            </a:r>
            <a:r>
              <a:rPr lang="en-CA" dirty="0"/>
              <a:t>” and “Bye” be displayed, each?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2000" dirty="0">
                <a:latin typeface="Consolas" panose="020B0609020204030204" pitchFamily="49" charset="0"/>
              </a:rPr>
              <a:t>for (int </a:t>
            </a:r>
            <a:r>
              <a:rPr lang="en-CA" sz="2000" dirty="0" err="1">
                <a:latin typeface="Consolas" panose="020B0609020204030204" pitchFamily="49" charset="0"/>
              </a:rPr>
              <a:t>i</a:t>
            </a:r>
            <a:r>
              <a:rPr lang="en-CA" sz="2000" dirty="0">
                <a:latin typeface="Consolas" panose="020B0609020204030204" pitchFamily="49" charset="0"/>
              </a:rPr>
              <a:t> = 1; </a:t>
            </a:r>
            <a:r>
              <a:rPr lang="en-CA" sz="2000" dirty="0" err="1">
                <a:latin typeface="Consolas" panose="020B0609020204030204" pitchFamily="49" charset="0"/>
              </a:rPr>
              <a:t>i</a:t>
            </a:r>
            <a:r>
              <a:rPr lang="en-CA" sz="2000" dirty="0">
                <a:latin typeface="Consolas" panose="020B0609020204030204" pitchFamily="49" charset="0"/>
              </a:rPr>
              <a:t> &lt; 3; </a:t>
            </a:r>
            <a:r>
              <a:rPr lang="en-CA" sz="2000" dirty="0" err="1">
                <a:latin typeface="Consolas" panose="020B0609020204030204" pitchFamily="49" charset="0"/>
              </a:rPr>
              <a:t>i</a:t>
            </a:r>
            <a:r>
              <a:rPr lang="en-CA" sz="2000" dirty="0">
                <a:latin typeface="Consolas" panose="020B0609020204030204" pitchFamily="49" charset="0"/>
              </a:rPr>
              <a:t>++)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2000" dirty="0"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2000" dirty="0">
                <a:latin typeface="Consolas" panose="020B0609020204030204" pitchFamily="49" charset="0"/>
              </a:rPr>
              <a:t>  </a:t>
            </a:r>
            <a:r>
              <a:rPr lang="en-CA" sz="2000" dirty="0" err="1">
                <a:latin typeface="Consolas" panose="020B0609020204030204" pitchFamily="49" charset="0"/>
              </a:rPr>
              <a:t>Console.WriteLine</a:t>
            </a:r>
            <a:r>
              <a:rPr lang="en-CA" sz="2000" dirty="0">
                <a:latin typeface="Consolas" panose="020B0609020204030204" pitchFamily="49" charset="0"/>
              </a:rPr>
              <a:t>(“Hi”);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CA" sz="20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2000" dirty="0">
                <a:latin typeface="Consolas" panose="020B0609020204030204" pitchFamily="49" charset="0"/>
              </a:rPr>
              <a:t>  for (int j = 1; j &lt; 4; </a:t>
            </a:r>
            <a:r>
              <a:rPr lang="en-CA" sz="2000" dirty="0" err="1">
                <a:latin typeface="Consolas" panose="020B0609020204030204" pitchFamily="49" charset="0"/>
              </a:rPr>
              <a:t>j++</a:t>
            </a:r>
            <a:r>
              <a:rPr lang="en-CA" sz="20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2000" dirty="0">
                <a:latin typeface="Consolas" panose="020B0609020204030204" pitchFamily="49" charset="0"/>
              </a:rPr>
              <a:t> 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2000" dirty="0">
                <a:latin typeface="Consolas" panose="020B0609020204030204" pitchFamily="49" charset="0"/>
              </a:rPr>
              <a:t>    </a:t>
            </a:r>
            <a:r>
              <a:rPr lang="en-CA" sz="2000" dirty="0" err="1">
                <a:latin typeface="Consolas" panose="020B0609020204030204" pitchFamily="49" charset="0"/>
              </a:rPr>
              <a:t>Console.WriteLine</a:t>
            </a:r>
            <a:r>
              <a:rPr lang="en-CA" sz="2000" dirty="0">
                <a:latin typeface="Consolas" panose="020B0609020204030204" pitchFamily="49" charset="0"/>
              </a:rPr>
              <a:t>(“</a:t>
            </a:r>
            <a:r>
              <a:rPr lang="en-CA" sz="2000" dirty="0" err="1">
                <a:latin typeface="Consolas" panose="020B0609020204030204" pitchFamily="49" charset="0"/>
              </a:rPr>
              <a:t>Yo</a:t>
            </a:r>
            <a:r>
              <a:rPr lang="en-CA" sz="2000" dirty="0">
                <a:latin typeface="Consolas" panose="020B0609020204030204" pitchFamily="49" charset="0"/>
              </a:rPr>
              <a:t>”);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2000" dirty="0">
                <a:latin typeface="Consolas" panose="020B0609020204030204" pitchFamily="49" charset="0"/>
              </a:rPr>
              <a:t>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CA" sz="20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2000" dirty="0">
                <a:latin typeface="Consolas" panose="020B0609020204030204" pitchFamily="49" charset="0"/>
              </a:rPr>
              <a:t>  </a:t>
            </a:r>
            <a:r>
              <a:rPr lang="en-CA" sz="2000" dirty="0" err="1">
                <a:latin typeface="Consolas" panose="020B0609020204030204" pitchFamily="49" charset="0"/>
              </a:rPr>
              <a:t>Console.WriteLine</a:t>
            </a:r>
            <a:r>
              <a:rPr lang="en-CA" sz="2000" dirty="0">
                <a:latin typeface="Consolas" panose="020B0609020204030204" pitchFamily="49" charset="0"/>
              </a:rPr>
              <a:t>(“Bye”);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20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436BBF-5DB3-43C5-9568-A7A20DDBDCDF}"/>
              </a:ext>
            </a:extLst>
          </p:cNvPr>
          <p:cNvSpPr txBox="1"/>
          <p:nvPr/>
        </p:nvSpPr>
        <p:spPr>
          <a:xfrm>
            <a:off x="6886500" y="1124744"/>
            <a:ext cx="2088232" cy="224676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CA" sz="1400" dirty="0">
                <a:solidFill>
                  <a:schemeClr val="tx2"/>
                </a:solidFill>
                <a:latin typeface="Consolas" panose="020B0609020204030204" pitchFamily="49" charset="0"/>
              </a:rPr>
              <a:t>Hi</a:t>
            </a:r>
          </a:p>
          <a:p>
            <a:r>
              <a:rPr lang="en-CA" sz="1400" dirty="0" err="1">
                <a:solidFill>
                  <a:schemeClr val="tx2"/>
                </a:solidFill>
                <a:latin typeface="Consolas" panose="020B0609020204030204" pitchFamily="49" charset="0"/>
              </a:rPr>
              <a:t>Yo</a:t>
            </a:r>
            <a:endParaRPr lang="en-CA" sz="1400" dirty="0">
              <a:solidFill>
                <a:schemeClr val="tx2"/>
              </a:solidFill>
              <a:latin typeface="Consolas" panose="020B0609020204030204" pitchFamily="49" charset="0"/>
            </a:endParaRPr>
          </a:p>
          <a:p>
            <a:r>
              <a:rPr lang="en-CA" sz="1400" dirty="0" err="1">
                <a:solidFill>
                  <a:schemeClr val="tx2"/>
                </a:solidFill>
                <a:latin typeface="Consolas" panose="020B0609020204030204" pitchFamily="49" charset="0"/>
              </a:rPr>
              <a:t>Yo</a:t>
            </a:r>
            <a:endParaRPr lang="en-CA" sz="1400" dirty="0">
              <a:solidFill>
                <a:schemeClr val="tx2"/>
              </a:solidFill>
              <a:latin typeface="Consolas" panose="020B0609020204030204" pitchFamily="49" charset="0"/>
            </a:endParaRPr>
          </a:p>
          <a:p>
            <a:r>
              <a:rPr lang="en-CA" sz="1400" dirty="0" err="1">
                <a:solidFill>
                  <a:schemeClr val="tx2"/>
                </a:solidFill>
                <a:latin typeface="Consolas" panose="020B0609020204030204" pitchFamily="49" charset="0"/>
              </a:rPr>
              <a:t>Yo</a:t>
            </a:r>
            <a:endParaRPr lang="en-CA" sz="1400" dirty="0">
              <a:solidFill>
                <a:schemeClr val="tx2"/>
              </a:solidFill>
              <a:latin typeface="Consolas" panose="020B0609020204030204" pitchFamily="49" charset="0"/>
            </a:endParaRPr>
          </a:p>
          <a:p>
            <a:r>
              <a:rPr lang="en-CA" sz="1400" dirty="0">
                <a:solidFill>
                  <a:schemeClr val="tx2"/>
                </a:solidFill>
                <a:latin typeface="Consolas" panose="020B0609020204030204" pitchFamily="49" charset="0"/>
              </a:rPr>
              <a:t>Bye</a:t>
            </a:r>
          </a:p>
          <a:p>
            <a:r>
              <a:rPr lang="en-CA" sz="1400" dirty="0">
                <a:solidFill>
                  <a:schemeClr val="tx2"/>
                </a:solidFill>
                <a:latin typeface="Consolas" panose="020B0609020204030204" pitchFamily="49" charset="0"/>
              </a:rPr>
              <a:t>Hi</a:t>
            </a:r>
          </a:p>
          <a:p>
            <a:r>
              <a:rPr lang="en-CA" sz="1400" dirty="0" err="1">
                <a:solidFill>
                  <a:schemeClr val="tx2"/>
                </a:solidFill>
                <a:latin typeface="Consolas" panose="020B0609020204030204" pitchFamily="49" charset="0"/>
              </a:rPr>
              <a:t>Yo</a:t>
            </a:r>
            <a:endParaRPr lang="en-CA" sz="1400" dirty="0">
              <a:solidFill>
                <a:schemeClr val="tx2"/>
              </a:solidFill>
              <a:latin typeface="Consolas" panose="020B0609020204030204" pitchFamily="49" charset="0"/>
            </a:endParaRPr>
          </a:p>
          <a:p>
            <a:r>
              <a:rPr lang="en-CA" sz="1400" dirty="0" err="1">
                <a:solidFill>
                  <a:schemeClr val="tx2"/>
                </a:solidFill>
                <a:latin typeface="Consolas" panose="020B0609020204030204" pitchFamily="49" charset="0"/>
              </a:rPr>
              <a:t>Yo</a:t>
            </a:r>
            <a:endParaRPr lang="en-CA" sz="1400" dirty="0">
              <a:solidFill>
                <a:schemeClr val="tx2"/>
              </a:solidFill>
              <a:latin typeface="Consolas" panose="020B0609020204030204" pitchFamily="49" charset="0"/>
            </a:endParaRPr>
          </a:p>
          <a:p>
            <a:r>
              <a:rPr lang="en-CA" sz="1400" dirty="0" err="1">
                <a:solidFill>
                  <a:schemeClr val="tx2"/>
                </a:solidFill>
                <a:latin typeface="Consolas" panose="020B0609020204030204" pitchFamily="49" charset="0"/>
              </a:rPr>
              <a:t>Yo</a:t>
            </a:r>
            <a:endParaRPr lang="en-CA" sz="1400" dirty="0">
              <a:solidFill>
                <a:schemeClr val="tx2"/>
              </a:solidFill>
              <a:latin typeface="Consolas" panose="020B0609020204030204" pitchFamily="49" charset="0"/>
            </a:endParaRPr>
          </a:p>
          <a:p>
            <a:r>
              <a:rPr lang="en-CA" sz="1400" dirty="0">
                <a:solidFill>
                  <a:schemeClr val="tx2"/>
                </a:solidFill>
                <a:latin typeface="Consolas" panose="020B0609020204030204" pitchFamily="49" charset="0"/>
              </a:rPr>
              <a:t>Bye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6411E5-39A2-4F8C-8704-9A908BEB8F86}"/>
              </a:ext>
            </a:extLst>
          </p:cNvPr>
          <p:cNvSpPr txBox="1"/>
          <p:nvPr/>
        </p:nvSpPr>
        <p:spPr>
          <a:xfrm>
            <a:off x="5662364" y="3482295"/>
            <a:ext cx="6445034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solidFill>
                  <a:srgbClr val="92D050"/>
                </a:solidFill>
              </a:rPr>
              <a:t>What does this tell us about the</a:t>
            </a:r>
          </a:p>
          <a:p>
            <a:r>
              <a:rPr lang="en-CA" sz="2800" dirty="0">
                <a:solidFill>
                  <a:srgbClr val="92D050"/>
                </a:solidFill>
              </a:rPr>
              <a:t>Number of times inner loops execute</a:t>
            </a:r>
          </a:p>
          <a:p>
            <a:r>
              <a:rPr lang="en-CA" sz="2800" dirty="0">
                <a:solidFill>
                  <a:srgbClr val="92D050"/>
                </a:solidFill>
              </a:rPr>
              <a:t>relative to the outer loop?</a:t>
            </a:r>
          </a:p>
          <a:p>
            <a:endParaRPr lang="en-CA" sz="2800" dirty="0"/>
          </a:p>
          <a:p>
            <a:r>
              <a:rPr lang="en-CA" sz="2800" dirty="0"/>
              <a:t>Inner loops will fully complete all iterations</a:t>
            </a:r>
          </a:p>
          <a:p>
            <a:r>
              <a:rPr lang="en-CA" sz="2800" dirty="0"/>
              <a:t>for each one iteration of the outer loop</a:t>
            </a:r>
          </a:p>
        </p:txBody>
      </p:sp>
    </p:spTree>
    <p:extLst>
      <p:ext uri="{BB962C8B-B14F-4D97-AF65-F5344CB8AC3E}">
        <p14:creationId xmlns:p14="http://schemas.microsoft.com/office/powerpoint/2010/main" val="3784094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E8458-02AA-4411-98DA-116BE8CA9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706091"/>
          </a:xfrm>
        </p:spPr>
        <p:txBody>
          <a:bodyPr/>
          <a:lstStyle/>
          <a:p>
            <a:r>
              <a:rPr lang="en-CA" dirty="0"/>
              <a:t>Nested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5DCEA8-EB65-4FE7-93A1-2914C202EF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3853" y="980728"/>
            <a:ext cx="8280920" cy="5472608"/>
          </a:xfrm>
        </p:spPr>
        <p:txBody>
          <a:bodyPr>
            <a:normAutofit/>
          </a:bodyPr>
          <a:lstStyle/>
          <a:p>
            <a:r>
              <a:rPr lang="en-CA" dirty="0"/>
              <a:t>A common application of nested loops is when you need to analyze a grid of data (rows and columns) </a:t>
            </a:r>
          </a:p>
          <a:p>
            <a:pPr lvl="1"/>
            <a:r>
              <a:rPr lang="en-CA" dirty="0"/>
              <a:t>Like in a game of chess, or tic-tac-toe, or a spreadsheet of data.</a:t>
            </a:r>
          </a:p>
          <a:p>
            <a:endParaRPr lang="en-CA" dirty="0"/>
          </a:p>
          <a:p>
            <a:pPr marL="365760" indent="-256032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CA" sz="1700" dirty="0">
                <a:latin typeface="Consolas" panose="020B0609020204030204" pitchFamily="49" charset="0"/>
              </a:rPr>
              <a:t>for (int row = 0; row &lt; 3; row++)</a:t>
            </a:r>
          </a:p>
          <a:p>
            <a:pPr marL="365760" indent="-256032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CA" sz="1700" dirty="0">
                <a:latin typeface="Consolas" panose="020B0609020204030204" pitchFamily="49" charset="0"/>
              </a:rPr>
              <a:t>{</a:t>
            </a:r>
          </a:p>
          <a:p>
            <a:pPr marL="365760" indent="-256032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CA" sz="1700" dirty="0">
                <a:latin typeface="Consolas" panose="020B0609020204030204" pitchFamily="49" charset="0"/>
              </a:rPr>
              <a:t>   </a:t>
            </a:r>
            <a:r>
              <a:rPr lang="en-CA" sz="1700" dirty="0" err="1">
                <a:latin typeface="Consolas" panose="020B0609020204030204" pitchFamily="49" charset="0"/>
              </a:rPr>
              <a:t>Console.WriteLine</a:t>
            </a:r>
            <a:r>
              <a:rPr lang="en-CA" sz="1700" dirty="0">
                <a:latin typeface="Consolas" panose="020B0609020204030204" pitchFamily="49" charset="0"/>
              </a:rPr>
              <a:t>(“Row: ” + row);</a:t>
            </a:r>
          </a:p>
          <a:p>
            <a:pPr marL="365760" indent="-256032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endParaRPr lang="en-CA" sz="1700" dirty="0">
              <a:latin typeface="Consolas" panose="020B0609020204030204" pitchFamily="49" charset="0"/>
            </a:endParaRPr>
          </a:p>
          <a:p>
            <a:pPr marL="365760" indent="-256032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CA" sz="1700" dirty="0">
                <a:latin typeface="Consolas" panose="020B0609020204030204" pitchFamily="49" charset="0"/>
              </a:rPr>
              <a:t>   for (int column = 0; column &lt; 3; column++)</a:t>
            </a:r>
          </a:p>
          <a:p>
            <a:pPr marL="365760" indent="-256032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CA" sz="1700" dirty="0">
                <a:latin typeface="Consolas" panose="020B0609020204030204" pitchFamily="49" charset="0"/>
              </a:rPr>
              <a:t>   {</a:t>
            </a:r>
          </a:p>
          <a:p>
            <a:pPr marL="365760" indent="-256032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CA" sz="1700" dirty="0">
                <a:latin typeface="Consolas" panose="020B0609020204030204" pitchFamily="49" charset="0"/>
              </a:rPr>
              <a:t>      </a:t>
            </a:r>
            <a:r>
              <a:rPr lang="en-CA" sz="1700" dirty="0" err="1">
                <a:latin typeface="Consolas" panose="020B0609020204030204" pitchFamily="49" charset="0"/>
              </a:rPr>
              <a:t>Console.WriteLine</a:t>
            </a:r>
            <a:r>
              <a:rPr lang="en-CA" sz="1700" dirty="0">
                <a:latin typeface="Consolas" panose="020B0609020204030204" pitchFamily="49" charset="0"/>
              </a:rPr>
              <a:t>(“Column: ” + column + “ for Row: ” + row);</a:t>
            </a:r>
          </a:p>
          <a:p>
            <a:pPr marL="365760" indent="-256032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CA" sz="1700" dirty="0">
                <a:latin typeface="Consolas" panose="020B0609020204030204" pitchFamily="49" charset="0"/>
              </a:rPr>
              <a:t>   }</a:t>
            </a:r>
          </a:p>
          <a:p>
            <a:pPr marL="365760" indent="-256032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CA" sz="1700" dirty="0">
                <a:latin typeface="Consolas" panose="020B0609020204030204" pitchFamily="49" charset="0"/>
              </a:rPr>
              <a:t>		</a:t>
            </a:r>
          </a:p>
          <a:p>
            <a:pPr marL="365760" indent="-256032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CA" sz="1700" dirty="0">
                <a:latin typeface="Consolas" panose="020B0609020204030204" pitchFamily="49" charset="0"/>
              </a:rPr>
              <a:t>   </a:t>
            </a:r>
            <a:r>
              <a:rPr lang="en-CA" sz="1700" dirty="0" err="1">
                <a:latin typeface="Consolas" panose="020B0609020204030204" pitchFamily="49" charset="0"/>
              </a:rPr>
              <a:t>Console.WriteLine</a:t>
            </a:r>
            <a:r>
              <a:rPr lang="en-CA" sz="1700" dirty="0">
                <a:latin typeface="Consolas" panose="020B0609020204030204" pitchFamily="49" charset="0"/>
              </a:rPr>
              <a:t>(“Ending Row: ” + row);</a:t>
            </a:r>
          </a:p>
          <a:p>
            <a:pPr marL="365760" indent="-256032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CA" sz="17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D3FD42-6CD8-4AAE-B884-690419224ABE}"/>
              </a:ext>
            </a:extLst>
          </p:cNvPr>
          <p:cNvSpPr txBox="1"/>
          <p:nvPr/>
        </p:nvSpPr>
        <p:spPr>
          <a:xfrm>
            <a:off x="9205702" y="1916832"/>
            <a:ext cx="2592288" cy="378565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CA" sz="1600" dirty="0">
                <a:solidFill>
                  <a:schemeClr val="tx2"/>
                </a:solidFill>
                <a:latin typeface="Consolas" panose="020B0609020204030204" pitchFamily="49" charset="0"/>
              </a:rPr>
              <a:t>Row: 0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CA" sz="1600" dirty="0">
                <a:solidFill>
                  <a:schemeClr val="tx2"/>
                </a:solidFill>
                <a:latin typeface="Consolas" panose="020B0609020204030204" pitchFamily="49" charset="0"/>
              </a:rPr>
              <a:t>Column: 0 for Row: 0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CA" sz="1600" dirty="0">
                <a:solidFill>
                  <a:schemeClr val="tx2"/>
                </a:solidFill>
                <a:latin typeface="Consolas" panose="020B0609020204030204" pitchFamily="49" charset="0"/>
              </a:rPr>
              <a:t>Column: 1 for Row: 0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CA" sz="1600" dirty="0">
                <a:solidFill>
                  <a:schemeClr val="tx2"/>
                </a:solidFill>
                <a:latin typeface="Consolas" panose="020B0609020204030204" pitchFamily="49" charset="0"/>
              </a:rPr>
              <a:t>Column: 2 for Row: 0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CA" sz="1600" dirty="0">
                <a:solidFill>
                  <a:schemeClr val="tx2"/>
                </a:solidFill>
                <a:latin typeface="Consolas" panose="020B0609020204030204" pitchFamily="49" charset="0"/>
              </a:rPr>
              <a:t>Ending Row 0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CA" sz="1600" dirty="0">
                <a:solidFill>
                  <a:schemeClr val="tx2"/>
                </a:solidFill>
                <a:latin typeface="Consolas" panose="020B0609020204030204" pitchFamily="49" charset="0"/>
              </a:rPr>
              <a:t>Row: 1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CA" sz="1600" dirty="0">
                <a:solidFill>
                  <a:schemeClr val="tx2"/>
                </a:solidFill>
                <a:latin typeface="Consolas" panose="020B0609020204030204" pitchFamily="49" charset="0"/>
              </a:rPr>
              <a:t>Column: 0 for Row: 1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CA" sz="1600" dirty="0">
                <a:solidFill>
                  <a:schemeClr val="tx2"/>
                </a:solidFill>
                <a:latin typeface="Consolas" panose="020B0609020204030204" pitchFamily="49" charset="0"/>
              </a:rPr>
              <a:t>Column: 1 for Row: 1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CA" sz="1600" dirty="0">
                <a:solidFill>
                  <a:schemeClr val="tx2"/>
                </a:solidFill>
                <a:latin typeface="Consolas" panose="020B0609020204030204" pitchFamily="49" charset="0"/>
              </a:rPr>
              <a:t>Column: 2 for Row: 1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CA" sz="1600" dirty="0">
                <a:solidFill>
                  <a:schemeClr val="tx2"/>
                </a:solidFill>
                <a:latin typeface="Consolas" panose="020B0609020204030204" pitchFamily="49" charset="0"/>
              </a:rPr>
              <a:t>Ending Row 1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CA" sz="1600" dirty="0">
                <a:solidFill>
                  <a:schemeClr val="tx2"/>
                </a:solidFill>
                <a:latin typeface="Consolas" panose="020B0609020204030204" pitchFamily="49" charset="0"/>
              </a:rPr>
              <a:t>Row: 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CA" sz="1600" dirty="0">
                <a:solidFill>
                  <a:schemeClr val="tx2"/>
                </a:solidFill>
                <a:latin typeface="Consolas" panose="020B0609020204030204" pitchFamily="49" charset="0"/>
              </a:rPr>
              <a:t>Column: 0 for Row: 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CA" sz="1600" dirty="0">
                <a:solidFill>
                  <a:schemeClr val="tx2"/>
                </a:solidFill>
                <a:latin typeface="Consolas" panose="020B0609020204030204" pitchFamily="49" charset="0"/>
              </a:rPr>
              <a:t>Column: 1 for Row: 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CA" sz="1600" dirty="0">
                <a:solidFill>
                  <a:schemeClr val="tx2"/>
                </a:solidFill>
                <a:latin typeface="Consolas" panose="020B0609020204030204" pitchFamily="49" charset="0"/>
              </a:rPr>
              <a:t>Column: 2 for Row: 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CA" sz="1600" dirty="0">
                <a:solidFill>
                  <a:schemeClr val="tx2"/>
                </a:solidFill>
                <a:latin typeface="Consolas" panose="020B0609020204030204" pitchFamily="49" charset="0"/>
              </a:rPr>
              <a:t>Ending Row 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022A5C-26D6-4013-9750-F732073A4C02}"/>
              </a:ext>
            </a:extLst>
          </p:cNvPr>
          <p:cNvSpPr txBox="1"/>
          <p:nvPr/>
        </p:nvSpPr>
        <p:spPr>
          <a:xfrm>
            <a:off x="6410674" y="5930702"/>
            <a:ext cx="5590056" cy="70788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CA" sz="2000" dirty="0">
                <a:solidFill>
                  <a:srgbClr val="FFFF00"/>
                </a:solidFill>
              </a:rPr>
              <a:t>For each row, look at each column from left to right,</a:t>
            </a:r>
          </a:p>
          <a:p>
            <a:r>
              <a:rPr lang="en-CA" sz="2000" dirty="0">
                <a:solidFill>
                  <a:srgbClr val="FFFF00"/>
                </a:solidFill>
              </a:rPr>
              <a:t>then go on to the next row</a:t>
            </a:r>
          </a:p>
        </p:txBody>
      </p:sp>
    </p:spTree>
    <p:extLst>
      <p:ext uri="{BB962C8B-B14F-4D97-AF65-F5344CB8AC3E}">
        <p14:creationId xmlns:p14="http://schemas.microsoft.com/office/powerpoint/2010/main" val="900825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9854D-8C5F-4AC1-911D-436CA5D3E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Nesting Selection Statements Inside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65E5F-D83E-4F9B-9174-5CC1CDE0C6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dirty="0"/>
              <a:t>You can also put selection statements within loops in order to check something every repetition</a:t>
            </a:r>
          </a:p>
          <a:p>
            <a:endParaRPr lang="en-CA" dirty="0"/>
          </a:p>
          <a:p>
            <a:pPr eaLnBrk="1" hangingPunct="1">
              <a:lnSpc>
                <a:spcPct val="120000"/>
              </a:lnSpc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CA" altLang="en-US" sz="1800" dirty="0">
                <a:solidFill>
                  <a:srgbClr val="92D050"/>
                </a:solidFill>
                <a:latin typeface="Consolas" panose="020B0609020204030204" pitchFamily="49" charset="0"/>
              </a:rPr>
              <a:t>//Display all the numbers between -3 and 32 that are divisible by 5</a:t>
            </a:r>
          </a:p>
          <a:p>
            <a:pPr eaLnBrk="1" hangingPunct="1">
              <a:lnSpc>
                <a:spcPct val="120000"/>
              </a:lnSpc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CA" altLang="en-US" sz="1800" dirty="0">
                <a:latin typeface="Consolas" panose="020B0609020204030204" pitchFamily="49" charset="0"/>
              </a:rPr>
              <a:t>for (int number = -3; number &lt; 33; number++)</a:t>
            </a:r>
          </a:p>
          <a:p>
            <a:pPr eaLnBrk="1" hangingPunct="1">
              <a:lnSpc>
                <a:spcPct val="120000"/>
              </a:lnSpc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CA" altLang="en-US" sz="1800" dirty="0">
                <a:latin typeface="Consolas" panose="020B0609020204030204" pitchFamily="49" charset="0"/>
              </a:rPr>
              <a:t>{</a:t>
            </a:r>
          </a:p>
          <a:p>
            <a:pPr eaLnBrk="1" hangingPunct="1">
              <a:lnSpc>
                <a:spcPct val="120000"/>
              </a:lnSpc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CA" altLang="en-US" sz="1800" dirty="0">
                <a:solidFill>
                  <a:srgbClr val="00FF00"/>
                </a:solidFill>
                <a:latin typeface="Consolas" panose="020B0609020204030204" pitchFamily="49" charset="0"/>
              </a:rPr>
              <a:t>  </a:t>
            </a:r>
            <a:r>
              <a:rPr lang="en-CA" altLang="en-US" sz="1800" dirty="0">
                <a:solidFill>
                  <a:srgbClr val="92D050"/>
                </a:solidFill>
                <a:latin typeface="Consolas" panose="020B0609020204030204" pitchFamily="49" charset="0"/>
              </a:rPr>
              <a:t>//A remainder of 0 implies the number is evenly divisible by 5</a:t>
            </a:r>
          </a:p>
          <a:p>
            <a:pPr eaLnBrk="1" hangingPunct="1">
              <a:lnSpc>
                <a:spcPct val="120000"/>
              </a:lnSpc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CA" altLang="en-US" sz="1800" dirty="0">
                <a:latin typeface="Consolas" panose="020B0609020204030204" pitchFamily="49" charset="0"/>
              </a:rPr>
              <a:t>  if  (number % 5 == 0 ) </a:t>
            </a:r>
          </a:p>
          <a:p>
            <a:pPr eaLnBrk="1" hangingPunct="1">
              <a:lnSpc>
                <a:spcPct val="120000"/>
              </a:lnSpc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CA" altLang="en-US" sz="1800" dirty="0">
                <a:latin typeface="Consolas" panose="020B0609020204030204" pitchFamily="49" charset="0"/>
              </a:rPr>
              <a:t>  {</a:t>
            </a:r>
          </a:p>
          <a:p>
            <a:pPr eaLnBrk="1" hangingPunct="1">
              <a:lnSpc>
                <a:spcPct val="120000"/>
              </a:lnSpc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CA" altLang="en-US" sz="1800" dirty="0">
                <a:latin typeface="Consolas" panose="020B0609020204030204" pitchFamily="49" charset="0"/>
              </a:rPr>
              <a:t>    </a:t>
            </a:r>
            <a:r>
              <a:rPr lang="en-CA" altLang="en-US" sz="1800" dirty="0" err="1">
                <a:latin typeface="Consolas" panose="020B0609020204030204" pitchFamily="49" charset="0"/>
              </a:rPr>
              <a:t>Console.WriteLine</a:t>
            </a:r>
            <a:r>
              <a:rPr lang="en-CA" altLang="en-US" sz="1800" dirty="0">
                <a:latin typeface="Consolas" panose="020B0609020204030204" pitchFamily="49" charset="0"/>
              </a:rPr>
              <a:t>(number + “ is evenly divisible by 5”);</a:t>
            </a:r>
          </a:p>
          <a:p>
            <a:pPr eaLnBrk="1" hangingPunct="1">
              <a:lnSpc>
                <a:spcPct val="120000"/>
              </a:lnSpc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CA" altLang="en-US" sz="1800" dirty="0">
                <a:latin typeface="Consolas" panose="020B0609020204030204" pitchFamily="49" charset="0"/>
              </a:rPr>
              <a:t>  }</a:t>
            </a:r>
          </a:p>
          <a:p>
            <a:pPr eaLnBrk="1" hangingPunct="1">
              <a:lnSpc>
                <a:spcPct val="120000"/>
              </a:lnSpc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CA" altLang="en-US" sz="1800" dirty="0">
                <a:latin typeface="Consolas" panose="020B0609020204030204" pitchFamily="49" charset="0"/>
              </a:rPr>
              <a:t>}</a:t>
            </a:r>
            <a:endParaRPr lang="en-CA" sz="1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809E38-2F86-4D78-9190-BC9DFE48D5C9}"/>
              </a:ext>
            </a:extLst>
          </p:cNvPr>
          <p:cNvSpPr txBox="1"/>
          <p:nvPr/>
        </p:nvSpPr>
        <p:spPr>
          <a:xfrm>
            <a:off x="8974732" y="4766828"/>
            <a:ext cx="2868093" cy="160043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CA" sz="1400" dirty="0">
                <a:solidFill>
                  <a:schemeClr val="tx2"/>
                </a:solidFill>
                <a:latin typeface="Consolas" panose="020B0609020204030204" pitchFamily="49" charset="0"/>
              </a:rPr>
              <a:t>0 is evenly divisible by 5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CA" sz="1400" dirty="0">
                <a:solidFill>
                  <a:schemeClr val="tx2"/>
                </a:solidFill>
                <a:latin typeface="Consolas" panose="020B0609020204030204" pitchFamily="49" charset="0"/>
              </a:rPr>
              <a:t>5 is evenly divisible by 5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CA" sz="1400" dirty="0">
                <a:solidFill>
                  <a:schemeClr val="tx2"/>
                </a:solidFill>
                <a:latin typeface="Consolas" panose="020B0609020204030204" pitchFamily="49" charset="0"/>
              </a:rPr>
              <a:t>10 is evenly divisible by 5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CA" sz="1400" dirty="0">
                <a:solidFill>
                  <a:schemeClr val="tx2"/>
                </a:solidFill>
                <a:latin typeface="Consolas" panose="020B0609020204030204" pitchFamily="49" charset="0"/>
              </a:rPr>
              <a:t>15 is evenly divisible by 5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CA" sz="1400" dirty="0">
                <a:solidFill>
                  <a:schemeClr val="tx2"/>
                </a:solidFill>
                <a:latin typeface="Consolas" panose="020B0609020204030204" pitchFamily="49" charset="0"/>
              </a:rPr>
              <a:t>20 is evenly divisible by 5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CA" sz="1400" dirty="0">
                <a:solidFill>
                  <a:schemeClr val="tx2"/>
                </a:solidFill>
                <a:latin typeface="Consolas" panose="020B0609020204030204" pitchFamily="49" charset="0"/>
              </a:rPr>
              <a:t>25 is evenly divisible by 5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CA" sz="1400" dirty="0">
                <a:solidFill>
                  <a:schemeClr val="tx2"/>
                </a:solidFill>
                <a:latin typeface="Consolas" panose="020B0609020204030204" pitchFamily="49" charset="0"/>
              </a:rPr>
              <a:t>30 is evenly divisible by 5</a:t>
            </a:r>
          </a:p>
        </p:txBody>
      </p:sp>
    </p:spTree>
    <p:extLst>
      <p:ext uri="{BB962C8B-B14F-4D97-AF65-F5344CB8AC3E}">
        <p14:creationId xmlns:p14="http://schemas.microsoft.com/office/powerpoint/2010/main" val="393304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theme/theme1.xml><?xml version="1.0" encoding="utf-8"?>
<a:theme xmlns:a="http://schemas.openxmlformats.org/drawingml/2006/main" name="Tech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2787990.potx" id="{BDB9CD5E-36EC-45F3-B87D-6D062B8A3823}" vid="{51682E2F-7C85-4D6F-AD40-072EFC83910D}"/>
    </a:ext>
  </a:extLst>
</a:theme>
</file>

<file path=ppt/theme/theme2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Props1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0C67BEE-D13F-4BD2-98A5-34D8A0977F68}">
  <ds:schemaRefs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402</TotalTime>
  <Words>1124</Words>
  <Application>Microsoft Office PowerPoint</Application>
  <PresentationFormat>Custom</PresentationFormat>
  <Paragraphs>177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Consolas</vt:lpstr>
      <vt:lpstr>Georgia</vt:lpstr>
      <vt:lpstr>Tech 16x9</vt:lpstr>
      <vt:lpstr>Loops</vt:lpstr>
      <vt:lpstr>Objectives</vt:lpstr>
      <vt:lpstr>Loops with Arrays</vt:lpstr>
      <vt:lpstr>Loops with Arrays</vt:lpstr>
      <vt:lpstr>Loops with Arrays</vt:lpstr>
      <vt:lpstr>Loops with Arrays Application:</vt:lpstr>
      <vt:lpstr>Nested Loops</vt:lpstr>
      <vt:lpstr>Nesting: Let’s start with a logic test</vt:lpstr>
      <vt:lpstr>Nested Loops</vt:lpstr>
      <vt:lpstr>Nesting Selection Statements Inside Loops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Loops</dc:title>
  <dc:creator>Trevor Lane</dc:creator>
  <cp:lastModifiedBy>Lane, Trevor</cp:lastModifiedBy>
  <cp:revision>30</cp:revision>
  <dcterms:created xsi:type="dcterms:W3CDTF">2020-11-22T15:43:15Z</dcterms:created>
  <dcterms:modified xsi:type="dcterms:W3CDTF">2022-12-06T05:14:24Z</dcterms:modified>
</cp:coreProperties>
</file>