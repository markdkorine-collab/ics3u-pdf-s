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59" r:id="rId7"/>
    <p:sldId id="260" r:id="rId8"/>
    <p:sldId id="261" r:id="rId9"/>
    <p:sldId id="268" r:id="rId10"/>
    <p:sldId id="262" r:id="rId11"/>
    <p:sldId id="267" r:id="rId12"/>
    <p:sldId id="265" r:id="rId13"/>
    <p:sldId id="266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09" d="100"/>
          <a:sy n="109" d="100"/>
        </p:scale>
        <p:origin x="114" y="60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9/25/2026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9/25/2026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Libraries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Random Numbers, Math Utilities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AC45-FA46-44BC-AFB0-73E563D4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Random Number Generation (RNG)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0F084-6086-4891-B25B-E10C33285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Generating a random number is an extremely common operation whenever chance is needed.</a:t>
            </a:r>
          </a:p>
          <a:p>
            <a:r>
              <a:rPr lang="en-CA" dirty="0"/>
              <a:t>This may be when determining who goes first in a board game, or drawing a card from a deck</a:t>
            </a:r>
          </a:p>
          <a:p>
            <a:endParaRPr lang="en-CA" dirty="0"/>
          </a:p>
          <a:p>
            <a:r>
              <a:rPr lang="en-CA" dirty="0"/>
              <a:t>To generate random numbers we will need another object, the Random object</a:t>
            </a:r>
          </a:p>
        </p:txBody>
      </p:sp>
    </p:spTree>
    <p:extLst>
      <p:ext uri="{BB962C8B-B14F-4D97-AF65-F5344CB8AC3E}">
        <p14:creationId xmlns:p14="http://schemas.microsoft.com/office/powerpoint/2010/main" val="408810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941E-5A97-4E2D-8039-5D63EA8E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Random Number Generation – The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C04A7-8E6D-4154-8DDF-E77B7D8E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196752"/>
            <a:ext cx="11017223" cy="5256583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Step 1)</a:t>
            </a:r>
            <a:r>
              <a:rPr lang="en-CA" dirty="0"/>
              <a:t> Create a GLOBAL variable that will act as our tool to generate the numbers, it is a “Random” object, which we will name rng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static Random rng = new Random();</a:t>
            </a:r>
          </a:p>
          <a:p>
            <a:r>
              <a:rPr lang="en-CA" b="1" dirty="0">
                <a:solidFill>
                  <a:srgbClr val="00B050"/>
                </a:solidFill>
              </a:rPr>
              <a:t>Step 2)</a:t>
            </a:r>
            <a:r>
              <a:rPr lang="en-CA" dirty="0"/>
              <a:t> Create int variables to store your random numbers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int randomNum;</a:t>
            </a:r>
          </a:p>
          <a:p>
            <a:r>
              <a:rPr lang="en-CA" b="1" dirty="0">
                <a:solidFill>
                  <a:srgbClr val="00B050"/>
                </a:solidFill>
              </a:rPr>
              <a:t>Step 3)</a:t>
            </a:r>
            <a:r>
              <a:rPr lang="en-CA" dirty="0"/>
              <a:t> Whenever you need a random number, we will use the Next() method on the rng object and store the result in a variable</a:t>
            </a:r>
          </a:p>
          <a:p>
            <a:pPr lvl="1"/>
            <a:r>
              <a:rPr lang="en-CA" dirty="0"/>
              <a:t>We also need to supply a minimum and maximum value.</a:t>
            </a:r>
          </a:p>
          <a:p>
            <a:pPr lvl="1"/>
            <a:r>
              <a:rPr lang="en-CA" dirty="0"/>
              <a:t>However, we need to add 1 to the maximum value we want.  E.g. for 10 we use 11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randomNum = rng.Next(1,11);</a:t>
            </a:r>
          </a:p>
        </p:txBody>
      </p:sp>
    </p:spTree>
    <p:extLst>
      <p:ext uri="{BB962C8B-B14F-4D97-AF65-F5344CB8AC3E}">
        <p14:creationId xmlns:p14="http://schemas.microsoft.com/office/powerpoint/2010/main" val="37711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76F4-1035-4568-921D-ECEF9123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Program: RNG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B9E03-982D-4627-BA2E-C4D3A7006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using System;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class </a:t>
            </a:r>
            <a:r>
              <a:rPr lang="en-CA" sz="1800" dirty="0" err="1">
                <a:latin typeface="Consolas" panose="020B0609020204030204" pitchFamily="49" charset="0"/>
              </a:rPr>
              <a:t>MainClass</a:t>
            </a: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static Random rng = new Random();</a:t>
            </a:r>
          </a:p>
          <a:p>
            <a:pPr marL="0" indent="0"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public static void Main(string[] </a:t>
            </a:r>
            <a:r>
              <a:rPr lang="en-CA" sz="1800" dirty="0" err="1">
                <a:latin typeface="Consolas" panose="020B0609020204030204" pitchFamily="49" charset="0"/>
              </a:rPr>
              <a:t>args</a:t>
            </a:r>
            <a:r>
              <a:rPr lang="en-CA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int randomNum;</a:t>
            </a:r>
          </a:p>
          <a:p>
            <a:pPr marL="0" indent="0"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</a:t>
            </a:r>
            <a:r>
              <a:rPr lang="en-CA" sz="1800" dirty="0">
                <a:solidFill>
                  <a:srgbClr val="92D050"/>
                </a:solidFill>
                <a:latin typeface="Consolas" panose="020B0609020204030204" pitchFamily="49" charset="0"/>
              </a:rPr>
              <a:t>//Generate a random number from 1 to 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  randomNum = rng.Next(1,11);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398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AA6D-CD92-4454-9CD2-12AEEC246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Math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2AF76-EA86-4CBF-9D42-68782F2B6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Math is another Object similar to Console and Convert.  Meaning, unlike Random, we can just use it by calling its name</a:t>
            </a:r>
          </a:p>
          <a:p>
            <a:r>
              <a:rPr lang="en-CA" dirty="0"/>
              <a:t>The Math object is a library of data and functionality</a:t>
            </a:r>
          </a:p>
          <a:p>
            <a:endParaRPr lang="en-CA" dirty="0"/>
          </a:p>
          <a:p>
            <a:r>
              <a:rPr lang="en-CA" dirty="0"/>
              <a:t>Data: it has important constants that we can use simply by stating their identifier</a:t>
            </a:r>
          </a:p>
          <a:p>
            <a:r>
              <a:rPr lang="en-CA" dirty="0"/>
              <a:t>Example, using </a:t>
            </a:r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Math.PI</a:t>
            </a:r>
            <a:r>
              <a:rPr lang="en-CA" dirty="0"/>
              <a:t> in our code will result in the value of pi to 15 </a:t>
            </a:r>
            <a:r>
              <a:rPr lang="en-CA" dirty="0" smtClean="0"/>
              <a:t>digits</a:t>
            </a:r>
          </a:p>
        </p:txBody>
      </p:sp>
    </p:spTree>
    <p:extLst>
      <p:ext uri="{BB962C8B-B14F-4D97-AF65-F5344CB8AC3E}">
        <p14:creationId xmlns:p14="http://schemas.microsoft.com/office/powerpoint/2010/main" val="138669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Math Method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Round</a:t>
            </a:r>
            <a:r>
              <a:rPr lang="en-US" dirty="0" smtClean="0"/>
              <a:t>: Banker’s rule rounds a given number to specified number of decimals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Ceiling</a:t>
            </a:r>
            <a:r>
              <a:rPr lang="en-US" dirty="0" smtClean="0"/>
              <a:t>: Rounds a given number up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Floor</a:t>
            </a:r>
            <a:r>
              <a:rPr lang="en-US" dirty="0" smtClean="0"/>
              <a:t>: Rounds a given number down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Pow</a:t>
            </a:r>
            <a:r>
              <a:rPr lang="en-US" dirty="0" smtClean="0"/>
              <a:t>: Calculates the Power of a given base and exponent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Abs</a:t>
            </a:r>
            <a:r>
              <a:rPr lang="en-US" dirty="0" smtClean="0"/>
              <a:t>: Calculates the Absolute Value (positive value) of a given number</a:t>
            </a:r>
          </a:p>
          <a:p>
            <a:r>
              <a:rPr lang="en-US" dirty="0" err="1" smtClean="0">
                <a:solidFill>
                  <a:srgbClr val="FFFF00"/>
                </a:solidFill>
              </a:rPr>
              <a:t>Sqrt</a:t>
            </a:r>
            <a:r>
              <a:rPr lang="en-US" dirty="0" smtClean="0"/>
              <a:t>: Calculates the square root of given number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Max</a:t>
            </a:r>
            <a:r>
              <a:rPr lang="en-US" dirty="0" smtClean="0"/>
              <a:t>: Determines the Maximum (largest) value from two numbers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Min</a:t>
            </a:r>
            <a:r>
              <a:rPr lang="en-US" dirty="0" smtClean="0"/>
              <a:t>: Determines the Minimum (smallest) value from two numbers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Sin</a:t>
            </a:r>
            <a:r>
              <a:rPr lang="en-US" dirty="0" smtClean="0"/>
              <a:t>/</a:t>
            </a:r>
            <a:r>
              <a:rPr lang="en-US" dirty="0" smtClean="0">
                <a:solidFill>
                  <a:srgbClr val="FFFF00"/>
                </a:solidFill>
              </a:rPr>
              <a:t>Cos</a:t>
            </a:r>
            <a:r>
              <a:rPr lang="en-US" dirty="0" smtClean="0"/>
              <a:t>/</a:t>
            </a:r>
            <a:r>
              <a:rPr lang="en-US" dirty="0" smtClean="0">
                <a:solidFill>
                  <a:srgbClr val="FFFF00"/>
                </a:solidFill>
              </a:rPr>
              <a:t>Tan</a:t>
            </a:r>
            <a:r>
              <a:rPr lang="en-US" dirty="0" smtClean="0"/>
              <a:t>/</a:t>
            </a:r>
            <a:r>
              <a:rPr lang="en-US" dirty="0" err="1" smtClean="0">
                <a:solidFill>
                  <a:srgbClr val="FFFF00"/>
                </a:solidFill>
              </a:rPr>
              <a:t>Asin</a:t>
            </a:r>
            <a:r>
              <a:rPr lang="en-US" dirty="0" smtClean="0"/>
              <a:t>/</a:t>
            </a:r>
            <a:r>
              <a:rPr lang="en-US" dirty="0" err="1" smtClean="0">
                <a:solidFill>
                  <a:srgbClr val="FFFF00"/>
                </a:solidFill>
              </a:rPr>
              <a:t>Acos</a:t>
            </a:r>
            <a:r>
              <a:rPr lang="en-US" dirty="0" smtClean="0"/>
              <a:t>/</a:t>
            </a:r>
            <a:r>
              <a:rPr lang="en-US" dirty="0" err="1" smtClean="0">
                <a:solidFill>
                  <a:srgbClr val="FFFF00"/>
                </a:solidFill>
              </a:rPr>
              <a:t>Atan</a:t>
            </a:r>
            <a:r>
              <a:rPr lang="en-US" dirty="0" smtClean="0"/>
              <a:t>/</a:t>
            </a:r>
            <a:r>
              <a:rPr lang="en-US" dirty="0" smtClean="0">
                <a:solidFill>
                  <a:srgbClr val="FFFF00"/>
                </a:solidFill>
              </a:rPr>
              <a:t>Atan2</a:t>
            </a:r>
            <a:r>
              <a:rPr lang="en-US" dirty="0" smtClean="0"/>
              <a:t>: Determines the trigonometric value of a given radian angle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Sign</a:t>
            </a:r>
            <a:r>
              <a:rPr lang="en-US" dirty="0" smtClean="0"/>
              <a:t>: Determines the sign (positive or negative) of a given number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Clamp</a:t>
            </a:r>
            <a:r>
              <a:rPr lang="en-US" dirty="0" smtClean="0"/>
              <a:t>: Forces a given number within a specified range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83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7A41-FA97-4127-95C6-CC5EBDE8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260648"/>
            <a:ext cx="10360501" cy="634083"/>
          </a:xfrm>
        </p:spPr>
        <p:txBody>
          <a:bodyPr/>
          <a:lstStyle/>
          <a:p>
            <a:r>
              <a:rPr lang="en-CA" dirty="0"/>
              <a:t>Math </a:t>
            </a:r>
            <a:r>
              <a:rPr lang="en-CA" dirty="0" err="1"/>
              <a:t>Behavoiurs</a:t>
            </a:r>
            <a:r>
              <a:rPr lang="en-CA" dirty="0"/>
              <a:t> (Methods) – See video for </a:t>
            </a:r>
            <a:r>
              <a:rPr lang="en-CA" dirty="0" smtClean="0"/>
              <a:t>examples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CC20-6765-4FE1-AEE6-F74F3C9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3" y="1124744"/>
            <a:ext cx="10801200" cy="5472608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Assume the following variables exist for all below example code:</a:t>
            </a:r>
          </a:p>
          <a:p>
            <a:pPr lvl="1"/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double number = 8.576;</a:t>
            </a:r>
          </a:p>
          <a:p>
            <a:pPr lvl="1"/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double result;</a:t>
            </a:r>
            <a:r>
              <a:rPr lang="en-CA" sz="2100" dirty="0">
                <a:latin typeface="Consolas" panose="020B0609020204030204" pitchFamily="49" charset="0"/>
              </a:rPr>
              <a:t>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Used to store changed value if you do NOT want to overwrite the original variable</a:t>
            </a:r>
            <a:endParaRPr lang="en-US" sz="1800" dirty="0">
              <a:solidFill>
                <a:srgbClr val="FFFF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lvl="1"/>
            <a:endParaRPr lang="en-US" sz="2000" b="0" dirty="0" smtClean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Round</a:t>
            </a:r>
            <a:r>
              <a:rPr lang="en-US" sz="24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a specific number of decimal places</a:t>
            </a:r>
          </a:p>
          <a:p>
            <a:pPr lvl="1"/>
            <a:r>
              <a:rPr lang="en-US" sz="20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Math.Round</a:t>
            </a:r>
            <a:r>
              <a:rPr lang="en-US" sz="20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20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 smtClean="0">
                <a:latin typeface="Consolas" panose="020B0609020204030204" pitchFamily="49" charset="0"/>
              </a:rPr>
              <a:t>: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returns a double rounded to a whole number (banker’s rule)</a:t>
            </a:r>
          </a:p>
          <a:p>
            <a:pPr marL="377886" lvl="1" indent="0">
              <a:buNone/>
            </a:pP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	result = </a:t>
            </a:r>
            <a:r>
              <a:rPr lang="en-US" sz="20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Math.Round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(number);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8.0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Math.Round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(double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numDecimals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returns a double rounded to the specified numbe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 of decimals</a:t>
            </a:r>
          </a:p>
          <a:p>
            <a:pPr marL="377886" lvl="1" indent="0">
              <a:buNone/>
            </a:pP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	result = </a:t>
            </a:r>
            <a:r>
              <a:rPr lang="en-US" sz="20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Math.Round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(number, 2);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8.58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</a:p>
          <a:p>
            <a:pPr marL="377886" lvl="1" indent="0">
              <a:buNone/>
            </a:pPr>
            <a:endParaRPr lang="en-US" sz="2000" dirty="0" smtClean="0">
              <a:latin typeface="Consolas" panose="020B0609020204030204" pitchFamily="49" charset="0"/>
            </a:endParaRPr>
          </a:p>
          <a:p>
            <a:r>
              <a:rPr lang="en-US" sz="24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Round Up</a:t>
            </a:r>
            <a:r>
              <a:rPr lang="en-US" sz="24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the nearest whole number</a:t>
            </a:r>
            <a:endParaRPr lang="en-US" sz="2400" b="0" baseline="30000" dirty="0" smtClean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Math.Ceiling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(double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returns a double rounded up to the nearest whole number</a:t>
            </a:r>
          </a:p>
          <a:p>
            <a:pPr marL="377886" lvl="1" indent="0">
              <a:buNone/>
            </a:pPr>
            <a:r>
              <a:rPr lang="en-US" sz="20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	result = </a:t>
            </a:r>
            <a:r>
              <a:rPr lang="en-US" sz="2000" b="0" dirty="0" err="1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Math.Ceiling</a:t>
            </a:r>
            <a:r>
              <a:rPr lang="en-US" sz="20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(number);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0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9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</a:p>
          <a:p>
            <a:pPr marL="377886" lvl="1" indent="0">
              <a:buNone/>
            </a:pPr>
            <a:endParaRPr lang="en-US" sz="2000" b="0" dirty="0" smtClean="0"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Round </a:t>
            </a:r>
            <a:r>
              <a:rPr lang="en-US" sz="24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the nearest whole number</a:t>
            </a:r>
            <a:endParaRPr lang="en-US" sz="2400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Math.Floor</a:t>
            </a:r>
            <a:r>
              <a:rPr lang="en-US" sz="20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returns a double rounded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down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the nearest whole number</a:t>
            </a:r>
          </a:p>
          <a:p>
            <a:pPr marL="377886" lvl="1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	result = </a:t>
            </a:r>
            <a:r>
              <a:rPr lang="en-US" sz="20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Math.Floor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(number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8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 result</a:t>
            </a:r>
          </a:p>
        </p:txBody>
      </p:sp>
    </p:spTree>
    <p:extLst>
      <p:ext uri="{BB962C8B-B14F-4D97-AF65-F5344CB8AC3E}">
        <p14:creationId xmlns:p14="http://schemas.microsoft.com/office/powerpoint/2010/main" val="338791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7A41-FA97-4127-95C6-CC5EBDE8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490661"/>
            <a:ext cx="10360501" cy="634083"/>
          </a:xfrm>
        </p:spPr>
        <p:txBody>
          <a:bodyPr/>
          <a:lstStyle/>
          <a:p>
            <a:r>
              <a:rPr lang="en-CA" dirty="0"/>
              <a:t>Math </a:t>
            </a:r>
            <a:r>
              <a:rPr lang="en-CA" dirty="0" err="1"/>
              <a:t>Behavoiurs</a:t>
            </a:r>
            <a:r>
              <a:rPr lang="en-CA" dirty="0"/>
              <a:t> (Methods) – See video for </a:t>
            </a:r>
            <a:r>
              <a:rPr lang="en-CA" dirty="0" smtClean="0"/>
              <a:t>examples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CC20-6765-4FE1-AEE6-F74F3C9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412776"/>
            <a:ext cx="10801200" cy="5040560"/>
          </a:xfrm>
        </p:spPr>
        <p:txBody>
          <a:bodyPr>
            <a:normAutofit fontScale="77500" lnSpcReduction="20000"/>
          </a:bodyPr>
          <a:lstStyle/>
          <a:p>
            <a:r>
              <a:rPr lang="en-CA" sz="2500" dirty="0"/>
              <a:t>Assume the following variables exist for all below example code:</a:t>
            </a:r>
          </a:p>
          <a:p>
            <a:pPr lvl="1"/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double number = 8.576;</a:t>
            </a:r>
          </a:p>
          <a:p>
            <a:pPr lvl="1"/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double result;</a:t>
            </a:r>
            <a:r>
              <a:rPr lang="en-CA" sz="2100" dirty="0">
                <a:latin typeface="Consolas" panose="020B0609020204030204" pitchFamily="49" charset="0"/>
              </a:rPr>
              <a:t>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Used to store changed value if you do NOT want to overwrite the original variable</a:t>
            </a:r>
            <a:endParaRPr lang="en-US" sz="1800" dirty="0">
              <a:solidFill>
                <a:srgbClr val="FFFF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lvl="1"/>
            <a:endParaRPr lang="en-US" sz="2000" b="0" dirty="0" smtClean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Calculate a </a:t>
            </a:r>
            <a:r>
              <a:rPr lang="en-US" sz="24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n-US" sz="24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a given base to a raised exponent (base)</a:t>
            </a:r>
            <a:r>
              <a:rPr lang="en-US" sz="2400" b="0" baseline="3000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exponent</a:t>
            </a:r>
          </a:p>
          <a:p>
            <a:pPr lvl="1"/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Math.Pow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(double base, double exponent)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returns a double result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 (base)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exponent</a:t>
            </a:r>
            <a:endParaRPr lang="en-US" sz="2000" b="0" dirty="0" smtClean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7886" lvl="1" indent="0">
              <a:buNone/>
            </a:pPr>
            <a:r>
              <a:rPr lang="en-US" sz="20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	result = </a:t>
            </a:r>
            <a:r>
              <a:rPr lang="en-US" sz="2000" b="0" dirty="0" err="1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Math.Pow</a:t>
            </a:r>
            <a:r>
              <a:rPr lang="en-US" sz="20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(3, 2);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0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9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</a:p>
          <a:p>
            <a:pPr marL="377886" lvl="1" indent="0">
              <a:buNone/>
            </a:pPr>
            <a:endParaRPr lang="en-US" sz="2000" b="0" dirty="0" smtClean="0">
              <a:effectLst/>
              <a:latin typeface="Consolas" panose="020B0609020204030204" pitchFamily="49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Determine the </a:t>
            </a:r>
            <a:r>
              <a:rPr lang="en-US" sz="24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Absolute Value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of a given number (the positive value of number)</a:t>
            </a:r>
          </a:p>
          <a:p>
            <a:pPr lvl="1"/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Math.Abs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(double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 OR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Math.Abs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000" b="0" dirty="0" smtClean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 smtClean="0"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returns the positive value of </a:t>
            </a:r>
            <a:r>
              <a:rPr lang="en-US" sz="2000" b="0" dirty="0" err="1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20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the given data type</a:t>
            </a:r>
          </a:p>
          <a:p>
            <a:pPr marL="377886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result = </a:t>
            </a:r>
            <a:r>
              <a:rPr lang="en-US" sz="20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Math.Abs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(-17.2);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17.2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</a:p>
          <a:p>
            <a:pPr marL="377886" lvl="1" indent="0">
              <a:buNone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Determine the </a:t>
            </a:r>
            <a:r>
              <a:rPr lang="en-US" sz="25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Root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of a given number</a:t>
            </a:r>
          </a:p>
          <a:p>
            <a:pPr lvl="1"/>
            <a:r>
              <a:rPr lang="en-US" sz="2100" dirty="0" err="1">
                <a:solidFill>
                  <a:srgbClr val="92D050"/>
                </a:solidFill>
                <a:latin typeface="Consolas" panose="020B0609020204030204" pitchFamily="49" charset="0"/>
              </a:rPr>
              <a:t>Math.Sqrt</a:t>
            </a:r>
            <a:r>
              <a:rPr lang="en-US" sz="2100" dirty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2100" dirty="0" err="1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2100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2100" dirty="0">
                <a:latin typeface="Consolas" panose="020B0609020204030204" pitchFamily="49" charset="0"/>
              </a:rPr>
              <a:t>: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returns a double</a:t>
            </a:r>
          </a:p>
          <a:p>
            <a:pPr marL="377886" lvl="1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	</a:t>
            </a:r>
            <a:r>
              <a:rPr lang="en-US" sz="2100" dirty="0">
                <a:solidFill>
                  <a:srgbClr val="00B0F0"/>
                </a:solidFill>
                <a:latin typeface="Consolas" panose="020B0609020204030204" pitchFamily="49" charset="0"/>
              </a:rPr>
              <a:t>result = </a:t>
            </a:r>
            <a:r>
              <a:rPr lang="en-US" sz="2100" dirty="0" err="1">
                <a:solidFill>
                  <a:srgbClr val="00B0F0"/>
                </a:solidFill>
                <a:latin typeface="Consolas" panose="020B0609020204030204" pitchFamily="49" charset="0"/>
              </a:rPr>
              <a:t>Math.Sqrt</a:t>
            </a:r>
            <a:r>
              <a:rPr lang="en-US" sz="2100" dirty="0">
                <a:solidFill>
                  <a:srgbClr val="00B0F0"/>
                </a:solidFill>
                <a:latin typeface="Consolas" panose="020B0609020204030204" pitchFamily="49" charset="0"/>
              </a:rPr>
              <a:t>(number);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2.9284808348357005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in result</a:t>
            </a:r>
            <a:endParaRPr lang="en-US" sz="2100" b="0" dirty="0" smtClean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92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7A41-FA97-4127-95C6-CC5EBDE8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490661"/>
            <a:ext cx="10360501" cy="634083"/>
          </a:xfrm>
        </p:spPr>
        <p:txBody>
          <a:bodyPr/>
          <a:lstStyle/>
          <a:p>
            <a:r>
              <a:rPr lang="en-CA" dirty="0"/>
              <a:t>Math </a:t>
            </a:r>
            <a:r>
              <a:rPr lang="en-CA" dirty="0" err="1"/>
              <a:t>Behavoiurs</a:t>
            </a:r>
            <a:r>
              <a:rPr lang="en-CA" dirty="0"/>
              <a:t> (Methods) – See video for </a:t>
            </a:r>
            <a:r>
              <a:rPr lang="en-CA" dirty="0" smtClean="0"/>
              <a:t>examples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CC20-6765-4FE1-AEE6-F74F3C9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3" y="1268760"/>
            <a:ext cx="10801200" cy="5256584"/>
          </a:xfrm>
        </p:spPr>
        <p:txBody>
          <a:bodyPr>
            <a:normAutofit/>
          </a:bodyPr>
          <a:lstStyle/>
          <a:p>
            <a:r>
              <a:rPr lang="en-CA" sz="2200" dirty="0"/>
              <a:t>Assume the following variables </a:t>
            </a:r>
            <a:r>
              <a:rPr lang="en-CA" sz="2200" dirty="0" smtClean="0"/>
              <a:t>exist for all below example code:</a:t>
            </a:r>
          </a:p>
          <a:p>
            <a:pPr lvl="1"/>
            <a:r>
              <a:rPr lang="en-CA" sz="16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double number = 8.576;</a:t>
            </a:r>
          </a:p>
          <a:p>
            <a:pPr lvl="1"/>
            <a:r>
              <a:rPr lang="en-CA" sz="16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double result;</a:t>
            </a:r>
            <a:r>
              <a:rPr lang="en-CA" sz="1600" dirty="0" smtClean="0">
                <a:latin typeface="Consolas" panose="020B0609020204030204" pitchFamily="49" charset="0"/>
              </a:rPr>
              <a:t> </a:t>
            </a:r>
            <a:r>
              <a:rPr lang="en-CA" sz="1400" dirty="0" smtClean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Used to store changed value if you do NOT want to overwrite the original variable</a:t>
            </a:r>
            <a:endParaRPr lang="en-US" sz="1400" dirty="0">
              <a:solidFill>
                <a:srgbClr val="FFFF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377886" lvl="1" indent="0">
              <a:buNone/>
            </a:pPr>
            <a:endParaRPr lang="en-US" sz="1500" b="0" dirty="0" smtClean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0" dirty="0" smtClean="0">
                <a:effectLst/>
                <a:latin typeface="Consolas" panose="020B0609020204030204" pitchFamily="49" charset="0"/>
              </a:rPr>
              <a:t>Find the 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en-US" sz="1800" b="0" dirty="0" smtClean="0"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largest</a:t>
            </a:r>
            <a:r>
              <a:rPr lang="en-US" sz="1800" b="0" dirty="0" smtClean="0">
                <a:effectLst/>
                <a:latin typeface="Consolas" panose="020B0609020204030204" pitchFamily="49" charset="0"/>
              </a:rPr>
              <a:t>) value of two given numbers</a:t>
            </a:r>
          </a:p>
          <a:p>
            <a:pPr lvl="1"/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Math.Max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 num1, </a:t>
            </a:r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 num2)</a:t>
            </a:r>
            <a:r>
              <a:rPr lang="en-US" sz="1500" dirty="0" smtClean="0">
                <a:latin typeface="Consolas" panose="020B0609020204030204" pitchFamily="49" charset="0"/>
              </a:rPr>
              <a:t>: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returns the maximum value of num1 and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num2 as an </a:t>
            </a:r>
            <a:r>
              <a:rPr lang="en-US" sz="15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endParaRPr lang="en-US" sz="1500" dirty="0" smtClean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Math.Max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num1, double num2)</a:t>
            </a:r>
            <a:r>
              <a:rPr lang="en-US" sz="1500" dirty="0" smtClean="0">
                <a:latin typeface="Consolas" panose="020B0609020204030204" pitchFamily="49" charset="0"/>
              </a:rPr>
              <a:t>: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returns the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maximum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value of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num1 and num2 as a double</a:t>
            </a:r>
            <a:endParaRPr lang="en-US" sz="1500" dirty="0" smtClean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7886" lvl="1" indent="0">
              <a:buNone/>
            </a:pPr>
            <a:r>
              <a:rPr lang="en-US" sz="1500" b="0" dirty="0">
                <a:effectLst/>
                <a:latin typeface="Consolas" panose="020B0609020204030204" pitchFamily="49" charset="0"/>
              </a:rPr>
              <a:t>	</a:t>
            </a:r>
            <a:r>
              <a:rPr lang="en-US" sz="15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lang="en-US" sz="1500" b="0" dirty="0" err="1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Math.Max</a:t>
            </a:r>
            <a:r>
              <a:rPr lang="en-US" sz="15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(3.7, 9.2); </a:t>
            </a:r>
            <a:r>
              <a:rPr lang="en-US" sz="15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15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9.2</a:t>
            </a:r>
            <a:r>
              <a:rPr lang="en-US" sz="15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</a:p>
          <a:p>
            <a:pPr marL="377886" lvl="1" indent="0">
              <a:buNone/>
            </a:pPr>
            <a:endParaRPr lang="en-US" sz="1500" b="0" dirty="0" smtClean="0"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Find the </a:t>
            </a:r>
            <a:r>
              <a:rPr lang="en-US" sz="18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8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smallest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value of two given numbers</a:t>
            </a:r>
          </a:p>
          <a:p>
            <a:pPr lvl="1"/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Math.Min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92D050"/>
                </a:solidFill>
                <a:latin typeface="Consolas" panose="020B0609020204030204" pitchFamily="49" charset="0"/>
              </a:rPr>
              <a:t>num1, </a:t>
            </a:r>
            <a:r>
              <a:rPr lang="en-US" sz="1500" dirty="0" err="1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num2)</a:t>
            </a:r>
            <a:r>
              <a:rPr lang="en-US" sz="1500" dirty="0" smtClean="0">
                <a:latin typeface="Consolas" panose="020B0609020204030204" pitchFamily="49" charset="0"/>
              </a:rPr>
              <a:t>: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returns the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minimum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value of num1 and num2 as an </a:t>
            </a:r>
            <a:r>
              <a:rPr lang="en-US" sz="15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endParaRPr lang="en-US" sz="1500" dirty="0" smtClean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Math.Min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1500" dirty="0">
                <a:solidFill>
                  <a:srgbClr val="92D050"/>
                </a:solidFill>
                <a:latin typeface="Consolas" panose="020B0609020204030204" pitchFamily="49" charset="0"/>
              </a:rPr>
              <a:t>num1, double num2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1500" dirty="0" smtClean="0">
                <a:latin typeface="Consolas" panose="020B0609020204030204" pitchFamily="49" charset="0"/>
              </a:rPr>
              <a:t>: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returns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</a:rPr>
              <a:t>minimum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value of num1 and num2 as a double</a:t>
            </a:r>
            <a:endParaRPr lang="en-US" sz="1500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7886" lvl="1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result = </a:t>
            </a:r>
            <a:r>
              <a:rPr lang="en-US" sz="15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Math.Min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(3.7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, 9.2);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15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3.7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result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7886" lvl="1" indent="0">
              <a:buNone/>
            </a:pPr>
            <a:endParaRPr lang="en-US" b="0" dirty="0" smtClean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00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7A41-FA97-4127-95C6-CC5EBDE8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490661"/>
            <a:ext cx="10360501" cy="634083"/>
          </a:xfrm>
        </p:spPr>
        <p:txBody>
          <a:bodyPr/>
          <a:lstStyle/>
          <a:p>
            <a:r>
              <a:rPr lang="en-CA" dirty="0"/>
              <a:t>Math </a:t>
            </a:r>
            <a:r>
              <a:rPr lang="en-CA" dirty="0" err="1"/>
              <a:t>Behavoiurs</a:t>
            </a:r>
            <a:r>
              <a:rPr lang="en-CA" dirty="0"/>
              <a:t> (Methods) – See video for </a:t>
            </a:r>
            <a:r>
              <a:rPr lang="en-CA" dirty="0" smtClean="0"/>
              <a:t>examples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CC20-6765-4FE1-AEE6-F74F3C9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3" y="1268760"/>
            <a:ext cx="10801200" cy="5256584"/>
          </a:xfrm>
        </p:spPr>
        <p:txBody>
          <a:bodyPr>
            <a:normAutofit fontScale="92500" lnSpcReduction="10000"/>
          </a:bodyPr>
          <a:lstStyle/>
          <a:p>
            <a:r>
              <a:rPr lang="en-CA" sz="2400" dirty="0"/>
              <a:t>Assume the following variables </a:t>
            </a:r>
            <a:r>
              <a:rPr lang="en-CA" sz="2400" dirty="0" smtClean="0"/>
              <a:t>exist for all below example code:</a:t>
            </a:r>
          </a:p>
          <a:p>
            <a:pPr lvl="1"/>
            <a:r>
              <a:rPr lang="en-CA" sz="17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double number = 8.576;</a:t>
            </a:r>
            <a:endParaRPr lang="en-CA" sz="2000" b="0" dirty="0" smtClean="0">
              <a:solidFill>
                <a:srgbClr val="00B0F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CA" sz="17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double result;</a:t>
            </a:r>
            <a:r>
              <a:rPr lang="en-CA" sz="2000" dirty="0" smtClean="0">
                <a:latin typeface="Consolas" panose="020B0609020204030204" pitchFamily="49" charset="0"/>
              </a:rPr>
              <a:t> </a:t>
            </a:r>
            <a:r>
              <a:rPr lang="en-CA" sz="1500" dirty="0" smtClean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Used to store changed value if you do NOT want to overwrite the original variable</a:t>
            </a:r>
            <a:endParaRPr lang="en-US" sz="2000" dirty="0">
              <a:solidFill>
                <a:srgbClr val="FFFF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lvl="1"/>
            <a:endParaRPr lang="en-US" sz="1500" b="0" dirty="0" smtClean="0">
              <a:effectLst/>
              <a:latin typeface="Consolas" panose="020B0609020204030204" pitchFamily="49" charset="0"/>
            </a:endParaRPr>
          </a:p>
          <a:p>
            <a:r>
              <a:rPr lang="en-US" sz="18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Trigonometry</a:t>
            </a:r>
            <a:r>
              <a:rPr lang="en-US" sz="18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functions (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Sin, Cos, Tan, </a:t>
            </a:r>
            <a:r>
              <a:rPr lang="en-US" sz="1800" b="0" dirty="0" err="1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Asin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0" dirty="0" err="1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Acos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0" dirty="0" err="1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Atan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Atan2</a:t>
            </a:r>
            <a:r>
              <a:rPr lang="en-US" sz="18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all follow the same pattern below</a:t>
            </a:r>
          </a:p>
          <a:p>
            <a:pPr lvl="1"/>
            <a:r>
              <a:rPr lang="en-US" sz="1400" b="1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All angles must be given in </a:t>
            </a:r>
            <a:r>
              <a:rPr lang="en-US" sz="14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radians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(not degrees):  </a:t>
            </a:r>
            <a:r>
              <a:rPr lang="en-US" sz="1000" dirty="0" smtClean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radians = degrees * (</a:t>
            </a:r>
            <a:r>
              <a:rPr lang="en-US" sz="1000" dirty="0" err="1" smtClean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Math.PI</a:t>
            </a:r>
            <a:r>
              <a:rPr lang="en-US" sz="1000" dirty="0" smtClean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/180)</a:t>
            </a:r>
            <a:r>
              <a:rPr lang="en-US" sz="1000" dirty="0" smtClean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000" dirty="0" smtClean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degrees = radians / (</a:t>
            </a:r>
            <a:r>
              <a:rPr lang="en-US" sz="1000" dirty="0" err="1" smtClean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Math.PI</a:t>
            </a:r>
            <a:r>
              <a:rPr lang="en-US" sz="1000" dirty="0" smtClean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/180)</a:t>
            </a:r>
            <a:endParaRPr lang="en-US" sz="1000" b="0" dirty="0" smtClean="0">
              <a:solidFill>
                <a:srgbClr val="FFFF00"/>
              </a:solidFill>
              <a:effectLst/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lvl="1"/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Math.Sin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15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angleInRadians</a:t>
            </a:r>
            <a:r>
              <a:rPr lang="en-US" sz="15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1500" dirty="0" smtClean="0">
                <a:latin typeface="Consolas" panose="020B0609020204030204" pitchFamily="49" charset="0"/>
              </a:rPr>
              <a:t>: returns a double of the Sin (etc.) for the given angle</a:t>
            </a:r>
          </a:p>
          <a:p>
            <a:pPr marL="377886" lvl="1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	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result = </a:t>
            </a:r>
            <a:r>
              <a:rPr lang="en-US" sz="15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Math.Sin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(2.1); </a:t>
            </a:r>
            <a:r>
              <a:rPr lang="en-US" sz="1500" dirty="0" smtClean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1500" dirty="0">
                <a:latin typeface="Consolas" panose="020B0609020204030204" pitchFamily="49" charset="0"/>
                <a:sym typeface="Wingdings" panose="05000000000000000000" pitchFamily="2" charset="2"/>
              </a:rPr>
              <a:t>Stores </a:t>
            </a:r>
            <a:r>
              <a:rPr lang="en-US" sz="15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0.8632093666488737</a:t>
            </a:r>
            <a:r>
              <a:rPr lang="en-US" sz="1500" dirty="0" smtClean="0">
                <a:latin typeface="Consolas" panose="020B0609020204030204" pitchFamily="49" charset="0"/>
                <a:sym typeface="Wingdings" panose="05000000000000000000" pitchFamily="2" charset="2"/>
              </a:rPr>
              <a:t> in result for the radian angle 2.1 (~120</a:t>
            </a:r>
            <a:r>
              <a:rPr lang="en-US" sz="1500" baseline="30000" dirty="0" smtClean="0">
                <a:latin typeface="Consolas" panose="020B0609020204030204" pitchFamily="49" charset="0"/>
                <a:sym typeface="Wingdings" panose="05000000000000000000" pitchFamily="2" charset="2"/>
              </a:rPr>
              <a:t>o</a:t>
            </a:r>
            <a:r>
              <a:rPr lang="en-US" sz="1500" dirty="0" smtClean="0">
                <a:latin typeface="Consolas" panose="020B0609020204030204" pitchFamily="49" charset="0"/>
                <a:sym typeface="Wingdings" panose="05000000000000000000" pitchFamily="2" charset="2"/>
              </a:rPr>
              <a:t>)</a:t>
            </a:r>
            <a:endParaRPr lang="en-US" sz="1500" dirty="0" smtClean="0">
              <a:latin typeface="Consolas" panose="020B0609020204030204" pitchFamily="49" charset="0"/>
            </a:endParaRPr>
          </a:p>
          <a:p>
            <a:pPr marL="377886" lvl="1" indent="0">
              <a:buNone/>
            </a:pPr>
            <a:endParaRPr lang="en-US" sz="1500" b="0" dirty="0" smtClean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0" dirty="0" smtClean="0">
                <a:effectLst/>
                <a:latin typeface="Consolas" panose="020B0609020204030204" pitchFamily="49" charset="0"/>
              </a:rPr>
              <a:t>Determine the 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Sign</a:t>
            </a:r>
            <a:r>
              <a:rPr lang="en-US" sz="1800" b="0" dirty="0" smtClean="0"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positive</a:t>
            </a:r>
            <a:r>
              <a:rPr lang="en-US" sz="1800" b="0" dirty="0" smtClean="0">
                <a:effectLst/>
                <a:latin typeface="Consolas" panose="020B0609020204030204" pitchFamily="49" charset="0"/>
              </a:rPr>
              <a:t> or </a:t>
            </a:r>
            <a:r>
              <a:rPr lang="en-US" sz="1800" b="0" dirty="0" smtClean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negative</a:t>
            </a:r>
            <a:r>
              <a:rPr lang="en-US" sz="1800" b="0" dirty="0" smtClean="0">
                <a:effectLst/>
                <a:latin typeface="Consolas" panose="020B0609020204030204" pitchFamily="49" charset="0"/>
              </a:rPr>
              <a:t>) of the given number</a:t>
            </a:r>
          </a:p>
          <a:p>
            <a:pPr lvl="1"/>
            <a:r>
              <a:rPr lang="en-US" sz="16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Math.Sign</a:t>
            </a:r>
            <a:r>
              <a:rPr lang="en-US" sz="16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1600" dirty="0" err="1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</a:rPr>
              <a:t> OR </a:t>
            </a:r>
            <a:r>
              <a:rPr lang="en-US" sz="16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Math.Sign</a:t>
            </a:r>
            <a:r>
              <a:rPr lang="en-US" sz="16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returns 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indicating the sign (-1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: negative, 0: 0, 1: positive)</a:t>
            </a:r>
            <a:endParaRPr lang="en-US" sz="1500" dirty="0" smtClean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7886" lvl="1" indent="0">
              <a:buNone/>
            </a:pPr>
            <a:r>
              <a:rPr lang="en-US" sz="1500" b="0" dirty="0">
                <a:effectLst/>
                <a:latin typeface="Consolas" panose="020B0609020204030204" pitchFamily="49" charset="0"/>
              </a:rPr>
              <a:t>	</a:t>
            </a:r>
            <a:r>
              <a:rPr lang="en-US" sz="15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lang="en-US" sz="1500" b="0" dirty="0" err="1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Math.Sign</a:t>
            </a:r>
            <a:r>
              <a:rPr lang="en-US" sz="1500" b="0" dirty="0" smtClean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(number); </a:t>
            </a:r>
            <a:r>
              <a:rPr lang="en-US" sz="15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15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1</a:t>
            </a:r>
            <a:r>
              <a:rPr lang="en-US" sz="1500" b="0" dirty="0" smtClean="0"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result</a:t>
            </a:r>
          </a:p>
          <a:p>
            <a:pPr marL="377886" lvl="1" indent="0">
              <a:buNone/>
            </a:pPr>
            <a:endParaRPr lang="en-US" sz="1500" b="0" dirty="0" smtClean="0"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sz="18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Clamp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(restrict) a given number to fit within a minimum and maximum value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Math.Clamp</a:t>
            </a:r>
            <a:r>
              <a:rPr lang="en-US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 min, </a:t>
            </a:r>
            <a:r>
              <a:rPr lang="en-US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 max)</a:t>
            </a:r>
            <a:r>
              <a:rPr lang="en-US" sz="1400" dirty="0" smtClean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OR </a:t>
            </a:r>
            <a:r>
              <a:rPr lang="en-US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Math.Clamp</a:t>
            </a:r>
            <a:r>
              <a:rPr lang="en-US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(double </a:t>
            </a:r>
            <a:r>
              <a:rPr lang="en-US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num</a:t>
            </a:r>
            <a:r>
              <a:rPr lang="en-US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, double min, double max)</a:t>
            </a:r>
            <a:r>
              <a:rPr lang="en-US" sz="1400" dirty="0" smtClean="0">
                <a:latin typeface="Consolas" panose="020B0609020204030204" pitchFamily="49" charset="0"/>
              </a:rPr>
              <a:t>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returns 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same type</a:t>
            </a:r>
            <a:endParaRPr lang="en-US" sz="1500" dirty="0" smtClean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377886" lvl="1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result = </a:t>
            </a:r>
            <a:r>
              <a:rPr lang="en-US" sz="15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Math.Clamp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(number, 2.2, 5.5);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Stores </a:t>
            </a:r>
            <a:r>
              <a:rPr lang="en-US" sz="15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5.5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 </a:t>
            </a:r>
            <a:r>
              <a:rPr lang="en-US" sz="15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result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7886" lvl="1" indent="0">
              <a:buNone/>
            </a:pPr>
            <a:endParaRPr lang="en-US" b="0" dirty="0" smtClean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4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568</TotalTime>
  <Words>1136</Words>
  <Application>Microsoft Office PowerPoint</Application>
  <PresentationFormat>Custom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Wingdings</vt:lpstr>
      <vt:lpstr>Tech 16x9</vt:lpstr>
      <vt:lpstr>Support Libraries</vt:lpstr>
      <vt:lpstr>Random Number Generation (RNG)</vt:lpstr>
      <vt:lpstr>Random Number Generation – The Steps</vt:lpstr>
      <vt:lpstr>Example Program: RNG</vt:lpstr>
      <vt:lpstr>The Math Object</vt:lpstr>
      <vt:lpstr>Common Math Method Summary</vt:lpstr>
      <vt:lpstr>Math Behavoiurs (Methods) – See video for examples</vt:lpstr>
      <vt:lpstr>Math Behavoiurs (Methods) – See video for examples</vt:lpstr>
      <vt:lpstr>Math Behavoiurs (Methods) – See video for examples</vt:lpstr>
      <vt:lpstr>Math Behavoiurs (Methods) – See video for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32</cp:revision>
  <dcterms:created xsi:type="dcterms:W3CDTF">2020-09-21T00:53:05Z</dcterms:created>
  <dcterms:modified xsi:type="dcterms:W3CDTF">2026-09-25T17:26:13Z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