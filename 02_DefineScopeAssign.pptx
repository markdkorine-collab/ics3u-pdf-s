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59" r:id="rId7"/>
    <p:sldId id="264" r:id="rId8"/>
    <p:sldId id="260" r:id="rId9"/>
    <p:sldId id="261" r:id="rId10"/>
    <p:sldId id="262" r:id="rId11"/>
    <p:sldId id="263" r:id="rId12"/>
    <p:sldId id="265" r:id="rId13"/>
    <p:sldId id="267" r:id="rId14"/>
    <p:sldId id="266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9/21/2026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Variables: Module 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Defining, Scope and Assignment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3902-3620-412F-87E8-4623D68E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C6FF-CC2C-491D-B469-EBD483DEA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At this point we know two of the three parts of a variable</a:t>
            </a:r>
          </a:p>
          <a:p>
            <a:pPr lvl="1"/>
            <a:r>
              <a:rPr lang="en-CA" dirty="0"/>
              <a:t>Data Types</a:t>
            </a:r>
          </a:p>
          <a:p>
            <a:pPr lvl="1"/>
            <a:r>
              <a:rPr lang="en-CA" dirty="0"/>
              <a:t>Identifier Rules</a:t>
            </a:r>
          </a:p>
          <a:p>
            <a:pPr marL="377886" lvl="1" indent="0">
              <a:buNone/>
            </a:pPr>
            <a:endParaRPr lang="en-CA" dirty="0"/>
          </a:p>
          <a:p>
            <a:r>
              <a:rPr lang="en-CA" dirty="0"/>
              <a:t>Today, we will explore the third, and a bit more</a:t>
            </a:r>
          </a:p>
          <a:p>
            <a:pPr lvl="1"/>
            <a:r>
              <a:rPr lang="en-CA" dirty="0"/>
              <a:t>Values</a:t>
            </a:r>
          </a:p>
          <a:p>
            <a:r>
              <a:rPr lang="en-CA" dirty="0"/>
              <a:t>Another thing to recall is that C# has a </a:t>
            </a:r>
            <a:r>
              <a:rPr lang="en-CA" b="1" dirty="0">
                <a:solidFill>
                  <a:srgbClr val="92D050"/>
                </a:solidFill>
              </a:rPr>
              <a:t>dictionary</a:t>
            </a:r>
            <a:r>
              <a:rPr lang="en-CA" dirty="0"/>
              <a:t> of sorts that tracks all the </a:t>
            </a:r>
            <a:r>
              <a:rPr lang="en-CA" b="1" dirty="0">
                <a:solidFill>
                  <a:srgbClr val="92D050"/>
                </a:solidFill>
              </a:rPr>
              <a:t>keywords</a:t>
            </a:r>
            <a:r>
              <a:rPr lang="en-CA" dirty="0"/>
              <a:t> it knows.  </a:t>
            </a:r>
          </a:p>
          <a:p>
            <a:pPr lvl="1"/>
            <a:r>
              <a:rPr lang="en-CA" dirty="0"/>
              <a:t>Today we will add to that dictionary by </a:t>
            </a:r>
            <a:r>
              <a:rPr lang="en-CA" b="1" dirty="0">
                <a:solidFill>
                  <a:srgbClr val="00B0F0"/>
                </a:solidFill>
              </a:rPr>
              <a:t>defining</a:t>
            </a:r>
            <a:r>
              <a:rPr lang="en-CA" dirty="0"/>
              <a:t> our own terms, variables</a:t>
            </a:r>
          </a:p>
        </p:txBody>
      </p:sp>
    </p:spTree>
    <p:extLst>
      <p:ext uri="{BB962C8B-B14F-4D97-AF65-F5344CB8AC3E}">
        <p14:creationId xmlns:p14="http://schemas.microsoft.com/office/powerpoint/2010/main" val="255928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4B56-B606-4A59-A9DD-9F231018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>
                <a:solidFill>
                  <a:srgbClr val="FFFF00"/>
                </a:solidFill>
              </a:rPr>
              <a:t>Defining</a:t>
            </a:r>
            <a:r>
              <a:rPr lang="en-CA" dirty="0"/>
              <a:t> a Variable (a.k.a. </a:t>
            </a:r>
            <a:r>
              <a:rPr lang="en-CA" dirty="0">
                <a:solidFill>
                  <a:srgbClr val="FFFF00"/>
                </a:solidFill>
              </a:rPr>
              <a:t>Declaring</a:t>
            </a:r>
            <a:r>
              <a:rPr lang="en-CA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26814-2C6F-46AC-8A30-A606F6BEC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96752"/>
            <a:ext cx="10360501" cy="5256583"/>
          </a:xfrm>
        </p:spPr>
        <p:txBody>
          <a:bodyPr>
            <a:normAutofit/>
          </a:bodyPr>
          <a:lstStyle/>
          <a:p>
            <a:r>
              <a:rPr lang="en-CA" dirty="0"/>
              <a:t>In order to use a variable, we must first add it to the C# dictionary.  To do this, we must </a:t>
            </a:r>
            <a:r>
              <a:rPr lang="en-CA" dirty="0">
                <a:solidFill>
                  <a:srgbClr val="FFFF00"/>
                </a:solidFill>
              </a:rPr>
              <a:t>define</a:t>
            </a:r>
            <a:r>
              <a:rPr lang="en-CA" dirty="0"/>
              <a:t> it</a:t>
            </a:r>
          </a:p>
          <a:p>
            <a:pPr lvl="1"/>
            <a:r>
              <a:rPr lang="en-CA" dirty="0"/>
              <a:t>Example: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string userName;</a:t>
            </a:r>
          </a:p>
          <a:p>
            <a:r>
              <a:rPr lang="en-CA" dirty="0"/>
              <a:t>This statement </a:t>
            </a:r>
            <a:r>
              <a:rPr lang="en-CA" dirty="0">
                <a:solidFill>
                  <a:srgbClr val="92D050"/>
                </a:solidFill>
              </a:rPr>
              <a:t>defines</a:t>
            </a:r>
            <a:r>
              <a:rPr lang="en-CA" dirty="0"/>
              <a:t> a new variable of type </a:t>
            </a:r>
            <a:r>
              <a:rPr lang="en-CA" b="1" dirty="0">
                <a:solidFill>
                  <a:srgbClr val="FFFF00"/>
                </a:solidFill>
              </a:rPr>
              <a:t>string</a:t>
            </a:r>
            <a:r>
              <a:rPr lang="en-CA" dirty="0"/>
              <a:t> with the identifier </a:t>
            </a:r>
            <a:r>
              <a:rPr lang="en-CA" b="1" dirty="0">
                <a:solidFill>
                  <a:srgbClr val="FFFF00"/>
                </a:solidFill>
              </a:rPr>
              <a:t>userName</a:t>
            </a:r>
          </a:p>
          <a:p>
            <a:pPr lvl="1"/>
            <a:r>
              <a:rPr lang="en-CA" dirty="0"/>
              <a:t>Since programs run from top to bottom, I can now use this variable anywhere below it in our code that is in the same set of </a:t>
            </a:r>
            <a:r>
              <a:rPr lang="en-CA" dirty="0">
                <a:solidFill>
                  <a:srgbClr val="FFFF00"/>
                </a:solidFill>
              </a:rPr>
              <a:t>{ }</a:t>
            </a:r>
            <a:r>
              <a:rPr lang="en-CA" dirty="0"/>
              <a:t> or </a:t>
            </a:r>
            <a:r>
              <a:rPr lang="en-CA" dirty="0" smtClean="0"/>
              <a:t>deeper</a:t>
            </a:r>
            <a:endParaRPr lang="en-CA" dirty="0"/>
          </a:p>
          <a:p>
            <a:r>
              <a:rPr lang="en-CA" dirty="0"/>
              <a:t>The syntax </a:t>
            </a:r>
            <a:r>
              <a:rPr lang="en-CA" b="1" dirty="0"/>
              <a:t>MUST</a:t>
            </a:r>
            <a:r>
              <a:rPr lang="en-CA" dirty="0"/>
              <a:t> follow the correct order:</a:t>
            </a:r>
          </a:p>
          <a:p>
            <a:pPr lvl="1"/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&lt;type&gt; &lt;identifier&gt;;</a:t>
            </a:r>
          </a:p>
          <a:p>
            <a:r>
              <a:rPr lang="en-CA" dirty="0"/>
              <a:t>We read this as “</a:t>
            </a:r>
            <a:r>
              <a:rPr lang="en-CA" dirty="0">
                <a:solidFill>
                  <a:srgbClr val="92D050"/>
                </a:solidFill>
              </a:rPr>
              <a:t>Define the variable userName of type, string</a:t>
            </a:r>
            <a:r>
              <a:rPr lang="en-CA" dirty="0"/>
              <a:t>”</a:t>
            </a:r>
          </a:p>
          <a:p>
            <a:pPr lvl="1"/>
            <a:r>
              <a:rPr lang="en-CA" dirty="0"/>
              <a:t>Or more simply “</a:t>
            </a:r>
            <a:r>
              <a:rPr lang="en-CA" dirty="0">
                <a:solidFill>
                  <a:schemeClr val="accent4"/>
                </a:solidFill>
              </a:rPr>
              <a:t>Define a string variable called username</a:t>
            </a:r>
            <a:r>
              <a:rPr lang="en-CA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276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CABD-81C4-42BB-B641-D1900FC0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Defining a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58394-3D9C-4E62-A90A-CBFBBC3F8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564161" cy="4679531"/>
          </a:xfrm>
        </p:spPr>
        <p:txBody>
          <a:bodyPr>
            <a:normAutofit/>
          </a:bodyPr>
          <a:lstStyle/>
          <a:p>
            <a:r>
              <a:rPr lang="en-CA" dirty="0"/>
              <a:t>What does it actually do to define a variable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First</a:t>
            </a:r>
            <a:r>
              <a:rPr lang="en-CA" dirty="0"/>
              <a:t>, it informs the program of its existence so it can be later used to store and retrieve data (Adds it to the “dictionary”)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Secondly</a:t>
            </a:r>
            <a:r>
              <a:rPr lang="en-CA" dirty="0"/>
              <a:t>, it reserves space in memory (enough for the chosen datatype)</a:t>
            </a:r>
          </a:p>
          <a:p>
            <a:r>
              <a:rPr lang="en-CA" dirty="0"/>
              <a:t>Even though we haven’t stored a value in it yet, the space is reserved</a:t>
            </a:r>
          </a:p>
          <a:p>
            <a:endParaRPr lang="en-CA" dirty="0"/>
          </a:p>
          <a:p>
            <a:r>
              <a:rPr lang="en-CA" dirty="0"/>
              <a:t>This is </a:t>
            </a:r>
            <a:r>
              <a:rPr lang="en-CA" dirty="0">
                <a:solidFill>
                  <a:srgbClr val="92D050"/>
                </a:solidFill>
              </a:rPr>
              <a:t>similar to calling a restaurant and making a reservation for a 1 person table</a:t>
            </a:r>
            <a:r>
              <a:rPr lang="en-CA" dirty="0"/>
              <a:t>.  They will set it aside for you to ensure it is ready for </a:t>
            </a:r>
            <a:r>
              <a:rPr lang="en-CA" dirty="0" smtClean="0"/>
              <a:t>whenever </a:t>
            </a:r>
            <a:r>
              <a:rPr lang="en-CA" dirty="0"/>
              <a:t>you decide to show up.</a:t>
            </a:r>
          </a:p>
        </p:txBody>
      </p:sp>
    </p:spTree>
    <p:extLst>
      <p:ext uri="{BB962C8B-B14F-4D97-AF65-F5344CB8AC3E}">
        <p14:creationId xmlns:p14="http://schemas.microsoft.com/office/powerpoint/2010/main" val="409972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B321-887C-4D7B-A83E-4F80ECFD5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Defining a variable – where?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526B8-2A20-4DF9-95CF-FF4415975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Where do we define our variables?</a:t>
            </a:r>
          </a:p>
          <a:p>
            <a:r>
              <a:rPr lang="en-CA" dirty="0"/>
              <a:t>To answer this we must first understand the term </a:t>
            </a:r>
            <a:r>
              <a:rPr lang="en-CA" b="1" dirty="0">
                <a:solidFill>
                  <a:srgbClr val="FFFF00"/>
                </a:solidFill>
              </a:rPr>
              <a:t>scope</a:t>
            </a:r>
          </a:p>
          <a:p>
            <a:r>
              <a:rPr lang="en-CA" b="1" dirty="0">
                <a:solidFill>
                  <a:srgbClr val="FFFF00"/>
                </a:solidFill>
              </a:rPr>
              <a:t>Scope</a:t>
            </a:r>
            <a:r>
              <a:rPr lang="en-CA" dirty="0"/>
              <a:t> is the </a:t>
            </a:r>
            <a:r>
              <a:rPr lang="en-CA" dirty="0" smtClean="0"/>
              <a:t>region </a:t>
            </a:r>
            <a:r>
              <a:rPr lang="en-CA" dirty="0"/>
              <a:t>of code something is </a:t>
            </a:r>
            <a:r>
              <a:rPr lang="en-CA" dirty="0">
                <a:solidFill>
                  <a:srgbClr val="92D050"/>
                </a:solidFill>
              </a:rPr>
              <a:t>visible</a:t>
            </a:r>
            <a:r>
              <a:rPr lang="en-CA" dirty="0"/>
              <a:t> and </a:t>
            </a:r>
            <a:r>
              <a:rPr lang="en-CA" dirty="0">
                <a:solidFill>
                  <a:srgbClr val="92D050"/>
                </a:solidFill>
              </a:rPr>
              <a:t>accessible</a:t>
            </a:r>
            <a:r>
              <a:rPr lang="en-CA" dirty="0"/>
              <a:t> in</a:t>
            </a:r>
          </a:p>
          <a:p>
            <a:pPr lvl="1"/>
            <a:r>
              <a:rPr lang="en-CA" dirty="0"/>
              <a:t>A simple way to look at this: What set of braces </a:t>
            </a:r>
            <a:r>
              <a:rPr lang="en-CA" dirty="0">
                <a:solidFill>
                  <a:srgbClr val="00B0F0"/>
                </a:solidFill>
              </a:rPr>
              <a:t>{ }</a:t>
            </a:r>
            <a:r>
              <a:rPr lang="en-CA" dirty="0"/>
              <a:t> was it defined in?</a:t>
            </a:r>
          </a:p>
          <a:p>
            <a:pPr lvl="1"/>
            <a:r>
              <a:rPr lang="en-CA" dirty="0"/>
              <a:t>You can access and use the variable anywhere within those braces</a:t>
            </a:r>
          </a:p>
          <a:p>
            <a:pPr lvl="2"/>
            <a:r>
              <a:rPr lang="en-CA" dirty="0"/>
              <a:t>Including inside deeper sets of </a:t>
            </a:r>
            <a:r>
              <a:rPr lang="en-CA" dirty="0">
                <a:solidFill>
                  <a:srgbClr val="00B050"/>
                </a:solidFill>
              </a:rPr>
              <a:t>{ }</a:t>
            </a:r>
            <a:r>
              <a:rPr lang="en-CA" dirty="0"/>
              <a:t> within the set of </a:t>
            </a:r>
            <a:r>
              <a:rPr lang="en-CA" dirty="0">
                <a:solidFill>
                  <a:srgbClr val="00B0F0"/>
                </a:solidFill>
              </a:rPr>
              <a:t>{ } </a:t>
            </a:r>
            <a:r>
              <a:rPr lang="en-CA" dirty="0"/>
              <a:t>mentioned above</a:t>
            </a:r>
          </a:p>
          <a:p>
            <a:pPr lvl="1"/>
            <a:endParaRPr lang="en-CA" dirty="0"/>
          </a:p>
          <a:p>
            <a:r>
              <a:rPr lang="en-CA" dirty="0"/>
              <a:t>So what does that mean, in terms of our programs?</a:t>
            </a:r>
          </a:p>
        </p:txBody>
      </p:sp>
    </p:spTree>
    <p:extLst>
      <p:ext uri="{BB962C8B-B14F-4D97-AF65-F5344CB8AC3E}">
        <p14:creationId xmlns:p14="http://schemas.microsoft.com/office/powerpoint/2010/main" val="342212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506D-E770-460D-BF02-85316710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Defining a variable – where?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E135F-26DE-4590-BBCF-D8318CB0C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Program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public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Main 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8138F7-06AF-4213-B5CF-3975D204013A}"/>
              </a:ext>
            </a:extLst>
          </p:cNvPr>
          <p:cNvSpPr/>
          <p:nvPr/>
        </p:nvSpPr>
        <p:spPr>
          <a:xfrm>
            <a:off x="1701924" y="2636912"/>
            <a:ext cx="2808312" cy="43204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/>
              <a:t>Global Variables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7DE3B1-2A48-43F3-94F6-D8AD344E0A6F}"/>
              </a:ext>
            </a:extLst>
          </p:cNvPr>
          <p:cNvSpPr/>
          <p:nvPr/>
        </p:nvSpPr>
        <p:spPr>
          <a:xfrm>
            <a:off x="2205980" y="3916143"/>
            <a:ext cx="2808312" cy="43204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/>
              <a:t>Local Variables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56996A-D5B7-4593-B428-A985DBD99762}"/>
              </a:ext>
            </a:extLst>
          </p:cNvPr>
          <p:cNvCxnSpPr>
            <a:cxnSpLocks/>
          </p:cNvCxnSpPr>
          <p:nvPr/>
        </p:nvCxnSpPr>
        <p:spPr>
          <a:xfrm flipH="1">
            <a:off x="4582244" y="1077455"/>
            <a:ext cx="2160240" cy="15594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B87CAA-1A8D-4911-9A54-119678387F25}"/>
              </a:ext>
            </a:extLst>
          </p:cNvPr>
          <p:cNvCxnSpPr>
            <a:cxnSpLocks/>
          </p:cNvCxnSpPr>
          <p:nvPr/>
        </p:nvCxnSpPr>
        <p:spPr>
          <a:xfrm flipH="1">
            <a:off x="5065285" y="4149080"/>
            <a:ext cx="8851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3F961F-6FF1-4DF3-8188-6DB75C0B479F}"/>
              </a:ext>
            </a:extLst>
          </p:cNvPr>
          <p:cNvSpPr txBox="1"/>
          <p:nvPr/>
        </p:nvSpPr>
        <p:spPr>
          <a:xfrm>
            <a:off x="6742484" y="154125"/>
            <a:ext cx="502971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1800" dirty="0"/>
              <a:t>Any variable defined just inside the </a:t>
            </a:r>
            <a:r>
              <a:rPr lang="en-CA" sz="1800" b="1" dirty="0">
                <a:solidFill>
                  <a:srgbClr val="00B050"/>
                </a:solidFill>
              </a:rPr>
              <a:t>class</a:t>
            </a:r>
            <a:r>
              <a:rPr lang="en-CA" sz="1800" dirty="0"/>
              <a:t> { } and</a:t>
            </a:r>
          </a:p>
          <a:p>
            <a:r>
              <a:rPr lang="en-CA" sz="1800" dirty="0"/>
              <a:t>outside the </a:t>
            </a:r>
            <a:r>
              <a:rPr lang="en-CA" sz="1800" b="1" dirty="0">
                <a:solidFill>
                  <a:srgbClr val="00B050"/>
                </a:solidFill>
              </a:rPr>
              <a:t>Main</a:t>
            </a:r>
            <a:r>
              <a:rPr lang="en-CA" sz="1800" dirty="0"/>
              <a:t> is called a </a:t>
            </a:r>
            <a:r>
              <a:rPr lang="en-CA" sz="1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Global variable</a:t>
            </a:r>
            <a:r>
              <a:rPr lang="en-CA" sz="1800" dirty="0"/>
              <a:t> because</a:t>
            </a:r>
          </a:p>
          <a:p>
            <a:r>
              <a:rPr lang="en-CA" sz="1800" dirty="0"/>
              <a:t>it is accessible globally, in the </a:t>
            </a:r>
            <a:r>
              <a:rPr lang="en-CA" sz="1800" b="1" dirty="0"/>
              <a:t>ENTIRE</a:t>
            </a:r>
            <a:r>
              <a:rPr lang="en-CA" sz="1800" dirty="0"/>
              <a:t> program.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E831F8-5AC4-4F4F-8F77-5295CD6E643B}"/>
              </a:ext>
            </a:extLst>
          </p:cNvPr>
          <p:cNvSpPr txBox="1"/>
          <p:nvPr/>
        </p:nvSpPr>
        <p:spPr>
          <a:xfrm>
            <a:off x="6636581" y="1327338"/>
            <a:ext cx="5425844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1800" dirty="0"/>
              <a:t>Because these variables are </a:t>
            </a:r>
            <a:r>
              <a:rPr lang="en-CA" sz="1800" b="1" dirty="0"/>
              <a:t>defined</a:t>
            </a:r>
            <a:r>
              <a:rPr lang="en-CA" sz="1800" dirty="0"/>
              <a:t> </a:t>
            </a:r>
            <a:r>
              <a:rPr lang="en-CA" sz="1800" b="1" dirty="0">
                <a:solidFill>
                  <a:srgbClr val="0070C0"/>
                </a:solidFill>
              </a:rPr>
              <a:t>OUTSIDE</a:t>
            </a:r>
            <a:r>
              <a:rPr lang="en-CA" sz="1800" dirty="0"/>
              <a:t> of </a:t>
            </a:r>
            <a:r>
              <a:rPr lang="en-CA" sz="1800" b="1" dirty="0">
                <a:solidFill>
                  <a:srgbClr val="00B050"/>
                </a:solidFill>
              </a:rPr>
              <a:t>Main</a:t>
            </a:r>
            <a:r>
              <a:rPr lang="en-CA" sz="1800" dirty="0"/>
              <a:t>,</a:t>
            </a:r>
          </a:p>
          <a:p>
            <a:r>
              <a:rPr lang="en-CA" sz="1800" dirty="0"/>
              <a:t>which uses the label </a:t>
            </a:r>
            <a:r>
              <a:rPr lang="en-CA" sz="1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static</a:t>
            </a:r>
            <a:r>
              <a:rPr lang="en-CA" sz="1800" dirty="0"/>
              <a:t>, </a:t>
            </a:r>
            <a:r>
              <a:rPr lang="en-CA" sz="1800" b="1" dirty="0">
                <a:solidFill>
                  <a:srgbClr val="00B050"/>
                </a:solidFill>
              </a:rPr>
              <a:t>Main</a:t>
            </a:r>
            <a:r>
              <a:rPr lang="en-CA" sz="1800" dirty="0"/>
              <a:t> requires anything </a:t>
            </a:r>
            <a:r>
              <a:rPr lang="en-CA" sz="1800" b="1" dirty="0"/>
              <a:t>used</a:t>
            </a:r>
          </a:p>
          <a:p>
            <a:r>
              <a:rPr lang="en-CA" sz="1800" dirty="0"/>
              <a:t>inside it be defined as </a:t>
            </a:r>
            <a:r>
              <a:rPr lang="en-CA" sz="1800" b="1" dirty="0">
                <a:solidFill>
                  <a:srgbClr val="0070C0"/>
                </a:solidFill>
              </a:rPr>
              <a:t>static</a:t>
            </a:r>
            <a:r>
              <a:rPr lang="en-CA" sz="1800" dirty="0"/>
              <a:t>.  </a:t>
            </a:r>
          </a:p>
          <a:p>
            <a:r>
              <a:rPr lang="en-CA" sz="1800" b="1" dirty="0"/>
              <a:t>Example:</a:t>
            </a:r>
            <a:r>
              <a:rPr lang="en-CA" sz="1800" dirty="0"/>
              <a:t> </a:t>
            </a:r>
            <a:r>
              <a:rPr lang="en-CA" sz="1800" dirty="0">
                <a:solidFill>
                  <a:srgbClr val="0070C0"/>
                </a:solidFill>
                <a:latin typeface="Consolas" panose="020B0609020204030204" pitchFamily="49" charset="0"/>
              </a:rPr>
              <a:t>static int userAge;</a:t>
            </a:r>
          </a:p>
          <a:p>
            <a:r>
              <a:rPr lang="en-CA" sz="1800" dirty="0"/>
              <a:t>Note: anything defined </a:t>
            </a:r>
            <a:r>
              <a:rPr lang="en-CA" sz="1800" b="1" dirty="0"/>
              <a:t>inside</a:t>
            </a:r>
            <a:r>
              <a:rPr lang="en-CA" sz="1800" dirty="0"/>
              <a:t> of </a:t>
            </a:r>
            <a:r>
              <a:rPr lang="en-CA" sz="1800" b="1" dirty="0">
                <a:solidFill>
                  <a:srgbClr val="00B050"/>
                </a:solidFill>
              </a:rPr>
              <a:t>Main</a:t>
            </a:r>
            <a:r>
              <a:rPr lang="en-CA" sz="1800" dirty="0"/>
              <a:t> is automatically</a:t>
            </a:r>
          </a:p>
          <a:p>
            <a:r>
              <a:rPr lang="en-CA" sz="1800" dirty="0"/>
              <a:t>considered static, so you do not need the static keyword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7F5E3B-6028-4948-BF56-CE7EF4770C34}"/>
              </a:ext>
            </a:extLst>
          </p:cNvPr>
          <p:cNvSpPr txBox="1"/>
          <p:nvPr/>
        </p:nvSpPr>
        <p:spPr>
          <a:xfrm>
            <a:off x="5950396" y="3670502"/>
            <a:ext cx="6112029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1800" dirty="0"/>
              <a:t>Any variable </a:t>
            </a:r>
            <a:r>
              <a:rPr lang="en-CA" sz="1800" b="1" dirty="0"/>
              <a:t>defined</a:t>
            </a:r>
            <a:r>
              <a:rPr lang="en-CA" sz="1800" dirty="0"/>
              <a:t> inside a set of { } that are not the class { }</a:t>
            </a:r>
          </a:p>
          <a:p>
            <a:r>
              <a:rPr lang="en-CA" sz="1800" dirty="0"/>
              <a:t>is called a </a:t>
            </a:r>
            <a:r>
              <a:rPr lang="en-CA" sz="1800" b="1" dirty="0">
                <a:solidFill>
                  <a:srgbClr val="0070C0"/>
                </a:solidFill>
              </a:rPr>
              <a:t>Local variable</a:t>
            </a:r>
            <a:r>
              <a:rPr lang="en-CA" sz="1800" dirty="0"/>
              <a:t>.  These variables should be defined</a:t>
            </a:r>
          </a:p>
          <a:p>
            <a:r>
              <a:rPr lang="en-CA" sz="1800" dirty="0"/>
              <a:t>at the </a:t>
            </a:r>
            <a:r>
              <a:rPr lang="en-CA" sz="1800" b="1" dirty="0"/>
              <a:t>top</a:t>
            </a:r>
            <a:r>
              <a:rPr lang="en-CA" sz="1800" dirty="0"/>
              <a:t> of the { } section, </a:t>
            </a:r>
            <a:r>
              <a:rPr lang="en-CA" sz="1800" b="1" dirty="0"/>
              <a:t>above any program logic</a:t>
            </a:r>
            <a:r>
              <a:rPr lang="en-CA" sz="1800" dirty="0"/>
              <a:t>.  </a:t>
            </a:r>
          </a:p>
          <a:p>
            <a:endParaRPr lang="en-CA" sz="1800" dirty="0"/>
          </a:p>
          <a:p>
            <a:r>
              <a:rPr lang="en-CA" sz="1800" dirty="0"/>
              <a:t>Local variables are </a:t>
            </a:r>
            <a:r>
              <a:rPr lang="en-CA" sz="1800" b="1" dirty="0"/>
              <a:t>ONLY</a:t>
            </a:r>
            <a:r>
              <a:rPr lang="en-CA" sz="1800" dirty="0"/>
              <a:t> accessible inside the { } they were defined in.  Meaning variables defined inside of </a:t>
            </a:r>
            <a:r>
              <a:rPr lang="en-CA" sz="1800" b="1" dirty="0">
                <a:solidFill>
                  <a:srgbClr val="00B050"/>
                </a:solidFill>
              </a:rPr>
              <a:t>Main</a:t>
            </a:r>
            <a:r>
              <a:rPr lang="en-CA" sz="1800" dirty="0"/>
              <a:t> { }</a:t>
            </a:r>
          </a:p>
          <a:p>
            <a:r>
              <a:rPr lang="en-CA" sz="1800" dirty="0"/>
              <a:t>cannot be used outside of </a:t>
            </a:r>
            <a:r>
              <a:rPr lang="en-CA" sz="1800" b="1" dirty="0">
                <a:solidFill>
                  <a:srgbClr val="00B050"/>
                </a:solidFill>
              </a:rPr>
              <a:t>Main</a:t>
            </a:r>
            <a:r>
              <a:rPr lang="en-CA" sz="1800" dirty="0"/>
              <a:t>.  This will not matter until later…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01C985-A5A0-4BBC-8FDC-A5C03FF8395A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257339" y="1077455"/>
            <a:ext cx="0" cy="2498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29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1" grpId="0" animBg="1"/>
      <p:bldP spid="14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D625-C8C9-4FB0-A826-27B09922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Quick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8CC31-70F3-4535-A941-16E38E2EC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Program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static int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userAge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public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Main 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string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80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614F-618C-4165-9F33-DE4A558A4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Local vs. Global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DE72B-2F69-4E78-9409-68A09AD33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124744"/>
            <a:ext cx="10729191" cy="5184575"/>
          </a:xfrm>
        </p:spPr>
        <p:txBody>
          <a:bodyPr>
            <a:normAutofit lnSpcReduction="10000"/>
          </a:bodyPr>
          <a:lstStyle/>
          <a:p>
            <a:r>
              <a:rPr lang="en-CA" dirty="0"/>
              <a:t>Why not just define everything globally so we can use it everywhere?</a:t>
            </a:r>
          </a:p>
          <a:p>
            <a:r>
              <a:rPr lang="en-CA" dirty="0"/>
              <a:t>The simple answer is </a:t>
            </a:r>
            <a:r>
              <a:rPr lang="en-CA" b="1" dirty="0">
                <a:solidFill>
                  <a:srgbClr val="00B0F0"/>
                </a:solidFill>
              </a:rPr>
              <a:t>efficiency</a:t>
            </a:r>
          </a:p>
          <a:p>
            <a:r>
              <a:rPr lang="en-CA" dirty="0"/>
              <a:t>Program efficiency is measured by two things, </a:t>
            </a:r>
            <a:r>
              <a:rPr lang="en-CA" dirty="0">
                <a:solidFill>
                  <a:srgbClr val="92D050"/>
                </a:solidFill>
              </a:rPr>
              <a:t>time</a:t>
            </a:r>
            <a:r>
              <a:rPr lang="en-CA" dirty="0"/>
              <a:t> and </a:t>
            </a:r>
            <a:r>
              <a:rPr lang="en-CA" dirty="0">
                <a:solidFill>
                  <a:srgbClr val="92D050"/>
                </a:solidFill>
              </a:rPr>
              <a:t>space</a:t>
            </a:r>
          </a:p>
          <a:p>
            <a:pPr lvl="1"/>
            <a:r>
              <a:rPr lang="en-CA" dirty="0"/>
              <a:t>How much CPU time it takes and how much Memory it uses</a:t>
            </a:r>
          </a:p>
          <a:p>
            <a:r>
              <a:rPr lang="en-CA" dirty="0"/>
              <a:t>Any global variable is therefore taking up memory for the life of the program, where local variables only exist until the set of { } they were defined in, is finished executing</a:t>
            </a:r>
          </a:p>
          <a:p>
            <a:r>
              <a:rPr lang="en-CA" b="1" dirty="0">
                <a:solidFill>
                  <a:srgbClr val="FFFF00"/>
                </a:solidFill>
              </a:rPr>
              <a:t>Your goal is to have as much local as possible, but there are always situations when a global variable makes more sense</a:t>
            </a:r>
          </a:p>
          <a:p>
            <a:pPr lvl="1"/>
            <a:r>
              <a:rPr lang="en-CA" dirty="0"/>
              <a:t>For example, a piece of data that is used everywhere in a program, like a player’s score in a video game.  It will constantly be being modified and redisplayed</a:t>
            </a:r>
          </a:p>
        </p:txBody>
      </p:sp>
    </p:spTree>
    <p:extLst>
      <p:ext uri="{BB962C8B-B14F-4D97-AF65-F5344CB8AC3E}">
        <p14:creationId xmlns:p14="http://schemas.microsoft.com/office/powerpoint/2010/main" val="232263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6919-69E0-4C90-A52F-1216E0B9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 smtClean="0"/>
              <a:t>Using </a:t>
            </a:r>
            <a:r>
              <a:rPr lang="en-CA" dirty="0"/>
              <a:t>a variable -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28512-F428-42AB-8294-EE9C672C5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5184575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Once we have defined a variable, we are free to do </a:t>
            </a:r>
            <a:r>
              <a:rPr lang="en-CA" dirty="0">
                <a:solidFill>
                  <a:srgbClr val="FFFF00"/>
                </a:solidFill>
              </a:rPr>
              <a:t>2 things </a:t>
            </a:r>
            <a:r>
              <a:rPr lang="en-CA" dirty="0"/>
              <a:t>with it: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Access</a:t>
            </a:r>
            <a:r>
              <a:rPr lang="en-CA" dirty="0"/>
              <a:t> (retrieve) its value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Assign</a:t>
            </a:r>
            <a:r>
              <a:rPr lang="en-CA" dirty="0"/>
              <a:t> a new value to it (store a value inside it)</a:t>
            </a:r>
          </a:p>
          <a:p>
            <a:r>
              <a:rPr lang="en-CA" dirty="0"/>
              <a:t>To assign a value to a variable we use the </a:t>
            </a:r>
            <a:r>
              <a:rPr lang="en-CA" dirty="0">
                <a:solidFill>
                  <a:srgbClr val="FFFF00"/>
                </a:solidFill>
              </a:rPr>
              <a:t>=</a:t>
            </a:r>
            <a:r>
              <a:rPr lang="en-CA" dirty="0"/>
              <a:t> operator</a:t>
            </a:r>
          </a:p>
          <a:p>
            <a:pPr lvl="1"/>
            <a:r>
              <a:rPr lang="en-CA" dirty="0"/>
              <a:t>Examples: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userName = “Optimus Prime”; </a:t>
            </a:r>
            <a:r>
              <a:rPr lang="en-CA" sz="2800" dirty="0"/>
              <a:t>OR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 userAge = 17;</a:t>
            </a:r>
          </a:p>
          <a:p>
            <a:r>
              <a:rPr lang="en-CA" dirty="0"/>
              <a:t>We read this as: </a:t>
            </a:r>
            <a:r>
              <a:rPr lang="en-CA" sz="2600" dirty="0"/>
              <a:t>“</a:t>
            </a:r>
            <a:r>
              <a:rPr lang="en-CA" sz="2600" dirty="0">
                <a:solidFill>
                  <a:srgbClr val="92D050"/>
                </a:solidFill>
              </a:rPr>
              <a:t>Assign the value Optimus Prime to the variable, </a:t>
            </a:r>
            <a:r>
              <a:rPr lang="en-CA" sz="2600" dirty="0" err="1">
                <a:solidFill>
                  <a:srgbClr val="92D050"/>
                </a:solidFill>
              </a:rPr>
              <a:t>userName</a:t>
            </a:r>
            <a:r>
              <a:rPr lang="en-CA" sz="2600" dirty="0"/>
              <a:t>”</a:t>
            </a:r>
          </a:p>
          <a:p>
            <a:pPr lvl="1"/>
            <a:r>
              <a:rPr lang="en-CA" sz="2200" dirty="0"/>
              <a:t>Or “</a:t>
            </a:r>
            <a:r>
              <a:rPr lang="en-CA" sz="2200" dirty="0">
                <a:solidFill>
                  <a:srgbClr val="92D050"/>
                </a:solidFill>
              </a:rPr>
              <a:t>Store Optimus Prime in username</a:t>
            </a:r>
            <a:r>
              <a:rPr lang="en-CA" sz="2200" dirty="0"/>
              <a:t>”</a:t>
            </a:r>
          </a:p>
          <a:p>
            <a:pPr lvl="1"/>
            <a:endParaRPr lang="en-CA" sz="2200" dirty="0"/>
          </a:p>
          <a:p>
            <a:r>
              <a:rPr lang="en-CA" dirty="0"/>
              <a:t>Two things are important here:</a:t>
            </a:r>
          </a:p>
          <a:p>
            <a:pPr lvl="1"/>
            <a:r>
              <a:rPr lang="en-CA" b="1" dirty="0">
                <a:solidFill>
                  <a:srgbClr val="FFFF00"/>
                </a:solidFill>
              </a:rPr>
              <a:t>Order is important!</a:t>
            </a:r>
            <a:r>
              <a:rPr lang="en-CA" dirty="0"/>
              <a:t>  “Optimus Prime” = userName; </a:t>
            </a:r>
            <a:r>
              <a:rPr lang="en-CA" b="1" dirty="0">
                <a:solidFill>
                  <a:srgbClr val="FF0000"/>
                </a:solidFill>
              </a:rPr>
              <a:t>will NOT work</a:t>
            </a:r>
            <a:r>
              <a:rPr lang="en-CA" dirty="0"/>
              <a:t>.  This is not math class, and the = does not mean a balanced equation.  It means “</a:t>
            </a:r>
            <a:r>
              <a:rPr lang="en-CA" dirty="0">
                <a:solidFill>
                  <a:srgbClr val="FFFF00"/>
                </a:solidFill>
              </a:rPr>
              <a:t>assign data</a:t>
            </a:r>
            <a:r>
              <a:rPr lang="en-CA" dirty="0"/>
              <a:t>”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The data type of the value MUST match the data type of the variable</a:t>
            </a:r>
            <a:r>
              <a:rPr lang="en-CA" dirty="0"/>
              <a:t>, otherwise it is like trying to stuff a square peg in a round hole</a:t>
            </a:r>
          </a:p>
        </p:txBody>
      </p:sp>
    </p:spTree>
    <p:extLst>
      <p:ext uri="{BB962C8B-B14F-4D97-AF65-F5344CB8AC3E}">
        <p14:creationId xmlns:p14="http://schemas.microsoft.com/office/powerpoint/2010/main" val="115065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2F3B-C2DD-4E63-8F75-BC90927D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Using </a:t>
            </a:r>
            <a:r>
              <a:rPr lang="en-CA" dirty="0"/>
              <a:t>a variable -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EC7C8-D848-43E2-9C9F-CDD14C227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>
                <a:solidFill>
                  <a:srgbClr val="FFFF00"/>
                </a:solidFill>
              </a:rPr>
              <a:t>Shortcut!</a:t>
            </a:r>
            <a:r>
              <a:rPr lang="en-CA" dirty="0"/>
              <a:t> We can combine steps</a:t>
            </a:r>
          </a:p>
          <a:p>
            <a:r>
              <a:rPr lang="en-CA" dirty="0"/>
              <a:t>If we know the value of a variable when we define it, we can both define it </a:t>
            </a:r>
            <a:r>
              <a:rPr lang="en-CA" b="1" dirty="0">
                <a:solidFill>
                  <a:srgbClr val="FFFF00"/>
                </a:solidFill>
              </a:rPr>
              <a:t>AND</a:t>
            </a:r>
            <a:r>
              <a:rPr lang="en-CA" dirty="0"/>
              <a:t> assign it at the same </a:t>
            </a:r>
            <a:r>
              <a:rPr lang="en-CA" dirty="0" smtClean="0"/>
              <a:t>time</a:t>
            </a:r>
          </a:p>
          <a:p>
            <a:r>
              <a:rPr lang="en-CA" dirty="0" smtClean="0"/>
              <a:t>Giving a variable it’s first value is called </a:t>
            </a:r>
            <a:r>
              <a:rPr lang="en-CA" dirty="0" smtClean="0">
                <a:solidFill>
                  <a:srgbClr val="FFFF00"/>
                </a:solidFill>
              </a:rPr>
              <a:t>instantiating</a:t>
            </a:r>
            <a:r>
              <a:rPr lang="en-CA" dirty="0" smtClean="0"/>
              <a:t> the variable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Examples:</a:t>
            </a:r>
          </a:p>
          <a:p>
            <a:pPr marL="0" indent="0">
              <a:buNone/>
            </a:pP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string userName = “Athena”;</a:t>
            </a:r>
          </a:p>
          <a:p>
            <a:pPr marL="0" indent="0">
              <a:buNone/>
            </a:pP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double userAge = </a:t>
            </a:r>
            <a:r>
              <a:rPr lang="en-CA" dirty="0" smtClean="0">
                <a:solidFill>
                  <a:srgbClr val="00B0F0"/>
                </a:solidFill>
                <a:latin typeface="Consolas" panose="020B0609020204030204" pitchFamily="49" charset="0"/>
              </a:rPr>
              <a:t>13.5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098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1C39-4F73-4199-A553-4C45D2A04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 smtClean="0"/>
              <a:t>Using </a:t>
            </a:r>
            <a:r>
              <a:rPr lang="en-CA" dirty="0"/>
              <a:t>a variable – Access (Retrieve)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FC5F4-4EDB-4486-AE97-465C11C0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5256583"/>
          </a:xfrm>
        </p:spPr>
        <p:txBody>
          <a:bodyPr>
            <a:normAutofit fontScale="92500"/>
          </a:bodyPr>
          <a:lstStyle/>
          <a:p>
            <a:r>
              <a:rPr lang="en-CA" dirty="0"/>
              <a:t>To access (retrieve) a value in a variable, we simply refer to its identifier</a:t>
            </a:r>
          </a:p>
          <a:p>
            <a:r>
              <a:rPr lang="en-CA" dirty="0"/>
              <a:t>When you use a variable’s identifier, the computer will go to the </a:t>
            </a:r>
            <a:r>
              <a:rPr lang="en-CA" b="1" dirty="0">
                <a:solidFill>
                  <a:srgbClr val="FFFF00"/>
                </a:solidFill>
              </a:rPr>
              <a:t>RAM</a:t>
            </a:r>
            <a:r>
              <a:rPr lang="en-CA" dirty="0"/>
              <a:t> and retrieve the current value stored in the variable, </a:t>
            </a:r>
            <a:r>
              <a:rPr lang="en-CA" dirty="0">
                <a:solidFill>
                  <a:srgbClr val="FFFF00"/>
                </a:solidFill>
              </a:rPr>
              <a:t>at that instant</a:t>
            </a:r>
            <a:r>
              <a:rPr lang="en-CA" dirty="0"/>
              <a:t>.</a:t>
            </a:r>
          </a:p>
          <a:p>
            <a:r>
              <a:rPr lang="en-CA" dirty="0"/>
              <a:t>For example, if the following lines of code were in the Main { }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  <a:t>string userName = “Judy”;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  <a:t>int userAge = 17;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Console.WriteLine(“Hello ” + userName + “, you are ” + userAge + “.”);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This would display the following message in the Console, exactly: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buNone/>
            </a:pPr>
            <a: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  <a:t>Hello Judy, you are 17.</a:t>
            </a:r>
          </a:p>
        </p:txBody>
      </p:sp>
    </p:spTree>
    <p:extLst>
      <p:ext uri="{BB962C8B-B14F-4D97-AF65-F5344CB8AC3E}">
        <p14:creationId xmlns:p14="http://schemas.microsoft.com/office/powerpoint/2010/main" val="311649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248</TotalTime>
  <Words>1081</Words>
  <Application>Microsoft Office PowerPoint</Application>
  <PresentationFormat>Custom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Tech 16x9</vt:lpstr>
      <vt:lpstr>Variables: Module 2</vt:lpstr>
      <vt:lpstr>Review</vt:lpstr>
      <vt:lpstr>Defining a Variable (a.k.a. Declaring)</vt:lpstr>
      <vt:lpstr>Defining a variable</vt:lpstr>
      <vt:lpstr>Defining a variable – where?</vt:lpstr>
      <vt:lpstr>Defining a variable – where?</vt:lpstr>
      <vt:lpstr>Quick Example</vt:lpstr>
      <vt:lpstr>Local vs. Global</vt:lpstr>
      <vt:lpstr>Using a variable - Assignment</vt:lpstr>
      <vt:lpstr>Using a variable - Assignment</vt:lpstr>
      <vt:lpstr>Using a variable – Access (Retrieve)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Module 2</dc:title>
  <dc:creator>Trevor Lane</dc:creator>
  <cp:lastModifiedBy>Lane, Trevor</cp:lastModifiedBy>
  <cp:revision>16</cp:revision>
  <dcterms:created xsi:type="dcterms:W3CDTF">2020-09-22T03:09:04Z</dcterms:created>
  <dcterms:modified xsi:type="dcterms:W3CDTF">2026-09-21T17:28:15Z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