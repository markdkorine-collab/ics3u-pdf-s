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handoutMasterIdLst>
    <p:handoutMasterId r:id="rId23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69" r:id="rId19"/>
    <p:sldId id="272" r:id="rId20"/>
    <p:sldId id="273" r:id="rId2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811D"/>
    <a:srgbClr val="394404"/>
    <a:srgbClr val="5F6F0F"/>
    <a:srgbClr val="718412"/>
    <a:srgbClr val="65741A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2" autoAdjust="0"/>
    <p:restoredTop sz="85000" autoAdjust="0"/>
  </p:normalViewPr>
  <p:slideViewPr>
    <p:cSldViewPr>
      <p:cViewPr varScale="1">
        <p:scale>
          <a:sx n="111" d="100"/>
          <a:sy n="111" d="100"/>
        </p:scale>
        <p:origin x="306" y="11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9/15/2026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9/15/2026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9/15/2026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9/15/2026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9/15/2026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9/15/2026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Reading and Writing Text Files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BC8BC-1F43-4328-86B4-F729A964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 to File I/O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36EBE-FBDE-4241-800B-2E63CAA66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File I/O is the act of either reading from, or writing data to a file</a:t>
            </a:r>
          </a:p>
          <a:p>
            <a:r>
              <a:rPr lang="en-CA" dirty="0"/>
              <a:t>We use File I/O whenever we want to store data for later use</a:t>
            </a:r>
          </a:p>
          <a:p>
            <a:r>
              <a:rPr lang="en-CA" dirty="0"/>
              <a:t>Examples:</a:t>
            </a:r>
          </a:p>
          <a:p>
            <a:pPr lvl="1"/>
            <a:r>
              <a:rPr lang="en-CA" dirty="0"/>
              <a:t>Word Files</a:t>
            </a:r>
          </a:p>
          <a:p>
            <a:pPr lvl="1"/>
            <a:r>
              <a:rPr lang="en-CA" dirty="0"/>
              <a:t>Game Save Files</a:t>
            </a:r>
          </a:p>
          <a:p>
            <a:pPr lvl="1"/>
            <a:r>
              <a:rPr lang="en-CA" dirty="0"/>
              <a:t>User Created Content in games</a:t>
            </a:r>
          </a:p>
          <a:p>
            <a:pPr lvl="1"/>
            <a:r>
              <a:rPr lang="en-CA" dirty="0"/>
              <a:t>Cloud based email</a:t>
            </a:r>
          </a:p>
          <a:p>
            <a:pPr lvl="1"/>
            <a:r>
              <a:rPr lang="en-CA" dirty="0"/>
              <a:t>Application Settings</a:t>
            </a:r>
          </a:p>
          <a:p>
            <a:pPr lvl="1"/>
            <a:r>
              <a:rPr lang="en-CA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94589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7016-A3F3-468F-BF51-EDB258F7C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E58D2-E991-42B2-894E-3B8B47AD7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852" y="1701797"/>
            <a:ext cx="10657183" cy="4462272"/>
          </a:xfrm>
        </p:spPr>
        <p:txBody>
          <a:bodyPr>
            <a:normAutofit fontScale="92500"/>
          </a:bodyPr>
          <a:lstStyle/>
          <a:p>
            <a:r>
              <a:rPr lang="en-CA" dirty="0"/>
              <a:t>For all File I/O actions in C#  you need to include the </a:t>
            </a:r>
            <a:r>
              <a:rPr lang="en-CA" sz="2600" b="1" dirty="0">
                <a:solidFill>
                  <a:srgbClr val="FFFF00"/>
                </a:solidFill>
                <a:latin typeface="Consolas" panose="020B0609020204030204" pitchFamily="49" charset="0"/>
              </a:rPr>
              <a:t>System.IO</a:t>
            </a:r>
            <a:r>
              <a:rPr lang="en-CA" dirty="0"/>
              <a:t> library</a:t>
            </a:r>
          </a:p>
          <a:p>
            <a:r>
              <a:rPr lang="en-CA" dirty="0"/>
              <a:t>Simply add the following command to the top with the other libraries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</a:rPr>
              <a:t>	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using System.IO;</a:t>
            </a:r>
          </a:p>
          <a:p>
            <a:endParaRPr lang="en-CA" dirty="0"/>
          </a:p>
          <a:p>
            <a:r>
              <a:rPr lang="en-CA" dirty="0"/>
              <a:t>File I/O is comprised of 4 Topics:</a:t>
            </a:r>
          </a:p>
          <a:p>
            <a:pPr lvl="1"/>
            <a:r>
              <a:rPr lang="en-CA" dirty="0"/>
              <a:t>File Path (Finding where to read/write the file on the computer or device)</a:t>
            </a:r>
          </a:p>
          <a:p>
            <a:pPr lvl="1"/>
            <a:r>
              <a:rPr lang="en-CA" dirty="0"/>
              <a:t>Error Handling (File I/O is very susceptible to errors, we want to avoid them)</a:t>
            </a:r>
          </a:p>
          <a:p>
            <a:pPr lvl="1"/>
            <a:r>
              <a:rPr lang="en-CA" dirty="0"/>
              <a:t>Writing to a file</a:t>
            </a:r>
          </a:p>
          <a:p>
            <a:pPr lvl="1"/>
            <a:r>
              <a:rPr lang="en-CA" dirty="0"/>
              <a:t>Reading from a file</a:t>
            </a:r>
          </a:p>
        </p:txBody>
      </p:sp>
    </p:spTree>
    <p:extLst>
      <p:ext uri="{BB962C8B-B14F-4D97-AF65-F5344CB8AC3E}">
        <p14:creationId xmlns:p14="http://schemas.microsoft.com/office/powerpoint/2010/main" val="3555228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BF2AC-32AA-4C05-94F8-F0C3C70E8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/>
          <a:lstStyle/>
          <a:p>
            <a:r>
              <a:rPr lang="en-CA" dirty="0"/>
              <a:t>Topic 1: File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48813-9D8B-45BC-8045-C4FC7E26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36" y="1196752"/>
            <a:ext cx="10945216" cy="5616624"/>
          </a:xfrm>
        </p:spPr>
        <p:txBody>
          <a:bodyPr>
            <a:normAutofit/>
          </a:bodyPr>
          <a:lstStyle/>
          <a:p>
            <a:r>
              <a:rPr lang="en-CA" dirty="0"/>
              <a:t>Normally, this is the longest and most challenging part of the process</a:t>
            </a:r>
          </a:p>
          <a:p>
            <a:r>
              <a:rPr lang="en-CA" dirty="0"/>
              <a:t>This is because, depending on the type of program or device being worked on, it varies.</a:t>
            </a:r>
          </a:p>
          <a:p>
            <a:endParaRPr lang="en-CA" dirty="0"/>
          </a:p>
          <a:p>
            <a:r>
              <a:rPr lang="en-CA" dirty="0"/>
              <a:t>For our purposes in this course, we will assume the most basic scenario;</a:t>
            </a:r>
          </a:p>
          <a:p>
            <a:pPr lvl="1"/>
            <a:r>
              <a:rPr lang="en-CA" dirty="0"/>
              <a:t>The file will be located in the same folder as our compiled .exe program</a:t>
            </a:r>
          </a:p>
          <a:p>
            <a:pPr lvl="1"/>
            <a:r>
              <a:rPr lang="en-CA" dirty="0" smtClean="0">
                <a:solidFill>
                  <a:srgbClr val="92D050"/>
                </a:solidFill>
              </a:rPr>
              <a:t>It will be in the </a:t>
            </a:r>
            <a:r>
              <a:rPr lang="en-CA" dirty="0" smtClean="0">
                <a:solidFill>
                  <a:srgbClr val="00B0F0"/>
                </a:solidFill>
                <a:latin typeface="Consolas" panose="020B0609020204030204" pitchFamily="49" charset="0"/>
              </a:rPr>
              <a:t>bin/Debug/net9.0  </a:t>
            </a:r>
            <a:r>
              <a:rPr lang="en-CA" sz="20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or </a:t>
            </a:r>
            <a:r>
              <a:rPr lang="en-CA" sz="20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net10.0</a:t>
            </a:r>
            <a:r>
              <a:rPr lang="en-CA" sz="20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, etc. (version dependent)</a:t>
            </a:r>
            <a:endParaRPr lang="en-CA" dirty="0" smtClean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r>
              <a:rPr lang="en-CA" dirty="0" smtClean="0"/>
              <a:t>All </a:t>
            </a:r>
            <a:r>
              <a:rPr lang="en-CA" dirty="0"/>
              <a:t>this means, is that when giving the file path, we simply need to give its full name with extension instead of the whole directory as well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>
                <a:solidFill>
                  <a:srgbClr val="00B0F0"/>
                </a:solidFill>
              </a:rPr>
              <a:t>gamesave.txt</a:t>
            </a:r>
          </a:p>
          <a:p>
            <a:r>
              <a:rPr lang="en-CA" dirty="0" smtClean="0"/>
              <a:t>It is possible to use both </a:t>
            </a:r>
            <a:r>
              <a:rPr lang="en-CA" b="1" dirty="0" smtClean="0">
                <a:solidFill>
                  <a:srgbClr val="00B0F0"/>
                </a:solidFill>
              </a:rPr>
              <a:t>relative</a:t>
            </a:r>
            <a:r>
              <a:rPr lang="en-CA" dirty="0" smtClean="0"/>
              <a:t> paths and </a:t>
            </a:r>
            <a:r>
              <a:rPr lang="en-CA" b="1" dirty="0" smtClean="0">
                <a:solidFill>
                  <a:srgbClr val="00B0F0"/>
                </a:solidFill>
              </a:rPr>
              <a:t>absolute</a:t>
            </a:r>
            <a:r>
              <a:rPr lang="en-CA" dirty="0" smtClean="0"/>
              <a:t> paths in File IO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9466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1A221-86C4-40AB-A077-CB32CDAA0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/>
          <a:lstStyle/>
          <a:p>
            <a:r>
              <a:rPr lang="en-CA" dirty="0"/>
              <a:t>Topic 2: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BC0B6-8DD5-4715-BE7D-68D71442F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853" y="1268760"/>
            <a:ext cx="10729192" cy="5256584"/>
          </a:xfrm>
        </p:spPr>
        <p:txBody>
          <a:bodyPr>
            <a:normAutofit fontScale="92500"/>
          </a:bodyPr>
          <a:lstStyle/>
          <a:p>
            <a:r>
              <a:rPr lang="en-CA" dirty="0"/>
              <a:t>A lot of problems can occur when dealing with files.  For example:</a:t>
            </a:r>
          </a:p>
          <a:p>
            <a:pPr lvl="1"/>
            <a:r>
              <a:rPr lang="en-CA" dirty="0"/>
              <a:t>The File not even existing</a:t>
            </a:r>
          </a:p>
          <a:p>
            <a:pPr lvl="1"/>
            <a:r>
              <a:rPr lang="en-CA" dirty="0"/>
              <a:t>It already being in use by this or another program</a:t>
            </a:r>
          </a:p>
          <a:p>
            <a:pPr lvl="1"/>
            <a:r>
              <a:rPr lang="en-CA" dirty="0"/>
              <a:t>The data inside is not formatted correctly (alignment, </a:t>
            </a:r>
            <a:r>
              <a:rPr lang="en-CA" dirty="0" smtClean="0"/>
              <a:t>miss located</a:t>
            </a:r>
            <a:r>
              <a:rPr lang="en-CA" dirty="0"/>
              <a:t>, wrong type, etc.)</a:t>
            </a:r>
          </a:p>
          <a:p>
            <a:r>
              <a:rPr lang="en-CA" dirty="0"/>
              <a:t>To handle this we will use a common error handling technique known as the </a:t>
            </a:r>
            <a:r>
              <a:rPr lang="en-CA" dirty="0">
                <a:solidFill>
                  <a:srgbClr val="92D050"/>
                </a:solidFill>
              </a:rPr>
              <a:t>Try-Catch Block</a:t>
            </a:r>
            <a:r>
              <a:rPr lang="en-CA" dirty="0"/>
              <a:t>.  This can be used outside of File I/O as well, of course.</a:t>
            </a:r>
          </a:p>
          <a:p>
            <a:endParaRPr lang="en-CA" dirty="0"/>
          </a:p>
          <a:p>
            <a:r>
              <a:rPr lang="en-CA" dirty="0" smtClean="0"/>
              <a:t>Typically, when an error occurs while the program is executing it will </a:t>
            </a:r>
            <a:r>
              <a:rPr lang="en-CA" dirty="0" smtClean="0">
                <a:solidFill>
                  <a:srgbClr val="FFFF00"/>
                </a:solidFill>
              </a:rPr>
              <a:t>crash</a:t>
            </a:r>
            <a:r>
              <a:rPr lang="en-CA" dirty="0" smtClean="0"/>
              <a:t> with a </a:t>
            </a:r>
            <a:r>
              <a:rPr lang="en-CA" dirty="0" smtClean="0">
                <a:solidFill>
                  <a:srgbClr val="00B0F0"/>
                </a:solidFill>
              </a:rPr>
              <a:t>runtime error.  </a:t>
            </a:r>
            <a:r>
              <a:rPr lang="en-CA" dirty="0" smtClean="0"/>
              <a:t>Our program </a:t>
            </a:r>
            <a:r>
              <a:rPr lang="en-CA" dirty="0" smtClean="0">
                <a:solidFill>
                  <a:srgbClr val="FFFF00"/>
                </a:solidFill>
              </a:rPr>
              <a:t>threw an exception</a:t>
            </a:r>
          </a:p>
          <a:p>
            <a:r>
              <a:rPr lang="en-CA" dirty="0" smtClean="0"/>
              <a:t>We </a:t>
            </a:r>
            <a:r>
              <a:rPr lang="en-CA" dirty="0"/>
              <a:t>want to handle these errors gracefully and keep </a:t>
            </a:r>
            <a:r>
              <a:rPr lang="en-CA" dirty="0" smtClean="0"/>
              <a:t>running </a:t>
            </a:r>
            <a:r>
              <a:rPr lang="en-CA" dirty="0"/>
              <a:t>smoothly</a:t>
            </a:r>
            <a:r>
              <a:rPr lang="en-CA" dirty="0" smtClean="0"/>
              <a:t>.</a:t>
            </a:r>
            <a:endParaRPr lang="en-CA" dirty="0"/>
          </a:p>
          <a:p>
            <a:r>
              <a:rPr lang="en-CA" dirty="0"/>
              <a:t>Our code will then “</a:t>
            </a:r>
            <a:r>
              <a:rPr lang="en-CA" b="1" dirty="0">
                <a:solidFill>
                  <a:srgbClr val="92D050"/>
                </a:solidFill>
              </a:rPr>
              <a:t>catch</a:t>
            </a:r>
            <a:r>
              <a:rPr lang="en-CA" dirty="0"/>
              <a:t>” that </a:t>
            </a:r>
            <a:r>
              <a:rPr lang="en-CA" dirty="0">
                <a:solidFill>
                  <a:srgbClr val="FFFF00"/>
                </a:solidFill>
              </a:rPr>
              <a:t>thrown exception</a:t>
            </a:r>
            <a:r>
              <a:rPr lang="en-CA" dirty="0"/>
              <a:t> and handle it accordingly</a:t>
            </a:r>
          </a:p>
        </p:txBody>
      </p:sp>
    </p:spTree>
    <p:extLst>
      <p:ext uri="{BB962C8B-B14F-4D97-AF65-F5344CB8AC3E}">
        <p14:creationId xmlns:p14="http://schemas.microsoft.com/office/powerpoint/2010/main" val="1155085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305FC-040D-4C9E-8B00-D5BE4312B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en-CA" dirty="0"/>
              <a:t>Topic 2: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1658-1A77-4C59-8F38-6EEC3313A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860" y="908720"/>
            <a:ext cx="10585175" cy="565517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sz="2400" dirty="0"/>
              <a:t>Generic code for a Try-Catch Block: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try</a:t>
            </a:r>
            <a:b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// Code that is attempted to be run</a:t>
            </a: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/>
            </a:r>
            <a:b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}</a:t>
            </a:r>
            <a:b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catch (&lt;type of Exception&gt; identifier)</a:t>
            </a:r>
            <a:b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// Code to execute to </a:t>
            </a:r>
            <a:r>
              <a:rPr lang="en-US" sz="1800" dirty="0" smtClean="0">
                <a:solidFill>
                  <a:srgbClr val="00B050"/>
                </a:solidFill>
                <a:latin typeface="Consolas" panose="020B0609020204030204" pitchFamily="49" charset="0"/>
              </a:rPr>
              <a:t>elegantly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handle the exception</a:t>
            </a: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/>
            </a:r>
            <a:b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finally </a:t>
            </a:r>
            <a:r>
              <a:rPr lang="en-US" sz="18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sz="1800" dirty="0" smtClean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Optional, but recommended (good place to close files you opened)</a:t>
            </a: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/>
            </a:r>
            <a:b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// Code that executes whether there was an exception or not (close files here)</a:t>
            </a: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/>
            </a:r>
            <a:b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CA" sz="1800" dirty="0">
              <a:solidFill>
                <a:srgbClr val="00B0F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CA" sz="1800" dirty="0">
              <a:solidFill>
                <a:srgbClr val="00B0F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sz="2400" dirty="0"/>
              <a:t>Example: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try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// Exception will occur here if the user types in bad data like “boat” for age</a:t>
            </a:r>
            <a:endParaRPr lang="en-US" sz="18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latin typeface="Consolas" panose="020B0609020204030204" pitchFamily="49" charset="0"/>
              </a:rPr>
              <a:t>int age = Convert.ToInt32(Console.ReadLine());</a:t>
            </a:r>
            <a:endParaRPr lang="en-US" sz="18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catch (FormatException </a:t>
            </a:r>
            <a:r>
              <a:rPr lang="en-US" sz="1800" dirty="0" err="1">
                <a:solidFill>
                  <a:srgbClr val="FFFF00"/>
                </a:solidFill>
                <a:latin typeface="Consolas" panose="020B0609020204030204" pitchFamily="49" charset="0"/>
              </a:rPr>
              <a:t>fe</a:t>
            </a:r>
            <a:r>
              <a:rPr lang="en-US" sz="18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 smtClean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Use simple naming identifiers for the exception type</a:t>
            </a:r>
            <a:endParaRPr lang="en-US" sz="18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// Exception has been caught, now we will display an error message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latin typeface="Consolas" panose="020B0609020204030204" pitchFamily="49" charset="0"/>
              </a:rPr>
              <a:t>Console.WriteLine(“Error: ” </a:t>
            </a:r>
            <a:r>
              <a:rPr lang="en-US" sz="1800" dirty="0" smtClean="0">
                <a:latin typeface="Consolas" panose="020B0609020204030204" pitchFamily="49" charset="0"/>
              </a:rPr>
              <a:t>+ </a:t>
            </a:r>
            <a:r>
              <a:rPr lang="en-US" sz="1800" dirty="0" err="1" smtClean="0">
                <a:latin typeface="Consolas" panose="020B0609020204030204" pitchFamily="49" charset="0"/>
              </a:rPr>
              <a:t>fe.Message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  <a:endParaRPr lang="en-US" sz="18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}</a:t>
            </a:r>
            <a:endParaRPr lang="en-CA" sz="1800" dirty="0">
              <a:solidFill>
                <a:srgbClr val="00B0F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425074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303B9-B9BE-4511-8F6F-82D39B446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Topic 2: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EB171-8334-4E7C-BCF0-6ED98A6C9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268759"/>
            <a:ext cx="10564161" cy="5314603"/>
          </a:xfrm>
        </p:spPr>
        <p:txBody>
          <a:bodyPr>
            <a:normAutofit lnSpcReduction="10000"/>
          </a:bodyPr>
          <a:lstStyle/>
          <a:p>
            <a:r>
              <a:rPr lang="en-CA" dirty="0"/>
              <a:t>The tough part is deciding what type of </a:t>
            </a:r>
            <a:r>
              <a:rPr lang="en-CA" dirty="0" smtClean="0"/>
              <a:t>Exception(s) </a:t>
            </a:r>
            <a:r>
              <a:rPr lang="en-CA" dirty="0"/>
              <a:t>to use.  You need to catch the proper type of exception or it will get by you.</a:t>
            </a:r>
          </a:p>
          <a:p>
            <a:r>
              <a:rPr lang="en-CA" dirty="0"/>
              <a:t>You can </a:t>
            </a:r>
            <a:r>
              <a:rPr lang="en-CA" dirty="0">
                <a:solidFill>
                  <a:srgbClr val="92D050"/>
                </a:solidFill>
              </a:rPr>
              <a:t>catch as many exceptions as you </a:t>
            </a:r>
            <a:r>
              <a:rPr lang="en-CA" dirty="0" smtClean="0">
                <a:solidFill>
                  <a:srgbClr val="92D050"/>
                </a:solidFill>
              </a:rPr>
              <a:t>need</a:t>
            </a:r>
            <a:r>
              <a:rPr lang="en-CA" dirty="0" smtClean="0"/>
              <a:t>, </a:t>
            </a:r>
            <a:r>
              <a:rPr lang="en-CA" dirty="0"/>
              <a:t>with more </a:t>
            </a:r>
            <a:r>
              <a:rPr lang="en-CA" dirty="0">
                <a:solidFill>
                  <a:srgbClr val="FFFF00"/>
                </a:solidFill>
              </a:rPr>
              <a:t>catch</a:t>
            </a:r>
            <a:r>
              <a:rPr lang="en-CA" dirty="0"/>
              <a:t>es</a:t>
            </a:r>
          </a:p>
          <a:p>
            <a:endParaRPr lang="en-CA" dirty="0"/>
          </a:p>
          <a:p>
            <a:r>
              <a:rPr lang="en-CA" dirty="0"/>
              <a:t>Some common exceptions types are: (used in more than just File I/O)</a:t>
            </a:r>
          </a:p>
          <a:p>
            <a:pPr lvl="1"/>
            <a:r>
              <a:rPr lang="en-CA" sz="1800" dirty="0"/>
              <a:t>Exception (general type that will catch all exceptions, but will not give very specific useful information)</a:t>
            </a:r>
          </a:p>
          <a:p>
            <a:pPr lvl="1"/>
            <a:r>
              <a:rPr lang="en-CA" sz="1800" dirty="0"/>
              <a:t>FormatException (Trying to convert invalid data)</a:t>
            </a:r>
          </a:p>
          <a:p>
            <a:pPr lvl="1"/>
            <a:r>
              <a:rPr lang="en-CA" sz="1800" dirty="0"/>
              <a:t>DivideByZeroException (Trying to divide by zero)</a:t>
            </a:r>
          </a:p>
          <a:p>
            <a:pPr lvl="1"/>
            <a:r>
              <a:rPr lang="en-CA" sz="1800" dirty="0"/>
              <a:t>FileNotFoundException (Could not find the file for reading/writing)</a:t>
            </a:r>
          </a:p>
          <a:p>
            <a:pPr lvl="1"/>
            <a:r>
              <a:rPr lang="en-CA" sz="1800" dirty="0"/>
              <a:t>EndOfStreamException (Tried to read past the end of a file)</a:t>
            </a:r>
          </a:p>
          <a:p>
            <a:pPr lvl="1"/>
            <a:r>
              <a:rPr lang="en-CA" sz="1800" dirty="0"/>
              <a:t>IndexOutOfRangeException (Tried to access an array/string past its length)</a:t>
            </a:r>
          </a:p>
          <a:p>
            <a:pPr marL="377886" lvl="1" indent="0">
              <a:buNone/>
            </a:pPr>
            <a:endParaRPr lang="en-CA" dirty="0"/>
          </a:p>
          <a:p>
            <a:r>
              <a:rPr lang="en-CA" dirty="0"/>
              <a:t>There are many more exception types that you can Google to find</a:t>
            </a:r>
          </a:p>
        </p:txBody>
      </p:sp>
    </p:spTree>
    <p:extLst>
      <p:ext uri="{BB962C8B-B14F-4D97-AF65-F5344CB8AC3E}">
        <p14:creationId xmlns:p14="http://schemas.microsoft.com/office/powerpoint/2010/main" val="1971739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33C6D-AFD0-4C66-B491-5F8F7C007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/>
          <a:lstStyle/>
          <a:p>
            <a:r>
              <a:rPr lang="en-CA" dirty="0"/>
              <a:t>Topic 3: Writing to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3C013-E749-4AA2-8422-308F83BEF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853" y="1196751"/>
            <a:ext cx="10801200" cy="5386611"/>
          </a:xfrm>
        </p:spPr>
        <p:txBody>
          <a:bodyPr>
            <a:normAutofit fontScale="92500" lnSpcReduction="10000"/>
          </a:bodyPr>
          <a:lstStyle/>
          <a:p>
            <a:r>
              <a:rPr lang="en-CA" dirty="0" smtClean="0"/>
              <a:t>Reading </a:t>
            </a:r>
            <a:r>
              <a:rPr lang="en-CA" dirty="0"/>
              <a:t>and writing to files is very </a:t>
            </a:r>
            <a:r>
              <a:rPr lang="en-CA" dirty="0" smtClean="0"/>
              <a:t>similar to working with the Console.</a:t>
            </a:r>
            <a:endParaRPr lang="en-CA" dirty="0"/>
          </a:p>
          <a:p>
            <a:r>
              <a:rPr lang="en-CA" dirty="0"/>
              <a:t>Instead of the Console being the object we interact with, we interact with the loaded file object.</a:t>
            </a:r>
          </a:p>
          <a:p>
            <a:r>
              <a:rPr lang="en-CA" dirty="0"/>
              <a:t>Before we can start to write to a file you need to plan ahead.</a:t>
            </a:r>
          </a:p>
          <a:p>
            <a:pPr lvl="1"/>
            <a:r>
              <a:rPr lang="en-CA" dirty="0"/>
              <a:t>You need to know </a:t>
            </a:r>
            <a:r>
              <a:rPr lang="en-CA" b="1" dirty="0">
                <a:solidFill>
                  <a:srgbClr val="FFFF00"/>
                </a:solidFill>
              </a:rPr>
              <a:t>EXACTLY</a:t>
            </a:r>
            <a:r>
              <a:rPr lang="en-CA" dirty="0"/>
              <a:t> what </a:t>
            </a:r>
            <a:r>
              <a:rPr lang="en-CA" dirty="0">
                <a:solidFill>
                  <a:srgbClr val="92D050"/>
                </a:solidFill>
              </a:rPr>
              <a:t>data</a:t>
            </a:r>
            <a:r>
              <a:rPr lang="en-CA" dirty="0"/>
              <a:t> will be in the file</a:t>
            </a:r>
          </a:p>
          <a:p>
            <a:pPr lvl="1"/>
            <a:r>
              <a:rPr lang="en-CA" dirty="0"/>
              <a:t>You need to know </a:t>
            </a:r>
            <a:r>
              <a:rPr lang="en-CA" b="1" dirty="0">
                <a:solidFill>
                  <a:srgbClr val="FFFF00"/>
                </a:solidFill>
              </a:rPr>
              <a:t>EXACTLY</a:t>
            </a:r>
            <a:r>
              <a:rPr lang="en-CA" dirty="0"/>
              <a:t> what </a:t>
            </a:r>
            <a:r>
              <a:rPr lang="en-CA" dirty="0">
                <a:solidFill>
                  <a:srgbClr val="92D050"/>
                </a:solidFill>
              </a:rPr>
              <a:t>order</a:t>
            </a:r>
            <a:r>
              <a:rPr lang="en-CA" dirty="0"/>
              <a:t> the data will be written</a:t>
            </a:r>
          </a:p>
          <a:p>
            <a:pPr lvl="1"/>
            <a:r>
              <a:rPr lang="en-CA" dirty="0"/>
              <a:t>You need to know </a:t>
            </a:r>
            <a:r>
              <a:rPr lang="en-CA" b="1" dirty="0">
                <a:solidFill>
                  <a:srgbClr val="FFFF00"/>
                </a:solidFill>
              </a:rPr>
              <a:t>EXACTLY</a:t>
            </a:r>
            <a:r>
              <a:rPr lang="en-CA" dirty="0"/>
              <a:t> the </a:t>
            </a:r>
            <a:r>
              <a:rPr lang="en-CA" dirty="0">
                <a:solidFill>
                  <a:srgbClr val="92D050"/>
                </a:solidFill>
              </a:rPr>
              <a:t>layout</a:t>
            </a:r>
            <a:r>
              <a:rPr lang="en-CA" dirty="0"/>
              <a:t> of the file. E.g. One data per line, or many separated by a </a:t>
            </a:r>
            <a:r>
              <a:rPr lang="en-CA" dirty="0" smtClean="0"/>
              <a:t>delimiter (like a comma or space)</a:t>
            </a:r>
            <a:endParaRPr lang="en-CA" dirty="0"/>
          </a:p>
          <a:p>
            <a:pPr lvl="2"/>
            <a:r>
              <a:rPr lang="en-CA" dirty="0"/>
              <a:t>How do you handle things like collections of unknown sizes?</a:t>
            </a:r>
          </a:p>
          <a:p>
            <a:pPr lvl="1"/>
            <a:endParaRPr lang="en-CA" dirty="0"/>
          </a:p>
          <a:p>
            <a:r>
              <a:rPr lang="en-CA" dirty="0"/>
              <a:t>For example, let’s assume we will write out a high score board where each line of the file represents a player’s name and score separated by a comma (no spaces!) Example: </a:t>
            </a:r>
            <a:r>
              <a:rPr lang="en-CA" dirty="0">
                <a:solidFill>
                  <a:srgbClr val="92D050"/>
                </a:solidFill>
              </a:rPr>
              <a:t>Bob,3050</a:t>
            </a:r>
          </a:p>
        </p:txBody>
      </p:sp>
    </p:spTree>
    <p:extLst>
      <p:ext uri="{BB962C8B-B14F-4D97-AF65-F5344CB8AC3E}">
        <p14:creationId xmlns:p14="http://schemas.microsoft.com/office/powerpoint/2010/main" val="342729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ED00A-FB2A-495E-AEE5-B27D11051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Topic 3: Writing to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6AD60-ABFA-41B9-B87F-5DE7EF667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844" y="1027104"/>
            <a:ext cx="10729191" cy="564225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b="1" dirty="0">
                <a:solidFill>
                  <a:srgbClr val="FFFF00"/>
                </a:solidFill>
              </a:rPr>
              <a:t>SETUP</a:t>
            </a:r>
          </a:p>
          <a:p>
            <a:r>
              <a:rPr lang="en-CA" sz="2400" dirty="0"/>
              <a:t>After adding the </a:t>
            </a:r>
            <a:r>
              <a:rPr lang="en-CA" sz="2200" dirty="0">
                <a:solidFill>
                  <a:srgbClr val="FFFF00"/>
                </a:solidFill>
                <a:latin typeface="Consolas" panose="020B0609020204030204" pitchFamily="49" charset="0"/>
              </a:rPr>
              <a:t>System.IO</a:t>
            </a:r>
            <a:r>
              <a:rPr lang="en-CA" sz="2400" dirty="0"/>
              <a:t> library we need to create a </a:t>
            </a:r>
            <a:r>
              <a:rPr lang="en-CA" sz="2400" dirty="0" smtClean="0"/>
              <a:t>(usually) global </a:t>
            </a:r>
            <a:r>
              <a:rPr lang="en-CA" sz="2400" dirty="0"/>
              <a:t>variable of type </a:t>
            </a:r>
            <a:r>
              <a:rPr lang="en-CA" sz="2400" dirty="0">
                <a:solidFill>
                  <a:srgbClr val="92D050"/>
                </a:solidFill>
              </a:rPr>
              <a:t>StreamWriter</a:t>
            </a:r>
            <a:r>
              <a:rPr lang="en-CA" sz="2400" dirty="0"/>
              <a:t> that will </a:t>
            </a:r>
            <a:r>
              <a:rPr lang="en-CA" sz="2400" dirty="0" smtClean="0"/>
              <a:t>later be used to connect </a:t>
            </a:r>
            <a:r>
              <a:rPr lang="en-CA" sz="2400" dirty="0"/>
              <a:t>to our file:</a:t>
            </a:r>
          </a:p>
          <a:p>
            <a:pPr marL="73140" indent="0">
              <a:buNone/>
            </a:pP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static StreamWriter outFile;</a:t>
            </a:r>
            <a:r>
              <a:rPr lang="en-CA" sz="2400" dirty="0"/>
              <a:t> </a:t>
            </a:r>
            <a:r>
              <a:rPr lang="en-CA" sz="2400" dirty="0">
                <a:solidFill>
                  <a:srgbClr val="FFFF00"/>
                </a:solidFill>
                <a:sym typeface="Wingdings" panose="05000000000000000000" pitchFamily="2" charset="2"/>
              </a:rPr>
              <a:t> static because it is global</a:t>
            </a:r>
            <a:endParaRPr lang="en-CA" sz="2400" dirty="0">
              <a:solidFill>
                <a:srgbClr val="FFFF00"/>
              </a:solidFill>
            </a:endParaRPr>
          </a:p>
          <a:p>
            <a:r>
              <a:rPr lang="en-CA" sz="2400" dirty="0" smtClean="0"/>
              <a:t>Surround </a:t>
            </a:r>
            <a:r>
              <a:rPr lang="en-CA" sz="2400" dirty="0"/>
              <a:t>the </a:t>
            </a:r>
            <a:r>
              <a:rPr lang="en-CA" sz="2400" dirty="0" smtClean="0"/>
              <a:t>read/write logic </a:t>
            </a:r>
            <a:r>
              <a:rPr lang="en-CA" sz="2400" dirty="0"/>
              <a:t>in a </a:t>
            </a:r>
            <a:r>
              <a:rPr lang="en-CA" sz="2400" dirty="0">
                <a:solidFill>
                  <a:srgbClr val="92D050"/>
                </a:solidFill>
              </a:rPr>
              <a:t>try-catch</a:t>
            </a:r>
            <a:r>
              <a:rPr lang="en-CA" sz="2400" dirty="0"/>
              <a:t> block for </a:t>
            </a:r>
            <a:r>
              <a:rPr lang="en-CA" sz="2400" dirty="0" smtClean="0"/>
              <a:t>safety.  Method creation is advised.</a:t>
            </a:r>
            <a:endParaRPr lang="en-CA" sz="2400" dirty="0"/>
          </a:p>
          <a:p>
            <a:pPr lvl="1"/>
            <a:endParaRPr lang="en-CA" dirty="0"/>
          </a:p>
          <a:p>
            <a:r>
              <a:rPr lang="en-CA" dirty="0"/>
              <a:t>Inside the </a:t>
            </a:r>
            <a:r>
              <a:rPr lang="en-CA" dirty="0">
                <a:solidFill>
                  <a:srgbClr val="92D050"/>
                </a:solidFill>
              </a:rPr>
              <a:t>try</a:t>
            </a:r>
            <a:r>
              <a:rPr lang="en-CA" dirty="0"/>
              <a:t> section, instantiate the outFile variable using the filePath (just the name of the file in our case)</a:t>
            </a:r>
          </a:p>
          <a:p>
            <a:pPr lvl="1"/>
            <a:r>
              <a:rPr lang="en-CA" dirty="0"/>
              <a:t>We have 2 choices to do this, depending on how we want to treat the file being edited</a:t>
            </a:r>
          </a:p>
          <a:p>
            <a:pPr lvl="2"/>
            <a:r>
              <a:rPr lang="en-CA" b="1" dirty="0" err="1" smtClean="0">
                <a:solidFill>
                  <a:srgbClr val="92D050"/>
                </a:solidFill>
              </a:rPr>
              <a:t>AppendText</a:t>
            </a:r>
            <a:r>
              <a:rPr lang="en-CA" b="1" dirty="0" smtClean="0">
                <a:solidFill>
                  <a:srgbClr val="92D050"/>
                </a:solidFill>
              </a:rPr>
              <a:t>()</a:t>
            </a:r>
            <a:r>
              <a:rPr lang="en-CA" dirty="0" smtClean="0"/>
              <a:t> </a:t>
            </a:r>
            <a:r>
              <a:rPr lang="en-CA" dirty="0"/>
              <a:t>allows us to keep what is in the file and write at the bottom of the file</a:t>
            </a:r>
          </a:p>
          <a:p>
            <a:pPr lvl="2"/>
            <a:r>
              <a:rPr lang="en-CA" b="1" dirty="0" err="1" smtClean="0">
                <a:solidFill>
                  <a:srgbClr val="92D050"/>
                </a:solidFill>
              </a:rPr>
              <a:t>CreateText</a:t>
            </a:r>
            <a:r>
              <a:rPr lang="en-CA" b="1" dirty="0" smtClean="0">
                <a:solidFill>
                  <a:srgbClr val="92D050"/>
                </a:solidFill>
              </a:rPr>
              <a:t>()</a:t>
            </a:r>
            <a:r>
              <a:rPr lang="en-CA" dirty="0" smtClean="0"/>
              <a:t> </a:t>
            </a:r>
            <a:r>
              <a:rPr lang="en-CA" dirty="0"/>
              <a:t>(most common) will destroy/recreate the file and write from the top.  This will also create a new file using  your chosen file path if it does not already exist</a:t>
            </a:r>
          </a:p>
          <a:p>
            <a:pPr lvl="2"/>
            <a:endParaRPr lang="en-CA" dirty="0"/>
          </a:p>
          <a:p>
            <a:pPr lvl="1"/>
            <a:r>
              <a:rPr lang="en-CA" dirty="0"/>
              <a:t>Example: 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outFile = File.CreateText(“HighScores.txt”);</a:t>
            </a:r>
          </a:p>
        </p:txBody>
      </p:sp>
    </p:spTree>
    <p:extLst>
      <p:ext uri="{BB962C8B-B14F-4D97-AF65-F5344CB8AC3E}">
        <p14:creationId xmlns:p14="http://schemas.microsoft.com/office/powerpoint/2010/main" val="252696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B3B7F-FD95-4C3E-B158-0BBB34235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116633"/>
            <a:ext cx="10360501" cy="648072"/>
          </a:xfrm>
        </p:spPr>
        <p:txBody>
          <a:bodyPr>
            <a:normAutofit/>
          </a:bodyPr>
          <a:lstStyle/>
          <a:p>
            <a:r>
              <a:rPr lang="en-CA" dirty="0"/>
              <a:t>Topic 3: Writing to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D012E-0A0F-4101-981C-6D181EF9E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29" y="692696"/>
            <a:ext cx="10873207" cy="5976664"/>
          </a:xfrm>
        </p:spPr>
        <p:txBody>
          <a:bodyPr>
            <a:normAutofit fontScale="85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CA" b="1" dirty="0">
                <a:solidFill>
                  <a:srgbClr val="FFFF00"/>
                </a:solidFill>
              </a:rPr>
              <a:t>USAGE</a:t>
            </a:r>
          </a:p>
          <a:p>
            <a:pPr>
              <a:spcBef>
                <a:spcPts val="0"/>
              </a:spcBef>
            </a:pPr>
            <a:r>
              <a:rPr lang="en-CA" dirty="0"/>
              <a:t>Now the file is “</a:t>
            </a:r>
            <a:r>
              <a:rPr lang="en-CA" dirty="0">
                <a:solidFill>
                  <a:srgbClr val="00B0F0"/>
                </a:solidFill>
              </a:rPr>
              <a:t>open</a:t>
            </a:r>
            <a:r>
              <a:rPr lang="en-CA" dirty="0"/>
              <a:t>” and ready for writing </a:t>
            </a:r>
            <a:r>
              <a:rPr lang="en-CA" dirty="0" smtClean="0"/>
              <a:t>as you would to the Console</a:t>
            </a:r>
            <a:endParaRPr lang="en-CA" dirty="0"/>
          </a:p>
          <a:p>
            <a:pPr>
              <a:spcBef>
                <a:spcPts val="0"/>
              </a:spcBef>
            </a:pPr>
            <a:endParaRPr lang="en-CA" dirty="0"/>
          </a:p>
          <a:p>
            <a:pPr marL="0" indent="0">
              <a:spcBef>
                <a:spcPts val="0"/>
              </a:spcBef>
              <a:buNone/>
            </a:pPr>
            <a:r>
              <a:rPr lang="en-CA" dirty="0"/>
              <a:t>Example: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400" dirty="0">
                <a:solidFill>
                  <a:srgbClr val="92D050"/>
                </a:solidFill>
                <a:latin typeface="Consolas" panose="020B0609020204030204" pitchFamily="49" charset="0"/>
              </a:rPr>
              <a:t>//Write the first name and score to the file from our arrays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outFile.WriteLine(names[0] + “,” + scores[0]);</a:t>
            </a:r>
          </a:p>
          <a:p>
            <a:pPr marL="0" indent="0">
              <a:spcBef>
                <a:spcPts val="0"/>
              </a:spcBef>
              <a:buNone/>
            </a:pPr>
            <a:endParaRPr lang="en-CA" dirty="0"/>
          </a:p>
          <a:p>
            <a:pPr>
              <a:spcBef>
                <a:spcPts val="0"/>
              </a:spcBef>
            </a:pPr>
            <a:r>
              <a:rPr lang="en-CA" dirty="0" smtClean="0"/>
              <a:t>All opened files need to be closed or the intended operation will not finish!</a:t>
            </a:r>
          </a:p>
          <a:p>
            <a:pPr lvl="1">
              <a:spcBef>
                <a:spcPts val="0"/>
              </a:spcBef>
            </a:pPr>
            <a:r>
              <a:rPr lang="en-CA" dirty="0" smtClean="0"/>
              <a:t>This also frees the file for other applications (or yours) to open it again later</a:t>
            </a:r>
          </a:p>
          <a:p>
            <a:pPr lvl="1">
              <a:spcBef>
                <a:spcPts val="0"/>
              </a:spcBef>
            </a:pPr>
            <a:endParaRPr lang="en-CA" dirty="0" smtClean="0"/>
          </a:p>
          <a:p>
            <a:pPr>
              <a:spcBef>
                <a:spcPts val="0"/>
              </a:spcBef>
            </a:pPr>
            <a:r>
              <a:rPr lang="en-CA" dirty="0" smtClean="0"/>
              <a:t>This is best done </a:t>
            </a:r>
            <a:r>
              <a:rPr lang="en-CA" dirty="0"/>
              <a:t>in the </a:t>
            </a:r>
            <a:r>
              <a:rPr lang="en-CA" dirty="0">
                <a:solidFill>
                  <a:srgbClr val="00B0F0"/>
                </a:solidFill>
              </a:rPr>
              <a:t>finally</a:t>
            </a:r>
            <a:r>
              <a:rPr lang="en-CA" dirty="0"/>
              <a:t> statement just in case an exception was thrown after the file was opened.  We can do a safety test for this using, </a:t>
            </a:r>
            <a:r>
              <a:rPr lang="en-CA" sz="24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if </a:t>
            </a:r>
            <a:r>
              <a:rPr lang="en-CA" sz="2400" dirty="0">
                <a:solidFill>
                  <a:srgbClr val="92D050"/>
                </a:solidFill>
                <a:latin typeface="Consolas" panose="020B0609020204030204" pitchFamily="49" charset="0"/>
              </a:rPr>
              <a:t>(</a:t>
            </a:r>
            <a:r>
              <a:rPr lang="en-CA" sz="2400" dirty="0" err="1">
                <a:solidFill>
                  <a:srgbClr val="92D050"/>
                </a:solidFill>
                <a:latin typeface="Consolas" panose="020B0609020204030204" pitchFamily="49" charset="0"/>
              </a:rPr>
              <a:t>outFile</a:t>
            </a:r>
            <a:r>
              <a:rPr lang="en-CA" sz="2400" dirty="0">
                <a:solidFill>
                  <a:srgbClr val="92D050"/>
                </a:solidFill>
                <a:latin typeface="Consolas" panose="020B0609020204030204" pitchFamily="49" charset="0"/>
              </a:rPr>
              <a:t> != null</a:t>
            </a:r>
            <a:r>
              <a:rPr lang="en-CA" sz="24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)</a:t>
            </a:r>
            <a:endParaRPr lang="en-CA" dirty="0"/>
          </a:p>
          <a:p>
            <a:pPr>
              <a:spcBef>
                <a:spcPts val="0"/>
              </a:spcBef>
            </a:pPr>
            <a:endParaRPr lang="en-CA" dirty="0"/>
          </a:p>
          <a:p>
            <a:pPr marL="0" indent="0">
              <a:spcBef>
                <a:spcPts val="0"/>
              </a:spcBef>
              <a:buNone/>
            </a:pPr>
            <a:r>
              <a:rPr lang="en-CA" dirty="0"/>
              <a:t>Example: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finally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   if (</a:t>
            </a:r>
            <a:r>
              <a:rPr lang="en-CA" sz="2400" dirty="0" err="1">
                <a:solidFill>
                  <a:srgbClr val="00B0F0"/>
                </a:solidFill>
                <a:latin typeface="Consolas" panose="020B0609020204030204" pitchFamily="49" charset="0"/>
              </a:rPr>
              <a:t>outFile</a:t>
            </a: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 != null)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      </a:t>
            </a:r>
            <a:r>
              <a:rPr lang="en-CA" sz="2400" dirty="0" err="1">
                <a:solidFill>
                  <a:srgbClr val="00B0F0"/>
                </a:solidFill>
                <a:latin typeface="Consolas" panose="020B0609020204030204" pitchFamily="49" charset="0"/>
              </a:rPr>
              <a:t>outFile.Close</a:t>
            </a: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CA" sz="2400" dirty="0" smtClean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CA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This is a great time to make use of a single line if statement: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2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if (</a:t>
            </a:r>
            <a:r>
              <a:rPr lang="en-CA" sz="24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outFile</a:t>
            </a:r>
            <a:r>
              <a:rPr lang="en-CA" sz="2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 != null) </a:t>
            </a:r>
            <a:r>
              <a:rPr lang="en-CA" sz="24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outFile.Close</a:t>
            </a:r>
            <a:r>
              <a:rPr lang="en-CA" sz="2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();</a:t>
            </a:r>
            <a:endParaRPr lang="en-CA" sz="2400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96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0684F-D68C-4FFC-80B0-1AE207B6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Topic 4: Reading from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45C3D-0BC6-4898-A0A4-F2E4EB812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This is the most error prone aspect of File I/O.  A number of things can go wrong at this point:</a:t>
            </a:r>
          </a:p>
          <a:p>
            <a:pPr lvl="1"/>
            <a:r>
              <a:rPr lang="en-CA" dirty="0"/>
              <a:t>Incorrect file name</a:t>
            </a:r>
          </a:p>
          <a:p>
            <a:pPr lvl="1"/>
            <a:r>
              <a:rPr lang="en-CA" dirty="0"/>
              <a:t>User moved/deleted the file by accident</a:t>
            </a:r>
          </a:p>
          <a:p>
            <a:pPr lvl="1"/>
            <a:r>
              <a:rPr lang="en-CA" dirty="0"/>
              <a:t>Poorly formatted data in the file</a:t>
            </a:r>
          </a:p>
          <a:p>
            <a:pPr lvl="1"/>
            <a:r>
              <a:rPr lang="en-CA" dirty="0"/>
              <a:t>Data in the file is not organized as expected</a:t>
            </a:r>
          </a:p>
          <a:p>
            <a:pPr lvl="1"/>
            <a:endParaRPr lang="en-CA" dirty="0"/>
          </a:p>
          <a:p>
            <a:r>
              <a:rPr lang="en-CA" dirty="0"/>
              <a:t>Like writing to a file, after setup it is identical to the way we work with Console Reading</a:t>
            </a:r>
          </a:p>
        </p:txBody>
      </p:sp>
    </p:spTree>
    <p:extLst>
      <p:ext uri="{BB962C8B-B14F-4D97-AF65-F5344CB8AC3E}">
        <p14:creationId xmlns:p14="http://schemas.microsoft.com/office/powerpoint/2010/main" val="243371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32145-D6AC-4F75-88DC-A8D371ED5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Topic 4: Reading from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89F1F-6392-42CA-A319-90F3D4372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844" y="1701797"/>
            <a:ext cx="10801199" cy="4462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>
                <a:solidFill>
                  <a:srgbClr val="FFFF00"/>
                </a:solidFill>
              </a:rPr>
              <a:t>SETUP</a:t>
            </a:r>
          </a:p>
          <a:p>
            <a:r>
              <a:rPr lang="en-CA" sz="2800" dirty="0"/>
              <a:t>After adding the </a:t>
            </a:r>
            <a:r>
              <a:rPr lang="en-CA" sz="2600" dirty="0">
                <a:solidFill>
                  <a:srgbClr val="FFFF00"/>
                </a:solidFill>
                <a:latin typeface="Consolas" panose="020B0609020204030204" pitchFamily="49" charset="0"/>
              </a:rPr>
              <a:t>System.IO</a:t>
            </a:r>
            <a:r>
              <a:rPr lang="en-CA" sz="2800" dirty="0"/>
              <a:t> library we need to create a </a:t>
            </a:r>
            <a:r>
              <a:rPr lang="en-CA" sz="2800" dirty="0" smtClean="0"/>
              <a:t>(usually) global </a:t>
            </a:r>
            <a:r>
              <a:rPr lang="en-CA" sz="2800" dirty="0"/>
              <a:t>variable of type </a:t>
            </a:r>
            <a:r>
              <a:rPr lang="en-CA" sz="2800" dirty="0">
                <a:solidFill>
                  <a:srgbClr val="92D050"/>
                </a:solidFill>
              </a:rPr>
              <a:t>StreamReader</a:t>
            </a:r>
            <a:r>
              <a:rPr lang="en-CA" sz="2800" dirty="0"/>
              <a:t> that will connect to our file:</a:t>
            </a:r>
          </a:p>
          <a:p>
            <a:pPr marL="73140" indent="0">
              <a:buNone/>
            </a:pPr>
            <a:r>
              <a:rPr lang="en-CA" sz="2800" dirty="0">
                <a:solidFill>
                  <a:srgbClr val="00B0F0"/>
                </a:solidFill>
                <a:latin typeface="Consolas" panose="020B0609020204030204" pitchFamily="49" charset="0"/>
              </a:rPr>
              <a:t>static StreamReader inFile;</a:t>
            </a:r>
            <a:r>
              <a:rPr lang="en-CA" sz="2800" dirty="0"/>
              <a:t> </a:t>
            </a:r>
            <a:r>
              <a:rPr lang="en-CA" sz="2800" dirty="0">
                <a:solidFill>
                  <a:srgbClr val="FFFF00"/>
                </a:solidFill>
                <a:sym typeface="Wingdings" panose="05000000000000000000" pitchFamily="2" charset="2"/>
              </a:rPr>
              <a:t> static because it is global</a:t>
            </a:r>
            <a:endParaRPr lang="en-CA" sz="2800" dirty="0">
              <a:solidFill>
                <a:srgbClr val="FFFF00"/>
              </a:solidFill>
            </a:endParaRPr>
          </a:p>
          <a:p>
            <a:r>
              <a:rPr lang="en-CA" sz="2400" dirty="0" smtClean="0"/>
              <a:t>Surround </a:t>
            </a:r>
            <a:r>
              <a:rPr lang="en-CA" sz="2400" dirty="0"/>
              <a:t>the </a:t>
            </a:r>
            <a:r>
              <a:rPr lang="en-CA" sz="2400" dirty="0" smtClean="0"/>
              <a:t>Read logic </a:t>
            </a:r>
            <a:r>
              <a:rPr lang="en-CA" sz="2400" dirty="0"/>
              <a:t>in a </a:t>
            </a:r>
            <a:r>
              <a:rPr lang="en-CA" sz="2400" dirty="0">
                <a:solidFill>
                  <a:srgbClr val="92D050"/>
                </a:solidFill>
              </a:rPr>
              <a:t>try-catch</a:t>
            </a:r>
            <a:r>
              <a:rPr lang="en-CA" sz="2400" dirty="0"/>
              <a:t> block for safety</a:t>
            </a:r>
          </a:p>
          <a:p>
            <a:pPr lvl="1"/>
            <a:endParaRPr lang="en-CA" dirty="0"/>
          </a:p>
          <a:p>
            <a:r>
              <a:rPr lang="en-CA" dirty="0"/>
              <a:t>Inside the </a:t>
            </a:r>
            <a:r>
              <a:rPr lang="en-CA" dirty="0">
                <a:solidFill>
                  <a:srgbClr val="92D050"/>
                </a:solidFill>
              </a:rPr>
              <a:t>try</a:t>
            </a:r>
            <a:r>
              <a:rPr lang="en-CA" dirty="0"/>
              <a:t> section, instantiate the inFile variable using the filePath (just the name of the file in our case) and the command </a:t>
            </a:r>
            <a:r>
              <a:rPr lang="en-CA" b="1" dirty="0">
                <a:solidFill>
                  <a:srgbClr val="92D050"/>
                </a:solidFill>
              </a:rPr>
              <a:t>OpenText</a:t>
            </a:r>
          </a:p>
          <a:p>
            <a:pPr lvl="1"/>
            <a:r>
              <a:rPr lang="en-CA" dirty="0"/>
              <a:t>Example:  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inFile = </a:t>
            </a:r>
            <a:r>
              <a:rPr lang="en-CA" dirty="0" err="1">
                <a:solidFill>
                  <a:srgbClr val="00B0F0"/>
                </a:solidFill>
                <a:latin typeface="Consolas" panose="020B0609020204030204" pitchFamily="49" charset="0"/>
              </a:rPr>
              <a:t>File.</a:t>
            </a:r>
            <a:r>
              <a:rPr lang="en-CA" dirty="0" err="1">
                <a:solidFill>
                  <a:srgbClr val="FFFF00"/>
                </a:solidFill>
                <a:latin typeface="Consolas" panose="020B0609020204030204" pitchFamily="49" charset="0"/>
              </a:rPr>
              <a:t>OpenText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(“HighScores.txt”);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90440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2914E-ABC1-4DD8-AC32-07631FDCF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Topic 4: Reading from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7A33D-886A-470C-9F1D-A878BF18F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6"/>
            <a:ext cx="10360501" cy="4607523"/>
          </a:xfrm>
        </p:spPr>
        <p:txBody>
          <a:bodyPr>
            <a:normAutofit/>
          </a:bodyPr>
          <a:lstStyle/>
          <a:p>
            <a:r>
              <a:rPr lang="en-CA" dirty="0"/>
              <a:t>If the file has only one piece of data per line, you simply need to use the </a:t>
            </a:r>
            <a:r>
              <a:rPr lang="en-CA" dirty="0" err="1">
                <a:solidFill>
                  <a:srgbClr val="92D050"/>
                </a:solidFill>
              </a:rPr>
              <a:t>ReadLine</a:t>
            </a:r>
            <a:r>
              <a:rPr lang="en-CA" dirty="0"/>
              <a:t> command and store it appropriately</a:t>
            </a:r>
          </a:p>
          <a:p>
            <a:r>
              <a:rPr lang="en-CA" dirty="0"/>
              <a:t>However, like our example, if there is more than one piece of data per line we will have to handle it differently.</a:t>
            </a:r>
          </a:p>
          <a:p>
            <a:pPr lvl="1"/>
            <a:r>
              <a:rPr lang="en-CA" dirty="0"/>
              <a:t>You will need 2 variables to retrieve data, plus your storage variables</a:t>
            </a:r>
          </a:p>
          <a:p>
            <a:pPr marL="377886" lvl="1" indent="0">
              <a:buNone/>
            </a:pPr>
            <a:r>
              <a:rPr lang="en-CA" sz="1800" dirty="0">
                <a:solidFill>
                  <a:srgbClr val="00B0F0"/>
                </a:solidFill>
                <a:latin typeface="Consolas" panose="020B0609020204030204" pitchFamily="49" charset="0"/>
              </a:rPr>
              <a:t>string line;</a:t>
            </a:r>
          </a:p>
          <a:p>
            <a:pPr marL="377886" lvl="1" indent="0">
              <a:buNone/>
            </a:pPr>
            <a:r>
              <a:rPr lang="en-CA" sz="1800" dirty="0">
                <a:solidFill>
                  <a:srgbClr val="00B0F0"/>
                </a:solidFill>
                <a:latin typeface="Consolas" panose="020B0609020204030204" pitchFamily="49" charset="0"/>
              </a:rPr>
              <a:t>string [] data;	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Notice the array is not instantiated with a size!</a:t>
            </a:r>
            <a:endParaRPr lang="en-CA" sz="18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377886" lvl="1" indent="0">
              <a:buNone/>
            </a:pPr>
            <a:r>
              <a:rPr lang="en-CA" sz="1800" dirty="0">
                <a:solidFill>
                  <a:srgbClr val="00B0F0"/>
                </a:solidFill>
                <a:latin typeface="Consolas" panose="020B0609020204030204" pitchFamily="49" charset="0"/>
              </a:rPr>
              <a:t>line = </a:t>
            </a:r>
            <a:r>
              <a:rPr lang="en-CA" sz="1800" dirty="0" err="1">
                <a:solidFill>
                  <a:srgbClr val="00B0F0"/>
                </a:solidFill>
                <a:latin typeface="Consolas" panose="020B0609020204030204" pitchFamily="49" charset="0"/>
              </a:rPr>
              <a:t>inFile.ReadLine</a:t>
            </a:r>
            <a:r>
              <a:rPr lang="en-CA" sz="1800" dirty="0">
                <a:solidFill>
                  <a:srgbClr val="00B0F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CA" dirty="0"/>
              <a:t>In order to break up the read-in line into individual data we need a new command: </a:t>
            </a:r>
            <a:r>
              <a:rPr lang="en-CA" b="1" dirty="0">
                <a:solidFill>
                  <a:srgbClr val="92D050"/>
                </a:solidFill>
              </a:rPr>
              <a:t>Split</a:t>
            </a:r>
          </a:p>
        </p:txBody>
      </p:sp>
    </p:spTree>
    <p:extLst>
      <p:ext uri="{BB962C8B-B14F-4D97-AF65-F5344CB8AC3E}">
        <p14:creationId xmlns:p14="http://schemas.microsoft.com/office/powerpoint/2010/main" val="557315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C1A0C-87E8-4807-B4FA-A2D631A35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850107"/>
          </a:xfrm>
        </p:spPr>
        <p:txBody>
          <a:bodyPr/>
          <a:lstStyle/>
          <a:p>
            <a:r>
              <a:rPr lang="en-CA" dirty="0"/>
              <a:t>Topic 4: Reading from a File -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0573F-ED7A-4232-919A-E6C753D30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268760"/>
            <a:ext cx="10564161" cy="5314603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Split will divide a string up based on some special character </a:t>
            </a:r>
            <a:r>
              <a:rPr lang="en-CA" dirty="0" smtClean="0"/>
              <a:t>(called a delimiter</a:t>
            </a:r>
            <a:r>
              <a:rPr lang="en-CA" dirty="0"/>
              <a:t>), in our case it is a comma</a:t>
            </a:r>
          </a:p>
          <a:p>
            <a:r>
              <a:rPr lang="en-CA" dirty="0"/>
              <a:t>The function will return a string array full of each piece of data</a:t>
            </a:r>
          </a:p>
          <a:p>
            <a:pPr marL="0" indent="0">
              <a:buNone/>
            </a:pPr>
            <a:r>
              <a:rPr lang="en-CA" sz="2400" dirty="0">
                <a:solidFill>
                  <a:srgbClr val="92D050"/>
                </a:solidFill>
                <a:latin typeface="Consolas" panose="020B0609020204030204" pitchFamily="49" charset="0"/>
              </a:rPr>
              <a:t>data = line.Split(‘,’); </a:t>
            </a:r>
            <a:r>
              <a:rPr lang="en-CA" sz="2400" dirty="0">
                <a:solidFill>
                  <a:srgbClr val="FFFF00"/>
                </a:solidFill>
                <a:sym typeface="Wingdings" panose="05000000000000000000" pitchFamily="2" charset="2"/>
              </a:rPr>
              <a:t> Notice the delimiter is a char, not a string!</a:t>
            </a:r>
            <a:endParaRPr lang="en-CA" sz="2400" dirty="0">
              <a:solidFill>
                <a:srgbClr val="FFFF00"/>
              </a:solidFill>
            </a:endParaRPr>
          </a:p>
          <a:p>
            <a:r>
              <a:rPr lang="en-CA" dirty="0"/>
              <a:t>This is how we read in and store </a:t>
            </a:r>
            <a:r>
              <a:rPr lang="en-CA" dirty="0">
                <a:solidFill>
                  <a:srgbClr val="FFFF00"/>
                </a:solidFill>
              </a:rPr>
              <a:t>one line </a:t>
            </a:r>
            <a:r>
              <a:rPr lang="en-CA" dirty="0"/>
              <a:t>of data.</a:t>
            </a:r>
          </a:p>
          <a:p>
            <a:r>
              <a:rPr lang="en-CA" dirty="0"/>
              <a:t>You can reduce memory </a:t>
            </a:r>
            <a:r>
              <a:rPr lang="en-CA" dirty="0" smtClean="0"/>
              <a:t>and work by </a:t>
            </a:r>
            <a:r>
              <a:rPr lang="en-CA" dirty="0"/>
              <a:t>not using the </a:t>
            </a:r>
            <a:r>
              <a:rPr lang="en-CA" dirty="0">
                <a:solidFill>
                  <a:srgbClr val="92D050"/>
                </a:solidFill>
              </a:rPr>
              <a:t>line</a:t>
            </a:r>
            <a:r>
              <a:rPr lang="en-CA" dirty="0"/>
              <a:t> variable at all:</a:t>
            </a:r>
          </a:p>
          <a:p>
            <a:pPr marL="0" indent="0">
              <a:buNone/>
            </a:pPr>
            <a:r>
              <a:rPr lang="en-CA" sz="2400" dirty="0">
                <a:solidFill>
                  <a:srgbClr val="92D050"/>
                </a:solidFill>
                <a:latin typeface="Consolas" panose="020B0609020204030204" pitchFamily="49" charset="0"/>
              </a:rPr>
              <a:t>data = </a:t>
            </a:r>
            <a:r>
              <a:rPr lang="en-CA" sz="2400" dirty="0" err="1">
                <a:solidFill>
                  <a:srgbClr val="92D050"/>
                </a:solidFill>
                <a:latin typeface="Consolas" panose="020B0609020204030204" pitchFamily="49" charset="0"/>
              </a:rPr>
              <a:t>inFile.ReadLine</a:t>
            </a:r>
            <a:r>
              <a:rPr lang="en-CA" sz="2400" dirty="0">
                <a:solidFill>
                  <a:srgbClr val="92D050"/>
                </a:solidFill>
                <a:latin typeface="Consolas" panose="020B0609020204030204" pitchFamily="49" charset="0"/>
              </a:rPr>
              <a:t>().Split(‘,’);</a:t>
            </a:r>
          </a:p>
          <a:p>
            <a:endParaRPr lang="en-CA" dirty="0"/>
          </a:p>
          <a:p>
            <a:r>
              <a:rPr lang="en-CA" dirty="0"/>
              <a:t>The structure of the file will dictate whether we use:</a:t>
            </a:r>
          </a:p>
          <a:p>
            <a:pPr lvl="1"/>
            <a:r>
              <a:rPr lang="en-CA" dirty="0"/>
              <a:t>a </a:t>
            </a:r>
            <a:r>
              <a:rPr lang="en-CA" dirty="0">
                <a:solidFill>
                  <a:srgbClr val="92D050"/>
                </a:solidFill>
              </a:rPr>
              <a:t>for-loop</a:t>
            </a:r>
            <a:r>
              <a:rPr lang="en-CA" dirty="0"/>
              <a:t> because we know its exact size, </a:t>
            </a:r>
          </a:p>
          <a:p>
            <a:pPr lvl="1"/>
            <a:r>
              <a:rPr lang="en-CA" dirty="0"/>
              <a:t>or a </a:t>
            </a:r>
            <a:r>
              <a:rPr lang="en-CA" dirty="0">
                <a:solidFill>
                  <a:srgbClr val="92D050"/>
                </a:solidFill>
              </a:rPr>
              <a:t>while loop </a:t>
            </a:r>
            <a:r>
              <a:rPr lang="en-CA" dirty="0"/>
              <a:t>to keep looping until we reach the end of the file</a:t>
            </a:r>
          </a:p>
        </p:txBody>
      </p:sp>
    </p:spTree>
    <p:extLst>
      <p:ext uri="{BB962C8B-B14F-4D97-AF65-F5344CB8AC3E}">
        <p14:creationId xmlns:p14="http://schemas.microsoft.com/office/powerpoint/2010/main" val="2957972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4A419-4CE4-49EE-A478-952D8BAA8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Topic 4: Reading from a File – File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FCE0F-E846-4B74-98EF-838DA059E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335" y="2163903"/>
            <a:ext cx="5078677" cy="4465320"/>
          </a:xfrm>
        </p:spPr>
        <p:txBody>
          <a:bodyPr/>
          <a:lstStyle/>
          <a:p>
            <a:pPr marL="0" indent="0">
              <a:buNone/>
            </a:pPr>
            <a:r>
              <a:rPr lang="en-CA" dirty="0">
                <a:solidFill>
                  <a:srgbClr val="FFFF00"/>
                </a:solidFill>
              </a:rPr>
              <a:t>This structure states the number of lines inside to simplify reading</a:t>
            </a:r>
          </a:p>
          <a:p>
            <a:pPr marL="0" indent="0">
              <a:buNone/>
            </a:pPr>
            <a:r>
              <a:rPr lang="en-CA" sz="2000" dirty="0">
                <a:latin typeface="Consolas" panose="020B0609020204030204" pitchFamily="49" charset="0"/>
              </a:rPr>
              <a:t>5</a:t>
            </a:r>
          </a:p>
          <a:p>
            <a:pPr marL="0" indent="0">
              <a:buNone/>
            </a:pPr>
            <a:r>
              <a:rPr lang="en-CA" sz="2000" dirty="0">
                <a:latin typeface="Consolas" panose="020B0609020204030204" pitchFamily="49" charset="0"/>
              </a:rPr>
              <a:t>Bob,8543</a:t>
            </a:r>
          </a:p>
          <a:p>
            <a:pPr marL="0" indent="0">
              <a:buNone/>
            </a:pPr>
            <a:r>
              <a:rPr lang="en-CA" sz="2000" dirty="0">
                <a:latin typeface="Consolas" panose="020B0609020204030204" pitchFamily="49" charset="0"/>
              </a:rPr>
              <a:t>Jill,7432</a:t>
            </a:r>
          </a:p>
          <a:p>
            <a:pPr marL="0" indent="0">
              <a:buNone/>
            </a:pPr>
            <a:r>
              <a:rPr lang="en-CA" sz="2000" dirty="0">
                <a:latin typeface="Consolas" panose="020B0609020204030204" pitchFamily="49" charset="0"/>
              </a:rPr>
              <a:t>Kelly,7420</a:t>
            </a:r>
          </a:p>
          <a:p>
            <a:pPr marL="0" indent="0">
              <a:buNone/>
            </a:pPr>
            <a:r>
              <a:rPr lang="en-CA" sz="2000" dirty="0">
                <a:latin typeface="Consolas" panose="020B0609020204030204" pitchFamily="49" charset="0"/>
              </a:rPr>
              <a:t>Athena,6660</a:t>
            </a:r>
          </a:p>
          <a:p>
            <a:pPr marL="0" indent="0">
              <a:buNone/>
            </a:pPr>
            <a:r>
              <a:rPr lang="en-CA" sz="2000" dirty="0">
                <a:latin typeface="Consolas" panose="020B0609020204030204" pitchFamily="49" charset="0"/>
              </a:rPr>
              <a:t>Frank,4319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E7B9C-8E19-49A5-A65C-00965BAF37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0707" y="2163903"/>
            <a:ext cx="5078677" cy="4465320"/>
          </a:xfrm>
        </p:spPr>
        <p:txBody>
          <a:bodyPr/>
          <a:lstStyle/>
          <a:p>
            <a:pPr marL="0" indent="0">
              <a:buNone/>
            </a:pPr>
            <a:r>
              <a:rPr lang="en-CA" dirty="0">
                <a:solidFill>
                  <a:srgbClr val="FFFF00"/>
                </a:solidFill>
              </a:rPr>
              <a:t>This structure is just data, it’s the programmers job to be safe</a:t>
            </a:r>
          </a:p>
          <a:p>
            <a:pPr marL="0" indent="0">
              <a:buNone/>
            </a:pPr>
            <a:r>
              <a:rPr lang="en-CA" sz="2000" dirty="0">
                <a:latin typeface="Consolas" panose="020B0609020204030204" pitchFamily="49" charset="0"/>
              </a:rPr>
              <a:t>Bob,8543</a:t>
            </a:r>
          </a:p>
          <a:p>
            <a:pPr marL="0" indent="0">
              <a:buNone/>
            </a:pPr>
            <a:r>
              <a:rPr lang="en-CA" sz="2000" dirty="0">
                <a:latin typeface="Consolas" panose="020B0609020204030204" pitchFamily="49" charset="0"/>
              </a:rPr>
              <a:t>Jill,7432</a:t>
            </a:r>
          </a:p>
          <a:p>
            <a:pPr marL="0" indent="0">
              <a:buNone/>
            </a:pPr>
            <a:r>
              <a:rPr lang="en-CA" sz="2000" dirty="0">
                <a:latin typeface="Consolas" panose="020B0609020204030204" pitchFamily="49" charset="0"/>
              </a:rPr>
              <a:t>Kelly,7420</a:t>
            </a:r>
          </a:p>
          <a:p>
            <a:pPr marL="0" indent="0">
              <a:buNone/>
            </a:pPr>
            <a:r>
              <a:rPr lang="en-CA" sz="2000" dirty="0">
                <a:latin typeface="Consolas" panose="020B0609020204030204" pitchFamily="49" charset="0"/>
              </a:rPr>
              <a:t>Athena,6660</a:t>
            </a:r>
          </a:p>
          <a:p>
            <a:pPr marL="0" indent="0">
              <a:buNone/>
            </a:pPr>
            <a:r>
              <a:rPr lang="en-CA" sz="2000" dirty="0">
                <a:latin typeface="Consolas" panose="020B0609020204030204" pitchFamily="49" charset="0"/>
              </a:rPr>
              <a:t>Frank,4319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73AF1F-7DBC-4998-AF8B-BD82F1F2275D}"/>
              </a:ext>
            </a:extLst>
          </p:cNvPr>
          <p:cNvSpPr txBox="1"/>
          <p:nvPr/>
        </p:nvSpPr>
        <p:spPr>
          <a:xfrm>
            <a:off x="2077503" y="1640683"/>
            <a:ext cx="86437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/>
              <a:t>Even a simple file can have many structures, for example:</a:t>
            </a:r>
          </a:p>
        </p:txBody>
      </p:sp>
    </p:spTree>
    <p:extLst>
      <p:ext uri="{BB962C8B-B14F-4D97-AF65-F5344CB8AC3E}">
        <p14:creationId xmlns:p14="http://schemas.microsoft.com/office/powerpoint/2010/main" val="3702102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D0C26-BFD4-439A-85B8-CAF66E02A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850107"/>
          </a:xfrm>
        </p:spPr>
        <p:txBody>
          <a:bodyPr/>
          <a:lstStyle/>
          <a:p>
            <a:r>
              <a:rPr lang="en-CA" dirty="0"/>
              <a:t>Topic 4 – Reading a File – Length given in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1B9A-E632-42CE-ADC4-2AE448376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37" y="1124744"/>
            <a:ext cx="10801200" cy="540060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string [] data;</a:t>
            </a:r>
          </a:p>
          <a:p>
            <a:pPr marL="0" indent="0">
              <a:spcBef>
                <a:spcPts val="0"/>
              </a:spcBef>
              <a:buNone/>
            </a:pPr>
            <a:endParaRPr lang="en-CA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92D050"/>
                </a:solidFill>
                <a:latin typeface="Consolas" panose="020B0609020204030204" pitchFamily="49" charset="0"/>
              </a:rPr>
              <a:t>//Read in the number of lines that are coming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int numPeople = Convert.ToInt32(</a:t>
            </a:r>
            <a:r>
              <a:rPr lang="en-CA" sz="2000" dirty="0" err="1">
                <a:latin typeface="Consolas" panose="020B0609020204030204" pitchFamily="49" charset="0"/>
              </a:rPr>
              <a:t>inFile.ReadLine</a:t>
            </a:r>
            <a:r>
              <a:rPr lang="en-CA" sz="2000" dirty="0" smtClean="0">
                <a:latin typeface="Consolas" panose="020B0609020204030204" pitchFamily="49" charset="0"/>
              </a:rPr>
              <a:t>());</a:t>
            </a:r>
          </a:p>
          <a:p>
            <a:pPr marL="0" indent="0">
              <a:spcBef>
                <a:spcPts val="0"/>
              </a:spcBef>
              <a:buNone/>
            </a:pPr>
            <a:endParaRPr lang="en-CA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//This may dictate your array size - Instantiate the array, if so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 smtClean="0">
                <a:latin typeface="Consolas" panose="020B0609020204030204" pitchFamily="49" charset="0"/>
              </a:rPr>
              <a:t>names = new string[</a:t>
            </a:r>
            <a:r>
              <a:rPr lang="en-CA" sz="2000" dirty="0" err="1" smtClean="0">
                <a:latin typeface="Consolas" panose="020B0609020204030204" pitchFamily="49" charset="0"/>
              </a:rPr>
              <a:t>numPeople</a:t>
            </a:r>
            <a:r>
              <a:rPr lang="en-CA" sz="2000" dirty="0" smtClean="0">
                <a:latin typeface="Consolas" panose="020B0609020204030204" pitchFamily="49" charset="0"/>
              </a:rPr>
              <a:t>];</a:t>
            </a:r>
            <a:endParaRPr lang="en-CA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CA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92D050"/>
                </a:solidFill>
                <a:latin typeface="Consolas" panose="020B0609020204030204" pitchFamily="49" charset="0"/>
              </a:rPr>
              <a:t>//Load each name and score from the file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for (int i = 0; i &lt; numPeople; i++)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data = </a:t>
            </a:r>
            <a:r>
              <a:rPr lang="en-CA" sz="2000" dirty="0" err="1">
                <a:latin typeface="Consolas" panose="020B0609020204030204" pitchFamily="49" charset="0"/>
              </a:rPr>
              <a:t>inFile.ReadLine</a:t>
            </a:r>
            <a:r>
              <a:rPr lang="en-CA" sz="2000" dirty="0">
                <a:latin typeface="Consolas" panose="020B0609020204030204" pitchFamily="49" charset="0"/>
              </a:rPr>
              <a:t>().Split(‘,’);</a:t>
            </a:r>
          </a:p>
          <a:p>
            <a:pPr marL="0" indent="0">
              <a:spcBef>
                <a:spcPts val="0"/>
              </a:spcBef>
              <a:buNone/>
            </a:pPr>
            <a:endParaRPr lang="en-CA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</a:t>
            </a:r>
            <a:r>
              <a:rPr lang="en-CA" sz="2000" dirty="0">
                <a:solidFill>
                  <a:srgbClr val="92D050"/>
                </a:solidFill>
                <a:latin typeface="Consolas" panose="020B0609020204030204" pitchFamily="49" charset="0"/>
              </a:rPr>
              <a:t>//element 0 is the name, 1 is the score E.g.“Bob,1234” gives Bob and 1234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names[i] = data[0];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scores[i] = Convert.ToInt32(data[1]);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CA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inFile.Close();</a:t>
            </a:r>
          </a:p>
        </p:txBody>
      </p:sp>
    </p:spTree>
    <p:extLst>
      <p:ext uri="{BB962C8B-B14F-4D97-AF65-F5344CB8AC3E}">
        <p14:creationId xmlns:p14="http://schemas.microsoft.com/office/powerpoint/2010/main" val="3017748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D0C26-BFD4-439A-85B8-CAF66E02A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/>
          <a:lstStyle/>
          <a:p>
            <a:r>
              <a:rPr lang="en-CA" dirty="0"/>
              <a:t>Topic 4 – Reading a File – Length unknown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1B9A-E632-42CE-ADC4-2AE448376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845" y="1340768"/>
            <a:ext cx="10729192" cy="5328591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string [] data;</a:t>
            </a:r>
          </a:p>
          <a:p>
            <a:pPr marL="0" indent="0">
              <a:spcBef>
                <a:spcPts val="0"/>
              </a:spcBef>
              <a:buNone/>
            </a:pPr>
            <a:endParaRPr lang="en-CA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92D050"/>
                </a:solidFill>
                <a:latin typeface="Consolas" panose="020B0609020204030204" pitchFamily="49" charset="0"/>
              </a:rPr>
              <a:t>//Track the number of people read in so far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int count = 0;</a:t>
            </a:r>
          </a:p>
          <a:p>
            <a:pPr marL="0" indent="0">
              <a:spcBef>
                <a:spcPts val="0"/>
              </a:spcBef>
              <a:buNone/>
            </a:pPr>
            <a:endParaRPr lang="en-CA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92D050"/>
                </a:solidFill>
                <a:latin typeface="Consolas" panose="020B0609020204030204" pitchFamily="49" charset="0"/>
              </a:rPr>
              <a:t>//Keep reading lines until the end of the file is reached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while(!inFile.EndOfStream)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data = </a:t>
            </a:r>
            <a:r>
              <a:rPr lang="en-CA" sz="2000" dirty="0" err="1">
                <a:latin typeface="Consolas" panose="020B0609020204030204" pitchFamily="49" charset="0"/>
              </a:rPr>
              <a:t>inFile.ReadLine</a:t>
            </a:r>
            <a:r>
              <a:rPr lang="en-CA" sz="2000" dirty="0">
                <a:latin typeface="Consolas" panose="020B0609020204030204" pitchFamily="49" charset="0"/>
              </a:rPr>
              <a:t>().Split(‘,’);</a:t>
            </a:r>
          </a:p>
          <a:p>
            <a:pPr marL="0" indent="0">
              <a:spcBef>
                <a:spcPts val="0"/>
              </a:spcBef>
              <a:buNone/>
            </a:pPr>
            <a:endParaRPr lang="en-CA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</a:t>
            </a:r>
            <a:r>
              <a:rPr lang="en-CA" sz="2000" dirty="0">
                <a:solidFill>
                  <a:srgbClr val="92D050"/>
                </a:solidFill>
                <a:latin typeface="Consolas" panose="020B0609020204030204" pitchFamily="49" charset="0"/>
              </a:rPr>
              <a:t>//element 0 is the name, 1 is the score E.g.“Bob,1234” gives Bob and 1234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</a:t>
            </a:r>
            <a:r>
              <a:rPr lang="en-CA" sz="2000" dirty="0" err="1" smtClean="0">
                <a:latin typeface="Consolas" panose="020B0609020204030204" pitchFamily="49" charset="0"/>
              </a:rPr>
              <a:t>names.Add</a:t>
            </a:r>
            <a:r>
              <a:rPr lang="en-CA" sz="2000" dirty="0" smtClean="0">
                <a:latin typeface="Consolas" panose="020B0609020204030204" pitchFamily="49" charset="0"/>
              </a:rPr>
              <a:t>(data[0]);</a:t>
            </a:r>
            <a:endParaRPr lang="en-CA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</a:t>
            </a:r>
            <a:r>
              <a:rPr lang="en-CA" sz="2000" dirty="0" err="1" smtClean="0">
                <a:latin typeface="Consolas" panose="020B0609020204030204" pitchFamily="49" charset="0"/>
              </a:rPr>
              <a:t>scores.Add</a:t>
            </a:r>
            <a:r>
              <a:rPr lang="en-CA" sz="2000" dirty="0" smtClean="0">
                <a:latin typeface="Consolas" panose="020B0609020204030204" pitchFamily="49" charset="0"/>
              </a:rPr>
              <a:t>(Convert.ToInt32(data[1]));</a:t>
            </a:r>
            <a:endParaRPr lang="en-CA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count++;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CA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 err="1">
                <a:latin typeface="Consolas" panose="020B0609020204030204" pitchFamily="49" charset="0"/>
              </a:rPr>
              <a:t>inFile.Close</a:t>
            </a:r>
            <a:r>
              <a:rPr lang="en-CA" sz="2000" dirty="0" smtClean="0"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endParaRPr lang="en-CA" sz="2000" dirty="0" smtClean="0"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CA" sz="2000" dirty="0" smtClean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this scenario, it may be useful to use a </a:t>
            </a:r>
            <a:r>
              <a:rPr lang="en-CA" sz="2000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en-CA" sz="2000" dirty="0" smtClean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store the data since you do not know the size.  </a:t>
            </a:r>
            <a:r>
              <a:rPr lang="en-CA" sz="2000" dirty="0" smtClean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can then be copied to an array later, if needed</a:t>
            </a:r>
            <a:endParaRPr lang="en-CA" sz="2000" dirty="0">
              <a:solidFill>
                <a:srgbClr val="FFFF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087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444</TotalTime>
  <Words>1871</Words>
  <Application>Microsoft Office PowerPoint</Application>
  <PresentationFormat>Custom</PresentationFormat>
  <Paragraphs>207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Wingdings</vt:lpstr>
      <vt:lpstr>Tech 16x9</vt:lpstr>
      <vt:lpstr>File I/O</vt:lpstr>
      <vt:lpstr>Introduction to File I/O</vt:lpstr>
      <vt:lpstr>Implementation</vt:lpstr>
      <vt:lpstr>Topic 1: File Path</vt:lpstr>
      <vt:lpstr>Topic 2: Error Handling</vt:lpstr>
      <vt:lpstr>Topic 2: Error Handling</vt:lpstr>
      <vt:lpstr>Topic 2: Error Handling</vt:lpstr>
      <vt:lpstr>Topic 3: Writing to a File</vt:lpstr>
      <vt:lpstr>Topic 3: Writing to a File</vt:lpstr>
      <vt:lpstr>Topic 3: Writing to a File</vt:lpstr>
      <vt:lpstr>Topic 4: Reading from a File</vt:lpstr>
      <vt:lpstr>Topic 4: Reading from a File</vt:lpstr>
      <vt:lpstr>Topic 4: Reading from a File</vt:lpstr>
      <vt:lpstr>Topic 4: Reading from a File - Split</vt:lpstr>
      <vt:lpstr>Topic 4: Reading from a File – File Structure</vt:lpstr>
      <vt:lpstr>Topic 4 – Reading a File – Length given in file</vt:lpstr>
      <vt:lpstr>Topic 4 – Reading a File – Length unknown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</dc:title>
  <dc:creator>Trevor Lane</dc:creator>
  <cp:lastModifiedBy>Lane, Trevor</cp:lastModifiedBy>
  <cp:revision>34</cp:revision>
  <dcterms:created xsi:type="dcterms:W3CDTF">2020-09-17T21:42:52Z</dcterms:created>
  <dcterms:modified xsi:type="dcterms:W3CDTF">2026-09-15T13:41:05Z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